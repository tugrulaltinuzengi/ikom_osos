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5" r:id="rId12"/>
    <p:sldId id="266" r:id="rId13"/>
    <p:sldId id="267" r:id="rId14"/>
    <p:sldId id="268" r:id="rId15"/>
    <p:sldId id="269" r:id="rId16"/>
    <p:sldId id="270" r:id="rId17"/>
    <p:sldId id="271" r:id="rId18"/>
    <p:sldId id="272" r:id="rId19"/>
    <p:sldId id="273" r:id="rId20"/>
    <p:sldId id="274"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2" d="100"/>
          <a:sy n="72" d="100"/>
        </p:scale>
        <p:origin x="90" y="1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hero-dkm.jpg"/>
          <p:cNvPicPr>
            <a:picLocks noChangeAspect="1"/>
          </p:cNvPicPr>
          <p:nvPr/>
        </p:nvPicPr>
        <p:blipFill>
          <a:blip r:embed="rId2"/>
          <a:stretch>
            <a:fillRect/>
          </a:stretch>
        </p:blipFill>
        <p:spPr>
          <a:xfrm>
            <a:off x="7452360" y="0"/>
            <a:ext cx="5130673" cy="6858000"/>
          </a:xfrm>
          <a:prstGeom prst="rect">
            <a:avLst/>
          </a:prstGeom>
        </p:spPr>
      </p:pic>
      <p:sp>
        <p:nvSpPr>
          <p:cNvPr id="4" name="Rectangle 3"/>
          <p:cNvSpPr/>
          <p:nvPr/>
        </p:nvSpPr>
        <p:spPr>
          <a:xfrm>
            <a:off x="7452360" y="0"/>
            <a:ext cx="155448"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Rectangle 4"/>
          <p:cNvSpPr/>
          <p:nvPr/>
        </p:nvSpPr>
        <p:spPr>
          <a:xfrm>
            <a:off x="7598664" y="0"/>
            <a:ext cx="155448" cy="6858000"/>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7744968" y="0"/>
            <a:ext cx="155448" cy="6858000"/>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Rectangle 6"/>
          <p:cNvSpPr/>
          <p:nvPr/>
        </p:nvSpPr>
        <p:spPr>
          <a:xfrm>
            <a:off x="7891272" y="0"/>
            <a:ext cx="155448" cy="6858000"/>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Rectangle 7"/>
          <p:cNvSpPr/>
          <p:nvPr/>
        </p:nvSpPr>
        <p:spPr>
          <a:xfrm>
            <a:off x="7452360" y="0"/>
            <a:ext cx="146304"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8037575" y="0"/>
            <a:ext cx="12700" cy="68580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ectangle 9"/>
          <p:cNvSpPr/>
          <p:nvPr/>
        </p:nvSpPr>
        <p:spPr>
          <a:xfrm>
            <a:off x="0" y="0"/>
            <a:ext cx="146304" cy="68580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68680" y="1207008"/>
            <a:ext cx="67665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IKOM  ·  STAJ TESLİMİ  ·  2026-08-06</a:t>
            </a:r>
          </a:p>
        </p:txBody>
      </p:sp>
      <p:sp>
        <p:nvSpPr>
          <p:cNvPr id="12" name="TextBox 11"/>
          <p:cNvSpPr txBox="1"/>
          <p:nvPr/>
        </p:nvSpPr>
        <p:spPr>
          <a:xfrm>
            <a:off x="841248" y="1664208"/>
            <a:ext cx="6949440" cy="2011680"/>
          </a:xfrm>
          <a:prstGeom prst="rect">
            <a:avLst/>
          </a:prstGeom>
          <a:noFill/>
        </p:spPr>
        <p:txBody>
          <a:bodyPr wrap="square" lIns="0" tIns="0" rIns="0" bIns="0" anchor="t">
            <a:spAutoFit/>
          </a:bodyPr>
          <a:lstStyle/>
          <a:p>
            <a:pPr algn="l">
              <a:lnSpc>
                <a:spcPct val="100000"/>
              </a:lnSpc>
              <a:spcAft>
                <a:spcPts val="0"/>
              </a:spcAft>
            </a:pPr>
            <a:r>
              <a:rPr sz="4400" b="0" i="0">
                <a:solidFill>
                  <a:srgbClr val="E6EDF3"/>
                </a:solidFill>
                <a:latin typeface="Bahnschrift SemiBold"/>
              </a:rPr>
              <a:t>Reading a power</a:t>
            </a:r>
          </a:p>
          <a:p>
            <a:pPr algn="l">
              <a:lnSpc>
                <a:spcPct val="100000"/>
              </a:lnSpc>
              <a:spcAft>
                <a:spcPts val="0"/>
              </a:spcAft>
            </a:pPr>
            <a:r>
              <a:rPr sz="4400" b="0" i="0">
                <a:solidFill>
                  <a:srgbClr val="E6EDF3"/>
                </a:solidFill>
                <a:latin typeface="Bahnschrift SemiBold"/>
              </a:rPr>
              <a:t>analyser from a phone</a:t>
            </a:r>
          </a:p>
        </p:txBody>
      </p:sp>
      <p:sp>
        <p:nvSpPr>
          <p:cNvPr id="13" name="Rectangle 12"/>
          <p:cNvSpPr/>
          <p:nvPr/>
        </p:nvSpPr>
        <p:spPr>
          <a:xfrm>
            <a:off x="868680" y="3401568"/>
            <a:ext cx="1463040"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68680" y="3712463"/>
            <a:ext cx="6400800" cy="1371600"/>
          </a:xfrm>
          <a:prstGeom prst="rect">
            <a:avLst/>
          </a:prstGeom>
          <a:noFill/>
        </p:spPr>
        <p:txBody>
          <a:bodyPr wrap="square" lIns="0" tIns="0" rIns="0" bIns="0" anchor="t">
            <a:spAutoFit/>
          </a:bodyPr>
          <a:lstStyle/>
          <a:p>
            <a:pPr algn="l">
              <a:lnSpc>
                <a:spcPct val="145000"/>
              </a:lnSpc>
              <a:spcAft>
                <a:spcPts val="0"/>
              </a:spcAft>
            </a:pPr>
            <a:r>
              <a:rPr sz="1400" b="0" i="0">
                <a:solidFill>
                  <a:srgbClr val="8494A6"/>
                </a:solidFill>
                <a:latin typeface="Segoe UI"/>
              </a:rPr>
              <a:t>A DATAKOM DKM-440 is read over Modbus TCP, republished as JSON over</a:t>
            </a:r>
          </a:p>
          <a:p>
            <a:pPr algn="l">
              <a:lnSpc>
                <a:spcPct val="145000"/>
              </a:lnSpc>
              <a:spcAft>
                <a:spcPts val="0"/>
              </a:spcAft>
            </a:pPr>
            <a:r>
              <a:rPr sz="1400" b="0" i="0">
                <a:solidFill>
                  <a:srgbClr val="8494A6"/>
                </a:solidFill>
                <a:latin typeface="Segoe UI"/>
              </a:rPr>
              <a:t>MQTT/TLS, and displayed on an Android phone — where a from-scratch</a:t>
            </a:r>
          </a:p>
          <a:p>
            <a:pPr algn="l">
              <a:lnSpc>
                <a:spcPct val="145000"/>
              </a:lnSpc>
              <a:spcAft>
                <a:spcPts val="0"/>
              </a:spcAft>
            </a:pPr>
            <a:r>
              <a:rPr sz="1400" b="0" i="0">
                <a:solidFill>
                  <a:srgbClr val="8494A6"/>
                </a:solidFill>
                <a:latin typeface="Segoe UI"/>
              </a:rPr>
              <a:t>C++ neural network turns a hand-drawn symbol into a gateway command.</a:t>
            </a:r>
          </a:p>
        </p:txBody>
      </p:sp>
      <p:sp>
        <p:nvSpPr>
          <p:cNvPr id="15" name="Rounded Rectangle 14"/>
          <p:cNvSpPr/>
          <p:nvPr/>
        </p:nvSpPr>
        <p:spPr>
          <a:xfrm>
            <a:off x="868680" y="5175504"/>
            <a:ext cx="709574" cy="292608"/>
          </a:xfrm>
          <a:prstGeom prst="roundRect">
            <a:avLst>
              <a:gd name="adj" fmla="val 32000"/>
            </a:avLst>
          </a:prstGeom>
          <a:no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10000"/>
              </a:lnSpc>
            </a:pPr>
            <a:r>
              <a:rPr sz="850" b="0">
                <a:solidFill>
                  <a:srgbClr val="63D2E8"/>
                </a:solidFill>
                <a:latin typeface="Bahnschrift SemiBold"/>
              </a:rPr>
              <a:t>DKM-440</a:t>
            </a:r>
          </a:p>
        </p:txBody>
      </p:sp>
      <p:sp>
        <p:nvSpPr>
          <p:cNvPr id="16" name="Rounded Rectangle 15"/>
          <p:cNvSpPr/>
          <p:nvPr/>
        </p:nvSpPr>
        <p:spPr>
          <a:xfrm>
            <a:off x="1724558" y="5175504"/>
            <a:ext cx="709574" cy="292608"/>
          </a:xfrm>
          <a:prstGeom prst="roundRect">
            <a:avLst>
              <a:gd name="adj" fmla="val 32000"/>
            </a:avLst>
          </a:prstGeom>
          <a:no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10000"/>
              </a:lnSpc>
            </a:pPr>
            <a:r>
              <a:rPr sz="850" b="0">
                <a:solidFill>
                  <a:srgbClr val="63D2E8"/>
                </a:solidFill>
                <a:latin typeface="Bahnschrift SemiBold"/>
              </a:rPr>
              <a:t>ESP8266</a:t>
            </a:r>
          </a:p>
        </p:txBody>
      </p:sp>
      <p:sp>
        <p:nvSpPr>
          <p:cNvPr id="17" name="Rounded Rectangle 16"/>
          <p:cNvSpPr/>
          <p:nvPr/>
        </p:nvSpPr>
        <p:spPr>
          <a:xfrm>
            <a:off x="2580436" y="5175504"/>
            <a:ext cx="1272844" cy="292608"/>
          </a:xfrm>
          <a:prstGeom prst="roundRect">
            <a:avLst>
              <a:gd name="adj" fmla="val 32000"/>
            </a:avLst>
          </a:prstGeom>
          <a:no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10000"/>
              </a:lnSpc>
            </a:pPr>
            <a:r>
              <a:rPr sz="850" b="0">
                <a:solidFill>
                  <a:srgbClr val="63D2E8"/>
                </a:solidFill>
                <a:latin typeface="Bahnschrift SemiBold"/>
              </a:rPr>
              <a:t>EMQX / TLS 1.3</a:t>
            </a:r>
          </a:p>
        </p:txBody>
      </p:sp>
      <p:sp>
        <p:nvSpPr>
          <p:cNvPr id="18" name="Rounded Rectangle 17"/>
          <p:cNvSpPr/>
          <p:nvPr/>
        </p:nvSpPr>
        <p:spPr>
          <a:xfrm>
            <a:off x="3999585" y="5175504"/>
            <a:ext cx="709574" cy="292608"/>
          </a:xfrm>
          <a:prstGeom prst="roundRect">
            <a:avLst>
              <a:gd name="adj" fmla="val 32000"/>
            </a:avLst>
          </a:prstGeom>
          <a:no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10000"/>
              </a:lnSpc>
            </a:pPr>
            <a:r>
              <a:rPr sz="850" b="0">
                <a:solidFill>
                  <a:srgbClr val="63D2E8"/>
                </a:solidFill>
                <a:latin typeface="Bahnschrift SemiBold"/>
              </a:rPr>
              <a:t>Android</a:t>
            </a:r>
          </a:p>
        </p:txBody>
      </p:sp>
      <p:sp>
        <p:nvSpPr>
          <p:cNvPr id="19" name="Rounded Rectangle 18"/>
          <p:cNvSpPr/>
          <p:nvPr/>
        </p:nvSpPr>
        <p:spPr>
          <a:xfrm>
            <a:off x="4855464" y="5175504"/>
            <a:ext cx="870508" cy="292608"/>
          </a:xfrm>
          <a:prstGeom prst="roundRect">
            <a:avLst>
              <a:gd name="adj" fmla="val 32000"/>
            </a:avLst>
          </a:prstGeom>
          <a:noFill/>
          <a:ln w="12700">
            <a:solidFill>
              <a:srgbClr val="C89A5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10000"/>
              </a:lnSpc>
            </a:pPr>
            <a:r>
              <a:rPr sz="850" b="0">
                <a:solidFill>
                  <a:srgbClr val="C89A5B"/>
                </a:solidFill>
                <a:latin typeface="Bahnschrift SemiBold"/>
              </a:rPr>
              <a:t>C++17 MLP</a:t>
            </a:r>
          </a:p>
        </p:txBody>
      </p:sp>
      <p:sp>
        <p:nvSpPr>
          <p:cNvPr id="20" name="TextBox 19"/>
          <p:cNvSpPr txBox="1"/>
          <p:nvPr/>
        </p:nvSpPr>
        <p:spPr>
          <a:xfrm>
            <a:off x="868680" y="4754880"/>
            <a:ext cx="6766560" cy="274320"/>
          </a:xfrm>
          <a:prstGeom prst="rect">
            <a:avLst/>
          </a:prstGeom>
          <a:noFill/>
        </p:spPr>
        <p:txBody>
          <a:bodyPr wrap="square" lIns="0" tIns="0" rIns="0" bIns="0" anchor="t">
            <a:spAutoFit/>
          </a:bodyPr>
          <a:lstStyle/>
          <a:p>
            <a:pPr algn="l">
              <a:lnSpc>
                <a:spcPct val="130000"/>
              </a:lnSpc>
              <a:spcAft>
                <a:spcPts val="0"/>
              </a:spcAft>
            </a:pPr>
            <a:r>
              <a:rPr sz="1150" b="0" i="0">
                <a:solidFill>
                  <a:srgbClr val="63D2E8"/>
                </a:solidFill>
                <a:latin typeface="Segoe UI"/>
              </a:rPr>
              <a:t>Industrial telemetry is taught in slices; this bench is the whole path, on one desk.</a:t>
            </a:r>
          </a:p>
        </p:txBody>
      </p:sp>
      <p:sp>
        <p:nvSpPr>
          <p:cNvPr id="21" name="TextBox 20"/>
          <p:cNvSpPr txBox="1"/>
          <p:nvPr/>
        </p:nvSpPr>
        <p:spPr>
          <a:xfrm>
            <a:off x="868680" y="5897880"/>
            <a:ext cx="6400800" cy="274320"/>
          </a:xfrm>
          <a:prstGeom prst="rect">
            <a:avLst/>
          </a:prstGeom>
          <a:noFill/>
        </p:spPr>
        <p:txBody>
          <a:bodyPr wrap="square" lIns="0" tIns="0" rIns="0" bIns="0" anchor="t">
            <a:spAutoFit/>
          </a:bodyPr>
          <a:lstStyle/>
          <a:p>
            <a:pPr algn="l">
              <a:lnSpc>
                <a:spcPct val="130000"/>
              </a:lnSpc>
              <a:spcAft>
                <a:spcPts val="0"/>
              </a:spcAft>
            </a:pPr>
            <a:r>
              <a:rPr sz="1050" b="0" i="0">
                <a:solidFill>
                  <a:srgbClr val="5A6878"/>
                </a:solidFill>
                <a:latin typeface="Consolas"/>
              </a:rPr>
              <a:t>Every figure in this deck is a measured value from the bench, or it is labelled as unproven.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VERIFIED END TO END · 2026-07-28</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What runs today</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640080" y="1645920"/>
            <a:ext cx="2487168" cy="1188720"/>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p:cNvSpPr/>
          <p:nvPr/>
        </p:nvSpPr>
        <p:spPr>
          <a:xfrm>
            <a:off x="640080" y="1645920"/>
            <a:ext cx="248716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41247" y="1901952"/>
            <a:ext cx="2084832"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DKM-440</a:t>
            </a:r>
          </a:p>
        </p:txBody>
      </p:sp>
      <p:sp>
        <p:nvSpPr>
          <p:cNvPr id="24" name="TextBox 23"/>
          <p:cNvSpPr txBox="1"/>
          <p:nvPr/>
        </p:nvSpPr>
        <p:spPr>
          <a:xfrm>
            <a:off x="841247" y="2212848"/>
            <a:ext cx="2084832" cy="457200"/>
          </a:xfrm>
          <a:prstGeom prst="rect">
            <a:avLst/>
          </a:prstGeom>
          <a:noFill/>
        </p:spPr>
        <p:txBody>
          <a:bodyPr wrap="square" lIns="0" tIns="0" rIns="0" bIns="0" anchor="t">
            <a:spAutoFit/>
          </a:bodyPr>
          <a:lstStyle/>
          <a:p>
            <a:pPr algn="l">
              <a:lnSpc>
                <a:spcPct val="130000"/>
              </a:lnSpc>
              <a:spcAft>
                <a:spcPts val="0"/>
              </a:spcAft>
            </a:pPr>
            <a:r>
              <a:rPr sz="900" b="0" i="0">
                <a:solidFill>
                  <a:srgbClr val="8494A6"/>
                </a:solidFill>
                <a:latin typeface="Consolas"/>
              </a:rPr>
              <a:t>192.169.10.74:502</a:t>
            </a:r>
          </a:p>
          <a:p>
            <a:pPr algn="l">
              <a:lnSpc>
                <a:spcPct val="130000"/>
              </a:lnSpc>
              <a:spcAft>
                <a:spcPts val="0"/>
              </a:spcAft>
            </a:pPr>
            <a:r>
              <a:rPr sz="900" b="0" i="0">
                <a:solidFill>
                  <a:srgbClr val="8494A6"/>
                </a:solidFill>
                <a:latin typeface="Consolas"/>
              </a:rPr>
              <a:t>Modbus TCP · unit 1</a:t>
            </a:r>
          </a:p>
        </p:txBody>
      </p:sp>
      <p:cxnSp>
        <p:nvCxnSpPr>
          <p:cNvPr id="25" name="Connector 24"/>
          <p:cNvCxnSpPr/>
          <p:nvPr/>
        </p:nvCxnSpPr>
        <p:spPr>
          <a:xfrm>
            <a:off x="3163824" y="2304288"/>
            <a:ext cx="246888" cy="0"/>
          </a:xfrm>
          <a:prstGeom prst="line">
            <a:avLst/>
          </a:prstGeom>
          <a:ln w="22225">
            <a:solidFill>
              <a:srgbClr val="2E7D8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447288" y="1645920"/>
            <a:ext cx="2487168" cy="1188720"/>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Rectangle 26"/>
          <p:cNvSpPr/>
          <p:nvPr/>
        </p:nvSpPr>
        <p:spPr>
          <a:xfrm>
            <a:off x="3447288" y="1645920"/>
            <a:ext cx="248716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TextBox 27"/>
          <p:cNvSpPr txBox="1"/>
          <p:nvPr/>
        </p:nvSpPr>
        <p:spPr>
          <a:xfrm>
            <a:off x="3648456" y="1901952"/>
            <a:ext cx="2084832"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ESP8266</a:t>
            </a:r>
          </a:p>
        </p:txBody>
      </p:sp>
      <p:sp>
        <p:nvSpPr>
          <p:cNvPr id="29" name="TextBox 28"/>
          <p:cNvSpPr txBox="1"/>
          <p:nvPr/>
        </p:nvSpPr>
        <p:spPr>
          <a:xfrm>
            <a:off x="3648456" y="2212848"/>
            <a:ext cx="2084832" cy="457200"/>
          </a:xfrm>
          <a:prstGeom prst="rect">
            <a:avLst/>
          </a:prstGeom>
          <a:noFill/>
        </p:spPr>
        <p:txBody>
          <a:bodyPr wrap="square" lIns="0" tIns="0" rIns="0" bIns="0" anchor="t">
            <a:spAutoFit/>
          </a:bodyPr>
          <a:lstStyle/>
          <a:p>
            <a:pPr algn="l">
              <a:lnSpc>
                <a:spcPct val="130000"/>
              </a:lnSpc>
              <a:spcAft>
                <a:spcPts val="0"/>
              </a:spcAft>
            </a:pPr>
            <a:r>
              <a:rPr sz="900" b="0" i="0">
                <a:solidFill>
                  <a:srgbClr val="8494A6"/>
                </a:solidFill>
                <a:latin typeface="Consolas"/>
              </a:rPr>
              <a:t>192.169.10.75</a:t>
            </a:r>
          </a:p>
          <a:p>
            <a:pPr algn="l">
              <a:lnSpc>
                <a:spcPct val="130000"/>
              </a:lnSpc>
              <a:spcAft>
                <a:spcPts val="0"/>
              </a:spcAft>
            </a:pPr>
            <a:r>
              <a:rPr sz="900" b="0" i="0">
                <a:solidFill>
                  <a:srgbClr val="8494A6"/>
                </a:solidFill>
                <a:latin typeface="Consolas"/>
              </a:rPr>
              <a:t>Wi-Fi · gateway</a:t>
            </a:r>
          </a:p>
        </p:txBody>
      </p:sp>
      <p:cxnSp>
        <p:nvCxnSpPr>
          <p:cNvPr id="30" name="Connector 29"/>
          <p:cNvCxnSpPr/>
          <p:nvPr/>
        </p:nvCxnSpPr>
        <p:spPr>
          <a:xfrm>
            <a:off x="5971032" y="2304288"/>
            <a:ext cx="246888" cy="0"/>
          </a:xfrm>
          <a:prstGeom prst="line">
            <a:avLst/>
          </a:prstGeom>
          <a:ln w="22225">
            <a:solidFill>
              <a:srgbClr val="2E7D8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254496" y="1645920"/>
            <a:ext cx="2487168" cy="1188720"/>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Rectangle 31"/>
          <p:cNvSpPr/>
          <p:nvPr/>
        </p:nvSpPr>
        <p:spPr>
          <a:xfrm>
            <a:off x="6254496" y="1645920"/>
            <a:ext cx="248716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455664" y="1901952"/>
            <a:ext cx="2084832"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EMQX</a:t>
            </a:r>
          </a:p>
        </p:txBody>
      </p:sp>
      <p:sp>
        <p:nvSpPr>
          <p:cNvPr id="34" name="TextBox 33"/>
          <p:cNvSpPr txBox="1"/>
          <p:nvPr/>
        </p:nvSpPr>
        <p:spPr>
          <a:xfrm>
            <a:off x="6455664" y="2212848"/>
            <a:ext cx="2084832" cy="457200"/>
          </a:xfrm>
          <a:prstGeom prst="rect">
            <a:avLst/>
          </a:prstGeom>
          <a:noFill/>
        </p:spPr>
        <p:txBody>
          <a:bodyPr wrap="square" lIns="0" tIns="0" rIns="0" bIns="0" anchor="t">
            <a:spAutoFit/>
          </a:bodyPr>
          <a:lstStyle/>
          <a:p>
            <a:pPr algn="l">
              <a:lnSpc>
                <a:spcPct val="130000"/>
              </a:lnSpc>
              <a:spcAft>
                <a:spcPts val="0"/>
              </a:spcAft>
            </a:pPr>
            <a:r>
              <a:rPr sz="900" b="0" i="0">
                <a:solidFill>
                  <a:srgbClr val="8494A6"/>
                </a:solidFill>
                <a:latin typeface="Consolas"/>
              </a:rPr>
              <a:t>…emqxsl.com:8883</a:t>
            </a:r>
          </a:p>
          <a:p>
            <a:pPr algn="l">
              <a:lnSpc>
                <a:spcPct val="130000"/>
              </a:lnSpc>
              <a:spcAft>
                <a:spcPts val="0"/>
              </a:spcAft>
            </a:pPr>
            <a:r>
              <a:rPr sz="900" b="0" i="0">
                <a:solidFill>
                  <a:srgbClr val="8494A6"/>
                </a:solidFill>
                <a:latin typeface="Consolas"/>
              </a:rPr>
              <a:t>TLS 1.3 · retained + LWT</a:t>
            </a:r>
          </a:p>
        </p:txBody>
      </p:sp>
      <p:cxnSp>
        <p:nvCxnSpPr>
          <p:cNvPr id="35" name="Connector 34"/>
          <p:cNvCxnSpPr/>
          <p:nvPr/>
        </p:nvCxnSpPr>
        <p:spPr>
          <a:xfrm>
            <a:off x="8778240" y="2304288"/>
            <a:ext cx="246888" cy="0"/>
          </a:xfrm>
          <a:prstGeom prst="line">
            <a:avLst/>
          </a:prstGeom>
          <a:ln w="22225">
            <a:solidFill>
              <a:srgbClr val="2E7D8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061704" y="1645920"/>
            <a:ext cx="2487168" cy="1188720"/>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Rectangle 36"/>
          <p:cNvSpPr/>
          <p:nvPr/>
        </p:nvSpPr>
        <p:spPr>
          <a:xfrm>
            <a:off x="9061704" y="1645920"/>
            <a:ext cx="248716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TextBox 37"/>
          <p:cNvSpPr txBox="1"/>
          <p:nvPr/>
        </p:nvSpPr>
        <p:spPr>
          <a:xfrm>
            <a:off x="9262872" y="1901952"/>
            <a:ext cx="2084832"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osos-hmi</a:t>
            </a:r>
          </a:p>
        </p:txBody>
      </p:sp>
      <p:sp>
        <p:nvSpPr>
          <p:cNvPr id="39" name="TextBox 38"/>
          <p:cNvSpPr txBox="1"/>
          <p:nvPr/>
        </p:nvSpPr>
        <p:spPr>
          <a:xfrm>
            <a:off x="9262872" y="2212848"/>
            <a:ext cx="2084832" cy="457200"/>
          </a:xfrm>
          <a:prstGeom prst="rect">
            <a:avLst/>
          </a:prstGeom>
          <a:noFill/>
        </p:spPr>
        <p:txBody>
          <a:bodyPr wrap="square" lIns="0" tIns="0" rIns="0" bIns="0" anchor="t">
            <a:spAutoFit/>
          </a:bodyPr>
          <a:lstStyle/>
          <a:p>
            <a:pPr algn="l">
              <a:lnSpc>
                <a:spcPct val="130000"/>
              </a:lnSpc>
              <a:spcAft>
                <a:spcPts val="0"/>
              </a:spcAft>
            </a:pPr>
            <a:r>
              <a:rPr sz="900" b="0" i="0">
                <a:solidFill>
                  <a:srgbClr val="8494A6"/>
                </a:solidFill>
                <a:latin typeface="Consolas"/>
              </a:rPr>
              <a:t>Android · Kotlin</a:t>
            </a:r>
          </a:p>
          <a:p>
            <a:pPr algn="l">
              <a:lnSpc>
                <a:spcPct val="130000"/>
              </a:lnSpc>
              <a:spcAft>
                <a:spcPts val="0"/>
              </a:spcAft>
            </a:pPr>
            <a:r>
              <a:rPr sz="900" b="0" i="0">
                <a:solidFill>
                  <a:srgbClr val="8494A6"/>
                </a:solidFill>
                <a:latin typeface="Consolas"/>
              </a:rPr>
              <a:t>live tiles · alarms</a:t>
            </a:r>
          </a:p>
        </p:txBody>
      </p:sp>
      <p:sp>
        <p:nvSpPr>
          <p:cNvPr id="40" name="TextBox 39"/>
          <p:cNvSpPr txBox="1"/>
          <p:nvPr/>
        </p:nvSpPr>
        <p:spPr>
          <a:xfrm>
            <a:off x="2871216" y="1792224"/>
            <a:ext cx="832104" cy="365760"/>
          </a:xfrm>
          <a:prstGeom prst="rect">
            <a:avLst/>
          </a:prstGeom>
          <a:noFill/>
        </p:spPr>
        <p:txBody>
          <a:bodyPr wrap="square" lIns="0" tIns="0" rIns="0" bIns="0" anchor="t">
            <a:spAutoFit/>
          </a:bodyPr>
          <a:lstStyle/>
          <a:p>
            <a:pPr algn="ctr">
              <a:lnSpc>
                <a:spcPct val="120000"/>
              </a:lnSpc>
              <a:spcAft>
                <a:spcPts val="0"/>
              </a:spcAft>
            </a:pPr>
            <a:r>
              <a:rPr sz="750" b="0" i="0">
                <a:solidFill>
                  <a:srgbClr val="5A6878"/>
                </a:solidFill>
                <a:latin typeface="Consolas"/>
              </a:rPr>
              <a:t>Modbus</a:t>
            </a:r>
          </a:p>
          <a:p>
            <a:pPr algn="ctr">
              <a:lnSpc>
                <a:spcPct val="120000"/>
              </a:lnSpc>
              <a:spcAft>
                <a:spcPts val="0"/>
              </a:spcAft>
            </a:pPr>
            <a:r>
              <a:rPr sz="750" b="0" i="0">
                <a:solidFill>
                  <a:srgbClr val="5A6878"/>
                </a:solidFill>
                <a:latin typeface="Consolas"/>
              </a:rPr>
              <a:t>TCP</a:t>
            </a:r>
          </a:p>
        </p:txBody>
      </p:sp>
      <p:sp>
        <p:nvSpPr>
          <p:cNvPr id="41" name="TextBox 40"/>
          <p:cNvSpPr txBox="1"/>
          <p:nvPr/>
        </p:nvSpPr>
        <p:spPr>
          <a:xfrm>
            <a:off x="5678424" y="1792224"/>
            <a:ext cx="832104" cy="365760"/>
          </a:xfrm>
          <a:prstGeom prst="rect">
            <a:avLst/>
          </a:prstGeom>
          <a:noFill/>
        </p:spPr>
        <p:txBody>
          <a:bodyPr wrap="square" lIns="0" tIns="0" rIns="0" bIns="0" anchor="t">
            <a:spAutoFit/>
          </a:bodyPr>
          <a:lstStyle/>
          <a:p>
            <a:pPr algn="ctr">
              <a:lnSpc>
                <a:spcPct val="120000"/>
              </a:lnSpc>
              <a:spcAft>
                <a:spcPts val="0"/>
              </a:spcAft>
            </a:pPr>
            <a:r>
              <a:rPr sz="750" b="0" i="0">
                <a:solidFill>
                  <a:srgbClr val="5A6878"/>
                </a:solidFill>
                <a:latin typeface="Consolas"/>
              </a:rPr>
              <a:t>MQTT</a:t>
            </a:r>
          </a:p>
          <a:p>
            <a:pPr algn="ctr">
              <a:lnSpc>
                <a:spcPct val="120000"/>
              </a:lnSpc>
              <a:spcAft>
                <a:spcPts val="0"/>
              </a:spcAft>
            </a:pPr>
            <a:r>
              <a:rPr sz="750" b="0" i="0">
                <a:solidFill>
                  <a:srgbClr val="5A6878"/>
                </a:solidFill>
                <a:latin typeface="Consolas"/>
              </a:rPr>
              <a:t>TLS</a:t>
            </a:r>
          </a:p>
        </p:txBody>
      </p:sp>
      <p:sp>
        <p:nvSpPr>
          <p:cNvPr id="42" name="TextBox 41"/>
          <p:cNvSpPr txBox="1"/>
          <p:nvPr/>
        </p:nvSpPr>
        <p:spPr>
          <a:xfrm>
            <a:off x="8485632" y="1792224"/>
            <a:ext cx="832104" cy="365760"/>
          </a:xfrm>
          <a:prstGeom prst="rect">
            <a:avLst/>
          </a:prstGeom>
          <a:noFill/>
        </p:spPr>
        <p:txBody>
          <a:bodyPr wrap="square" lIns="0" tIns="0" rIns="0" bIns="0" anchor="t">
            <a:spAutoFit/>
          </a:bodyPr>
          <a:lstStyle/>
          <a:p>
            <a:pPr algn="ctr">
              <a:lnSpc>
                <a:spcPct val="120000"/>
              </a:lnSpc>
              <a:spcAft>
                <a:spcPts val="0"/>
              </a:spcAft>
            </a:pPr>
            <a:r>
              <a:rPr sz="750" b="0" i="0">
                <a:solidFill>
                  <a:srgbClr val="5A6878"/>
                </a:solidFill>
                <a:latin typeface="Consolas"/>
              </a:rPr>
              <a:t>MQTT</a:t>
            </a:r>
          </a:p>
          <a:p>
            <a:pPr algn="ctr">
              <a:lnSpc>
                <a:spcPct val="120000"/>
              </a:lnSpc>
              <a:spcAft>
                <a:spcPts val="0"/>
              </a:spcAft>
            </a:pPr>
            <a:r>
              <a:rPr sz="750" b="0" i="0">
                <a:solidFill>
                  <a:srgbClr val="5A6878"/>
                </a:solidFill>
                <a:latin typeface="Consolas"/>
              </a:rPr>
              <a:t>sub</a:t>
            </a:r>
          </a:p>
        </p:txBody>
      </p:sp>
      <p:sp>
        <p:nvSpPr>
          <p:cNvPr id="43" name="Rectangle 42"/>
          <p:cNvSpPr/>
          <p:nvPr/>
        </p:nvSpPr>
        <p:spPr>
          <a:xfrm>
            <a:off x="640080" y="3218688"/>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640080" y="3493008"/>
            <a:ext cx="2651760" cy="457200"/>
          </a:xfrm>
          <a:prstGeom prst="rect">
            <a:avLst/>
          </a:prstGeom>
          <a:noFill/>
        </p:spPr>
        <p:txBody>
          <a:bodyPr wrap="square" lIns="0" tIns="0" rIns="0" bIns="0" anchor="t">
            <a:spAutoFit/>
          </a:bodyPr>
          <a:lstStyle/>
          <a:p>
            <a:pPr algn="l">
              <a:lnSpc>
                <a:spcPct val="100000"/>
              </a:lnSpc>
              <a:spcAft>
                <a:spcPts val="0"/>
              </a:spcAft>
            </a:pPr>
            <a:r>
              <a:rPr sz="3000" b="0" i="0">
                <a:solidFill>
                  <a:srgbClr val="63D2E8"/>
                </a:solidFill>
                <a:latin typeface="Consolas"/>
              </a:rPr>
              <a:t>22 / 22</a:t>
            </a:r>
          </a:p>
        </p:txBody>
      </p:sp>
      <p:sp>
        <p:nvSpPr>
          <p:cNvPr id="45" name="TextBox 44"/>
          <p:cNvSpPr txBox="1"/>
          <p:nvPr/>
        </p:nvSpPr>
        <p:spPr>
          <a:xfrm>
            <a:off x="640080" y="388162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8494A6"/>
                </a:solidFill>
                <a:latin typeface="Bahnschrift SemiBold"/>
              </a:rPr>
              <a:t>REGISTERS PER CYCLE</a:t>
            </a:r>
          </a:p>
        </p:txBody>
      </p:sp>
      <p:sp>
        <p:nvSpPr>
          <p:cNvPr id="46" name="TextBox 45"/>
          <p:cNvSpPr txBox="1"/>
          <p:nvPr/>
        </p:nvSpPr>
        <p:spPr>
          <a:xfrm>
            <a:off x="640080" y="406450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5A6878"/>
                </a:solidFill>
                <a:latin typeface="Consolas"/>
              </a:rPr>
              <a:t>15 consecutive cycles</a:t>
            </a:r>
          </a:p>
        </p:txBody>
      </p:sp>
      <p:sp>
        <p:nvSpPr>
          <p:cNvPr id="47" name="TextBox 46"/>
          <p:cNvSpPr txBox="1"/>
          <p:nvPr/>
        </p:nvSpPr>
        <p:spPr>
          <a:xfrm>
            <a:off x="3401568" y="3493008"/>
            <a:ext cx="2651760" cy="457200"/>
          </a:xfrm>
          <a:prstGeom prst="rect">
            <a:avLst/>
          </a:prstGeom>
          <a:noFill/>
        </p:spPr>
        <p:txBody>
          <a:bodyPr wrap="square" lIns="0" tIns="0" rIns="0" bIns="0" anchor="t">
            <a:spAutoFit/>
          </a:bodyPr>
          <a:lstStyle/>
          <a:p>
            <a:pPr algn="l">
              <a:lnSpc>
                <a:spcPct val="100000"/>
              </a:lnSpc>
              <a:spcAft>
                <a:spcPts val="0"/>
              </a:spcAft>
            </a:pPr>
            <a:r>
              <a:rPr sz="3000" b="0" i="0">
                <a:solidFill>
                  <a:srgbClr val="63D2E8"/>
                </a:solidFill>
                <a:latin typeface="Consolas"/>
              </a:rPr>
              <a:t>5 s</a:t>
            </a:r>
          </a:p>
        </p:txBody>
      </p:sp>
      <p:sp>
        <p:nvSpPr>
          <p:cNvPr id="48" name="TextBox 47"/>
          <p:cNvSpPr txBox="1"/>
          <p:nvPr/>
        </p:nvSpPr>
        <p:spPr>
          <a:xfrm>
            <a:off x="3401568" y="388162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8494A6"/>
                </a:solidFill>
                <a:latin typeface="Bahnschrift SemiBold"/>
              </a:rPr>
              <a:t>REPORT INTERVAL</a:t>
            </a:r>
          </a:p>
        </p:txBody>
      </p:sp>
      <p:sp>
        <p:nvSpPr>
          <p:cNvPr id="49" name="TextBox 48"/>
          <p:cNvSpPr txBox="1"/>
          <p:nvPr/>
        </p:nvSpPr>
        <p:spPr>
          <a:xfrm>
            <a:off x="3401568" y="406450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5A6878"/>
                </a:solidFill>
                <a:latin typeface="Consolas"/>
              </a:rPr>
              <a:t>fixed read budget</a:t>
            </a:r>
          </a:p>
        </p:txBody>
      </p:sp>
      <p:sp>
        <p:nvSpPr>
          <p:cNvPr id="50" name="Rectangle 49"/>
          <p:cNvSpPr/>
          <p:nvPr/>
        </p:nvSpPr>
        <p:spPr>
          <a:xfrm>
            <a:off x="3182111" y="3529584"/>
            <a:ext cx="9525" cy="896112"/>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1" name="TextBox 50"/>
          <p:cNvSpPr txBox="1"/>
          <p:nvPr/>
        </p:nvSpPr>
        <p:spPr>
          <a:xfrm>
            <a:off x="6163056" y="3493008"/>
            <a:ext cx="2651760" cy="457200"/>
          </a:xfrm>
          <a:prstGeom prst="rect">
            <a:avLst/>
          </a:prstGeom>
          <a:noFill/>
        </p:spPr>
        <p:txBody>
          <a:bodyPr wrap="square" lIns="0" tIns="0" rIns="0" bIns="0" anchor="t">
            <a:spAutoFit/>
          </a:bodyPr>
          <a:lstStyle/>
          <a:p>
            <a:pPr algn="l">
              <a:lnSpc>
                <a:spcPct val="100000"/>
              </a:lnSpc>
              <a:spcAft>
                <a:spcPts val="0"/>
              </a:spcAft>
            </a:pPr>
            <a:r>
              <a:rPr sz="3000" b="0" i="0">
                <a:solidFill>
                  <a:srgbClr val="63D2E8"/>
                </a:solidFill>
                <a:latin typeface="Consolas"/>
              </a:rPr>
              <a:t>TLS 1.3</a:t>
            </a:r>
          </a:p>
        </p:txBody>
      </p:sp>
      <p:sp>
        <p:nvSpPr>
          <p:cNvPr id="52" name="TextBox 51"/>
          <p:cNvSpPr txBox="1"/>
          <p:nvPr/>
        </p:nvSpPr>
        <p:spPr>
          <a:xfrm>
            <a:off x="6163056" y="388162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8494A6"/>
                </a:solidFill>
                <a:latin typeface="Bahnschrift SemiBold"/>
              </a:rPr>
              <a:t>TO THE BROKER</a:t>
            </a:r>
          </a:p>
        </p:txBody>
      </p:sp>
      <p:sp>
        <p:nvSpPr>
          <p:cNvPr id="53" name="TextBox 52"/>
          <p:cNvSpPr txBox="1"/>
          <p:nvPr/>
        </p:nvSpPr>
        <p:spPr>
          <a:xfrm>
            <a:off x="6163056" y="406450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5A6878"/>
                </a:solidFill>
                <a:latin typeface="Consolas"/>
              </a:rPr>
              <a:t>DigiCert G2 verified</a:t>
            </a:r>
          </a:p>
        </p:txBody>
      </p:sp>
      <p:sp>
        <p:nvSpPr>
          <p:cNvPr id="54" name="Rectangle 53"/>
          <p:cNvSpPr/>
          <p:nvPr/>
        </p:nvSpPr>
        <p:spPr>
          <a:xfrm>
            <a:off x="5943600" y="3529584"/>
            <a:ext cx="9525" cy="896112"/>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TextBox 54"/>
          <p:cNvSpPr txBox="1"/>
          <p:nvPr/>
        </p:nvSpPr>
        <p:spPr>
          <a:xfrm>
            <a:off x="8924544" y="3493008"/>
            <a:ext cx="2651760" cy="457200"/>
          </a:xfrm>
          <a:prstGeom prst="rect">
            <a:avLst/>
          </a:prstGeom>
          <a:noFill/>
        </p:spPr>
        <p:txBody>
          <a:bodyPr wrap="square" lIns="0" tIns="0" rIns="0" bIns="0" anchor="t">
            <a:spAutoFit/>
          </a:bodyPr>
          <a:lstStyle/>
          <a:p>
            <a:pPr algn="l">
              <a:lnSpc>
                <a:spcPct val="100000"/>
              </a:lnSpc>
              <a:spcAft>
                <a:spcPts val="0"/>
              </a:spcAft>
            </a:pPr>
            <a:r>
              <a:rPr sz="3000" b="0" i="0">
                <a:solidFill>
                  <a:srgbClr val="C89A5B"/>
                </a:solidFill>
                <a:latin typeface="Consolas"/>
              </a:rPr>
              <a:t>97.65 %</a:t>
            </a:r>
          </a:p>
        </p:txBody>
      </p:sp>
      <p:sp>
        <p:nvSpPr>
          <p:cNvPr id="56" name="TextBox 55"/>
          <p:cNvSpPr txBox="1"/>
          <p:nvPr/>
        </p:nvSpPr>
        <p:spPr>
          <a:xfrm>
            <a:off x="8924544" y="388162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8494A6"/>
                </a:solidFill>
                <a:latin typeface="Bahnschrift SemiBold"/>
              </a:rPr>
              <a:t>MNIST TEST ACCURACY</a:t>
            </a:r>
          </a:p>
        </p:txBody>
      </p:sp>
      <p:sp>
        <p:nvSpPr>
          <p:cNvPr id="57" name="TextBox 56"/>
          <p:cNvSpPr txBox="1"/>
          <p:nvPr/>
        </p:nvSpPr>
        <p:spPr>
          <a:xfrm>
            <a:off x="8924544" y="4064508"/>
            <a:ext cx="2651760" cy="219456"/>
          </a:xfrm>
          <a:prstGeom prst="rect">
            <a:avLst/>
          </a:prstGeom>
          <a:noFill/>
        </p:spPr>
        <p:txBody>
          <a:bodyPr wrap="square" lIns="0" tIns="0" rIns="0" bIns="0" anchor="t">
            <a:spAutoFit/>
          </a:bodyPr>
          <a:lstStyle/>
          <a:p>
            <a:pPr algn="l">
              <a:lnSpc>
                <a:spcPct val="100000"/>
              </a:lnSpc>
              <a:spcAft>
                <a:spcPts val="0"/>
              </a:spcAft>
            </a:pPr>
            <a:r>
              <a:rPr sz="850" b="0" i="0">
                <a:solidFill>
                  <a:srgbClr val="5A6878"/>
                </a:solidFill>
                <a:latin typeface="Consolas"/>
              </a:rPr>
              <a:t>784-128-10, from scratch</a:t>
            </a:r>
          </a:p>
        </p:txBody>
      </p:sp>
      <p:sp>
        <p:nvSpPr>
          <p:cNvPr id="58" name="Rectangle 57"/>
          <p:cNvSpPr/>
          <p:nvPr/>
        </p:nvSpPr>
        <p:spPr>
          <a:xfrm>
            <a:off x="8705088" y="3529584"/>
            <a:ext cx="9525" cy="896112"/>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9" name="Rectangle 58"/>
          <p:cNvSpPr/>
          <p:nvPr/>
        </p:nvSpPr>
        <p:spPr>
          <a:xfrm>
            <a:off x="640080" y="4846320"/>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0" name="TextBox 59"/>
          <p:cNvSpPr txBox="1"/>
          <p:nvPr/>
        </p:nvSpPr>
        <p:spPr>
          <a:xfrm>
            <a:off x="640080" y="5047488"/>
            <a:ext cx="10908792" cy="1188720"/>
          </a:xfrm>
          <a:prstGeom prst="rect">
            <a:avLst/>
          </a:prstGeom>
          <a:noFill/>
        </p:spPr>
        <p:txBody>
          <a:bodyPr wrap="square" lIns="0" tIns="0" rIns="0" bIns="0">
            <a:spAutoFit/>
          </a:bodyPr>
          <a:lstStyle/>
          <a:p>
            <a:pPr algn="l">
              <a:lnSpc>
                <a:spcPct val="122000"/>
              </a:lnSpc>
              <a:spcAft>
                <a:spcPts val="800"/>
              </a:spcAft>
            </a:pPr>
            <a:r>
              <a:rPr sz="1200" b="1">
                <a:solidFill>
                  <a:srgbClr val="63D2E8"/>
                </a:solidFill>
                <a:latin typeface="Consolas"/>
              </a:rPr>
              <a:t>— </a:t>
            </a:r>
            <a:r>
              <a:rPr sz="1200" b="1">
                <a:solidFill>
                  <a:srgbClr val="E6EDF3"/>
                </a:solidFill>
                <a:latin typeface="Segoe UI"/>
              </a:rPr>
              <a:t>Cross-checked, not self-reported.</a:t>
            </a:r>
            <a:r>
              <a:rPr sz="1200" b="0">
                <a:solidFill>
                  <a:srgbClr val="8494A6"/>
                </a:solidFill>
                <a:latin typeface="Segoe UI"/>
              </a:rPr>
              <a:t>  A PC-side Modbus client read the same value the gateway published, in the same second.</a:t>
            </a:r>
          </a:p>
          <a:p>
            <a:pPr algn="l">
              <a:lnSpc>
                <a:spcPct val="122000"/>
              </a:lnSpc>
              <a:spcAft>
                <a:spcPts val="800"/>
              </a:spcAft>
            </a:pPr>
            <a:r>
              <a:rPr sz="1200" b="1">
                <a:solidFill>
                  <a:srgbClr val="63D2E8"/>
                </a:solidFill>
                <a:latin typeface="Consolas"/>
              </a:rPr>
              <a:t>— </a:t>
            </a:r>
            <a:r>
              <a:rPr sz="1200" b="1">
                <a:solidFill>
                  <a:srgbClr val="E6EDF3"/>
                </a:solidFill>
                <a:latin typeface="Segoe UI"/>
              </a:rPr>
              <a:t>The meter cannot move.</a:t>
            </a:r>
            <a:r>
              <a:rPr sz="1200" b="0">
                <a:solidFill>
                  <a:srgbClr val="8494A6"/>
                </a:solidFill>
                <a:latin typeface="Segoe UI"/>
              </a:rPr>
              <a:t>  Its address is a DHCP reservation on MAC xx-xx-xx-xx-xx-xx, because CFG_METER_HOST is a compile-time constant.</a:t>
            </a:r>
          </a:p>
        </p:txBody>
      </p:sp>
      <p:sp>
        <p:nvSpPr>
          <p:cNvPr id="61" name="Rectangle 60"/>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2" name="TextBox 61"/>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63" name="TextBox 62"/>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PHOTOGRAPHED 2026-07-28</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The hardware</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598931" y="1586484"/>
            <a:ext cx="2312868" cy="29626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22" name="Picture 21" descr="dkm440-front.jpg"/>
          <p:cNvPicPr>
            <a:picLocks noChangeAspect="1"/>
          </p:cNvPicPr>
          <p:nvPr/>
        </p:nvPicPr>
        <p:blipFill>
          <a:blip r:embed="rId2"/>
          <a:stretch>
            <a:fillRect/>
          </a:stretch>
        </p:blipFill>
        <p:spPr>
          <a:xfrm>
            <a:off x="640080" y="1627632"/>
            <a:ext cx="2230573" cy="2880360"/>
          </a:xfrm>
          <a:prstGeom prst="rect">
            <a:avLst/>
          </a:prstGeom>
        </p:spPr>
      </p:pic>
      <p:sp>
        <p:nvSpPr>
          <p:cNvPr id="23" name="TextBox 22"/>
          <p:cNvSpPr txBox="1"/>
          <p:nvPr/>
        </p:nvSpPr>
        <p:spPr>
          <a:xfrm>
            <a:off x="598931" y="4636007"/>
            <a:ext cx="2596332"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DATAKOM DKM-440 · Ver 10.1</a:t>
            </a:r>
          </a:p>
          <a:p>
            <a:pPr algn="l">
              <a:lnSpc>
                <a:spcPct val="125000"/>
              </a:lnSpc>
              <a:spcAft>
                <a:spcPts val="0"/>
              </a:spcAft>
            </a:pPr>
            <a:r>
              <a:rPr sz="850" b="0" i="0">
                <a:solidFill>
                  <a:srgbClr val="5A6878"/>
                </a:solidFill>
                <a:latin typeface="Consolas"/>
              </a:rPr>
              <a:t>RJ45 top edge — Modbus TCP :502</a:t>
            </a:r>
          </a:p>
        </p:txBody>
      </p:sp>
      <p:sp>
        <p:nvSpPr>
          <p:cNvPr id="24" name="Rectangle 23"/>
          <p:cNvSpPr/>
          <p:nvPr/>
        </p:nvSpPr>
        <p:spPr>
          <a:xfrm>
            <a:off x="3195264" y="1586484"/>
            <a:ext cx="2582177" cy="29626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25" name="Picture 24" descr="bench-psu.jpg"/>
          <p:cNvPicPr>
            <a:picLocks noChangeAspect="1"/>
          </p:cNvPicPr>
          <p:nvPr/>
        </p:nvPicPr>
        <p:blipFill>
          <a:blip r:embed="rId3"/>
          <a:stretch>
            <a:fillRect/>
          </a:stretch>
        </p:blipFill>
        <p:spPr>
          <a:xfrm>
            <a:off x="3236412" y="1627632"/>
            <a:ext cx="2499882" cy="2880360"/>
          </a:xfrm>
          <a:prstGeom prst="rect">
            <a:avLst/>
          </a:prstGeom>
        </p:spPr>
      </p:pic>
      <p:sp>
        <p:nvSpPr>
          <p:cNvPr id="26" name="TextBox 25"/>
          <p:cNvSpPr txBox="1"/>
          <p:nvPr/>
        </p:nvSpPr>
        <p:spPr>
          <a:xfrm>
            <a:off x="3195264" y="4636007"/>
            <a:ext cx="2865641"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CLASS 305D · 23.35 V @ 0.157 A</a:t>
            </a:r>
          </a:p>
          <a:p>
            <a:pPr algn="l">
              <a:lnSpc>
                <a:spcPct val="125000"/>
              </a:lnSpc>
              <a:spcAft>
                <a:spcPts val="0"/>
              </a:spcAft>
            </a:pPr>
            <a:r>
              <a:rPr sz="850" b="0" i="0">
                <a:solidFill>
                  <a:srgbClr val="5A6878"/>
                </a:solidFill>
                <a:latin typeface="Consolas"/>
              </a:rPr>
              <a:t>variable — the dial is not a constant</a:t>
            </a:r>
          </a:p>
        </p:txBody>
      </p:sp>
      <p:sp>
        <p:nvSpPr>
          <p:cNvPr id="27" name="Rectangle 26"/>
          <p:cNvSpPr/>
          <p:nvPr/>
        </p:nvSpPr>
        <p:spPr>
          <a:xfrm>
            <a:off x="6060906" y="1586484"/>
            <a:ext cx="2410165" cy="29626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28" name="Picture 27" descr="esp8266-nodemcu.jpg"/>
          <p:cNvPicPr>
            <a:picLocks noChangeAspect="1"/>
          </p:cNvPicPr>
          <p:nvPr/>
        </p:nvPicPr>
        <p:blipFill>
          <a:blip r:embed="rId4"/>
          <a:stretch>
            <a:fillRect/>
          </a:stretch>
        </p:blipFill>
        <p:spPr>
          <a:xfrm>
            <a:off x="6102054" y="1627632"/>
            <a:ext cx="2327870" cy="2880360"/>
          </a:xfrm>
          <a:prstGeom prst="rect">
            <a:avLst/>
          </a:prstGeom>
        </p:spPr>
      </p:pic>
      <p:sp>
        <p:nvSpPr>
          <p:cNvPr id="29" name="TextBox 28"/>
          <p:cNvSpPr txBox="1"/>
          <p:nvPr/>
        </p:nvSpPr>
        <p:spPr>
          <a:xfrm>
            <a:off x="6060906" y="4636007"/>
            <a:ext cx="2693629"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Ai-Thinker ESP-8266MOD · COM11</a:t>
            </a:r>
          </a:p>
          <a:p>
            <a:pPr algn="l">
              <a:lnSpc>
                <a:spcPct val="125000"/>
              </a:lnSpc>
              <a:spcAft>
                <a:spcPts val="0"/>
              </a:spcAft>
            </a:pPr>
            <a:r>
              <a:rPr sz="850" b="0" i="0">
                <a:solidFill>
                  <a:srgbClr val="5A6878"/>
                </a:solidFill>
                <a:latin typeface="Consolas"/>
              </a:rPr>
              <a:t>802.11 b/g/n — the WAN bridge</a:t>
            </a:r>
          </a:p>
        </p:txBody>
      </p:sp>
      <p:sp>
        <p:nvSpPr>
          <p:cNvPr id="30" name="Rectangle 29"/>
          <p:cNvSpPr/>
          <p:nvPr/>
        </p:nvSpPr>
        <p:spPr>
          <a:xfrm>
            <a:off x="8732520" y="1591056"/>
            <a:ext cx="2816352" cy="3621024"/>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951976" y="1792224"/>
            <a:ext cx="2377440"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THE SUBNET</a:t>
            </a:r>
          </a:p>
        </p:txBody>
      </p:sp>
      <p:sp>
        <p:nvSpPr>
          <p:cNvPr id="32" name="Rectangle 31"/>
          <p:cNvSpPr/>
          <p:nvPr/>
        </p:nvSpPr>
        <p:spPr>
          <a:xfrm>
            <a:off x="8951976" y="2066543"/>
            <a:ext cx="23774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8951976" y="2231136"/>
            <a:ext cx="1051560" cy="219456"/>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router</a:t>
            </a:r>
          </a:p>
        </p:txBody>
      </p:sp>
      <p:sp>
        <p:nvSpPr>
          <p:cNvPr id="34" name="TextBox 33"/>
          <p:cNvSpPr txBox="1"/>
          <p:nvPr/>
        </p:nvSpPr>
        <p:spPr>
          <a:xfrm>
            <a:off x="9966960" y="2231136"/>
            <a:ext cx="1463040" cy="219456"/>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192.169.10.1</a:t>
            </a:r>
          </a:p>
        </p:txBody>
      </p:sp>
      <p:sp>
        <p:nvSpPr>
          <p:cNvPr id="35" name="TextBox 34"/>
          <p:cNvSpPr txBox="1"/>
          <p:nvPr/>
        </p:nvSpPr>
        <p:spPr>
          <a:xfrm>
            <a:off x="8951976" y="2542032"/>
            <a:ext cx="1051560" cy="219456"/>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bench PC</a:t>
            </a:r>
          </a:p>
        </p:txBody>
      </p:sp>
      <p:sp>
        <p:nvSpPr>
          <p:cNvPr id="36" name="TextBox 35"/>
          <p:cNvSpPr txBox="1"/>
          <p:nvPr/>
        </p:nvSpPr>
        <p:spPr>
          <a:xfrm>
            <a:off x="9966960" y="2542032"/>
            <a:ext cx="1463040" cy="219456"/>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.72  DHCP</a:t>
            </a:r>
          </a:p>
        </p:txBody>
      </p:sp>
      <p:sp>
        <p:nvSpPr>
          <p:cNvPr id="37" name="TextBox 36"/>
          <p:cNvSpPr txBox="1"/>
          <p:nvPr/>
        </p:nvSpPr>
        <p:spPr>
          <a:xfrm>
            <a:off x="8951976" y="2852927"/>
            <a:ext cx="1051560" cy="219456"/>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DKM-440</a:t>
            </a:r>
          </a:p>
        </p:txBody>
      </p:sp>
      <p:sp>
        <p:nvSpPr>
          <p:cNvPr id="38" name="TextBox 37"/>
          <p:cNvSpPr txBox="1"/>
          <p:nvPr/>
        </p:nvSpPr>
        <p:spPr>
          <a:xfrm>
            <a:off x="9966960" y="2852927"/>
            <a:ext cx="1463040" cy="219456"/>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.74  reserved</a:t>
            </a:r>
          </a:p>
        </p:txBody>
      </p:sp>
      <p:sp>
        <p:nvSpPr>
          <p:cNvPr id="39" name="TextBox 38"/>
          <p:cNvSpPr txBox="1"/>
          <p:nvPr/>
        </p:nvSpPr>
        <p:spPr>
          <a:xfrm>
            <a:off x="8951976" y="3163823"/>
            <a:ext cx="1051560" cy="219456"/>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ESP8266</a:t>
            </a:r>
          </a:p>
        </p:txBody>
      </p:sp>
      <p:sp>
        <p:nvSpPr>
          <p:cNvPr id="40" name="TextBox 39"/>
          <p:cNvSpPr txBox="1"/>
          <p:nvPr/>
        </p:nvSpPr>
        <p:spPr>
          <a:xfrm>
            <a:off x="9966960" y="3163823"/>
            <a:ext cx="1463040" cy="219456"/>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.75  DHCP</a:t>
            </a:r>
          </a:p>
        </p:txBody>
      </p:sp>
      <p:sp>
        <p:nvSpPr>
          <p:cNvPr id="41" name="Rectangle 40"/>
          <p:cNvSpPr/>
          <p:nvPr/>
        </p:nvSpPr>
        <p:spPr>
          <a:xfrm>
            <a:off x="8951976" y="3511295"/>
            <a:ext cx="2377440"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2" name="TextBox 41"/>
          <p:cNvSpPr txBox="1"/>
          <p:nvPr/>
        </p:nvSpPr>
        <p:spPr>
          <a:xfrm>
            <a:off x="8951976" y="3675887"/>
            <a:ext cx="2377440" cy="219456"/>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SSID your-ssid</a:t>
            </a:r>
          </a:p>
        </p:txBody>
      </p:sp>
      <p:sp>
        <p:nvSpPr>
          <p:cNvPr id="43" name="TextBox 42"/>
          <p:cNvSpPr txBox="1"/>
          <p:nvPr/>
        </p:nvSpPr>
        <p:spPr>
          <a:xfrm>
            <a:off x="8951976" y="3913631"/>
            <a:ext cx="2377440" cy="219456"/>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RSSI −46 dBm</a:t>
            </a:r>
          </a:p>
        </p:txBody>
      </p:sp>
      <p:sp>
        <p:nvSpPr>
          <p:cNvPr id="44" name="TextBox 43"/>
          <p:cNvSpPr txBox="1"/>
          <p:nvPr/>
        </p:nvSpPr>
        <p:spPr>
          <a:xfrm>
            <a:off x="8951976" y="4261103"/>
            <a:ext cx="2377440" cy="746836"/>
          </a:xfrm>
          <a:prstGeom prst="rect">
            <a:avLst/>
          </a:prstGeom>
          <a:noFill/>
        </p:spPr>
        <p:txBody>
          <a:bodyPr wrap="square" lIns="0" tIns="0" rIns="0" bIns="0" anchor="t">
            <a:spAutoFit/>
          </a:bodyPr>
          <a:lstStyle/>
          <a:p>
            <a:pPr algn="l">
              <a:lnSpc>
                <a:spcPct val="135000"/>
              </a:lnSpc>
              <a:spcAft>
                <a:spcPts val="0"/>
              </a:spcAft>
            </a:pPr>
            <a:r>
              <a:rPr sz="900" b="0" i="0">
                <a:solidFill>
                  <a:srgbClr val="5A6878"/>
                </a:solidFill>
                <a:latin typeface="Segoe UI"/>
              </a:rPr>
              <a:t>192.169.x.x is not private address space — 192.168 was meant. It only shadows real hosts inside that block, so it stays. Recorded so nobody rediscovers it.</a:t>
            </a:r>
          </a:p>
        </p:txBody>
      </p:sp>
      <p:sp>
        <p:nvSpPr>
          <p:cNvPr id="45" name="Rectangle 44"/>
          <p:cNvSpPr/>
          <p:nvPr/>
        </p:nvSpPr>
        <p:spPr>
          <a:xfrm>
            <a:off x="640080" y="5230368"/>
            <a:ext cx="7818120"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40080" y="5413248"/>
            <a:ext cx="7818120" cy="914400"/>
          </a:xfrm>
          <a:prstGeom prst="rect">
            <a:avLst/>
          </a:prstGeom>
          <a:noFill/>
        </p:spPr>
        <p:txBody>
          <a:bodyPr wrap="square" lIns="0" tIns="0" rIns="0" bIns="0">
            <a:spAutoFit/>
          </a:bodyPr>
          <a:lstStyle/>
          <a:p>
            <a:pPr algn="l">
              <a:lnSpc>
                <a:spcPct val="135000"/>
              </a:lnSpc>
              <a:spcAft>
                <a:spcPts val="600"/>
              </a:spcAft>
            </a:pPr>
            <a:r>
              <a:rPr sz="1200" b="1">
                <a:solidFill>
                  <a:srgbClr val="E6EDF3"/>
                </a:solidFill>
                <a:latin typeface="Segoe UI"/>
              </a:rPr>
              <a:t>The meter is LAN-only and has no business on the internet.  </a:t>
            </a:r>
            <a:r>
              <a:rPr sz="1200" b="0">
                <a:solidFill>
                  <a:srgbClr val="8494A6"/>
                </a:solidFill>
                <a:latin typeface="Segoe UI"/>
              </a:rPr>
              <a:t>The ESP8266 is the one controlled egress point: it translates registers into JSON and speaks outward to a broker, so nothing on the internet ever addresses the meter.</a:t>
            </a:r>
          </a:p>
        </p:txBody>
      </p:sp>
      <p:sp>
        <p:nvSpPr>
          <p:cNvPr id="47" name="Rectangle 46"/>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8" name="TextBox 47"/>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49" name="TextBox 48"/>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TWO ALARM LAMPS LIT, AND ONE NUMBER THAT KEEPS MOVING</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Reading the panel honestly</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598931" y="1586484"/>
            <a:ext cx="3225371" cy="154533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22" name="Picture 21" descr="_crop_dkm440-front.jpg"/>
          <p:cNvPicPr>
            <a:picLocks noChangeAspect="1"/>
          </p:cNvPicPr>
          <p:nvPr/>
        </p:nvPicPr>
        <p:blipFill>
          <a:blip r:embed="rId2"/>
          <a:stretch>
            <a:fillRect/>
          </a:stretch>
        </p:blipFill>
        <p:spPr>
          <a:xfrm>
            <a:off x="640080" y="1627632"/>
            <a:ext cx="3143075" cy="1463040"/>
          </a:xfrm>
          <a:prstGeom prst="rect">
            <a:avLst/>
          </a:prstGeom>
        </p:spPr>
      </p:pic>
      <p:sp>
        <p:nvSpPr>
          <p:cNvPr id="23" name="TextBox 22"/>
          <p:cNvSpPr txBox="1"/>
          <p:nvPr/>
        </p:nvSpPr>
        <p:spPr>
          <a:xfrm>
            <a:off x="598931" y="3218688"/>
            <a:ext cx="3508835"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the status LEDs, bottom edge of the panel</a:t>
            </a:r>
          </a:p>
        </p:txBody>
      </p:sp>
      <p:sp>
        <p:nvSpPr>
          <p:cNvPr id="24" name="TextBox 23"/>
          <p:cNvSpPr txBox="1"/>
          <p:nvPr/>
        </p:nvSpPr>
        <p:spPr>
          <a:xfrm>
            <a:off x="4480560" y="1481328"/>
            <a:ext cx="7068312" cy="274320"/>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THE FOUR LAMPS</a:t>
            </a:r>
          </a:p>
        </p:txBody>
      </p:sp>
      <p:sp>
        <p:nvSpPr>
          <p:cNvPr id="25" name="Rectangle 24"/>
          <p:cNvSpPr/>
          <p:nvPr/>
        </p:nvSpPr>
        <p:spPr>
          <a:xfrm>
            <a:off x="4480560" y="1737360"/>
            <a:ext cx="706831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Rounded Rectangle 25"/>
          <p:cNvSpPr/>
          <p:nvPr/>
        </p:nvSpPr>
        <p:spPr>
          <a:xfrm>
            <a:off x="4480560" y="1988820"/>
            <a:ext cx="100584" cy="100584"/>
          </a:xfrm>
          <a:prstGeom prst="roundRect">
            <a:avLst>
              <a:gd name="adj" fmla="val 50000"/>
            </a:avLst>
          </a:prstGeom>
          <a:noFill/>
          <a:ln w="12700">
            <a:solidFill>
              <a:srgbClr val="5A687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4718304" y="1920240"/>
            <a:ext cx="11430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E6EDF3"/>
                </a:solidFill>
                <a:latin typeface="Consolas"/>
              </a:rPr>
              <a:t>ENERJİ</a:t>
            </a:r>
          </a:p>
        </p:txBody>
      </p:sp>
      <p:sp>
        <p:nvSpPr>
          <p:cNvPr id="28" name="TextBox 27"/>
          <p:cNvSpPr txBox="1"/>
          <p:nvPr/>
        </p:nvSpPr>
        <p:spPr>
          <a:xfrm>
            <a:off x="5943600" y="1920240"/>
            <a:ext cx="7315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5A6878"/>
                </a:solidFill>
                <a:latin typeface="Bahnschrift SemiBold"/>
              </a:rPr>
              <a:t>off</a:t>
            </a:r>
          </a:p>
        </p:txBody>
      </p:sp>
      <p:sp>
        <p:nvSpPr>
          <p:cNvPr id="29" name="TextBox 28"/>
          <p:cNvSpPr txBox="1"/>
          <p:nvPr/>
        </p:nvSpPr>
        <p:spPr>
          <a:xfrm>
            <a:off x="6766560" y="1920240"/>
            <a:ext cx="4782312" cy="237744"/>
          </a:xfrm>
          <a:prstGeom prst="rect">
            <a:avLst/>
          </a:prstGeom>
          <a:noFill/>
        </p:spPr>
        <p:txBody>
          <a:bodyPr wrap="square" lIns="0" tIns="0" rIns="0" bIns="0" anchor="t">
            <a:spAutoFit/>
          </a:bodyPr>
          <a:lstStyle/>
          <a:p>
            <a:pPr algn="l">
              <a:lnSpc>
                <a:spcPct val="112000"/>
              </a:lnSpc>
              <a:spcAft>
                <a:spcPts val="0"/>
              </a:spcAft>
            </a:pPr>
            <a:r>
              <a:rPr sz="1100" b="0" i="0">
                <a:solidFill>
                  <a:srgbClr val="8494A6"/>
                </a:solidFill>
                <a:latin typeface="Segoe UI"/>
              </a:rPr>
              <a:t>energy accumulation</a:t>
            </a:r>
          </a:p>
        </p:txBody>
      </p:sp>
      <p:sp>
        <p:nvSpPr>
          <p:cNvPr id="30" name="Rounded Rectangle 29"/>
          <p:cNvSpPr/>
          <p:nvPr/>
        </p:nvSpPr>
        <p:spPr>
          <a:xfrm>
            <a:off x="4480560" y="2354580"/>
            <a:ext cx="100584" cy="100584"/>
          </a:xfrm>
          <a:prstGeom prst="roundRect">
            <a:avLst>
              <a:gd name="adj" fmla="val 50000"/>
            </a:avLst>
          </a:prstGeom>
          <a:noFill/>
          <a:ln w="12700">
            <a:solidFill>
              <a:srgbClr val="5A687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4718304" y="2286000"/>
            <a:ext cx="11430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E6EDF3"/>
                </a:solidFill>
                <a:latin typeface="Consolas"/>
              </a:rPr>
              <a:t>HABERL.</a:t>
            </a:r>
          </a:p>
        </p:txBody>
      </p:sp>
      <p:sp>
        <p:nvSpPr>
          <p:cNvPr id="32" name="TextBox 31"/>
          <p:cNvSpPr txBox="1"/>
          <p:nvPr/>
        </p:nvSpPr>
        <p:spPr>
          <a:xfrm>
            <a:off x="5943600" y="2286000"/>
            <a:ext cx="7315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5A6878"/>
                </a:solidFill>
                <a:latin typeface="Bahnschrift SemiBold"/>
              </a:rPr>
              <a:t>off</a:t>
            </a:r>
          </a:p>
        </p:txBody>
      </p:sp>
      <p:sp>
        <p:nvSpPr>
          <p:cNvPr id="33" name="TextBox 32"/>
          <p:cNvSpPr txBox="1"/>
          <p:nvPr/>
        </p:nvSpPr>
        <p:spPr>
          <a:xfrm>
            <a:off x="6766560" y="2286000"/>
            <a:ext cx="4782312" cy="237744"/>
          </a:xfrm>
          <a:prstGeom prst="rect">
            <a:avLst/>
          </a:prstGeom>
          <a:noFill/>
        </p:spPr>
        <p:txBody>
          <a:bodyPr wrap="square" lIns="0" tIns="0" rIns="0" bIns="0" anchor="t">
            <a:spAutoFit/>
          </a:bodyPr>
          <a:lstStyle/>
          <a:p>
            <a:pPr algn="l">
              <a:lnSpc>
                <a:spcPct val="112000"/>
              </a:lnSpc>
              <a:spcAft>
                <a:spcPts val="0"/>
              </a:spcAft>
            </a:pPr>
            <a:r>
              <a:rPr sz="1100" b="0" i="0">
                <a:solidFill>
                  <a:srgbClr val="8494A6"/>
                </a:solidFill>
                <a:latin typeface="Segoe UI"/>
              </a:rPr>
              <a:t>communications</a:t>
            </a:r>
          </a:p>
        </p:txBody>
      </p:sp>
      <p:sp>
        <p:nvSpPr>
          <p:cNvPr id="34" name="Rounded Rectangle 33"/>
          <p:cNvSpPr/>
          <p:nvPr/>
        </p:nvSpPr>
        <p:spPr>
          <a:xfrm>
            <a:off x="4480560" y="2720340"/>
            <a:ext cx="100584" cy="100584"/>
          </a:xfrm>
          <a:prstGeom prst="roundRect">
            <a:avLst>
              <a:gd name="adj" fmla="val 50000"/>
            </a:avLst>
          </a:prstGeom>
          <a:solidFill>
            <a:srgbClr val="FF4438"/>
          </a:solidFill>
          <a:ln w="12700">
            <a:solidFill>
              <a:srgbClr val="FF443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4718304" y="2651760"/>
            <a:ext cx="11430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E6EDF3"/>
                </a:solidFill>
                <a:latin typeface="Consolas"/>
              </a:rPr>
              <a:t>ALARM</a:t>
            </a:r>
          </a:p>
        </p:txBody>
      </p:sp>
      <p:sp>
        <p:nvSpPr>
          <p:cNvPr id="36" name="TextBox 35"/>
          <p:cNvSpPr txBox="1"/>
          <p:nvPr/>
        </p:nvSpPr>
        <p:spPr>
          <a:xfrm>
            <a:off x="5943600" y="2651760"/>
            <a:ext cx="7315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FF4438"/>
                </a:solidFill>
                <a:latin typeface="Bahnschrift SemiBold"/>
              </a:rPr>
              <a:t>LIT</a:t>
            </a:r>
          </a:p>
        </p:txBody>
      </p:sp>
      <p:sp>
        <p:nvSpPr>
          <p:cNvPr id="37" name="TextBox 36"/>
          <p:cNvSpPr txBox="1"/>
          <p:nvPr/>
        </p:nvSpPr>
        <p:spPr>
          <a:xfrm>
            <a:off x="6766560" y="2651760"/>
            <a:ext cx="4782312" cy="237744"/>
          </a:xfrm>
          <a:prstGeom prst="rect">
            <a:avLst/>
          </a:prstGeom>
          <a:noFill/>
        </p:spPr>
        <p:txBody>
          <a:bodyPr wrap="square" lIns="0" tIns="0" rIns="0" bIns="0" anchor="t">
            <a:spAutoFit/>
          </a:bodyPr>
          <a:lstStyle/>
          <a:p>
            <a:pPr algn="l">
              <a:lnSpc>
                <a:spcPct val="112000"/>
              </a:lnSpc>
              <a:spcAft>
                <a:spcPts val="0"/>
              </a:spcAft>
            </a:pPr>
            <a:r>
              <a:rPr sz="1100" b="0" i="0">
                <a:solidFill>
                  <a:srgbClr val="8494A6"/>
                </a:solidFill>
                <a:latin typeface="Segoe UI"/>
              </a:rPr>
              <a:t>an AC meter with no AC connected</a:t>
            </a:r>
          </a:p>
        </p:txBody>
      </p:sp>
      <p:sp>
        <p:nvSpPr>
          <p:cNvPr id="38" name="Rounded Rectangle 37"/>
          <p:cNvSpPr/>
          <p:nvPr/>
        </p:nvSpPr>
        <p:spPr>
          <a:xfrm>
            <a:off x="4480560" y="3086100"/>
            <a:ext cx="100584" cy="100584"/>
          </a:xfrm>
          <a:prstGeom prst="roundRect">
            <a:avLst>
              <a:gd name="adj" fmla="val 50000"/>
            </a:avLst>
          </a:prstGeom>
          <a:solidFill>
            <a:srgbClr val="FFA928"/>
          </a:solidFill>
          <a:ln w="12700">
            <a:solidFill>
              <a:srgbClr val="FFA92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4718304" y="3017520"/>
            <a:ext cx="11430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E6EDF3"/>
                </a:solidFill>
                <a:latin typeface="Consolas"/>
              </a:rPr>
              <a:t>UYARI</a:t>
            </a:r>
          </a:p>
        </p:txBody>
      </p:sp>
      <p:sp>
        <p:nvSpPr>
          <p:cNvPr id="40" name="TextBox 39"/>
          <p:cNvSpPr txBox="1"/>
          <p:nvPr/>
        </p:nvSpPr>
        <p:spPr>
          <a:xfrm>
            <a:off x="5943600" y="3017520"/>
            <a:ext cx="7315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FFA928"/>
                </a:solidFill>
                <a:latin typeface="Bahnschrift SemiBold"/>
              </a:rPr>
              <a:t>LIT</a:t>
            </a:r>
          </a:p>
        </p:txBody>
      </p:sp>
      <p:sp>
        <p:nvSpPr>
          <p:cNvPr id="41" name="TextBox 40"/>
          <p:cNvSpPr txBox="1"/>
          <p:nvPr/>
        </p:nvSpPr>
        <p:spPr>
          <a:xfrm>
            <a:off x="6766560" y="3017520"/>
            <a:ext cx="4782312" cy="237744"/>
          </a:xfrm>
          <a:prstGeom prst="rect">
            <a:avLst/>
          </a:prstGeom>
          <a:noFill/>
        </p:spPr>
        <p:txBody>
          <a:bodyPr wrap="square" lIns="0" tIns="0" rIns="0" bIns="0" anchor="t">
            <a:spAutoFit/>
          </a:bodyPr>
          <a:lstStyle/>
          <a:p>
            <a:pPr algn="l">
              <a:lnSpc>
                <a:spcPct val="112000"/>
              </a:lnSpc>
              <a:spcAft>
                <a:spcPts val="0"/>
              </a:spcAft>
            </a:pPr>
            <a:r>
              <a:rPr sz="1100" b="0" i="0">
                <a:solidFill>
                  <a:srgbClr val="8494A6"/>
                </a:solidFill>
                <a:latin typeface="Segoe UI"/>
              </a:rPr>
              <a:t>warning — absent phases</a:t>
            </a:r>
          </a:p>
        </p:txBody>
      </p:sp>
      <p:sp>
        <p:nvSpPr>
          <p:cNvPr id="42" name="Rectangle 41"/>
          <p:cNvSpPr/>
          <p:nvPr/>
        </p:nvSpPr>
        <p:spPr>
          <a:xfrm>
            <a:off x="640080" y="3566160"/>
            <a:ext cx="5349240" cy="1166241"/>
          </a:xfrm>
          <a:prstGeom prst="rect">
            <a:avLst/>
          </a:prstGeom>
          <a:solidFill>
            <a:srgbClr val="0A0E13"/>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Rectangle 42"/>
          <p:cNvSpPr/>
          <p:nvPr/>
        </p:nvSpPr>
        <p:spPr>
          <a:xfrm>
            <a:off x="640080" y="3566160"/>
            <a:ext cx="25400" cy="1166241"/>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841247" y="3694176"/>
            <a:ext cx="4946903" cy="201168"/>
          </a:xfrm>
          <a:prstGeom prst="rect">
            <a:avLst/>
          </a:prstGeom>
          <a:noFill/>
        </p:spPr>
        <p:txBody>
          <a:bodyPr wrap="square" lIns="0" tIns="0" rIns="0" bIns="0" anchor="t">
            <a:spAutoFit/>
          </a:bodyPr>
          <a:lstStyle/>
          <a:p>
            <a:pPr algn="l">
              <a:lnSpc>
                <a:spcPct val="100000"/>
              </a:lnSpc>
              <a:spcAft>
                <a:spcPts val="0"/>
              </a:spcAft>
            </a:pPr>
            <a:r>
              <a:rPr sz="850" b="0" i="0">
                <a:solidFill>
                  <a:srgbClr val="63D2E8"/>
                </a:solidFill>
                <a:latin typeface="Bahnschrift SemiBold"/>
              </a:rPr>
              <a:t>EVERY AC REGISTER READS ZERO — CORRECTLY</a:t>
            </a:r>
          </a:p>
        </p:txBody>
      </p:sp>
      <p:sp>
        <p:nvSpPr>
          <p:cNvPr id="45" name="TextBox 44"/>
          <p:cNvSpPr txBox="1"/>
          <p:nvPr/>
        </p:nvSpPr>
        <p:spPr>
          <a:xfrm>
            <a:off x="841247" y="3968496"/>
            <a:ext cx="4946903" cy="654177"/>
          </a:xfrm>
          <a:prstGeom prst="rect">
            <a:avLst/>
          </a:prstGeom>
          <a:noFill/>
        </p:spPr>
        <p:txBody>
          <a:bodyPr wrap="square" lIns="0" tIns="0" rIns="0" bIns="0">
            <a:spAutoFit/>
          </a:bodyPr>
          <a:lstStyle/>
          <a:p>
            <a:pPr algn="l">
              <a:lnSpc>
                <a:spcPct val="130000"/>
              </a:lnSpc>
              <a:spcAft>
                <a:spcPts val="0"/>
              </a:spcAft>
            </a:pPr>
            <a:r>
              <a:rPr sz="1000" b="0">
                <a:solidFill>
                  <a:srgbClr val="63D2E8"/>
                </a:solidFill>
                <a:latin typeface="Consolas"/>
              </a:rPr>
              <a:t>MainBus_Voltage_L1  100  = 0.000</a:t>
            </a:r>
          </a:p>
          <a:p>
            <a:pPr algn="l">
              <a:lnSpc>
                <a:spcPct val="130000"/>
              </a:lnSpc>
              <a:spcAft>
                <a:spcPts val="0"/>
              </a:spcAft>
            </a:pPr>
            <a:r>
              <a:rPr sz="1000" b="0">
                <a:solidFill>
                  <a:srgbClr val="63D2E8"/>
                </a:solidFill>
                <a:latin typeface="Consolas"/>
              </a:rPr>
              <a:t>MainBus_Current_L1  180  = 0.000</a:t>
            </a:r>
          </a:p>
          <a:p>
            <a:pPr algn="l">
              <a:lnSpc>
                <a:spcPct val="130000"/>
              </a:lnSpc>
              <a:spcAft>
                <a:spcPts val="0"/>
              </a:spcAft>
            </a:pPr>
            <a:r>
              <a:rPr sz="1000" b="0">
                <a:solidFill>
                  <a:srgbClr val="63D2E8"/>
                </a:solidFill>
                <a:latin typeface="Consolas"/>
              </a:rPr>
              <a:t>MainBus_Freq_L1     266  = 0.000</a:t>
            </a:r>
          </a:p>
        </p:txBody>
      </p:sp>
      <p:sp>
        <p:nvSpPr>
          <p:cNvPr id="46" name="Rectangle 45"/>
          <p:cNvSpPr/>
          <p:nvPr/>
        </p:nvSpPr>
        <p:spPr>
          <a:xfrm>
            <a:off x="6199632" y="3566160"/>
            <a:ext cx="5349240" cy="20482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Rectangle 46"/>
          <p:cNvSpPr/>
          <p:nvPr/>
        </p:nvSpPr>
        <p:spPr>
          <a:xfrm>
            <a:off x="6199632" y="3566160"/>
            <a:ext cx="5349240" cy="31750"/>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8" name="TextBox 47"/>
          <p:cNvSpPr txBox="1"/>
          <p:nvPr/>
        </p:nvSpPr>
        <p:spPr>
          <a:xfrm>
            <a:off x="6419088" y="3767328"/>
            <a:ext cx="4937760" cy="274320"/>
          </a:xfrm>
          <a:prstGeom prst="rect">
            <a:avLst/>
          </a:prstGeom>
          <a:noFill/>
        </p:spPr>
        <p:txBody>
          <a:bodyPr wrap="square" lIns="0" tIns="0" rIns="0" bIns="0" anchor="t">
            <a:spAutoFit/>
          </a:bodyPr>
          <a:lstStyle/>
          <a:p>
            <a:pPr algn="l">
              <a:lnSpc>
                <a:spcPct val="112000"/>
              </a:lnSpc>
              <a:spcAft>
                <a:spcPts val="0"/>
              </a:spcAft>
            </a:pPr>
            <a:r>
              <a:rPr sz="1600" b="0" i="0">
                <a:solidFill>
                  <a:srgbClr val="FFA928"/>
                </a:solidFill>
                <a:latin typeface="Consolas"/>
              </a:rPr>
              <a:t>0.000 is not null</a:t>
            </a:r>
          </a:p>
        </p:txBody>
      </p:sp>
      <p:sp>
        <p:nvSpPr>
          <p:cNvPr id="49" name="TextBox 48"/>
          <p:cNvSpPr txBox="1"/>
          <p:nvPr/>
        </p:nvSpPr>
        <p:spPr>
          <a:xfrm>
            <a:off x="6419088" y="4114800"/>
            <a:ext cx="4910328" cy="1336006"/>
          </a:xfrm>
          <a:prstGeom prst="rect">
            <a:avLst/>
          </a:prstGeom>
          <a:noFill/>
        </p:spPr>
        <p:txBody>
          <a:bodyPr wrap="square" lIns="0" tIns="0" rIns="0" bIns="0" anchor="t">
            <a:spAutoFit/>
          </a:bodyPr>
          <a:lstStyle/>
          <a:p>
            <a:pPr algn="l">
              <a:lnSpc>
                <a:spcPct val="138000"/>
              </a:lnSpc>
              <a:spcAft>
                <a:spcPts val="0"/>
              </a:spcAft>
            </a:pPr>
            <a:r>
              <a:rPr sz="1050" b="0" i="0">
                <a:solidFill>
                  <a:srgbClr val="8494A6"/>
                </a:solidFill>
                <a:latin typeface="Segoe UI"/>
              </a:rPr>
              <a:t>A zero means read correctly, genuinely zero. A null means the register could not be read at all. The gateway publishes the key either way — requirement FW-12 — so the two never merge.</a:t>
            </a:r>
          </a:p>
          <a:p>
            <a:pPr algn="l">
              <a:lnSpc>
                <a:spcPct val="138000"/>
              </a:lnSpc>
              <a:spcAft>
                <a:spcPts val="0"/>
              </a:spcAft>
            </a:pPr>
            <a:r>
              <a:rPr sz="1050" b="0" i="0">
                <a:solidFill>
                  <a:srgbClr val="8494A6"/>
                </a:solidFill>
                <a:latin typeface="Segoe UI"/>
              </a:rPr>
              <a:t>It matters because this is a True-RMS AC analyser with nothing on its voltage or current inputs. The lamps are not a fault; they are the device correctly complaining about absent phases.</a:t>
            </a:r>
          </a:p>
        </p:txBody>
      </p:sp>
      <p:sp>
        <p:nvSpPr>
          <p:cNvPr id="50" name="TextBox 49"/>
          <p:cNvSpPr txBox="1"/>
          <p:nvPr/>
        </p:nvSpPr>
        <p:spPr>
          <a:xfrm>
            <a:off x="640080" y="4901184"/>
            <a:ext cx="534924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A928"/>
                </a:solidFill>
                <a:latin typeface="Bahnschrift SemiBold"/>
              </a:rPr>
              <a:t>SUPPLY_VOLTAGE · REGISTER 40260</a:t>
            </a:r>
          </a:p>
        </p:txBody>
      </p:sp>
      <p:sp>
        <p:nvSpPr>
          <p:cNvPr id="51" name="Rectangle 50"/>
          <p:cNvSpPr/>
          <p:nvPr/>
        </p:nvSpPr>
        <p:spPr>
          <a:xfrm>
            <a:off x="640080" y="5157216"/>
            <a:ext cx="53492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2" name="TextBox 51"/>
          <p:cNvSpPr txBox="1"/>
          <p:nvPr/>
        </p:nvSpPr>
        <p:spPr>
          <a:xfrm>
            <a:off x="640080" y="5266944"/>
            <a:ext cx="1737360" cy="274320"/>
          </a:xfrm>
          <a:prstGeom prst="rect">
            <a:avLst/>
          </a:prstGeom>
          <a:noFill/>
        </p:spPr>
        <p:txBody>
          <a:bodyPr wrap="square" lIns="0" tIns="0" rIns="0" bIns="0" anchor="t">
            <a:spAutoFit/>
          </a:bodyPr>
          <a:lstStyle/>
          <a:p>
            <a:pPr algn="l">
              <a:lnSpc>
                <a:spcPct val="112000"/>
              </a:lnSpc>
              <a:spcAft>
                <a:spcPts val="0"/>
              </a:spcAft>
            </a:pPr>
            <a:r>
              <a:rPr sz="1500" b="0" i="0">
                <a:solidFill>
                  <a:srgbClr val="8494A6"/>
                </a:solidFill>
                <a:latin typeface="Consolas"/>
              </a:rPr>
              <a:t>26.5 V</a:t>
            </a:r>
          </a:p>
        </p:txBody>
      </p:sp>
      <p:sp>
        <p:nvSpPr>
          <p:cNvPr id="53" name="TextBox 52"/>
          <p:cNvSpPr txBox="1"/>
          <p:nvPr/>
        </p:nvSpPr>
        <p:spPr>
          <a:xfrm>
            <a:off x="640080" y="5541264"/>
            <a:ext cx="1737360" cy="219456"/>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2026-07-23</a:t>
            </a:r>
          </a:p>
        </p:txBody>
      </p:sp>
      <p:sp>
        <p:nvSpPr>
          <p:cNvPr id="54" name="TextBox 53"/>
          <p:cNvSpPr txBox="1"/>
          <p:nvPr/>
        </p:nvSpPr>
        <p:spPr>
          <a:xfrm>
            <a:off x="2441448" y="5266944"/>
            <a:ext cx="1737360" cy="274320"/>
          </a:xfrm>
          <a:prstGeom prst="rect">
            <a:avLst/>
          </a:prstGeom>
          <a:noFill/>
        </p:spPr>
        <p:txBody>
          <a:bodyPr wrap="square" lIns="0" tIns="0" rIns="0" bIns="0" anchor="t">
            <a:spAutoFit/>
          </a:bodyPr>
          <a:lstStyle/>
          <a:p>
            <a:pPr algn="l">
              <a:lnSpc>
                <a:spcPct val="112000"/>
              </a:lnSpc>
              <a:spcAft>
                <a:spcPts val="0"/>
              </a:spcAft>
            </a:pPr>
            <a:r>
              <a:rPr sz="1500" b="0" i="0">
                <a:solidFill>
                  <a:srgbClr val="8494A6"/>
                </a:solidFill>
                <a:latin typeface="Consolas"/>
              </a:rPr>
              <a:t>13.2 V</a:t>
            </a:r>
          </a:p>
        </p:txBody>
      </p:sp>
      <p:sp>
        <p:nvSpPr>
          <p:cNvPr id="55" name="TextBox 54"/>
          <p:cNvSpPr txBox="1"/>
          <p:nvPr/>
        </p:nvSpPr>
        <p:spPr>
          <a:xfrm>
            <a:off x="2441448" y="5541264"/>
            <a:ext cx="1737360" cy="219456"/>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07-28 · gw + PC</a:t>
            </a:r>
          </a:p>
        </p:txBody>
      </p:sp>
      <p:sp>
        <p:nvSpPr>
          <p:cNvPr id="56" name="TextBox 55"/>
          <p:cNvSpPr txBox="1"/>
          <p:nvPr/>
        </p:nvSpPr>
        <p:spPr>
          <a:xfrm>
            <a:off x="4242816" y="5266944"/>
            <a:ext cx="1737360" cy="274320"/>
          </a:xfrm>
          <a:prstGeom prst="rect">
            <a:avLst/>
          </a:prstGeom>
          <a:noFill/>
        </p:spPr>
        <p:txBody>
          <a:bodyPr wrap="square" lIns="0" tIns="0" rIns="0" bIns="0" anchor="t">
            <a:spAutoFit/>
          </a:bodyPr>
          <a:lstStyle/>
          <a:p>
            <a:pPr algn="l">
              <a:lnSpc>
                <a:spcPct val="112000"/>
              </a:lnSpc>
              <a:spcAft>
                <a:spcPts val="0"/>
              </a:spcAft>
            </a:pPr>
            <a:r>
              <a:rPr sz="1500" b="0" i="0">
                <a:solidFill>
                  <a:srgbClr val="63D2E8"/>
                </a:solidFill>
                <a:latin typeface="Consolas"/>
              </a:rPr>
              <a:t>23.35 V</a:t>
            </a:r>
          </a:p>
        </p:txBody>
      </p:sp>
      <p:sp>
        <p:nvSpPr>
          <p:cNvPr id="57" name="TextBox 56"/>
          <p:cNvSpPr txBox="1"/>
          <p:nvPr/>
        </p:nvSpPr>
        <p:spPr>
          <a:xfrm>
            <a:off x="4242816" y="5541264"/>
            <a:ext cx="1737360" cy="219456"/>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07-28 · dial</a:t>
            </a:r>
          </a:p>
        </p:txBody>
      </p:sp>
      <p:sp>
        <p:nvSpPr>
          <p:cNvPr id="58" name="TextBox 57"/>
          <p:cNvSpPr txBox="1"/>
          <p:nvPr/>
        </p:nvSpPr>
        <p:spPr>
          <a:xfrm>
            <a:off x="640080" y="5815584"/>
            <a:ext cx="5349240" cy="411835"/>
          </a:xfrm>
          <a:prstGeom prst="rect">
            <a:avLst/>
          </a:prstGeom>
          <a:noFill/>
        </p:spPr>
        <p:txBody>
          <a:bodyPr wrap="square" lIns="0" tIns="0" rIns="0" bIns="0" anchor="t">
            <a:spAutoFit/>
          </a:bodyPr>
          <a:lstStyle/>
          <a:p>
            <a:pPr algn="l">
              <a:lnSpc>
                <a:spcPct val="134000"/>
              </a:lnSpc>
              <a:spcAft>
                <a:spcPts val="0"/>
              </a:spcAft>
            </a:pPr>
            <a:r>
              <a:rPr sz="1000" b="0" i="0">
                <a:solidFill>
                  <a:srgbClr val="8494A6"/>
                </a:solidFill>
                <a:latin typeface="Segoe UI"/>
              </a:rPr>
              <a:t>All three correct when recorded: a live readback of the bench dial, not a property of the meter — a staleness canary, never a reference.</a:t>
            </a:r>
          </a:p>
        </p:txBody>
      </p:sp>
      <p:sp>
        <p:nvSpPr>
          <p:cNvPr id="59" name="TextBox 58"/>
          <p:cNvSpPr txBox="1"/>
          <p:nvPr/>
        </p:nvSpPr>
        <p:spPr>
          <a:xfrm>
            <a:off x="6199632" y="5724144"/>
            <a:ext cx="5349240" cy="548640"/>
          </a:xfrm>
          <a:prstGeom prst="rect">
            <a:avLst/>
          </a:prstGeom>
          <a:noFill/>
        </p:spPr>
        <p:txBody>
          <a:bodyPr wrap="square" lIns="0" tIns="0" rIns="0" bIns="0">
            <a:spAutoFit/>
          </a:bodyPr>
          <a:lstStyle/>
          <a:p>
            <a:pPr algn="l">
              <a:lnSpc>
                <a:spcPct val="132000"/>
              </a:lnSpc>
              <a:spcAft>
                <a:spcPts val="600"/>
              </a:spcAft>
            </a:pPr>
            <a:r>
              <a:rPr sz="1000" b="1">
                <a:solidFill>
                  <a:srgbClr val="FF4438"/>
                </a:solidFill>
                <a:latin typeface="Consolas"/>
              </a:rPr>
              <a:t>OPEN · </a:t>
            </a:r>
            <a:r>
              <a:rPr sz="1000" b="0">
                <a:solidFill>
                  <a:srgbClr val="8494A6"/>
                </a:solidFill>
                <a:latin typeface="Segoe UI"/>
              </a:rPr>
              <a:t>the app reads ≈2 % above the supply's own display, always the same way. Cable loss has the wrong sign; one DMM across the meter's own terminals settles it.</a:t>
            </a:r>
          </a:p>
        </p:txBody>
      </p:sp>
      <p:sp>
        <p:nvSpPr>
          <p:cNvPr id="60" name="Rectangle 59"/>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1" name="TextBox 60"/>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62" name="TextBox 61"/>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TWO HOPS, SEVEN LAYERS, ONE PAYLOAD</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650" b="0" i="0">
                <a:solidFill>
                  <a:srgbClr val="E6EDF3"/>
                </a:solidFill>
                <a:latin typeface="Bahnschrift SemiBold"/>
              </a:rPr>
              <a:t>The whole system, on the OSI model</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1225296" y="1444752"/>
            <a:ext cx="1554480" cy="219456"/>
          </a:xfrm>
          <a:prstGeom prst="rect">
            <a:avLst/>
          </a:prstGeom>
          <a:noFill/>
        </p:spPr>
        <p:txBody>
          <a:bodyPr wrap="square" lIns="0" tIns="0" rIns="0" bIns="0" anchor="t">
            <a:spAutoFit/>
          </a:bodyPr>
          <a:lstStyle/>
          <a:p>
            <a:pPr algn="l">
              <a:lnSpc>
                <a:spcPct val="112000"/>
              </a:lnSpc>
              <a:spcAft>
                <a:spcPts val="0"/>
              </a:spcAft>
            </a:pPr>
            <a:r>
              <a:rPr sz="800" b="0" i="0">
                <a:solidFill>
                  <a:srgbClr val="63D2E8"/>
                </a:solidFill>
                <a:latin typeface="Bahnschrift SemiBold"/>
              </a:rPr>
              <a:t>LAYER</a:t>
            </a:r>
          </a:p>
        </p:txBody>
      </p:sp>
      <p:sp>
        <p:nvSpPr>
          <p:cNvPr id="22" name="TextBox 21"/>
          <p:cNvSpPr txBox="1"/>
          <p:nvPr/>
        </p:nvSpPr>
        <p:spPr>
          <a:xfrm>
            <a:off x="2834640" y="1444752"/>
            <a:ext cx="4297680" cy="219456"/>
          </a:xfrm>
          <a:prstGeom prst="rect">
            <a:avLst/>
          </a:prstGeom>
          <a:noFill/>
        </p:spPr>
        <p:txBody>
          <a:bodyPr wrap="square" lIns="0" tIns="0" rIns="0" bIns="0" anchor="t">
            <a:spAutoFit/>
          </a:bodyPr>
          <a:lstStyle/>
          <a:p>
            <a:pPr algn="l">
              <a:lnSpc>
                <a:spcPct val="112000"/>
              </a:lnSpc>
              <a:spcAft>
                <a:spcPts val="0"/>
              </a:spcAft>
            </a:pPr>
            <a:r>
              <a:rPr sz="800" b="0" i="0">
                <a:solidFill>
                  <a:srgbClr val="63D2E8"/>
                </a:solidFill>
                <a:latin typeface="Bahnschrift SemiBold"/>
              </a:rPr>
              <a:t>HOP 1   METER → GATEWAY</a:t>
            </a:r>
          </a:p>
        </p:txBody>
      </p:sp>
      <p:sp>
        <p:nvSpPr>
          <p:cNvPr id="23" name="TextBox 22"/>
          <p:cNvSpPr txBox="1"/>
          <p:nvPr/>
        </p:nvSpPr>
        <p:spPr>
          <a:xfrm>
            <a:off x="7223760" y="1444752"/>
            <a:ext cx="4325112" cy="219456"/>
          </a:xfrm>
          <a:prstGeom prst="rect">
            <a:avLst/>
          </a:prstGeom>
          <a:noFill/>
        </p:spPr>
        <p:txBody>
          <a:bodyPr wrap="square" lIns="0" tIns="0" rIns="0" bIns="0" anchor="t">
            <a:spAutoFit/>
          </a:bodyPr>
          <a:lstStyle/>
          <a:p>
            <a:pPr algn="l">
              <a:lnSpc>
                <a:spcPct val="112000"/>
              </a:lnSpc>
              <a:spcAft>
                <a:spcPts val="0"/>
              </a:spcAft>
            </a:pPr>
            <a:r>
              <a:rPr sz="800" b="0" i="0">
                <a:solidFill>
                  <a:srgbClr val="63D2E8"/>
                </a:solidFill>
                <a:latin typeface="Bahnschrift SemiBold"/>
              </a:rPr>
              <a:t>HOP 2   GATEWAY → BROKER → PHONE</a:t>
            </a:r>
          </a:p>
        </p:txBody>
      </p:sp>
      <p:sp>
        <p:nvSpPr>
          <p:cNvPr id="24" name="Rectangle 23"/>
          <p:cNvSpPr/>
          <p:nvPr/>
        </p:nvSpPr>
        <p:spPr>
          <a:xfrm>
            <a:off x="640080" y="1700784"/>
            <a:ext cx="1090879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Rectangle 24"/>
          <p:cNvSpPr/>
          <p:nvPr/>
        </p:nvSpPr>
        <p:spPr>
          <a:xfrm>
            <a:off x="640080" y="1828800"/>
            <a:ext cx="10908792" cy="498348"/>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731519" y="1947672"/>
            <a:ext cx="457200" cy="274320"/>
          </a:xfrm>
          <a:prstGeom prst="rect">
            <a:avLst/>
          </a:prstGeom>
          <a:noFill/>
        </p:spPr>
        <p:txBody>
          <a:bodyPr wrap="square" lIns="0" tIns="0" rIns="0" bIns="0" anchor="t">
            <a:spAutoFit/>
          </a:bodyPr>
          <a:lstStyle/>
          <a:p>
            <a:pPr algn="l">
              <a:lnSpc>
                <a:spcPct val="112000"/>
              </a:lnSpc>
              <a:spcAft>
                <a:spcPts val="0"/>
              </a:spcAft>
            </a:pPr>
            <a:r>
              <a:rPr sz="1500" b="0" i="0">
                <a:solidFill>
                  <a:srgbClr val="2E7D8E"/>
                </a:solidFill>
                <a:latin typeface="Consolas"/>
              </a:rPr>
              <a:t>7</a:t>
            </a:r>
          </a:p>
        </p:txBody>
      </p:sp>
      <p:sp>
        <p:nvSpPr>
          <p:cNvPr id="27" name="TextBox 26"/>
          <p:cNvSpPr txBox="1"/>
          <p:nvPr/>
        </p:nvSpPr>
        <p:spPr>
          <a:xfrm>
            <a:off x="1225296" y="1911095"/>
            <a:ext cx="1554480"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Application</a:t>
            </a:r>
          </a:p>
        </p:txBody>
      </p:sp>
      <p:sp>
        <p:nvSpPr>
          <p:cNvPr id="28" name="TextBox 27"/>
          <p:cNvSpPr txBox="1"/>
          <p:nvPr/>
        </p:nvSpPr>
        <p:spPr>
          <a:xfrm>
            <a:off x="1225296" y="2121408"/>
            <a:ext cx="1554480" cy="182880"/>
          </a:xfrm>
          <a:prstGeom prst="rect">
            <a:avLst/>
          </a:prstGeom>
          <a:noFill/>
        </p:spPr>
        <p:txBody>
          <a:bodyPr wrap="square" lIns="0" tIns="0" rIns="0" bIns="0" anchor="t">
            <a:spAutoFit/>
          </a:bodyPr>
          <a:lstStyle/>
          <a:p>
            <a:pPr algn="l">
              <a:lnSpc>
                <a:spcPct val="112000"/>
              </a:lnSpc>
              <a:spcAft>
                <a:spcPts val="0"/>
              </a:spcAft>
            </a:pPr>
            <a:r>
              <a:rPr sz="800" b="0" i="0">
                <a:solidFill>
                  <a:srgbClr val="5A6878"/>
                </a:solidFill>
                <a:latin typeface="Consolas"/>
              </a:rPr>
              <a:t>L7</a:t>
            </a:r>
          </a:p>
        </p:txBody>
      </p:sp>
      <p:sp>
        <p:nvSpPr>
          <p:cNvPr id="29" name="TextBox 28"/>
          <p:cNvSpPr txBox="1"/>
          <p:nvPr/>
        </p:nvSpPr>
        <p:spPr>
          <a:xfrm>
            <a:off x="2834640" y="1975104"/>
            <a:ext cx="42519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Modbus  FC03 read holding registers</a:t>
            </a:r>
          </a:p>
        </p:txBody>
      </p:sp>
      <p:sp>
        <p:nvSpPr>
          <p:cNvPr id="30" name="TextBox 29"/>
          <p:cNvSpPr txBox="1"/>
          <p:nvPr/>
        </p:nvSpPr>
        <p:spPr>
          <a:xfrm>
            <a:off x="7223760" y="1975104"/>
            <a:ext cx="4325112"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MQTT 3.1.1  PUBLISH / SUBSCRIBE</a:t>
            </a:r>
          </a:p>
        </p:txBody>
      </p:sp>
      <p:sp>
        <p:nvSpPr>
          <p:cNvPr id="31" name="Rectangle 30"/>
          <p:cNvSpPr/>
          <p:nvPr/>
        </p:nvSpPr>
        <p:spPr>
          <a:xfrm>
            <a:off x="640080" y="2327148"/>
            <a:ext cx="10908792" cy="498348"/>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731519" y="2446020"/>
            <a:ext cx="457200" cy="274320"/>
          </a:xfrm>
          <a:prstGeom prst="rect">
            <a:avLst/>
          </a:prstGeom>
          <a:noFill/>
        </p:spPr>
        <p:txBody>
          <a:bodyPr wrap="square" lIns="0" tIns="0" rIns="0" bIns="0" anchor="t">
            <a:spAutoFit/>
          </a:bodyPr>
          <a:lstStyle/>
          <a:p>
            <a:pPr algn="l">
              <a:lnSpc>
                <a:spcPct val="112000"/>
              </a:lnSpc>
              <a:spcAft>
                <a:spcPts val="0"/>
              </a:spcAft>
            </a:pPr>
            <a:r>
              <a:rPr sz="1500" b="0" i="0">
                <a:solidFill>
                  <a:srgbClr val="2E7D8E"/>
                </a:solidFill>
                <a:latin typeface="Consolas"/>
              </a:rPr>
              <a:t>6</a:t>
            </a:r>
          </a:p>
        </p:txBody>
      </p:sp>
      <p:sp>
        <p:nvSpPr>
          <p:cNvPr id="33" name="TextBox 32"/>
          <p:cNvSpPr txBox="1"/>
          <p:nvPr/>
        </p:nvSpPr>
        <p:spPr>
          <a:xfrm>
            <a:off x="1225296" y="2409444"/>
            <a:ext cx="1554480"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Presentation</a:t>
            </a:r>
          </a:p>
        </p:txBody>
      </p:sp>
      <p:sp>
        <p:nvSpPr>
          <p:cNvPr id="34" name="TextBox 33"/>
          <p:cNvSpPr txBox="1"/>
          <p:nvPr/>
        </p:nvSpPr>
        <p:spPr>
          <a:xfrm>
            <a:off x="1225296" y="2619756"/>
            <a:ext cx="1554480" cy="182880"/>
          </a:xfrm>
          <a:prstGeom prst="rect">
            <a:avLst/>
          </a:prstGeom>
          <a:noFill/>
        </p:spPr>
        <p:txBody>
          <a:bodyPr wrap="square" lIns="0" tIns="0" rIns="0" bIns="0" anchor="t">
            <a:spAutoFit/>
          </a:bodyPr>
          <a:lstStyle/>
          <a:p>
            <a:pPr algn="l">
              <a:lnSpc>
                <a:spcPct val="112000"/>
              </a:lnSpc>
              <a:spcAft>
                <a:spcPts val="0"/>
              </a:spcAft>
            </a:pPr>
            <a:r>
              <a:rPr sz="800" b="0" i="0">
                <a:solidFill>
                  <a:srgbClr val="5A6878"/>
                </a:solidFill>
                <a:latin typeface="Consolas"/>
              </a:rPr>
              <a:t>L6</a:t>
            </a:r>
          </a:p>
        </p:txBody>
      </p:sp>
      <p:sp>
        <p:nvSpPr>
          <p:cNvPr id="35" name="TextBox 34"/>
          <p:cNvSpPr txBox="1"/>
          <p:nvPr/>
        </p:nvSpPr>
        <p:spPr>
          <a:xfrm>
            <a:off x="2834640" y="2473452"/>
            <a:ext cx="42519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IEEE-754 float32, big-endian word order</a:t>
            </a:r>
          </a:p>
        </p:txBody>
      </p:sp>
      <p:sp>
        <p:nvSpPr>
          <p:cNvPr id="36" name="TextBox 35"/>
          <p:cNvSpPr txBox="1"/>
          <p:nvPr/>
        </p:nvSpPr>
        <p:spPr>
          <a:xfrm>
            <a:off x="7223760" y="2473452"/>
            <a:ext cx="4325112"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JSON UTF-8   ·   weights as base64 LE float32</a:t>
            </a:r>
          </a:p>
        </p:txBody>
      </p:sp>
      <p:sp>
        <p:nvSpPr>
          <p:cNvPr id="37" name="Rectangle 36"/>
          <p:cNvSpPr/>
          <p:nvPr/>
        </p:nvSpPr>
        <p:spPr>
          <a:xfrm>
            <a:off x="640080" y="2825496"/>
            <a:ext cx="10908792" cy="498348"/>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TextBox 37"/>
          <p:cNvSpPr txBox="1"/>
          <p:nvPr/>
        </p:nvSpPr>
        <p:spPr>
          <a:xfrm>
            <a:off x="731519" y="2944368"/>
            <a:ext cx="457200" cy="274320"/>
          </a:xfrm>
          <a:prstGeom prst="rect">
            <a:avLst/>
          </a:prstGeom>
          <a:noFill/>
        </p:spPr>
        <p:txBody>
          <a:bodyPr wrap="square" lIns="0" tIns="0" rIns="0" bIns="0" anchor="t">
            <a:spAutoFit/>
          </a:bodyPr>
          <a:lstStyle/>
          <a:p>
            <a:pPr algn="l">
              <a:lnSpc>
                <a:spcPct val="112000"/>
              </a:lnSpc>
              <a:spcAft>
                <a:spcPts val="0"/>
              </a:spcAft>
            </a:pPr>
            <a:r>
              <a:rPr sz="1500" b="0" i="0">
                <a:solidFill>
                  <a:srgbClr val="2E7D8E"/>
                </a:solidFill>
                <a:latin typeface="Consolas"/>
              </a:rPr>
              <a:t>5</a:t>
            </a:r>
          </a:p>
        </p:txBody>
      </p:sp>
      <p:sp>
        <p:nvSpPr>
          <p:cNvPr id="39" name="TextBox 38"/>
          <p:cNvSpPr txBox="1"/>
          <p:nvPr/>
        </p:nvSpPr>
        <p:spPr>
          <a:xfrm>
            <a:off x="1225296" y="2907791"/>
            <a:ext cx="1554480"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Session</a:t>
            </a:r>
          </a:p>
        </p:txBody>
      </p:sp>
      <p:sp>
        <p:nvSpPr>
          <p:cNvPr id="40" name="TextBox 39"/>
          <p:cNvSpPr txBox="1"/>
          <p:nvPr/>
        </p:nvSpPr>
        <p:spPr>
          <a:xfrm>
            <a:off x="1225296" y="3118103"/>
            <a:ext cx="1554480" cy="182880"/>
          </a:xfrm>
          <a:prstGeom prst="rect">
            <a:avLst/>
          </a:prstGeom>
          <a:noFill/>
        </p:spPr>
        <p:txBody>
          <a:bodyPr wrap="square" lIns="0" tIns="0" rIns="0" bIns="0" anchor="t">
            <a:spAutoFit/>
          </a:bodyPr>
          <a:lstStyle/>
          <a:p>
            <a:pPr algn="l">
              <a:lnSpc>
                <a:spcPct val="112000"/>
              </a:lnSpc>
              <a:spcAft>
                <a:spcPts val="0"/>
              </a:spcAft>
            </a:pPr>
            <a:r>
              <a:rPr sz="800" b="0" i="0">
                <a:solidFill>
                  <a:srgbClr val="5A6878"/>
                </a:solidFill>
                <a:latin typeface="Consolas"/>
              </a:rPr>
              <a:t>L5</a:t>
            </a:r>
          </a:p>
        </p:txBody>
      </p:sp>
      <p:sp>
        <p:nvSpPr>
          <p:cNvPr id="41" name="TextBox 40"/>
          <p:cNvSpPr txBox="1"/>
          <p:nvPr/>
        </p:nvSpPr>
        <p:spPr>
          <a:xfrm>
            <a:off x="2834640" y="2971800"/>
            <a:ext cx="42519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MBAP transaction id pairs reply to request</a:t>
            </a:r>
          </a:p>
        </p:txBody>
      </p:sp>
      <p:sp>
        <p:nvSpPr>
          <p:cNvPr id="42" name="TextBox 41"/>
          <p:cNvSpPr txBox="1"/>
          <p:nvPr/>
        </p:nvSpPr>
        <p:spPr>
          <a:xfrm>
            <a:off x="7223760" y="2971800"/>
            <a:ext cx="4325112"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MQTT session, keepalive, retained status + LWT</a:t>
            </a:r>
          </a:p>
        </p:txBody>
      </p:sp>
      <p:sp>
        <p:nvSpPr>
          <p:cNvPr id="43" name="Rectangle 42"/>
          <p:cNvSpPr/>
          <p:nvPr/>
        </p:nvSpPr>
        <p:spPr>
          <a:xfrm>
            <a:off x="640080" y="3323844"/>
            <a:ext cx="10908792" cy="498348"/>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731519" y="3442715"/>
            <a:ext cx="457200" cy="274320"/>
          </a:xfrm>
          <a:prstGeom prst="rect">
            <a:avLst/>
          </a:prstGeom>
          <a:noFill/>
        </p:spPr>
        <p:txBody>
          <a:bodyPr wrap="square" lIns="0" tIns="0" rIns="0" bIns="0" anchor="t">
            <a:spAutoFit/>
          </a:bodyPr>
          <a:lstStyle/>
          <a:p>
            <a:pPr algn="l">
              <a:lnSpc>
                <a:spcPct val="112000"/>
              </a:lnSpc>
              <a:spcAft>
                <a:spcPts val="0"/>
              </a:spcAft>
            </a:pPr>
            <a:r>
              <a:rPr sz="1500" b="0" i="0">
                <a:solidFill>
                  <a:srgbClr val="2E7D8E"/>
                </a:solidFill>
                <a:latin typeface="Consolas"/>
              </a:rPr>
              <a:t>4</a:t>
            </a:r>
          </a:p>
        </p:txBody>
      </p:sp>
      <p:sp>
        <p:nvSpPr>
          <p:cNvPr id="45" name="TextBox 44"/>
          <p:cNvSpPr txBox="1"/>
          <p:nvPr/>
        </p:nvSpPr>
        <p:spPr>
          <a:xfrm>
            <a:off x="1225296" y="3406139"/>
            <a:ext cx="1554480"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Transport</a:t>
            </a:r>
          </a:p>
        </p:txBody>
      </p:sp>
      <p:sp>
        <p:nvSpPr>
          <p:cNvPr id="46" name="TextBox 45"/>
          <p:cNvSpPr txBox="1"/>
          <p:nvPr/>
        </p:nvSpPr>
        <p:spPr>
          <a:xfrm>
            <a:off x="1225296" y="3616451"/>
            <a:ext cx="1554480" cy="182880"/>
          </a:xfrm>
          <a:prstGeom prst="rect">
            <a:avLst/>
          </a:prstGeom>
          <a:noFill/>
        </p:spPr>
        <p:txBody>
          <a:bodyPr wrap="square" lIns="0" tIns="0" rIns="0" bIns="0" anchor="t">
            <a:spAutoFit/>
          </a:bodyPr>
          <a:lstStyle/>
          <a:p>
            <a:pPr algn="l">
              <a:lnSpc>
                <a:spcPct val="112000"/>
              </a:lnSpc>
              <a:spcAft>
                <a:spcPts val="0"/>
              </a:spcAft>
            </a:pPr>
            <a:r>
              <a:rPr sz="800" b="0" i="0">
                <a:solidFill>
                  <a:srgbClr val="5A6878"/>
                </a:solidFill>
                <a:latin typeface="Consolas"/>
              </a:rPr>
              <a:t>L4</a:t>
            </a:r>
          </a:p>
        </p:txBody>
      </p:sp>
      <p:sp>
        <p:nvSpPr>
          <p:cNvPr id="47" name="TextBox 46"/>
          <p:cNvSpPr txBox="1"/>
          <p:nvPr/>
        </p:nvSpPr>
        <p:spPr>
          <a:xfrm>
            <a:off x="2834640" y="3470148"/>
            <a:ext cx="42519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TCP port 502</a:t>
            </a:r>
          </a:p>
        </p:txBody>
      </p:sp>
      <p:sp>
        <p:nvSpPr>
          <p:cNvPr id="48" name="TextBox 47"/>
          <p:cNvSpPr txBox="1"/>
          <p:nvPr/>
        </p:nvSpPr>
        <p:spPr>
          <a:xfrm>
            <a:off x="7223760" y="3470148"/>
            <a:ext cx="4325112"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TCP port 8883, wrapped in TLS 1.3</a:t>
            </a:r>
          </a:p>
        </p:txBody>
      </p:sp>
      <p:sp>
        <p:nvSpPr>
          <p:cNvPr id="49" name="Rectangle 48"/>
          <p:cNvSpPr/>
          <p:nvPr/>
        </p:nvSpPr>
        <p:spPr>
          <a:xfrm>
            <a:off x="640080" y="3822191"/>
            <a:ext cx="10908792" cy="498348"/>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TextBox 49"/>
          <p:cNvSpPr txBox="1"/>
          <p:nvPr/>
        </p:nvSpPr>
        <p:spPr>
          <a:xfrm>
            <a:off x="731519" y="3941063"/>
            <a:ext cx="457200" cy="274320"/>
          </a:xfrm>
          <a:prstGeom prst="rect">
            <a:avLst/>
          </a:prstGeom>
          <a:noFill/>
        </p:spPr>
        <p:txBody>
          <a:bodyPr wrap="square" lIns="0" tIns="0" rIns="0" bIns="0" anchor="t">
            <a:spAutoFit/>
          </a:bodyPr>
          <a:lstStyle/>
          <a:p>
            <a:pPr algn="l">
              <a:lnSpc>
                <a:spcPct val="112000"/>
              </a:lnSpc>
              <a:spcAft>
                <a:spcPts val="0"/>
              </a:spcAft>
            </a:pPr>
            <a:r>
              <a:rPr sz="1500" b="0" i="0">
                <a:solidFill>
                  <a:srgbClr val="2E7D8E"/>
                </a:solidFill>
                <a:latin typeface="Consolas"/>
              </a:rPr>
              <a:t>3</a:t>
            </a:r>
          </a:p>
        </p:txBody>
      </p:sp>
      <p:sp>
        <p:nvSpPr>
          <p:cNvPr id="51" name="TextBox 50"/>
          <p:cNvSpPr txBox="1"/>
          <p:nvPr/>
        </p:nvSpPr>
        <p:spPr>
          <a:xfrm>
            <a:off x="1225296" y="3904487"/>
            <a:ext cx="1554480"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Network</a:t>
            </a:r>
          </a:p>
        </p:txBody>
      </p:sp>
      <p:sp>
        <p:nvSpPr>
          <p:cNvPr id="52" name="TextBox 51"/>
          <p:cNvSpPr txBox="1"/>
          <p:nvPr/>
        </p:nvSpPr>
        <p:spPr>
          <a:xfrm>
            <a:off x="1225296" y="4114800"/>
            <a:ext cx="1554480" cy="182880"/>
          </a:xfrm>
          <a:prstGeom prst="rect">
            <a:avLst/>
          </a:prstGeom>
          <a:noFill/>
        </p:spPr>
        <p:txBody>
          <a:bodyPr wrap="square" lIns="0" tIns="0" rIns="0" bIns="0" anchor="t">
            <a:spAutoFit/>
          </a:bodyPr>
          <a:lstStyle/>
          <a:p>
            <a:pPr algn="l">
              <a:lnSpc>
                <a:spcPct val="112000"/>
              </a:lnSpc>
              <a:spcAft>
                <a:spcPts val="0"/>
              </a:spcAft>
            </a:pPr>
            <a:r>
              <a:rPr sz="800" b="0" i="0">
                <a:solidFill>
                  <a:srgbClr val="5A6878"/>
                </a:solidFill>
                <a:latin typeface="Consolas"/>
              </a:rPr>
              <a:t>L3</a:t>
            </a:r>
          </a:p>
        </p:txBody>
      </p:sp>
      <p:sp>
        <p:nvSpPr>
          <p:cNvPr id="53" name="TextBox 52"/>
          <p:cNvSpPr txBox="1"/>
          <p:nvPr/>
        </p:nvSpPr>
        <p:spPr>
          <a:xfrm>
            <a:off x="2834640" y="3968496"/>
            <a:ext cx="42519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IPv4  192.169.10.75 → 192.169.10.74</a:t>
            </a:r>
          </a:p>
        </p:txBody>
      </p:sp>
      <p:sp>
        <p:nvSpPr>
          <p:cNvPr id="54" name="TextBox 53"/>
          <p:cNvSpPr txBox="1"/>
          <p:nvPr/>
        </p:nvSpPr>
        <p:spPr>
          <a:xfrm>
            <a:off x="7223760" y="3968496"/>
            <a:ext cx="4325112"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IPv4 → …ala.eu-central-1.emqxsl.com</a:t>
            </a:r>
          </a:p>
        </p:txBody>
      </p:sp>
      <p:sp>
        <p:nvSpPr>
          <p:cNvPr id="55" name="Rectangle 54"/>
          <p:cNvSpPr/>
          <p:nvPr/>
        </p:nvSpPr>
        <p:spPr>
          <a:xfrm>
            <a:off x="640080" y="4320540"/>
            <a:ext cx="10908792" cy="498348"/>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6" name="TextBox 55"/>
          <p:cNvSpPr txBox="1"/>
          <p:nvPr/>
        </p:nvSpPr>
        <p:spPr>
          <a:xfrm>
            <a:off x="731519" y="4439412"/>
            <a:ext cx="457200" cy="274320"/>
          </a:xfrm>
          <a:prstGeom prst="rect">
            <a:avLst/>
          </a:prstGeom>
          <a:noFill/>
        </p:spPr>
        <p:txBody>
          <a:bodyPr wrap="square" lIns="0" tIns="0" rIns="0" bIns="0" anchor="t">
            <a:spAutoFit/>
          </a:bodyPr>
          <a:lstStyle/>
          <a:p>
            <a:pPr algn="l">
              <a:lnSpc>
                <a:spcPct val="112000"/>
              </a:lnSpc>
              <a:spcAft>
                <a:spcPts val="0"/>
              </a:spcAft>
            </a:pPr>
            <a:r>
              <a:rPr sz="1500" b="0" i="0">
                <a:solidFill>
                  <a:srgbClr val="2E7D8E"/>
                </a:solidFill>
                <a:latin typeface="Consolas"/>
              </a:rPr>
              <a:t>2</a:t>
            </a:r>
          </a:p>
        </p:txBody>
      </p:sp>
      <p:sp>
        <p:nvSpPr>
          <p:cNvPr id="57" name="TextBox 56"/>
          <p:cNvSpPr txBox="1"/>
          <p:nvPr/>
        </p:nvSpPr>
        <p:spPr>
          <a:xfrm>
            <a:off x="1225296" y="4402836"/>
            <a:ext cx="1554480"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Data link</a:t>
            </a:r>
          </a:p>
        </p:txBody>
      </p:sp>
      <p:sp>
        <p:nvSpPr>
          <p:cNvPr id="58" name="TextBox 57"/>
          <p:cNvSpPr txBox="1"/>
          <p:nvPr/>
        </p:nvSpPr>
        <p:spPr>
          <a:xfrm>
            <a:off x="1225296" y="4613148"/>
            <a:ext cx="1554480" cy="182880"/>
          </a:xfrm>
          <a:prstGeom prst="rect">
            <a:avLst/>
          </a:prstGeom>
          <a:noFill/>
        </p:spPr>
        <p:txBody>
          <a:bodyPr wrap="square" lIns="0" tIns="0" rIns="0" bIns="0" anchor="t">
            <a:spAutoFit/>
          </a:bodyPr>
          <a:lstStyle/>
          <a:p>
            <a:pPr algn="l">
              <a:lnSpc>
                <a:spcPct val="112000"/>
              </a:lnSpc>
              <a:spcAft>
                <a:spcPts val="0"/>
              </a:spcAft>
            </a:pPr>
            <a:r>
              <a:rPr sz="800" b="0" i="0">
                <a:solidFill>
                  <a:srgbClr val="5A6878"/>
                </a:solidFill>
                <a:latin typeface="Consolas"/>
              </a:rPr>
              <a:t>L2</a:t>
            </a:r>
          </a:p>
        </p:txBody>
      </p:sp>
      <p:sp>
        <p:nvSpPr>
          <p:cNvPr id="59" name="TextBox 58"/>
          <p:cNvSpPr txBox="1"/>
          <p:nvPr/>
        </p:nvSpPr>
        <p:spPr>
          <a:xfrm>
            <a:off x="2834640" y="4466844"/>
            <a:ext cx="42519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Ethernet II   MAC xx-xx-xx-xx-xx-xx</a:t>
            </a:r>
          </a:p>
        </p:txBody>
      </p:sp>
      <p:sp>
        <p:nvSpPr>
          <p:cNvPr id="60" name="TextBox 59"/>
          <p:cNvSpPr txBox="1"/>
          <p:nvPr/>
        </p:nvSpPr>
        <p:spPr>
          <a:xfrm>
            <a:off x="7223760" y="4466844"/>
            <a:ext cx="4325112"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802.11 b/g/n   CSMA/CA, SSID your-ssid</a:t>
            </a:r>
          </a:p>
        </p:txBody>
      </p:sp>
      <p:sp>
        <p:nvSpPr>
          <p:cNvPr id="61" name="Rectangle 60"/>
          <p:cNvSpPr/>
          <p:nvPr/>
        </p:nvSpPr>
        <p:spPr>
          <a:xfrm>
            <a:off x="640080" y="4818888"/>
            <a:ext cx="10908792" cy="498348"/>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2" name="TextBox 61"/>
          <p:cNvSpPr txBox="1"/>
          <p:nvPr/>
        </p:nvSpPr>
        <p:spPr>
          <a:xfrm>
            <a:off x="731519" y="4937759"/>
            <a:ext cx="457200" cy="274320"/>
          </a:xfrm>
          <a:prstGeom prst="rect">
            <a:avLst/>
          </a:prstGeom>
          <a:noFill/>
        </p:spPr>
        <p:txBody>
          <a:bodyPr wrap="square" lIns="0" tIns="0" rIns="0" bIns="0" anchor="t">
            <a:spAutoFit/>
          </a:bodyPr>
          <a:lstStyle/>
          <a:p>
            <a:pPr algn="l">
              <a:lnSpc>
                <a:spcPct val="112000"/>
              </a:lnSpc>
              <a:spcAft>
                <a:spcPts val="0"/>
              </a:spcAft>
            </a:pPr>
            <a:r>
              <a:rPr sz="1500" b="0" i="0">
                <a:solidFill>
                  <a:srgbClr val="2E7D8E"/>
                </a:solidFill>
                <a:latin typeface="Consolas"/>
              </a:rPr>
              <a:t>1</a:t>
            </a:r>
          </a:p>
        </p:txBody>
      </p:sp>
      <p:sp>
        <p:nvSpPr>
          <p:cNvPr id="63" name="TextBox 62"/>
          <p:cNvSpPr txBox="1"/>
          <p:nvPr/>
        </p:nvSpPr>
        <p:spPr>
          <a:xfrm>
            <a:off x="1225296" y="4901183"/>
            <a:ext cx="1554480"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Physical</a:t>
            </a:r>
          </a:p>
        </p:txBody>
      </p:sp>
      <p:sp>
        <p:nvSpPr>
          <p:cNvPr id="64" name="TextBox 63"/>
          <p:cNvSpPr txBox="1"/>
          <p:nvPr/>
        </p:nvSpPr>
        <p:spPr>
          <a:xfrm>
            <a:off x="1225296" y="5111496"/>
            <a:ext cx="1554480" cy="182880"/>
          </a:xfrm>
          <a:prstGeom prst="rect">
            <a:avLst/>
          </a:prstGeom>
          <a:noFill/>
        </p:spPr>
        <p:txBody>
          <a:bodyPr wrap="square" lIns="0" tIns="0" rIns="0" bIns="0" anchor="t">
            <a:spAutoFit/>
          </a:bodyPr>
          <a:lstStyle/>
          <a:p>
            <a:pPr algn="l">
              <a:lnSpc>
                <a:spcPct val="112000"/>
              </a:lnSpc>
              <a:spcAft>
                <a:spcPts val="0"/>
              </a:spcAft>
            </a:pPr>
            <a:r>
              <a:rPr sz="800" b="0" i="0">
                <a:solidFill>
                  <a:srgbClr val="5A6878"/>
                </a:solidFill>
                <a:latin typeface="Consolas"/>
              </a:rPr>
              <a:t>L1</a:t>
            </a:r>
          </a:p>
        </p:txBody>
      </p:sp>
      <p:sp>
        <p:nvSpPr>
          <p:cNvPr id="65" name="TextBox 64"/>
          <p:cNvSpPr txBox="1"/>
          <p:nvPr/>
        </p:nvSpPr>
        <p:spPr>
          <a:xfrm>
            <a:off x="2834640" y="4965192"/>
            <a:ext cx="4251960"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Cat5e twisted pair, RJ45</a:t>
            </a:r>
          </a:p>
        </p:txBody>
      </p:sp>
      <p:sp>
        <p:nvSpPr>
          <p:cNvPr id="66" name="TextBox 65"/>
          <p:cNvSpPr txBox="1"/>
          <p:nvPr/>
        </p:nvSpPr>
        <p:spPr>
          <a:xfrm>
            <a:off x="7223760" y="4965192"/>
            <a:ext cx="4325112"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2.4 GHz ISM   RSSI −46 dBm at the bench</a:t>
            </a:r>
          </a:p>
        </p:txBody>
      </p:sp>
      <p:sp>
        <p:nvSpPr>
          <p:cNvPr id="67" name="Rectangle 66"/>
          <p:cNvSpPr/>
          <p:nvPr/>
        </p:nvSpPr>
        <p:spPr>
          <a:xfrm>
            <a:off x="6967728" y="1828800"/>
            <a:ext cx="9525" cy="3488436"/>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8" name="Rectangle 67"/>
          <p:cNvSpPr/>
          <p:nvPr/>
        </p:nvSpPr>
        <p:spPr>
          <a:xfrm>
            <a:off x="640080" y="5394960"/>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9" name="TextBox 68"/>
          <p:cNvSpPr txBox="1"/>
          <p:nvPr/>
        </p:nvSpPr>
        <p:spPr>
          <a:xfrm>
            <a:off x="640080" y="5477256"/>
            <a:ext cx="5349240" cy="219456"/>
          </a:xfrm>
          <a:prstGeom prst="rect">
            <a:avLst/>
          </a:prstGeom>
          <a:noFill/>
        </p:spPr>
        <p:txBody>
          <a:bodyPr wrap="square" lIns="0" tIns="0" rIns="0" bIns="0" anchor="t">
            <a:spAutoFit/>
          </a:bodyPr>
          <a:lstStyle/>
          <a:p>
            <a:pPr algn="l">
              <a:lnSpc>
                <a:spcPct val="112000"/>
              </a:lnSpc>
              <a:spcAft>
                <a:spcPts val="0"/>
              </a:spcAft>
            </a:pPr>
            <a:r>
              <a:rPr sz="850" b="0" i="0">
                <a:solidFill>
                  <a:srgbClr val="63D2E8"/>
                </a:solidFill>
                <a:latin typeface="Bahnschrift SemiBold"/>
              </a:rPr>
              <a:t>HOP 1 — 67 BYTES TO CARRY 4</a:t>
            </a:r>
          </a:p>
        </p:txBody>
      </p:sp>
      <p:sp>
        <p:nvSpPr>
          <p:cNvPr id="70" name="TextBox 69"/>
          <p:cNvSpPr txBox="1"/>
          <p:nvPr/>
        </p:nvSpPr>
        <p:spPr>
          <a:xfrm>
            <a:off x="640080" y="5669280"/>
            <a:ext cx="5349240" cy="219456"/>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eth 14 · ip 20 · tcp 20 · mbap 7 · fc03 2 · float32 4</a:t>
            </a:r>
          </a:p>
        </p:txBody>
      </p:sp>
      <p:sp>
        <p:nvSpPr>
          <p:cNvPr id="71" name="TextBox 70"/>
          <p:cNvSpPr txBox="1"/>
          <p:nvPr/>
        </p:nvSpPr>
        <p:spPr>
          <a:xfrm>
            <a:off x="6199632" y="5477256"/>
            <a:ext cx="5349240" cy="219456"/>
          </a:xfrm>
          <a:prstGeom prst="rect">
            <a:avLst/>
          </a:prstGeom>
          <a:noFill/>
        </p:spPr>
        <p:txBody>
          <a:bodyPr wrap="square" lIns="0" tIns="0" rIns="0" bIns="0" anchor="t">
            <a:spAutoFit/>
          </a:bodyPr>
          <a:lstStyle/>
          <a:p>
            <a:pPr algn="l">
              <a:lnSpc>
                <a:spcPct val="112000"/>
              </a:lnSpc>
              <a:spcAft>
                <a:spcPts val="0"/>
              </a:spcAft>
            </a:pPr>
            <a:r>
              <a:rPr sz="850" b="0" i="0">
                <a:solidFill>
                  <a:srgbClr val="63D2E8"/>
                </a:solidFill>
                <a:latin typeface="Bahnschrift SemiBold"/>
              </a:rPr>
              <a:t>HOP 2 — ≈150 BYTES TO CARRY ONE VALUE</a:t>
            </a:r>
          </a:p>
        </p:txBody>
      </p:sp>
      <p:sp>
        <p:nvSpPr>
          <p:cNvPr id="72" name="TextBox 71"/>
          <p:cNvSpPr txBox="1"/>
          <p:nvPr/>
        </p:nvSpPr>
        <p:spPr>
          <a:xfrm>
            <a:off x="6199632" y="5669280"/>
            <a:ext cx="5349240" cy="219456"/>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802.11 34 · ip+tcp 40 · tls 22 · publish 28 · json 26</a:t>
            </a:r>
          </a:p>
        </p:txBody>
      </p:sp>
      <p:sp>
        <p:nvSpPr>
          <p:cNvPr id="73" name="TextBox 72"/>
          <p:cNvSpPr txBox="1"/>
          <p:nvPr/>
        </p:nvSpPr>
        <p:spPr>
          <a:xfrm>
            <a:off x="640080" y="5907024"/>
            <a:ext cx="10908792" cy="365760"/>
          </a:xfrm>
          <a:prstGeom prst="rect">
            <a:avLst/>
          </a:prstGeom>
          <a:noFill/>
        </p:spPr>
        <p:txBody>
          <a:bodyPr wrap="square" lIns="0" tIns="0" rIns="0" bIns="0">
            <a:spAutoFit/>
          </a:bodyPr>
          <a:lstStyle/>
          <a:p>
            <a:pPr algn="l">
              <a:lnSpc>
                <a:spcPct val="130000"/>
              </a:lnSpc>
              <a:spcAft>
                <a:spcPts val="600"/>
              </a:spcAft>
            </a:pPr>
            <a:r>
              <a:rPr sz="1050" b="1">
                <a:solidFill>
                  <a:srgbClr val="E6EDF3"/>
                </a:solidFill>
                <a:latin typeface="Segoe UI"/>
              </a:rPr>
              <a:t>Representation changes twice; the value never.  </a:t>
            </a:r>
            <a:r>
              <a:rPr sz="1050" b="0">
                <a:solidFill>
                  <a:srgbClr val="8494A6"/>
                </a:solidFill>
                <a:latin typeface="Segoe UI"/>
              </a:rPr>
              <a:t>float32 on the meter side, decimal text on the broker side — String(v, 3) is the only transformation in the chain, and nothing scales, offsets or corrects the reading anywhere.</a:t>
            </a:r>
          </a:p>
        </p:txBody>
      </p:sp>
      <p:sp>
        <p:nvSpPr>
          <p:cNvPr id="74" name="Rectangle 73"/>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5" name="TextBox 74"/>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76" name="TextBox 75"/>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23.35 V LEAVING THE METER AND ARRIVING AT THE PHONE</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Four bytes, wrapped twice</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40080" y="1481328"/>
            <a:ext cx="5120640"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HOP 1  —  WHAT THE METER SENDS</a:t>
            </a:r>
          </a:p>
        </p:txBody>
      </p:sp>
      <p:sp>
        <p:nvSpPr>
          <p:cNvPr id="22" name="Rectangle 21"/>
          <p:cNvSpPr/>
          <p:nvPr/>
        </p:nvSpPr>
        <p:spPr>
          <a:xfrm>
            <a:off x="640080" y="1792224"/>
            <a:ext cx="5120640"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786384" y="1929384"/>
            <a:ext cx="4206240" cy="274320"/>
          </a:xfrm>
          <a:prstGeom prst="rect">
            <a:avLst/>
          </a:prstGeom>
          <a:noFill/>
        </p:spPr>
        <p:txBody>
          <a:bodyPr wrap="square" lIns="0" tIns="0" rIns="0" bIns="0" anchor="t">
            <a:spAutoFit/>
          </a:bodyPr>
          <a:lstStyle/>
          <a:p>
            <a:pPr algn="l">
              <a:lnSpc>
                <a:spcPct val="112000"/>
              </a:lnSpc>
              <a:spcAft>
                <a:spcPts val="0"/>
              </a:spcAft>
            </a:pPr>
            <a:r>
              <a:rPr sz="1050" b="0" i="0">
                <a:solidFill>
                  <a:srgbClr val="5A6878"/>
                </a:solidFill>
                <a:latin typeface="Consolas"/>
              </a:rPr>
              <a:t>Ethernet II header</a:t>
            </a:r>
          </a:p>
        </p:txBody>
      </p:sp>
      <p:sp>
        <p:nvSpPr>
          <p:cNvPr id="24" name="TextBox 23"/>
          <p:cNvSpPr txBox="1"/>
          <p:nvPr/>
        </p:nvSpPr>
        <p:spPr>
          <a:xfrm>
            <a:off x="5120640" y="1929384"/>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14 B</a:t>
            </a:r>
          </a:p>
        </p:txBody>
      </p:sp>
      <p:sp>
        <p:nvSpPr>
          <p:cNvPr id="25" name="Rectangle 24"/>
          <p:cNvSpPr/>
          <p:nvPr/>
        </p:nvSpPr>
        <p:spPr>
          <a:xfrm>
            <a:off x="877824" y="2290572"/>
            <a:ext cx="4645152"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1024127" y="2427732"/>
            <a:ext cx="3730752" cy="274320"/>
          </a:xfrm>
          <a:prstGeom prst="rect">
            <a:avLst/>
          </a:prstGeom>
          <a:noFill/>
        </p:spPr>
        <p:txBody>
          <a:bodyPr wrap="square" lIns="0" tIns="0" rIns="0" bIns="0" anchor="t">
            <a:spAutoFit/>
          </a:bodyPr>
          <a:lstStyle/>
          <a:p>
            <a:pPr algn="l">
              <a:lnSpc>
                <a:spcPct val="112000"/>
              </a:lnSpc>
              <a:spcAft>
                <a:spcPts val="0"/>
              </a:spcAft>
            </a:pPr>
            <a:r>
              <a:rPr sz="1050" b="0" i="0">
                <a:solidFill>
                  <a:srgbClr val="5A6878"/>
                </a:solidFill>
                <a:latin typeface="Consolas"/>
              </a:rPr>
              <a:t>IPv4 header</a:t>
            </a:r>
          </a:p>
        </p:txBody>
      </p:sp>
      <p:sp>
        <p:nvSpPr>
          <p:cNvPr id="27" name="TextBox 26"/>
          <p:cNvSpPr txBox="1"/>
          <p:nvPr/>
        </p:nvSpPr>
        <p:spPr>
          <a:xfrm>
            <a:off x="4882896" y="2427732"/>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20 B</a:t>
            </a:r>
          </a:p>
        </p:txBody>
      </p:sp>
      <p:sp>
        <p:nvSpPr>
          <p:cNvPr id="28" name="Rectangle 27"/>
          <p:cNvSpPr/>
          <p:nvPr/>
        </p:nvSpPr>
        <p:spPr>
          <a:xfrm>
            <a:off x="1115568" y="2788920"/>
            <a:ext cx="4169663"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1261872" y="2926079"/>
            <a:ext cx="3255263" cy="274320"/>
          </a:xfrm>
          <a:prstGeom prst="rect">
            <a:avLst/>
          </a:prstGeom>
          <a:noFill/>
        </p:spPr>
        <p:txBody>
          <a:bodyPr wrap="square" lIns="0" tIns="0" rIns="0" bIns="0" anchor="t">
            <a:spAutoFit/>
          </a:bodyPr>
          <a:lstStyle/>
          <a:p>
            <a:pPr algn="l">
              <a:lnSpc>
                <a:spcPct val="112000"/>
              </a:lnSpc>
              <a:spcAft>
                <a:spcPts val="0"/>
              </a:spcAft>
            </a:pPr>
            <a:r>
              <a:rPr sz="1050" b="0" i="0">
                <a:solidFill>
                  <a:srgbClr val="5A6878"/>
                </a:solidFill>
                <a:latin typeface="Consolas"/>
              </a:rPr>
              <a:t>TCP header</a:t>
            </a:r>
          </a:p>
        </p:txBody>
      </p:sp>
      <p:sp>
        <p:nvSpPr>
          <p:cNvPr id="30" name="TextBox 29"/>
          <p:cNvSpPr txBox="1"/>
          <p:nvPr/>
        </p:nvSpPr>
        <p:spPr>
          <a:xfrm>
            <a:off x="4645151" y="2926079"/>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20 B</a:t>
            </a:r>
          </a:p>
        </p:txBody>
      </p:sp>
      <p:sp>
        <p:nvSpPr>
          <p:cNvPr id="31" name="Rectangle 30"/>
          <p:cNvSpPr/>
          <p:nvPr/>
        </p:nvSpPr>
        <p:spPr>
          <a:xfrm>
            <a:off x="1353312" y="3287268"/>
            <a:ext cx="3694175"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1499616" y="3424427"/>
            <a:ext cx="2779775"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MBAP header  tid · pid · len · unit</a:t>
            </a:r>
          </a:p>
        </p:txBody>
      </p:sp>
      <p:sp>
        <p:nvSpPr>
          <p:cNvPr id="33" name="TextBox 32"/>
          <p:cNvSpPr txBox="1"/>
          <p:nvPr/>
        </p:nvSpPr>
        <p:spPr>
          <a:xfrm>
            <a:off x="4407407" y="3424427"/>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7 B</a:t>
            </a:r>
          </a:p>
        </p:txBody>
      </p:sp>
      <p:sp>
        <p:nvSpPr>
          <p:cNvPr id="34" name="Rectangle 33"/>
          <p:cNvSpPr/>
          <p:nvPr/>
        </p:nvSpPr>
        <p:spPr>
          <a:xfrm>
            <a:off x="1591056" y="3785615"/>
            <a:ext cx="3218687"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1737360" y="3922776"/>
            <a:ext cx="2304287"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FC03 reply  fn + byte count</a:t>
            </a:r>
          </a:p>
        </p:txBody>
      </p:sp>
      <p:sp>
        <p:nvSpPr>
          <p:cNvPr id="36" name="TextBox 35"/>
          <p:cNvSpPr txBox="1"/>
          <p:nvPr/>
        </p:nvSpPr>
        <p:spPr>
          <a:xfrm>
            <a:off x="4169663" y="3922776"/>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2 B</a:t>
            </a:r>
          </a:p>
        </p:txBody>
      </p:sp>
      <p:sp>
        <p:nvSpPr>
          <p:cNvPr id="37" name="Rectangle 36"/>
          <p:cNvSpPr/>
          <p:nvPr/>
        </p:nvSpPr>
        <p:spPr>
          <a:xfrm>
            <a:off x="1828800" y="4283964"/>
            <a:ext cx="2743199" cy="475488"/>
          </a:xfrm>
          <a:prstGeom prst="rect">
            <a:avLst/>
          </a:prstGeom>
          <a:solidFill>
            <a:srgbClr val="0D1117"/>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TextBox 37"/>
          <p:cNvSpPr txBox="1"/>
          <p:nvPr/>
        </p:nvSpPr>
        <p:spPr>
          <a:xfrm>
            <a:off x="1975104" y="4421124"/>
            <a:ext cx="1828799" cy="274320"/>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41 BA CC CD   ← the value</a:t>
            </a:r>
          </a:p>
        </p:txBody>
      </p:sp>
      <p:sp>
        <p:nvSpPr>
          <p:cNvPr id="39" name="TextBox 38"/>
          <p:cNvSpPr txBox="1"/>
          <p:nvPr/>
        </p:nvSpPr>
        <p:spPr>
          <a:xfrm>
            <a:off x="3931919" y="4421124"/>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4 B</a:t>
            </a:r>
          </a:p>
        </p:txBody>
      </p:sp>
      <p:sp>
        <p:nvSpPr>
          <p:cNvPr id="40" name="TextBox 39"/>
          <p:cNvSpPr txBox="1"/>
          <p:nvPr/>
        </p:nvSpPr>
        <p:spPr>
          <a:xfrm>
            <a:off x="640080" y="4837175"/>
            <a:ext cx="5120640"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67 bytes on the wire to carry 4 bytes of measurement</a:t>
            </a:r>
          </a:p>
        </p:txBody>
      </p:sp>
      <p:cxnSp>
        <p:nvCxnSpPr>
          <p:cNvPr id="41" name="Connector 40"/>
          <p:cNvCxnSpPr/>
          <p:nvPr/>
        </p:nvCxnSpPr>
        <p:spPr>
          <a:xfrm>
            <a:off x="5961888" y="3291840"/>
            <a:ext cx="457200" cy="0"/>
          </a:xfrm>
          <a:prstGeom prst="line">
            <a:avLst/>
          </a:prstGeom>
          <a:ln w="25400">
            <a:solidFill>
              <a:srgbClr val="63D2E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0" y="2962656"/>
            <a:ext cx="1097280" cy="219456"/>
          </a:xfrm>
          <a:prstGeom prst="rect">
            <a:avLst/>
          </a:prstGeom>
          <a:noFill/>
        </p:spPr>
        <p:txBody>
          <a:bodyPr wrap="square" lIns="0" tIns="0" rIns="0" bIns="0" anchor="t">
            <a:spAutoFit/>
          </a:bodyPr>
          <a:lstStyle/>
          <a:p>
            <a:pPr algn="ctr">
              <a:lnSpc>
                <a:spcPct val="112000"/>
              </a:lnSpc>
              <a:spcAft>
                <a:spcPts val="0"/>
              </a:spcAft>
            </a:pPr>
            <a:r>
              <a:rPr sz="800" b="0" i="0">
                <a:solidFill>
                  <a:srgbClr val="63D2E8"/>
                </a:solidFill>
                <a:latin typeface="Bahnschrift SemiBold"/>
              </a:rPr>
              <a:t>ESP8266</a:t>
            </a:r>
          </a:p>
        </p:txBody>
      </p:sp>
      <p:sp>
        <p:nvSpPr>
          <p:cNvPr id="43" name="TextBox 42"/>
          <p:cNvSpPr txBox="1"/>
          <p:nvPr/>
        </p:nvSpPr>
        <p:spPr>
          <a:xfrm>
            <a:off x="5614416" y="3456432"/>
            <a:ext cx="1188720" cy="365760"/>
          </a:xfrm>
          <a:prstGeom prst="rect">
            <a:avLst/>
          </a:prstGeom>
          <a:noFill/>
        </p:spPr>
        <p:txBody>
          <a:bodyPr wrap="square" lIns="0" tIns="0" rIns="0" bIns="0" anchor="t">
            <a:spAutoFit/>
          </a:bodyPr>
          <a:lstStyle/>
          <a:p>
            <a:pPr algn="ctr">
              <a:lnSpc>
                <a:spcPct val="125000"/>
              </a:lnSpc>
              <a:spcAft>
                <a:spcPts val="0"/>
              </a:spcAft>
            </a:pPr>
            <a:r>
              <a:rPr sz="800" b="0" i="0">
                <a:solidFill>
                  <a:srgbClr val="5A6878"/>
                </a:solidFill>
                <a:latin typeface="Consolas"/>
              </a:rPr>
              <a:t>decode</a:t>
            </a:r>
          </a:p>
          <a:p>
            <a:pPr algn="ctr">
              <a:lnSpc>
                <a:spcPct val="125000"/>
              </a:lnSpc>
              <a:spcAft>
                <a:spcPts val="0"/>
              </a:spcAft>
            </a:pPr>
            <a:r>
              <a:rPr sz="800" b="0" i="0">
                <a:solidFill>
                  <a:srgbClr val="5A6878"/>
                </a:solidFill>
                <a:latin typeface="Consolas"/>
              </a:rPr>
              <a:t>+ re-wrap</a:t>
            </a:r>
          </a:p>
        </p:txBody>
      </p:sp>
      <p:sp>
        <p:nvSpPr>
          <p:cNvPr id="44" name="TextBox 43"/>
          <p:cNvSpPr txBox="1"/>
          <p:nvPr/>
        </p:nvSpPr>
        <p:spPr>
          <a:xfrm>
            <a:off x="6428232" y="1481328"/>
            <a:ext cx="5120640"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HOP 2  —  WHAT THE PHONE RECEIVES</a:t>
            </a:r>
          </a:p>
        </p:txBody>
      </p:sp>
      <p:sp>
        <p:nvSpPr>
          <p:cNvPr id="45" name="Rectangle 44"/>
          <p:cNvSpPr/>
          <p:nvPr/>
        </p:nvSpPr>
        <p:spPr>
          <a:xfrm>
            <a:off x="6428232" y="1792224"/>
            <a:ext cx="5120640"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574536" y="1929384"/>
            <a:ext cx="4206240" cy="274320"/>
          </a:xfrm>
          <a:prstGeom prst="rect">
            <a:avLst/>
          </a:prstGeom>
          <a:noFill/>
        </p:spPr>
        <p:txBody>
          <a:bodyPr wrap="square" lIns="0" tIns="0" rIns="0" bIns="0" anchor="t">
            <a:spAutoFit/>
          </a:bodyPr>
          <a:lstStyle/>
          <a:p>
            <a:pPr algn="l">
              <a:lnSpc>
                <a:spcPct val="112000"/>
              </a:lnSpc>
              <a:spcAft>
                <a:spcPts val="0"/>
              </a:spcAft>
            </a:pPr>
            <a:r>
              <a:rPr sz="1050" b="0" i="0">
                <a:solidFill>
                  <a:srgbClr val="5A6878"/>
                </a:solidFill>
                <a:latin typeface="Consolas"/>
              </a:rPr>
              <a:t>802.11 frame</a:t>
            </a:r>
          </a:p>
        </p:txBody>
      </p:sp>
      <p:sp>
        <p:nvSpPr>
          <p:cNvPr id="47" name="TextBox 46"/>
          <p:cNvSpPr txBox="1"/>
          <p:nvPr/>
        </p:nvSpPr>
        <p:spPr>
          <a:xfrm>
            <a:off x="10908792" y="1929384"/>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~34 B</a:t>
            </a:r>
          </a:p>
        </p:txBody>
      </p:sp>
      <p:sp>
        <p:nvSpPr>
          <p:cNvPr id="48" name="Rectangle 47"/>
          <p:cNvSpPr/>
          <p:nvPr/>
        </p:nvSpPr>
        <p:spPr>
          <a:xfrm>
            <a:off x="6665976" y="2290572"/>
            <a:ext cx="4645152"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TextBox 48"/>
          <p:cNvSpPr txBox="1"/>
          <p:nvPr/>
        </p:nvSpPr>
        <p:spPr>
          <a:xfrm>
            <a:off x="6812280" y="2427732"/>
            <a:ext cx="3730752" cy="274320"/>
          </a:xfrm>
          <a:prstGeom prst="rect">
            <a:avLst/>
          </a:prstGeom>
          <a:noFill/>
        </p:spPr>
        <p:txBody>
          <a:bodyPr wrap="square" lIns="0" tIns="0" rIns="0" bIns="0" anchor="t">
            <a:spAutoFit/>
          </a:bodyPr>
          <a:lstStyle/>
          <a:p>
            <a:pPr algn="l">
              <a:lnSpc>
                <a:spcPct val="112000"/>
              </a:lnSpc>
              <a:spcAft>
                <a:spcPts val="0"/>
              </a:spcAft>
            </a:pPr>
            <a:r>
              <a:rPr sz="1050" b="0" i="0">
                <a:solidFill>
                  <a:srgbClr val="5A6878"/>
                </a:solidFill>
                <a:latin typeface="Consolas"/>
              </a:rPr>
              <a:t>IPv4 + TCP</a:t>
            </a:r>
          </a:p>
        </p:txBody>
      </p:sp>
      <p:sp>
        <p:nvSpPr>
          <p:cNvPr id="50" name="TextBox 49"/>
          <p:cNvSpPr txBox="1"/>
          <p:nvPr/>
        </p:nvSpPr>
        <p:spPr>
          <a:xfrm>
            <a:off x="10671048" y="2427732"/>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40 B</a:t>
            </a:r>
          </a:p>
        </p:txBody>
      </p:sp>
      <p:sp>
        <p:nvSpPr>
          <p:cNvPr id="51" name="Rectangle 50"/>
          <p:cNvSpPr/>
          <p:nvPr/>
        </p:nvSpPr>
        <p:spPr>
          <a:xfrm>
            <a:off x="6903720" y="2788920"/>
            <a:ext cx="4169663"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2" name="TextBox 51"/>
          <p:cNvSpPr txBox="1"/>
          <p:nvPr/>
        </p:nvSpPr>
        <p:spPr>
          <a:xfrm>
            <a:off x="7050024" y="2926079"/>
            <a:ext cx="3255263"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TLS 1.3 record  AEAD sealed</a:t>
            </a:r>
          </a:p>
        </p:txBody>
      </p:sp>
      <p:sp>
        <p:nvSpPr>
          <p:cNvPr id="53" name="TextBox 52"/>
          <p:cNvSpPr txBox="1"/>
          <p:nvPr/>
        </p:nvSpPr>
        <p:spPr>
          <a:xfrm>
            <a:off x="10433304" y="2926079"/>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~22 B</a:t>
            </a:r>
          </a:p>
        </p:txBody>
      </p:sp>
      <p:sp>
        <p:nvSpPr>
          <p:cNvPr id="54" name="Rectangle 53"/>
          <p:cNvSpPr/>
          <p:nvPr/>
        </p:nvSpPr>
        <p:spPr>
          <a:xfrm>
            <a:off x="7141464" y="3287268"/>
            <a:ext cx="3694175" cy="47548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TextBox 54"/>
          <p:cNvSpPr txBox="1"/>
          <p:nvPr/>
        </p:nvSpPr>
        <p:spPr>
          <a:xfrm>
            <a:off x="7287768" y="3424427"/>
            <a:ext cx="2779775" cy="274320"/>
          </a:xfrm>
          <a:prstGeom prst="rect">
            <a:avLst/>
          </a:prstGeom>
          <a:noFill/>
        </p:spPr>
        <p:txBody>
          <a:bodyPr wrap="square" lIns="0" tIns="0" rIns="0" bIns="0" anchor="t">
            <a:spAutoFit/>
          </a:bodyPr>
          <a:lstStyle/>
          <a:p>
            <a:pPr algn="l">
              <a:lnSpc>
                <a:spcPct val="112000"/>
              </a:lnSpc>
              <a:spcAft>
                <a:spcPts val="0"/>
              </a:spcAft>
            </a:pPr>
            <a:r>
              <a:rPr sz="1050" b="0" i="0">
                <a:solidFill>
                  <a:srgbClr val="8494A6"/>
                </a:solidFill>
                <a:latin typeface="Consolas"/>
              </a:rPr>
              <a:t>MQTT PUBLISH  osos/{gw}/telemetry</a:t>
            </a:r>
          </a:p>
        </p:txBody>
      </p:sp>
      <p:sp>
        <p:nvSpPr>
          <p:cNvPr id="56" name="TextBox 55"/>
          <p:cNvSpPr txBox="1"/>
          <p:nvPr/>
        </p:nvSpPr>
        <p:spPr>
          <a:xfrm>
            <a:off x="10195560" y="3424427"/>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~28 B</a:t>
            </a:r>
          </a:p>
        </p:txBody>
      </p:sp>
      <p:sp>
        <p:nvSpPr>
          <p:cNvPr id="57" name="Rectangle 56"/>
          <p:cNvSpPr/>
          <p:nvPr/>
        </p:nvSpPr>
        <p:spPr>
          <a:xfrm>
            <a:off x="7379208" y="3785615"/>
            <a:ext cx="3218687" cy="475488"/>
          </a:xfrm>
          <a:prstGeom prst="rect">
            <a:avLst/>
          </a:prstGeom>
          <a:solidFill>
            <a:srgbClr val="0D1117"/>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8" name="TextBox 57"/>
          <p:cNvSpPr txBox="1"/>
          <p:nvPr/>
        </p:nvSpPr>
        <p:spPr>
          <a:xfrm>
            <a:off x="7525512" y="3922776"/>
            <a:ext cx="2304287" cy="274320"/>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"Supply_Voltage": 23.350</a:t>
            </a:r>
          </a:p>
        </p:txBody>
      </p:sp>
      <p:sp>
        <p:nvSpPr>
          <p:cNvPr id="59" name="TextBox 58"/>
          <p:cNvSpPr txBox="1"/>
          <p:nvPr/>
        </p:nvSpPr>
        <p:spPr>
          <a:xfrm>
            <a:off x="9957816" y="3922776"/>
            <a:ext cx="493776"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~26 B</a:t>
            </a:r>
          </a:p>
        </p:txBody>
      </p:sp>
      <p:sp>
        <p:nvSpPr>
          <p:cNvPr id="60" name="TextBox 59"/>
          <p:cNvSpPr txBox="1"/>
          <p:nvPr/>
        </p:nvSpPr>
        <p:spPr>
          <a:xfrm>
            <a:off x="6428232" y="4338827"/>
            <a:ext cx="5120640"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the full 22-register frame is under 1 KB (NF-2, still unmeasured)</a:t>
            </a:r>
          </a:p>
        </p:txBody>
      </p:sp>
      <p:sp>
        <p:nvSpPr>
          <p:cNvPr id="61" name="Rectangle 60"/>
          <p:cNvSpPr/>
          <p:nvPr/>
        </p:nvSpPr>
        <p:spPr>
          <a:xfrm>
            <a:off x="640080" y="4956048"/>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2" name="TextBox 61"/>
          <p:cNvSpPr txBox="1"/>
          <p:nvPr/>
        </p:nvSpPr>
        <p:spPr>
          <a:xfrm>
            <a:off x="640080" y="5138928"/>
            <a:ext cx="10908792" cy="1097280"/>
          </a:xfrm>
          <a:prstGeom prst="rect">
            <a:avLst/>
          </a:prstGeom>
          <a:noFill/>
        </p:spPr>
        <p:txBody>
          <a:bodyPr wrap="square" lIns="0" tIns="0" rIns="0" bIns="0">
            <a:spAutoFit/>
          </a:bodyPr>
          <a:lstStyle/>
          <a:p>
            <a:pPr algn="l">
              <a:lnSpc>
                <a:spcPct val="122000"/>
              </a:lnSpc>
              <a:spcAft>
                <a:spcPts val="800"/>
              </a:spcAft>
            </a:pPr>
            <a:r>
              <a:rPr sz="1200" b="1">
                <a:solidFill>
                  <a:srgbClr val="63D2E8"/>
                </a:solidFill>
                <a:latin typeface="Consolas"/>
              </a:rPr>
              <a:t>— </a:t>
            </a:r>
            <a:r>
              <a:rPr sz="1200" b="1">
                <a:solidFill>
                  <a:srgbClr val="E6EDF3"/>
                </a:solidFill>
                <a:latin typeface="Segoe UI"/>
              </a:rPr>
              <a:t>The number changes representation twice, and value never.</a:t>
            </a:r>
            <a:r>
              <a:rPr sz="1200" b="0">
                <a:solidFill>
                  <a:srgbClr val="8494A6"/>
                </a:solidFill>
                <a:latin typeface="Segoe UI"/>
              </a:rPr>
              <a:t>  Binary float32 on the meter side, decimal text on the broker side. String(v, 3) is the only transformation, and it is lossy in the third decimal by design — nothing scales, offsets or corrects the reading anywhere in the chain.</a:t>
            </a:r>
          </a:p>
        </p:txBody>
      </p:sp>
      <p:sp>
        <p:nvSpPr>
          <p:cNvPr id="63" name="Rectangle 62"/>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4" name="TextBox 63"/>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65" name="TextBox 64"/>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FUNCTION CODE 03 · BIG-ENDIAN FLOAT32 ACROSS TWO REGISTERS</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One register read, byte for byte</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640080" y="1536192"/>
            <a:ext cx="5349240" cy="2364866"/>
          </a:xfrm>
          <a:prstGeom prst="rect">
            <a:avLst/>
          </a:prstGeom>
          <a:solidFill>
            <a:srgbClr val="0A0E13"/>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p:cNvSpPr/>
          <p:nvPr/>
        </p:nvSpPr>
        <p:spPr>
          <a:xfrm>
            <a:off x="640080" y="1536192"/>
            <a:ext cx="25400" cy="2364866"/>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41247" y="1664207"/>
            <a:ext cx="4946903" cy="201168"/>
          </a:xfrm>
          <a:prstGeom prst="rect">
            <a:avLst/>
          </a:prstGeom>
          <a:noFill/>
        </p:spPr>
        <p:txBody>
          <a:bodyPr wrap="square" lIns="0" tIns="0" rIns="0" bIns="0" anchor="t">
            <a:spAutoFit/>
          </a:bodyPr>
          <a:lstStyle/>
          <a:p>
            <a:pPr algn="l">
              <a:lnSpc>
                <a:spcPct val="100000"/>
              </a:lnSpc>
              <a:spcAft>
                <a:spcPts val="0"/>
              </a:spcAft>
            </a:pPr>
            <a:r>
              <a:rPr sz="850" b="0" i="0">
                <a:solidFill>
                  <a:srgbClr val="63D2E8"/>
                </a:solidFill>
                <a:latin typeface="Bahnschrift SemiBold"/>
              </a:rPr>
              <a:t>ESP8266  →  192.169.10.74:502</a:t>
            </a:r>
          </a:p>
        </p:txBody>
      </p:sp>
      <p:sp>
        <p:nvSpPr>
          <p:cNvPr id="24" name="TextBox 23"/>
          <p:cNvSpPr txBox="1"/>
          <p:nvPr/>
        </p:nvSpPr>
        <p:spPr>
          <a:xfrm>
            <a:off x="841247" y="1938527"/>
            <a:ext cx="4946903" cy="1852803"/>
          </a:xfrm>
          <a:prstGeom prst="rect">
            <a:avLst/>
          </a:prstGeom>
          <a:noFill/>
        </p:spPr>
        <p:txBody>
          <a:bodyPr wrap="square" lIns="0" tIns="0" rIns="0" bIns="0">
            <a:spAutoFit/>
          </a:bodyPr>
          <a:lstStyle/>
          <a:p>
            <a:pPr algn="l">
              <a:lnSpc>
                <a:spcPct val="130000"/>
              </a:lnSpc>
              <a:spcAft>
                <a:spcPts val="0"/>
              </a:spcAft>
            </a:pPr>
            <a:r>
              <a:rPr sz="1000" b="0">
                <a:solidFill>
                  <a:srgbClr val="63D2E8"/>
                </a:solidFill>
                <a:latin typeface="Consolas"/>
              </a:rPr>
              <a:t>REQUEST                              12 bytes</a:t>
            </a:r>
          </a:p>
          <a:p>
            <a:pPr algn="l">
              <a:lnSpc>
                <a:spcPct val="130000"/>
              </a:lnSpc>
              <a:spcAft>
                <a:spcPts val="0"/>
              </a:spcAft>
            </a:pPr>
            <a:endParaRPr sz="1000" b="0">
              <a:solidFill>
                <a:srgbClr val="63D2E8"/>
              </a:solidFill>
              <a:latin typeface="Consolas"/>
            </a:endParaRPr>
          </a:p>
          <a:p>
            <a:pPr algn="l">
              <a:lnSpc>
                <a:spcPct val="130000"/>
              </a:lnSpc>
              <a:spcAft>
                <a:spcPts val="0"/>
              </a:spcAft>
            </a:pPr>
            <a:r>
              <a:rPr sz="1000" b="0">
                <a:solidFill>
                  <a:srgbClr val="8494A6"/>
                </a:solidFill>
                <a:latin typeface="Consolas"/>
              </a:rPr>
              <a:t>00 01   transaction id</a:t>
            </a:r>
          </a:p>
          <a:p>
            <a:pPr algn="l">
              <a:lnSpc>
                <a:spcPct val="130000"/>
              </a:lnSpc>
              <a:spcAft>
                <a:spcPts val="0"/>
              </a:spcAft>
            </a:pPr>
            <a:r>
              <a:rPr sz="1000" b="0">
                <a:solidFill>
                  <a:srgbClr val="8494A6"/>
                </a:solidFill>
                <a:latin typeface="Consolas"/>
              </a:rPr>
              <a:t>00 00   protocol id (0 = Modbus)</a:t>
            </a:r>
          </a:p>
          <a:p>
            <a:pPr algn="l">
              <a:lnSpc>
                <a:spcPct val="130000"/>
              </a:lnSpc>
              <a:spcAft>
                <a:spcPts val="0"/>
              </a:spcAft>
            </a:pPr>
            <a:r>
              <a:rPr sz="1000" b="0">
                <a:solidFill>
                  <a:srgbClr val="8494A6"/>
                </a:solidFill>
                <a:latin typeface="Consolas"/>
              </a:rPr>
              <a:t>00 06   length of what follows</a:t>
            </a:r>
          </a:p>
          <a:p>
            <a:pPr algn="l">
              <a:lnSpc>
                <a:spcPct val="130000"/>
              </a:lnSpc>
              <a:spcAft>
                <a:spcPts val="0"/>
              </a:spcAft>
            </a:pPr>
            <a:r>
              <a:rPr sz="1000" b="0">
                <a:solidFill>
                  <a:srgbClr val="E6EDF3"/>
                </a:solidFill>
                <a:latin typeface="Consolas"/>
              </a:rPr>
              <a:t>01      unit id</a:t>
            </a:r>
          </a:p>
          <a:p>
            <a:pPr algn="l">
              <a:lnSpc>
                <a:spcPct val="130000"/>
              </a:lnSpc>
              <a:spcAft>
                <a:spcPts val="0"/>
              </a:spcAft>
            </a:pPr>
            <a:r>
              <a:rPr sz="1000" b="0">
                <a:solidFill>
                  <a:srgbClr val="E6EDF3"/>
                </a:solidFill>
                <a:latin typeface="Consolas"/>
              </a:rPr>
              <a:t>03      FC03 read holding registers</a:t>
            </a:r>
          </a:p>
          <a:p>
            <a:pPr algn="l">
              <a:lnSpc>
                <a:spcPct val="130000"/>
              </a:lnSpc>
              <a:spcAft>
                <a:spcPts val="0"/>
              </a:spcAft>
            </a:pPr>
            <a:r>
              <a:rPr sz="1000" b="0">
                <a:solidFill>
                  <a:srgbClr val="63D2E8"/>
                </a:solidFill>
                <a:latin typeface="Consolas"/>
              </a:rPr>
              <a:t>01 04   start address 260</a:t>
            </a:r>
          </a:p>
          <a:p>
            <a:pPr algn="l">
              <a:lnSpc>
                <a:spcPct val="130000"/>
              </a:lnSpc>
              <a:spcAft>
                <a:spcPts val="0"/>
              </a:spcAft>
            </a:pPr>
            <a:r>
              <a:rPr sz="1000" b="0">
                <a:solidFill>
                  <a:srgbClr val="63D2E8"/>
                </a:solidFill>
                <a:latin typeface="Consolas"/>
              </a:rPr>
              <a:t>00 02   quantity: 2 registers</a:t>
            </a:r>
          </a:p>
        </p:txBody>
      </p:sp>
      <p:sp>
        <p:nvSpPr>
          <p:cNvPr id="25" name="Rectangle 24"/>
          <p:cNvSpPr/>
          <p:nvPr/>
        </p:nvSpPr>
        <p:spPr>
          <a:xfrm>
            <a:off x="6199632" y="1536192"/>
            <a:ext cx="5349240" cy="2364866"/>
          </a:xfrm>
          <a:prstGeom prst="rect">
            <a:avLst/>
          </a:prstGeom>
          <a:solidFill>
            <a:srgbClr val="0A0E13"/>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Rectangle 25"/>
          <p:cNvSpPr/>
          <p:nvPr/>
        </p:nvSpPr>
        <p:spPr>
          <a:xfrm>
            <a:off x="6199632" y="1536192"/>
            <a:ext cx="25400" cy="2364866"/>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6400800" y="1664207"/>
            <a:ext cx="4946903" cy="201168"/>
          </a:xfrm>
          <a:prstGeom prst="rect">
            <a:avLst/>
          </a:prstGeom>
          <a:noFill/>
        </p:spPr>
        <p:txBody>
          <a:bodyPr wrap="square" lIns="0" tIns="0" rIns="0" bIns="0" anchor="t">
            <a:spAutoFit/>
          </a:bodyPr>
          <a:lstStyle/>
          <a:p>
            <a:pPr algn="l">
              <a:lnSpc>
                <a:spcPct val="100000"/>
              </a:lnSpc>
              <a:spcAft>
                <a:spcPts val="0"/>
              </a:spcAft>
            </a:pPr>
            <a:r>
              <a:rPr sz="850" b="0" i="0">
                <a:solidFill>
                  <a:srgbClr val="63D2E8"/>
                </a:solidFill>
                <a:latin typeface="Bahnschrift SemiBold"/>
              </a:rPr>
              <a:t>192.169.10.74:502  →  ESP8266</a:t>
            </a:r>
          </a:p>
        </p:txBody>
      </p:sp>
      <p:sp>
        <p:nvSpPr>
          <p:cNvPr id="28" name="TextBox 27"/>
          <p:cNvSpPr txBox="1"/>
          <p:nvPr/>
        </p:nvSpPr>
        <p:spPr>
          <a:xfrm>
            <a:off x="6400800" y="1938527"/>
            <a:ext cx="4946903" cy="1852803"/>
          </a:xfrm>
          <a:prstGeom prst="rect">
            <a:avLst/>
          </a:prstGeom>
          <a:noFill/>
        </p:spPr>
        <p:txBody>
          <a:bodyPr wrap="square" lIns="0" tIns="0" rIns="0" bIns="0">
            <a:spAutoFit/>
          </a:bodyPr>
          <a:lstStyle/>
          <a:p>
            <a:pPr algn="l">
              <a:lnSpc>
                <a:spcPct val="130000"/>
              </a:lnSpc>
              <a:spcAft>
                <a:spcPts val="0"/>
              </a:spcAft>
            </a:pPr>
            <a:r>
              <a:rPr sz="1000" b="0">
                <a:solidFill>
                  <a:srgbClr val="63D2E8"/>
                </a:solidFill>
                <a:latin typeface="Consolas"/>
              </a:rPr>
              <a:t>RESPONSE                             13 bytes</a:t>
            </a:r>
          </a:p>
          <a:p>
            <a:pPr algn="l">
              <a:lnSpc>
                <a:spcPct val="130000"/>
              </a:lnSpc>
              <a:spcAft>
                <a:spcPts val="0"/>
              </a:spcAft>
            </a:pPr>
            <a:endParaRPr sz="1000" b="0">
              <a:solidFill>
                <a:srgbClr val="63D2E8"/>
              </a:solidFill>
              <a:latin typeface="Consolas"/>
            </a:endParaRPr>
          </a:p>
          <a:p>
            <a:pPr algn="l">
              <a:lnSpc>
                <a:spcPct val="130000"/>
              </a:lnSpc>
              <a:spcAft>
                <a:spcPts val="0"/>
              </a:spcAft>
            </a:pPr>
            <a:r>
              <a:rPr sz="1000" b="0">
                <a:solidFill>
                  <a:srgbClr val="8494A6"/>
                </a:solidFill>
                <a:latin typeface="Consolas"/>
              </a:rPr>
              <a:t>00 01   transaction id — pairs the reply</a:t>
            </a:r>
          </a:p>
          <a:p>
            <a:pPr algn="l">
              <a:lnSpc>
                <a:spcPct val="130000"/>
              </a:lnSpc>
              <a:spcAft>
                <a:spcPts val="0"/>
              </a:spcAft>
            </a:pPr>
            <a:r>
              <a:rPr sz="1000" b="0">
                <a:solidFill>
                  <a:srgbClr val="8494A6"/>
                </a:solidFill>
                <a:latin typeface="Consolas"/>
              </a:rPr>
              <a:t>00 00   protocol id</a:t>
            </a:r>
          </a:p>
          <a:p>
            <a:pPr algn="l">
              <a:lnSpc>
                <a:spcPct val="130000"/>
              </a:lnSpc>
              <a:spcAft>
                <a:spcPts val="0"/>
              </a:spcAft>
            </a:pPr>
            <a:r>
              <a:rPr sz="1000" b="0">
                <a:solidFill>
                  <a:srgbClr val="8494A6"/>
                </a:solidFill>
                <a:latin typeface="Consolas"/>
              </a:rPr>
              <a:t>00 07   length</a:t>
            </a:r>
          </a:p>
          <a:p>
            <a:pPr algn="l">
              <a:lnSpc>
                <a:spcPct val="130000"/>
              </a:lnSpc>
              <a:spcAft>
                <a:spcPts val="0"/>
              </a:spcAft>
            </a:pPr>
            <a:r>
              <a:rPr sz="1000" b="0">
                <a:solidFill>
                  <a:srgbClr val="E6EDF3"/>
                </a:solidFill>
                <a:latin typeface="Consolas"/>
              </a:rPr>
              <a:t>01      unit id</a:t>
            </a:r>
          </a:p>
          <a:p>
            <a:pPr algn="l">
              <a:lnSpc>
                <a:spcPct val="130000"/>
              </a:lnSpc>
              <a:spcAft>
                <a:spcPts val="0"/>
              </a:spcAft>
            </a:pPr>
            <a:r>
              <a:rPr sz="1000" b="0">
                <a:solidFill>
                  <a:srgbClr val="E6EDF3"/>
                </a:solidFill>
                <a:latin typeface="Consolas"/>
              </a:rPr>
              <a:t>03      FC03 echoed</a:t>
            </a:r>
          </a:p>
          <a:p>
            <a:pPr algn="l">
              <a:lnSpc>
                <a:spcPct val="130000"/>
              </a:lnSpc>
              <a:spcAft>
                <a:spcPts val="0"/>
              </a:spcAft>
            </a:pPr>
            <a:r>
              <a:rPr sz="1000" b="0">
                <a:solidFill>
                  <a:srgbClr val="E6EDF3"/>
                </a:solidFill>
                <a:latin typeface="Consolas"/>
              </a:rPr>
              <a:t>04      byte count</a:t>
            </a:r>
          </a:p>
          <a:p>
            <a:pPr algn="l">
              <a:lnSpc>
                <a:spcPct val="130000"/>
              </a:lnSpc>
              <a:spcAft>
                <a:spcPts val="0"/>
              </a:spcAft>
            </a:pPr>
            <a:r>
              <a:rPr sz="1000" b="0">
                <a:solidFill>
                  <a:srgbClr val="63D2E8"/>
                </a:solidFill>
                <a:latin typeface="Consolas"/>
              </a:rPr>
              <a:t>41 BA CC CD   →  23.350 V</a:t>
            </a:r>
          </a:p>
        </p:txBody>
      </p:sp>
      <p:sp>
        <p:nvSpPr>
          <p:cNvPr id="29" name="Rectangle 28"/>
          <p:cNvSpPr/>
          <p:nvPr/>
        </p:nvSpPr>
        <p:spPr>
          <a:xfrm>
            <a:off x="640080" y="4041648"/>
            <a:ext cx="3291840" cy="1901952"/>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ectangle 29"/>
          <p:cNvSpPr/>
          <p:nvPr/>
        </p:nvSpPr>
        <p:spPr>
          <a:xfrm>
            <a:off x="640080" y="4041648"/>
            <a:ext cx="3291840" cy="3175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41248" y="4224528"/>
            <a:ext cx="292608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4438"/>
                </a:solidFill>
                <a:latin typeface="Bahnschrift SemiBold"/>
              </a:rPr>
              <a:t>THE DEVICE'S TEMPER</a:t>
            </a:r>
          </a:p>
        </p:txBody>
      </p:sp>
      <p:sp>
        <p:nvSpPr>
          <p:cNvPr id="32" name="TextBox 31"/>
          <p:cNvSpPr txBox="1"/>
          <p:nvPr/>
        </p:nvSpPr>
        <p:spPr>
          <a:xfrm>
            <a:off x="841248" y="4498848"/>
            <a:ext cx="2926080" cy="890671"/>
          </a:xfrm>
          <a:prstGeom prst="rect">
            <a:avLst/>
          </a:prstGeom>
          <a:noFill/>
        </p:spPr>
        <p:txBody>
          <a:bodyPr wrap="square" lIns="0" tIns="0" rIns="0" bIns="0" anchor="t">
            <a:spAutoFit/>
          </a:bodyPr>
          <a:lstStyle/>
          <a:p>
            <a:pPr algn="l">
              <a:lnSpc>
                <a:spcPct val="138000"/>
              </a:lnSpc>
              <a:spcAft>
                <a:spcPts val="0"/>
              </a:spcAft>
            </a:pPr>
            <a:r>
              <a:rPr sz="1050" b="0" i="0">
                <a:solidFill>
                  <a:srgbClr val="8494A6"/>
                </a:solidFill>
                <a:latin typeface="Segoe UI"/>
              </a:rPr>
              <a:t>The DKM-440 stops answering a master that fires requests back to back. A property of the device, not the transport — it survived the move from RS-485 to TCP unchanged.</a:t>
            </a:r>
          </a:p>
        </p:txBody>
      </p:sp>
      <p:sp>
        <p:nvSpPr>
          <p:cNvPr id="33" name="TextBox 32"/>
          <p:cNvSpPr txBox="1"/>
          <p:nvPr/>
        </p:nvSpPr>
        <p:spPr>
          <a:xfrm>
            <a:off x="841248" y="5468112"/>
            <a:ext cx="2926080" cy="237744"/>
          </a:xfrm>
          <a:prstGeom prst="rect">
            <a:avLst/>
          </a:prstGeom>
          <a:noFill/>
        </p:spPr>
        <p:txBody>
          <a:bodyPr wrap="square" lIns="0" tIns="0" rIns="0" bIns="0" anchor="t">
            <a:spAutoFit/>
          </a:bodyPr>
          <a:lstStyle/>
          <a:p>
            <a:pPr algn="l">
              <a:lnSpc>
                <a:spcPct val="112000"/>
              </a:lnSpc>
              <a:spcAft>
                <a:spcPts val="0"/>
              </a:spcAft>
            </a:pPr>
            <a:r>
              <a:rPr sz="1100" b="0" i="0">
                <a:solidFill>
                  <a:srgbClr val="FF4438"/>
                </a:solidFill>
                <a:latin typeface="Consolas"/>
              </a:rPr>
              <a:t>kReadGapMs = 30</a:t>
            </a:r>
          </a:p>
        </p:txBody>
      </p:sp>
      <p:sp>
        <p:nvSpPr>
          <p:cNvPr id="34" name="TextBox 33"/>
          <p:cNvSpPr txBox="1"/>
          <p:nvPr/>
        </p:nvSpPr>
        <p:spPr>
          <a:xfrm>
            <a:off x="841248" y="5687568"/>
            <a:ext cx="2926080" cy="237744"/>
          </a:xfrm>
          <a:prstGeom prst="rect">
            <a:avLst/>
          </a:prstGeom>
          <a:noFill/>
        </p:spPr>
        <p:txBody>
          <a:bodyPr wrap="square" lIns="0" tIns="0" rIns="0" bIns="0" anchor="t">
            <a:spAutoFit/>
          </a:bodyPr>
          <a:lstStyle/>
          <a:p>
            <a:pPr algn="l">
              <a:lnSpc>
                <a:spcPct val="112000"/>
              </a:lnSpc>
              <a:spcAft>
                <a:spcPts val="0"/>
              </a:spcAft>
            </a:pPr>
            <a:r>
              <a:rPr sz="1100" b="0" i="0">
                <a:solidFill>
                  <a:srgbClr val="FF4438"/>
                </a:solidFill>
                <a:latin typeface="Consolas"/>
              </a:rPr>
              <a:t>READ_RETRIES = 1</a:t>
            </a:r>
          </a:p>
        </p:txBody>
      </p:sp>
      <p:sp>
        <p:nvSpPr>
          <p:cNvPr id="35" name="Rectangle 34"/>
          <p:cNvSpPr/>
          <p:nvPr/>
        </p:nvSpPr>
        <p:spPr>
          <a:xfrm>
            <a:off x="4096512" y="4041648"/>
            <a:ext cx="3291840" cy="1901952"/>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Rectangle 35"/>
          <p:cNvSpPr/>
          <p:nvPr/>
        </p:nvSpPr>
        <p:spPr>
          <a:xfrm>
            <a:off x="4096512" y="4041648"/>
            <a:ext cx="3291840" cy="31750"/>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4297680" y="4224528"/>
            <a:ext cx="292608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A928"/>
                </a:solidFill>
                <a:latin typeface="Bahnschrift SemiBold"/>
              </a:rPr>
              <a:t>AND TO CONCURRENT MASTERS</a:t>
            </a:r>
          </a:p>
        </p:txBody>
      </p:sp>
      <p:sp>
        <p:nvSpPr>
          <p:cNvPr id="38" name="TextBox 37"/>
          <p:cNvSpPr txBox="1"/>
          <p:nvPr/>
        </p:nvSpPr>
        <p:spPr>
          <a:xfrm>
            <a:off x="4297680" y="4535424"/>
            <a:ext cx="1581912" cy="365760"/>
          </a:xfrm>
          <a:prstGeom prst="rect">
            <a:avLst/>
          </a:prstGeom>
          <a:noFill/>
        </p:spPr>
        <p:txBody>
          <a:bodyPr wrap="square" lIns="0" tIns="0" rIns="0" bIns="0" anchor="t">
            <a:spAutoFit/>
          </a:bodyPr>
          <a:lstStyle/>
          <a:p>
            <a:pPr algn="l">
              <a:lnSpc>
                <a:spcPct val="105000"/>
              </a:lnSpc>
              <a:spcAft>
                <a:spcPts val="0"/>
              </a:spcAft>
            </a:pPr>
            <a:r>
              <a:rPr sz="1000" b="0" i="0">
                <a:solidFill>
                  <a:srgbClr val="8494A6"/>
                </a:solidFill>
                <a:latin typeface="Segoe UI"/>
              </a:rPr>
              <a:t>gateway alone</a:t>
            </a:r>
          </a:p>
        </p:txBody>
      </p:sp>
      <p:sp>
        <p:nvSpPr>
          <p:cNvPr id="39" name="TextBox 38"/>
          <p:cNvSpPr txBox="1"/>
          <p:nvPr/>
        </p:nvSpPr>
        <p:spPr>
          <a:xfrm>
            <a:off x="5989320" y="4535424"/>
            <a:ext cx="1234440" cy="365760"/>
          </a:xfrm>
          <a:prstGeom prst="rect">
            <a:avLst/>
          </a:prstGeom>
          <a:noFill/>
        </p:spPr>
        <p:txBody>
          <a:bodyPr wrap="square" lIns="0" tIns="0" rIns="0" bIns="0" anchor="t">
            <a:spAutoFit/>
          </a:bodyPr>
          <a:lstStyle/>
          <a:p>
            <a:pPr algn="l">
              <a:lnSpc>
                <a:spcPct val="105000"/>
              </a:lnSpc>
              <a:spcAft>
                <a:spcPts val="0"/>
              </a:spcAft>
            </a:pPr>
            <a:r>
              <a:rPr sz="1000" b="0" i="0">
                <a:solidFill>
                  <a:srgbClr val="4AD991"/>
                </a:solidFill>
                <a:latin typeface="Consolas"/>
              </a:rPr>
              <a:t>22/22 ×15</a:t>
            </a:r>
          </a:p>
        </p:txBody>
      </p:sp>
      <p:sp>
        <p:nvSpPr>
          <p:cNvPr id="40" name="Rectangle 39"/>
          <p:cNvSpPr/>
          <p:nvPr/>
        </p:nvSpPr>
        <p:spPr>
          <a:xfrm>
            <a:off x="4297680" y="4828032"/>
            <a:ext cx="2926080"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4297680" y="4901184"/>
            <a:ext cx="1581912" cy="365760"/>
          </a:xfrm>
          <a:prstGeom prst="rect">
            <a:avLst/>
          </a:prstGeom>
          <a:noFill/>
        </p:spPr>
        <p:txBody>
          <a:bodyPr wrap="square" lIns="0" tIns="0" rIns="0" bIns="0" anchor="t">
            <a:spAutoFit/>
          </a:bodyPr>
          <a:lstStyle/>
          <a:p>
            <a:pPr algn="l">
              <a:lnSpc>
                <a:spcPct val="105000"/>
              </a:lnSpc>
              <a:spcAft>
                <a:spcPts val="0"/>
              </a:spcAft>
            </a:pPr>
            <a:r>
              <a:rPr sz="1000" b="0" i="0">
                <a:solidFill>
                  <a:srgbClr val="8494A6"/>
                </a:solidFill>
                <a:latin typeface="Segoe UI"/>
              </a:rPr>
              <a:t>+ one PC client</a:t>
            </a:r>
          </a:p>
        </p:txBody>
      </p:sp>
      <p:sp>
        <p:nvSpPr>
          <p:cNvPr id="42" name="TextBox 41"/>
          <p:cNvSpPr txBox="1"/>
          <p:nvPr/>
        </p:nvSpPr>
        <p:spPr>
          <a:xfrm>
            <a:off x="5989320" y="4901184"/>
            <a:ext cx="1234440" cy="365760"/>
          </a:xfrm>
          <a:prstGeom prst="rect">
            <a:avLst/>
          </a:prstGeom>
          <a:noFill/>
        </p:spPr>
        <p:txBody>
          <a:bodyPr wrap="square" lIns="0" tIns="0" rIns="0" bIns="0" anchor="t">
            <a:spAutoFit/>
          </a:bodyPr>
          <a:lstStyle/>
          <a:p>
            <a:pPr algn="l">
              <a:lnSpc>
                <a:spcPct val="105000"/>
              </a:lnSpc>
              <a:spcAft>
                <a:spcPts val="0"/>
              </a:spcAft>
            </a:pPr>
            <a:r>
              <a:rPr sz="1000" b="0" i="0">
                <a:solidFill>
                  <a:srgbClr val="FF4438"/>
                </a:solidFill>
                <a:latin typeface="Consolas"/>
              </a:rPr>
              <a:t>21/22</a:t>
            </a:r>
          </a:p>
        </p:txBody>
      </p:sp>
      <p:sp>
        <p:nvSpPr>
          <p:cNvPr id="43" name="TextBox 42"/>
          <p:cNvSpPr txBox="1"/>
          <p:nvPr/>
        </p:nvSpPr>
        <p:spPr>
          <a:xfrm>
            <a:off x="4297680" y="5413248"/>
            <a:ext cx="2926080" cy="445335"/>
          </a:xfrm>
          <a:prstGeom prst="rect">
            <a:avLst/>
          </a:prstGeom>
          <a:noFill/>
        </p:spPr>
        <p:txBody>
          <a:bodyPr wrap="square" lIns="0" tIns="0" rIns="0" bIns="0" anchor="t">
            <a:spAutoFit/>
          </a:bodyPr>
          <a:lstStyle/>
          <a:p>
            <a:pPr algn="l">
              <a:lnSpc>
                <a:spcPct val="138000"/>
              </a:lnSpc>
              <a:spcAft>
                <a:spcPts val="0"/>
              </a:spcAft>
            </a:pPr>
            <a:r>
              <a:rPr sz="1050" b="0" i="0">
                <a:solidFill>
                  <a:srgbClr val="8494A6"/>
                </a:solidFill>
                <a:latin typeface="Segoe UI"/>
              </a:rPr>
              <a:t>Close QModMaster, server.py and every PC client before an acceptance run.</a:t>
            </a:r>
          </a:p>
        </p:txBody>
      </p:sp>
      <p:sp>
        <p:nvSpPr>
          <p:cNvPr id="44" name="Rectangle 43"/>
          <p:cNvSpPr/>
          <p:nvPr/>
        </p:nvSpPr>
        <p:spPr>
          <a:xfrm>
            <a:off x="7552944" y="4041648"/>
            <a:ext cx="3995928" cy="1901952"/>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Rectangle 44"/>
          <p:cNvSpPr/>
          <p:nvPr/>
        </p:nvSpPr>
        <p:spPr>
          <a:xfrm>
            <a:off x="7552944" y="4041648"/>
            <a:ext cx="39959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7772400" y="4224528"/>
            <a:ext cx="3566160"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WHY ETHERNET, NOT RS-485</a:t>
            </a:r>
          </a:p>
        </p:txBody>
      </p:sp>
      <p:sp>
        <p:nvSpPr>
          <p:cNvPr id="47" name="TextBox 46"/>
          <p:cNvSpPr txBox="1"/>
          <p:nvPr/>
        </p:nvSpPr>
        <p:spPr>
          <a:xfrm>
            <a:off x="7772400" y="4498848"/>
            <a:ext cx="3566160" cy="890671"/>
          </a:xfrm>
          <a:prstGeom prst="rect">
            <a:avLst/>
          </a:prstGeom>
          <a:noFill/>
        </p:spPr>
        <p:txBody>
          <a:bodyPr wrap="square" lIns="0" tIns="0" rIns="0" bIns="0" anchor="t">
            <a:spAutoFit/>
          </a:bodyPr>
          <a:lstStyle/>
          <a:p>
            <a:pPr algn="l">
              <a:lnSpc>
                <a:spcPct val="138000"/>
              </a:lnSpc>
              <a:spcAft>
                <a:spcPts val="0"/>
              </a:spcAft>
            </a:pPr>
            <a:r>
              <a:rPr sz="1050" b="0" i="0">
                <a:solidFill>
                  <a:srgbClr val="8494A6"/>
                </a:solidFill>
                <a:latin typeface="Segoe UI"/>
              </a:rPr>
              <a:t>The ESP8266 has one usable UART: UART1 cannot receive, so Modbus RTU would have to take the console port. Over TCP the serial console stays usable — and every diagnosis in this project was read off it.</a:t>
            </a:r>
          </a:p>
        </p:txBody>
      </p:sp>
      <p:sp>
        <p:nvSpPr>
          <p:cNvPr id="48" name="TextBox 47"/>
          <p:cNvSpPr txBox="1"/>
          <p:nvPr/>
        </p:nvSpPr>
        <p:spPr>
          <a:xfrm>
            <a:off x="7772400" y="5669280"/>
            <a:ext cx="3566160" cy="237744"/>
          </a:xfrm>
          <a:prstGeom prst="rect">
            <a:avLst/>
          </a:prstGeom>
          <a:noFill/>
        </p:spPr>
        <p:txBody>
          <a:bodyPr wrap="square" lIns="0" tIns="0" rIns="0" bIns="0" anchor="t">
            <a:spAutoFit/>
          </a:bodyPr>
          <a:lstStyle/>
          <a:p>
            <a:pPr algn="l">
              <a:lnSpc>
                <a:spcPct val="112000"/>
              </a:lnSpc>
              <a:spcAft>
                <a:spcPts val="0"/>
              </a:spcAft>
            </a:pPr>
            <a:r>
              <a:rPr sz="950" b="0" i="0">
                <a:solidFill>
                  <a:srgbClr val="63D2E8"/>
                </a:solidFill>
                <a:latin typeface="Consolas"/>
              </a:rPr>
              <a:t>seq=15  22/22 regs  besleme=23.350</a:t>
            </a:r>
          </a:p>
        </p:txBody>
      </p:sp>
      <p:sp>
        <p:nvSpPr>
          <p:cNvPr id="49" name="Rectangle 48"/>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TextBox 49"/>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51" name="TextBox 50"/>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MODBUS/DKM_440_MAPPING/METHOD.MD</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500" b="0" i="0">
                <a:solidFill>
                  <a:srgbClr val="E6EDF3"/>
                </a:solidFill>
                <a:latin typeface="Bahnschrift SemiBold"/>
              </a:rPr>
              <a:t>Finding a register nobody documented</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40080" y="1554480"/>
            <a:ext cx="10908792" cy="457200"/>
          </a:xfrm>
          <a:prstGeom prst="rect">
            <a:avLst/>
          </a:prstGeom>
          <a:noFill/>
        </p:spPr>
        <p:txBody>
          <a:bodyPr wrap="square" lIns="0" tIns="0" rIns="0" bIns="0" anchor="t">
            <a:spAutoFit/>
          </a:bodyPr>
          <a:lstStyle/>
          <a:p>
            <a:pPr algn="l">
              <a:lnSpc>
                <a:spcPct val="140000"/>
              </a:lnSpc>
              <a:spcAft>
                <a:spcPts val="0"/>
              </a:spcAft>
            </a:pPr>
            <a:r>
              <a:rPr sz="1350" b="0" i="0">
                <a:solidFill>
                  <a:srgbClr val="E6EDF3"/>
                </a:solidFill>
                <a:latin typeface="Segoe UI"/>
              </a:rPr>
              <a:t>A measurement register holds  raw = scale × value.  Drive the value to several known points; the register whose raw plots a straight line against them is that measurement, and the slope is the scale.</a:t>
            </a:r>
          </a:p>
        </p:txBody>
      </p:sp>
      <p:sp>
        <p:nvSpPr>
          <p:cNvPr id="22" name="Rectangle 21"/>
          <p:cNvSpPr/>
          <p:nvPr/>
        </p:nvSpPr>
        <p:spPr>
          <a:xfrm>
            <a:off x="640080" y="2249424"/>
            <a:ext cx="2624328" cy="1700784"/>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Rectangle 22"/>
          <p:cNvSpPr/>
          <p:nvPr/>
        </p:nvSpPr>
        <p:spPr>
          <a:xfrm>
            <a:off x="640080" y="2249424"/>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822959" y="2450592"/>
            <a:ext cx="457200" cy="237744"/>
          </a:xfrm>
          <a:prstGeom prst="rect">
            <a:avLst/>
          </a:prstGeom>
          <a:noFill/>
        </p:spPr>
        <p:txBody>
          <a:bodyPr wrap="square" lIns="0" tIns="0" rIns="0" bIns="0" anchor="t">
            <a:spAutoFit/>
          </a:bodyPr>
          <a:lstStyle/>
          <a:p>
            <a:pPr algn="l">
              <a:lnSpc>
                <a:spcPct val="112000"/>
              </a:lnSpc>
              <a:spcAft>
                <a:spcPts val="0"/>
              </a:spcAft>
            </a:pPr>
            <a:r>
              <a:rPr sz="1300" b="0" i="0">
                <a:solidFill>
                  <a:srgbClr val="63D2E8"/>
                </a:solidFill>
                <a:latin typeface="Consolas"/>
              </a:rPr>
              <a:t>1</a:t>
            </a:r>
          </a:p>
        </p:txBody>
      </p:sp>
      <p:sp>
        <p:nvSpPr>
          <p:cNvPr id="25" name="TextBox 24"/>
          <p:cNvSpPr txBox="1"/>
          <p:nvPr/>
        </p:nvSpPr>
        <p:spPr>
          <a:xfrm>
            <a:off x="822959" y="2724912"/>
            <a:ext cx="2258568"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Move one thing</a:t>
            </a:r>
          </a:p>
        </p:txBody>
      </p:sp>
      <p:sp>
        <p:nvSpPr>
          <p:cNvPr id="26" name="TextBox 25"/>
          <p:cNvSpPr txBox="1"/>
          <p:nvPr/>
        </p:nvSpPr>
        <p:spPr>
          <a:xfrm>
            <a:off x="822959" y="3035808"/>
            <a:ext cx="2258568" cy="822960"/>
          </a:xfrm>
          <a:prstGeom prst="rect">
            <a:avLst/>
          </a:prstGeom>
          <a:noFill/>
        </p:spPr>
        <p:txBody>
          <a:bodyPr wrap="square" lIns="0" tIns="0" rIns="0" bIns="0" anchor="t">
            <a:spAutoFit/>
          </a:bodyPr>
          <a:lstStyle/>
          <a:p>
            <a:pPr algn="l">
              <a:lnSpc>
                <a:spcPct val="135000"/>
              </a:lnSpc>
              <a:spcAft>
                <a:spcPts val="0"/>
              </a:spcAft>
            </a:pPr>
            <a:r>
              <a:rPr sz="1000" b="0" i="0">
                <a:solidFill>
                  <a:srgbClr val="8494A6"/>
                </a:solidFill>
                <a:latin typeface="Segoe UI"/>
              </a:rPr>
              <a:t>On a bench a single source feeds every input, so a static dump shows the same number in a dozen registers. Motion is the discriminator.</a:t>
            </a:r>
          </a:p>
        </p:txBody>
      </p:sp>
      <p:sp>
        <p:nvSpPr>
          <p:cNvPr id="27" name="Rectangle 26"/>
          <p:cNvSpPr/>
          <p:nvPr/>
        </p:nvSpPr>
        <p:spPr>
          <a:xfrm>
            <a:off x="3396996" y="2249424"/>
            <a:ext cx="2624328" cy="1700784"/>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Rectangle 27"/>
          <p:cNvSpPr/>
          <p:nvPr/>
        </p:nvSpPr>
        <p:spPr>
          <a:xfrm>
            <a:off x="3396996" y="2249424"/>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3579876" y="2450592"/>
            <a:ext cx="457200" cy="237744"/>
          </a:xfrm>
          <a:prstGeom prst="rect">
            <a:avLst/>
          </a:prstGeom>
          <a:noFill/>
        </p:spPr>
        <p:txBody>
          <a:bodyPr wrap="square" lIns="0" tIns="0" rIns="0" bIns="0" anchor="t">
            <a:spAutoFit/>
          </a:bodyPr>
          <a:lstStyle/>
          <a:p>
            <a:pPr algn="l">
              <a:lnSpc>
                <a:spcPct val="112000"/>
              </a:lnSpc>
              <a:spcAft>
                <a:spcPts val="0"/>
              </a:spcAft>
            </a:pPr>
            <a:r>
              <a:rPr sz="1300" b="0" i="0">
                <a:solidFill>
                  <a:srgbClr val="63D2E8"/>
                </a:solidFill>
                <a:latin typeface="Consolas"/>
              </a:rPr>
              <a:t>2</a:t>
            </a:r>
          </a:p>
        </p:txBody>
      </p:sp>
      <p:sp>
        <p:nvSpPr>
          <p:cNvPr id="30" name="TextBox 29"/>
          <p:cNvSpPr txBox="1"/>
          <p:nvPr/>
        </p:nvSpPr>
        <p:spPr>
          <a:xfrm>
            <a:off x="3579876" y="2724912"/>
            <a:ext cx="2258568"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Record 3–5 points</a:t>
            </a:r>
          </a:p>
        </p:txBody>
      </p:sp>
      <p:sp>
        <p:nvSpPr>
          <p:cNvPr id="31" name="TextBox 30"/>
          <p:cNvSpPr txBox="1"/>
          <p:nvPr/>
        </p:nvSpPr>
        <p:spPr>
          <a:xfrm>
            <a:off x="3579876" y="3035808"/>
            <a:ext cx="2258568" cy="822960"/>
          </a:xfrm>
          <a:prstGeom prst="rect">
            <a:avLst/>
          </a:prstGeom>
          <a:noFill/>
        </p:spPr>
        <p:txBody>
          <a:bodyPr wrap="square" lIns="0" tIns="0" rIns="0" bIns="0" anchor="t">
            <a:spAutoFit/>
          </a:bodyPr>
          <a:lstStyle/>
          <a:p>
            <a:pPr algn="l">
              <a:lnSpc>
                <a:spcPct val="135000"/>
              </a:lnSpc>
              <a:spcAft>
                <a:spcPts val="0"/>
              </a:spcAft>
            </a:pPr>
            <a:r>
              <a:rPr sz="1000" b="0" i="0">
                <a:solidFill>
                  <a:srgbClr val="8494A6"/>
                </a:solidFill>
                <a:latin typeface="Segoe UI"/>
              </a:rPr>
              <a:t>Two points pin a line; three to five across a wide range give a meaningful R² and expose non-linearity.</a:t>
            </a:r>
          </a:p>
        </p:txBody>
      </p:sp>
      <p:sp>
        <p:nvSpPr>
          <p:cNvPr id="32" name="Rectangle 31"/>
          <p:cNvSpPr/>
          <p:nvPr/>
        </p:nvSpPr>
        <p:spPr>
          <a:xfrm>
            <a:off x="6153912" y="2249424"/>
            <a:ext cx="2624328" cy="1700784"/>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Rectangle 32"/>
          <p:cNvSpPr/>
          <p:nvPr/>
        </p:nvSpPr>
        <p:spPr>
          <a:xfrm>
            <a:off x="6153912" y="2249424"/>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TextBox 33"/>
          <p:cNvSpPr txBox="1"/>
          <p:nvPr/>
        </p:nvSpPr>
        <p:spPr>
          <a:xfrm>
            <a:off x="6336792" y="2450592"/>
            <a:ext cx="457200" cy="237744"/>
          </a:xfrm>
          <a:prstGeom prst="rect">
            <a:avLst/>
          </a:prstGeom>
          <a:noFill/>
        </p:spPr>
        <p:txBody>
          <a:bodyPr wrap="square" lIns="0" tIns="0" rIns="0" bIns="0" anchor="t">
            <a:spAutoFit/>
          </a:bodyPr>
          <a:lstStyle/>
          <a:p>
            <a:pPr algn="l">
              <a:lnSpc>
                <a:spcPct val="112000"/>
              </a:lnSpc>
              <a:spcAft>
                <a:spcPts val="0"/>
              </a:spcAft>
            </a:pPr>
            <a:r>
              <a:rPr sz="1300" b="0" i="0">
                <a:solidFill>
                  <a:srgbClr val="63D2E8"/>
                </a:solidFill>
                <a:latin typeface="Consolas"/>
              </a:rPr>
              <a:t>3</a:t>
            </a:r>
          </a:p>
        </p:txBody>
      </p:sp>
      <p:sp>
        <p:nvSpPr>
          <p:cNvPr id="35" name="TextBox 34"/>
          <p:cNvSpPr txBox="1"/>
          <p:nvPr/>
        </p:nvSpPr>
        <p:spPr>
          <a:xfrm>
            <a:off x="6336792" y="2724912"/>
            <a:ext cx="2258568"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Least-squares every register</a:t>
            </a:r>
          </a:p>
        </p:txBody>
      </p:sp>
      <p:sp>
        <p:nvSpPr>
          <p:cNvPr id="36" name="TextBox 35"/>
          <p:cNvSpPr txBox="1"/>
          <p:nvPr/>
        </p:nvSpPr>
        <p:spPr>
          <a:xfrm>
            <a:off x="6336792" y="3035808"/>
            <a:ext cx="2258568" cy="822960"/>
          </a:xfrm>
          <a:prstGeom prst="rect">
            <a:avLst/>
          </a:prstGeom>
          <a:noFill/>
        </p:spPr>
        <p:txBody>
          <a:bodyPr wrap="square" lIns="0" tIns="0" rIns="0" bIns="0" anchor="t">
            <a:spAutoFit/>
          </a:bodyPr>
          <a:lstStyle/>
          <a:p>
            <a:pPr algn="l">
              <a:lnSpc>
                <a:spcPct val="135000"/>
              </a:lnSpc>
              <a:spcAft>
                <a:spcPts val="0"/>
              </a:spcAft>
            </a:pPr>
            <a:r>
              <a:rPr sz="1000" b="0" i="0">
                <a:solidFill>
                  <a:srgbClr val="8494A6"/>
                </a:solidFill>
                <a:latin typeface="Segoe UI"/>
              </a:rPr>
              <a:t>Fit raw = m·V + b. The true register scores R² ≈ 1.000; noise and drift score low. Constant registers are skipped — no line to fit.</a:t>
            </a:r>
          </a:p>
        </p:txBody>
      </p:sp>
      <p:sp>
        <p:nvSpPr>
          <p:cNvPr id="37" name="Rectangle 36"/>
          <p:cNvSpPr/>
          <p:nvPr/>
        </p:nvSpPr>
        <p:spPr>
          <a:xfrm>
            <a:off x="8910828" y="2249424"/>
            <a:ext cx="2624328" cy="1700784"/>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Rectangle 37"/>
          <p:cNvSpPr/>
          <p:nvPr/>
        </p:nvSpPr>
        <p:spPr>
          <a:xfrm>
            <a:off x="8910828" y="2249424"/>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9093707" y="2450592"/>
            <a:ext cx="457200" cy="237744"/>
          </a:xfrm>
          <a:prstGeom prst="rect">
            <a:avLst/>
          </a:prstGeom>
          <a:noFill/>
        </p:spPr>
        <p:txBody>
          <a:bodyPr wrap="square" lIns="0" tIns="0" rIns="0" bIns="0" anchor="t">
            <a:spAutoFit/>
          </a:bodyPr>
          <a:lstStyle/>
          <a:p>
            <a:pPr algn="l">
              <a:lnSpc>
                <a:spcPct val="112000"/>
              </a:lnSpc>
              <a:spcAft>
                <a:spcPts val="0"/>
              </a:spcAft>
            </a:pPr>
            <a:r>
              <a:rPr sz="1300" b="0" i="0">
                <a:solidFill>
                  <a:srgbClr val="63D2E8"/>
                </a:solidFill>
                <a:latin typeface="Consolas"/>
              </a:rPr>
              <a:t>4</a:t>
            </a:r>
          </a:p>
        </p:txBody>
      </p:sp>
      <p:sp>
        <p:nvSpPr>
          <p:cNvPr id="40" name="TextBox 39"/>
          <p:cNvSpPr txBox="1"/>
          <p:nvPr/>
        </p:nvSpPr>
        <p:spPr>
          <a:xfrm>
            <a:off x="9093707" y="2724912"/>
            <a:ext cx="2258568" cy="274320"/>
          </a:xfrm>
          <a:prstGeom prst="rect">
            <a:avLst/>
          </a:prstGeom>
          <a:noFill/>
        </p:spPr>
        <p:txBody>
          <a:bodyPr wrap="square" lIns="0" tIns="0" rIns="0" bIns="0" anchor="t">
            <a:spAutoFit/>
          </a:bodyPr>
          <a:lstStyle/>
          <a:p>
            <a:pPr algn="l">
              <a:lnSpc>
                <a:spcPct val="112000"/>
              </a:lnSpc>
              <a:spcAft>
                <a:spcPts val="0"/>
              </a:spcAft>
            </a:pPr>
            <a:r>
              <a:rPr sz="1250" b="0" i="0">
                <a:solidFill>
                  <a:srgbClr val="E6EDF3"/>
                </a:solidFill>
                <a:latin typeface="Bahnschrift SemiBold"/>
              </a:rPr>
              <a:t>Rank, then verify</a:t>
            </a:r>
          </a:p>
        </p:txBody>
      </p:sp>
      <p:sp>
        <p:nvSpPr>
          <p:cNvPr id="41" name="TextBox 40"/>
          <p:cNvSpPr txBox="1"/>
          <p:nvPr/>
        </p:nvSpPr>
        <p:spPr>
          <a:xfrm>
            <a:off x="9093707" y="3035808"/>
            <a:ext cx="2258568" cy="822960"/>
          </a:xfrm>
          <a:prstGeom prst="rect">
            <a:avLst/>
          </a:prstGeom>
          <a:noFill/>
        </p:spPr>
        <p:txBody>
          <a:bodyPr wrap="square" lIns="0" tIns="0" rIns="0" bIns="0" anchor="t">
            <a:spAutoFit/>
          </a:bodyPr>
          <a:lstStyle/>
          <a:p>
            <a:pPr algn="l">
              <a:lnSpc>
                <a:spcPct val="135000"/>
              </a:lnSpc>
              <a:spcAft>
                <a:spcPts val="0"/>
              </a:spcAft>
            </a:pPr>
            <a:r>
              <a:rPr sz="1000" b="0" i="0">
                <a:solidFill>
                  <a:srgbClr val="8494A6"/>
                </a:solidFill>
                <a:latin typeface="Segoe UI"/>
              </a:rPr>
              <a:t>R² first, swing second, so a perfectly-fitting-but-barely-moving artefact cannot win. Then cross-check the winner against the TEDAŞ table.</a:t>
            </a:r>
          </a:p>
        </p:txBody>
      </p:sp>
      <p:sp>
        <p:nvSpPr>
          <p:cNvPr id="42" name="Rectangle 41"/>
          <p:cNvSpPr/>
          <p:nvPr/>
        </p:nvSpPr>
        <p:spPr>
          <a:xfrm>
            <a:off x="640080" y="4169663"/>
            <a:ext cx="6309360" cy="1481328"/>
          </a:xfrm>
          <a:prstGeom prst="rect">
            <a:avLst/>
          </a:prstGeom>
          <a:solidFill>
            <a:srgbClr val="0A0E13"/>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Rectangle 42"/>
          <p:cNvSpPr/>
          <p:nvPr/>
        </p:nvSpPr>
        <p:spPr>
          <a:xfrm>
            <a:off x="640080" y="4169663"/>
            <a:ext cx="25400" cy="1481328"/>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841247" y="4297679"/>
            <a:ext cx="5907024" cy="201168"/>
          </a:xfrm>
          <a:prstGeom prst="rect">
            <a:avLst/>
          </a:prstGeom>
          <a:noFill/>
        </p:spPr>
        <p:txBody>
          <a:bodyPr wrap="square" lIns="0" tIns="0" rIns="0" bIns="0" anchor="t">
            <a:spAutoFit/>
          </a:bodyPr>
          <a:lstStyle/>
          <a:p>
            <a:pPr algn="l">
              <a:lnSpc>
                <a:spcPct val="100000"/>
              </a:lnSpc>
              <a:spcAft>
                <a:spcPts val="0"/>
              </a:spcAft>
            </a:pPr>
            <a:r>
              <a:rPr sz="850" b="0" i="0">
                <a:solidFill>
                  <a:srgbClr val="63D2E8"/>
                </a:solidFill>
                <a:latin typeface="Bahnschrift SemiBold"/>
              </a:rPr>
              <a:t>find_register.py OUTPUT</a:t>
            </a:r>
          </a:p>
        </p:txBody>
      </p:sp>
      <p:sp>
        <p:nvSpPr>
          <p:cNvPr id="45" name="TextBox 44"/>
          <p:cNvSpPr txBox="1"/>
          <p:nvPr/>
        </p:nvSpPr>
        <p:spPr>
          <a:xfrm>
            <a:off x="841247" y="4571999"/>
            <a:ext cx="5907024" cy="969264"/>
          </a:xfrm>
          <a:prstGeom prst="rect">
            <a:avLst/>
          </a:prstGeom>
          <a:noFill/>
        </p:spPr>
        <p:txBody>
          <a:bodyPr wrap="square" lIns="0" tIns="0" rIns="0" bIns="0">
            <a:spAutoFit/>
          </a:bodyPr>
          <a:lstStyle/>
          <a:p>
            <a:pPr algn="l">
              <a:lnSpc>
                <a:spcPct val="130000"/>
              </a:lnSpc>
              <a:spcAft>
                <a:spcPts val="0"/>
              </a:spcAft>
            </a:pPr>
            <a:r>
              <a:rPr sz="1050" b="0">
                <a:solidFill>
                  <a:srgbClr val="8494A6"/>
                </a:solidFill>
                <a:latin typeface="Consolas"/>
              </a:rPr>
              <a:t>  addr     R^2  slope(raw/V)  intercept  scale  swing</a:t>
            </a:r>
          </a:p>
          <a:p>
            <a:pPr algn="l">
              <a:lnSpc>
                <a:spcPct val="130000"/>
              </a:lnSpc>
              <a:spcAft>
                <a:spcPts val="0"/>
              </a:spcAft>
            </a:pPr>
            <a:r>
              <a:rPr sz="1050" b="0">
                <a:solidFill>
                  <a:srgbClr val="63D2E8"/>
                </a:solidFill>
                <a:latin typeface="Consolas"/>
              </a:rPr>
              <a:t> 20480  1.0000        10.000       0.00     10    500</a:t>
            </a:r>
          </a:p>
          <a:p>
            <a:pPr algn="l">
              <a:lnSpc>
                <a:spcPct val="130000"/>
              </a:lnSpc>
              <a:spcAft>
                <a:spcPts val="0"/>
              </a:spcAft>
            </a:pPr>
            <a:r>
              <a:rPr sz="1050" b="0">
                <a:solidFill>
                  <a:srgbClr val="5A6878"/>
                </a:solidFill>
                <a:latin typeface="Consolas"/>
              </a:rPr>
              <a:t> 20500  0.7500        -0.020    2624.17      1      1</a:t>
            </a:r>
          </a:p>
        </p:txBody>
      </p:sp>
      <p:sp>
        <p:nvSpPr>
          <p:cNvPr id="46" name="TextBox 45"/>
          <p:cNvSpPr txBox="1"/>
          <p:nvPr/>
        </p:nvSpPr>
        <p:spPr>
          <a:xfrm>
            <a:off x="640080" y="5724144"/>
            <a:ext cx="6309360"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top row: R²=1.0000, big swing → that is the register, scale ÷10</a:t>
            </a:r>
          </a:p>
        </p:txBody>
      </p:sp>
      <p:sp>
        <p:nvSpPr>
          <p:cNvPr id="47" name="Rectangle 46"/>
          <p:cNvSpPr/>
          <p:nvPr/>
        </p:nvSpPr>
        <p:spPr>
          <a:xfrm>
            <a:off x="7187184" y="4169663"/>
            <a:ext cx="4361688" cy="148132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8" name="Rectangle 47"/>
          <p:cNvSpPr/>
          <p:nvPr/>
        </p:nvSpPr>
        <p:spPr>
          <a:xfrm>
            <a:off x="7187184" y="4169663"/>
            <a:ext cx="4361688" cy="3175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TextBox 48"/>
          <p:cNvSpPr txBox="1"/>
          <p:nvPr/>
        </p:nvSpPr>
        <p:spPr>
          <a:xfrm>
            <a:off x="7406640" y="4370832"/>
            <a:ext cx="3931920" cy="274320"/>
          </a:xfrm>
          <a:prstGeom prst="rect">
            <a:avLst/>
          </a:prstGeom>
          <a:noFill/>
        </p:spPr>
        <p:txBody>
          <a:bodyPr wrap="square" lIns="0" tIns="0" rIns="0" bIns="0" anchor="t">
            <a:spAutoFit/>
          </a:bodyPr>
          <a:lstStyle/>
          <a:p>
            <a:pPr algn="l">
              <a:lnSpc>
                <a:spcPct val="112000"/>
              </a:lnSpc>
              <a:spcAft>
                <a:spcPts val="0"/>
              </a:spcAft>
            </a:pPr>
            <a:r>
              <a:rPr sz="900" b="0" i="0">
                <a:solidFill>
                  <a:srgbClr val="FF4438"/>
                </a:solidFill>
                <a:latin typeface="Bahnschrift SemiBold"/>
              </a:rPr>
              <a:t>STANDING CONSTRAINT  C-4</a:t>
            </a:r>
          </a:p>
        </p:txBody>
      </p:sp>
      <p:sp>
        <p:nvSpPr>
          <p:cNvPr id="50" name="TextBox 49"/>
          <p:cNvSpPr txBox="1"/>
          <p:nvPr/>
        </p:nvSpPr>
        <p:spPr>
          <a:xfrm>
            <a:off x="7406640" y="4663440"/>
            <a:ext cx="3931920" cy="457200"/>
          </a:xfrm>
          <a:prstGeom prst="rect">
            <a:avLst/>
          </a:prstGeom>
          <a:noFill/>
        </p:spPr>
        <p:txBody>
          <a:bodyPr wrap="square" lIns="0" tIns="0" rIns="0" bIns="0" anchor="t">
            <a:spAutoFit/>
          </a:bodyPr>
          <a:lstStyle/>
          <a:p>
            <a:pPr algn="l">
              <a:lnSpc>
                <a:spcPct val="112000"/>
              </a:lnSpc>
              <a:spcAft>
                <a:spcPts val="0"/>
              </a:spcAft>
            </a:pPr>
            <a:r>
              <a:rPr sz="1500" b="0" i="0">
                <a:solidFill>
                  <a:srgbClr val="FF4438"/>
                </a:solidFill>
                <a:latin typeface="Consolas"/>
              </a:rPr>
              <a:t>never touch 16385–16406</a:t>
            </a:r>
          </a:p>
        </p:txBody>
      </p:sp>
      <p:sp>
        <p:nvSpPr>
          <p:cNvPr id="51" name="TextBox 50"/>
          <p:cNvSpPr txBox="1"/>
          <p:nvPr/>
        </p:nvSpPr>
        <p:spPr>
          <a:xfrm>
            <a:off x="7406640" y="5102352"/>
            <a:ext cx="3931920" cy="457200"/>
          </a:xfrm>
          <a:prstGeom prst="rect">
            <a:avLst/>
          </a:prstGeom>
          <a:noFill/>
        </p:spPr>
        <p:txBody>
          <a:bodyPr wrap="square" lIns="0" tIns="0" rIns="0" bIns="0" anchor="t">
            <a:spAutoFit/>
          </a:bodyPr>
          <a:lstStyle/>
          <a:p>
            <a:pPr algn="l">
              <a:lnSpc>
                <a:spcPct val="135000"/>
              </a:lnSpc>
              <a:spcAft>
                <a:spcPts val="0"/>
              </a:spcAft>
            </a:pPr>
            <a:r>
              <a:rPr sz="1050" b="0" i="0">
                <a:solidFill>
                  <a:srgbClr val="8494A6"/>
                </a:solidFill>
                <a:latin typeface="Segoe UI"/>
              </a:rPr>
              <a:t>Neither read nor write. The scan scripts exclude the block explicitly.</a:t>
            </a:r>
          </a:p>
        </p:txBody>
      </p:sp>
      <p:sp>
        <p:nvSpPr>
          <p:cNvPr id="52" name="Rectangle 51"/>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3" name="TextBox 52"/>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54" name="TextBox 53"/>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MQTT OVER TLS 1.3 TO EMQX SERVERLESS · ONE FIVE-SECOND CYCLE</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Getting it off the bench</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640080" y="1481328"/>
            <a:ext cx="1592683" cy="402336"/>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640080" y="1581912"/>
            <a:ext cx="1592683" cy="274320"/>
          </a:xfrm>
          <a:prstGeom prst="rect">
            <a:avLst/>
          </a:prstGeom>
          <a:noFill/>
        </p:spPr>
        <p:txBody>
          <a:bodyPr wrap="square" lIns="0" tIns="0" rIns="0" bIns="0" anchor="t">
            <a:spAutoFit/>
          </a:bodyPr>
          <a:lstStyle/>
          <a:p>
            <a:pPr algn="ctr">
              <a:lnSpc>
                <a:spcPct val="112000"/>
              </a:lnSpc>
              <a:spcAft>
                <a:spcPts val="0"/>
              </a:spcAft>
            </a:pPr>
            <a:r>
              <a:rPr sz="1050" b="1" i="0">
                <a:solidFill>
                  <a:srgbClr val="0D1117"/>
                </a:solidFill>
                <a:latin typeface="Bahnschrift SemiBold"/>
              </a:rPr>
              <a:t>22 register reads</a:t>
            </a:r>
          </a:p>
        </p:txBody>
      </p:sp>
      <p:sp>
        <p:nvSpPr>
          <p:cNvPr id="23" name="Rectangle 22"/>
          <p:cNvSpPr/>
          <p:nvPr/>
        </p:nvSpPr>
        <p:spPr>
          <a:xfrm>
            <a:off x="2232763" y="1481328"/>
            <a:ext cx="589074" cy="402336"/>
          </a:xfrm>
          <a:prstGeom prst="rect">
            <a:avLst/>
          </a:prstGeom>
          <a:solidFill>
            <a:srgbClr val="C89A5B"/>
          </a:solidFill>
          <a:ln w="12700">
            <a:solidFill>
              <a:srgbClr val="C89A5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2821838" y="1481328"/>
            <a:ext cx="654527" cy="402336"/>
          </a:xfrm>
          <a:prstGeom prst="rect">
            <a:avLst/>
          </a:prstGeom>
          <a:solidFill>
            <a:srgbClr val="4AD991"/>
          </a:solidFill>
          <a:ln w="12700">
            <a:solidFill>
              <a:srgbClr val="4AD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Rectangle 24"/>
          <p:cNvSpPr/>
          <p:nvPr/>
        </p:nvSpPr>
        <p:spPr>
          <a:xfrm>
            <a:off x="3476365" y="1481328"/>
            <a:ext cx="8072506" cy="402336"/>
          </a:xfrm>
          <a:prstGeom prst="rect">
            <a:avLst/>
          </a:prstGeom>
          <a:solidFill>
            <a:srgbClr val="161C24"/>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3476365" y="1581912"/>
            <a:ext cx="8072506" cy="274320"/>
          </a:xfrm>
          <a:prstGeom prst="rect">
            <a:avLst/>
          </a:prstGeom>
          <a:noFill/>
        </p:spPr>
        <p:txBody>
          <a:bodyPr wrap="square" lIns="0" tIns="0" rIns="0" bIns="0" anchor="t">
            <a:spAutoFit/>
          </a:bodyPr>
          <a:lstStyle/>
          <a:p>
            <a:pPr algn="ctr">
              <a:lnSpc>
                <a:spcPct val="112000"/>
              </a:lnSpc>
              <a:spcAft>
                <a:spcPts val="0"/>
              </a:spcAft>
            </a:pPr>
            <a:r>
              <a:rPr sz="1050" b="1" i="0">
                <a:solidFill>
                  <a:srgbClr val="8494A6"/>
                </a:solidFill>
                <a:latin typeface="Bahnschrift SemiBold"/>
              </a:rPr>
              <a:t>idle</a:t>
            </a:r>
          </a:p>
        </p:txBody>
      </p:sp>
      <p:sp>
        <p:nvSpPr>
          <p:cNvPr id="27" name="Rectangle 26"/>
          <p:cNvSpPr/>
          <p:nvPr/>
        </p:nvSpPr>
        <p:spPr>
          <a:xfrm>
            <a:off x="640080" y="1993392"/>
            <a:ext cx="10908792" cy="1587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Rectangle 27"/>
          <p:cNvSpPr/>
          <p:nvPr/>
        </p:nvSpPr>
        <p:spPr>
          <a:xfrm>
            <a:off x="636422" y="1911096"/>
            <a:ext cx="15875" cy="182880"/>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179222" y="2139696"/>
            <a:ext cx="914400" cy="219456"/>
          </a:xfrm>
          <a:prstGeom prst="rect">
            <a:avLst/>
          </a:prstGeom>
          <a:noFill/>
        </p:spPr>
        <p:txBody>
          <a:bodyPr wrap="square" lIns="0" tIns="0" rIns="0" bIns="0" anchor="t">
            <a:spAutoFit/>
          </a:bodyPr>
          <a:lstStyle/>
          <a:p>
            <a:pPr algn="ctr">
              <a:lnSpc>
                <a:spcPct val="112000"/>
              </a:lnSpc>
              <a:spcAft>
                <a:spcPts val="0"/>
              </a:spcAft>
            </a:pPr>
            <a:r>
              <a:rPr sz="900" b="0" i="0">
                <a:solidFill>
                  <a:srgbClr val="5A6878"/>
                </a:solidFill>
                <a:latin typeface="Consolas"/>
              </a:rPr>
              <a:t>0 ms</a:t>
            </a:r>
          </a:p>
        </p:txBody>
      </p:sp>
      <p:sp>
        <p:nvSpPr>
          <p:cNvPr id="30" name="Rectangle 29"/>
          <p:cNvSpPr/>
          <p:nvPr/>
        </p:nvSpPr>
        <p:spPr>
          <a:xfrm>
            <a:off x="2229106" y="1911096"/>
            <a:ext cx="15875" cy="182880"/>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1771906" y="2139696"/>
            <a:ext cx="914400" cy="219456"/>
          </a:xfrm>
          <a:prstGeom prst="rect">
            <a:avLst/>
          </a:prstGeom>
          <a:noFill/>
        </p:spPr>
        <p:txBody>
          <a:bodyPr wrap="square" lIns="0" tIns="0" rIns="0" bIns="0" anchor="t">
            <a:spAutoFit/>
          </a:bodyPr>
          <a:lstStyle/>
          <a:p>
            <a:pPr algn="ctr">
              <a:lnSpc>
                <a:spcPct val="112000"/>
              </a:lnSpc>
              <a:spcAft>
                <a:spcPts val="0"/>
              </a:spcAft>
            </a:pPr>
            <a:r>
              <a:rPr sz="900" b="0" i="0">
                <a:solidFill>
                  <a:srgbClr val="5A6878"/>
                </a:solidFill>
                <a:latin typeface="Consolas"/>
              </a:rPr>
              <a:t>~730 ms</a:t>
            </a:r>
          </a:p>
        </p:txBody>
      </p:sp>
      <p:sp>
        <p:nvSpPr>
          <p:cNvPr id="32" name="Rectangle 31"/>
          <p:cNvSpPr/>
          <p:nvPr/>
        </p:nvSpPr>
        <p:spPr>
          <a:xfrm>
            <a:off x="2818180" y="1911096"/>
            <a:ext cx="15875" cy="182880"/>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2360980" y="2139696"/>
            <a:ext cx="914400" cy="219456"/>
          </a:xfrm>
          <a:prstGeom prst="rect">
            <a:avLst/>
          </a:prstGeom>
          <a:noFill/>
        </p:spPr>
        <p:txBody>
          <a:bodyPr wrap="square" lIns="0" tIns="0" rIns="0" bIns="0" anchor="t">
            <a:spAutoFit/>
          </a:bodyPr>
          <a:lstStyle/>
          <a:p>
            <a:pPr algn="ctr">
              <a:lnSpc>
                <a:spcPct val="112000"/>
              </a:lnSpc>
              <a:spcAft>
                <a:spcPts val="0"/>
              </a:spcAft>
            </a:pPr>
            <a:r>
              <a:rPr sz="900" b="0" i="0">
                <a:solidFill>
                  <a:srgbClr val="5A6878"/>
                </a:solidFill>
                <a:latin typeface="Consolas"/>
              </a:rPr>
              <a:t>~1.0 s</a:t>
            </a:r>
          </a:p>
        </p:txBody>
      </p:sp>
      <p:sp>
        <p:nvSpPr>
          <p:cNvPr id="34" name="Rectangle 33"/>
          <p:cNvSpPr/>
          <p:nvPr/>
        </p:nvSpPr>
        <p:spPr>
          <a:xfrm>
            <a:off x="7181697" y="1911096"/>
            <a:ext cx="15875" cy="182880"/>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Rectangle 34"/>
          <p:cNvSpPr/>
          <p:nvPr/>
        </p:nvSpPr>
        <p:spPr>
          <a:xfrm>
            <a:off x="11530584" y="1911096"/>
            <a:ext cx="15875" cy="182880"/>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11073384" y="2139696"/>
            <a:ext cx="914400" cy="219456"/>
          </a:xfrm>
          <a:prstGeom prst="rect">
            <a:avLst/>
          </a:prstGeom>
          <a:noFill/>
        </p:spPr>
        <p:txBody>
          <a:bodyPr wrap="square" lIns="0" tIns="0" rIns="0" bIns="0" anchor="t">
            <a:spAutoFit/>
          </a:bodyPr>
          <a:lstStyle/>
          <a:p>
            <a:pPr algn="ctr">
              <a:lnSpc>
                <a:spcPct val="112000"/>
              </a:lnSpc>
              <a:spcAft>
                <a:spcPts val="0"/>
              </a:spcAft>
            </a:pPr>
            <a:r>
              <a:rPr sz="900" b="0" i="0">
                <a:solidFill>
                  <a:srgbClr val="5A6878"/>
                </a:solidFill>
                <a:latin typeface="Consolas"/>
              </a:rPr>
              <a:t>5 000 ms</a:t>
            </a:r>
          </a:p>
        </p:txBody>
      </p:sp>
      <p:sp>
        <p:nvSpPr>
          <p:cNvPr id="37" name="Rectangle 36"/>
          <p:cNvSpPr/>
          <p:nvPr/>
        </p:nvSpPr>
        <p:spPr>
          <a:xfrm>
            <a:off x="640080" y="2377440"/>
            <a:ext cx="82296" cy="82296"/>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TextBox 37"/>
          <p:cNvSpPr txBox="1"/>
          <p:nvPr/>
        </p:nvSpPr>
        <p:spPr>
          <a:xfrm>
            <a:off x="822959" y="2313432"/>
            <a:ext cx="2443353" cy="219456"/>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22 × (request + 30 ms gap) ≈ 730 ms</a:t>
            </a:r>
          </a:p>
        </p:txBody>
      </p:sp>
      <p:sp>
        <p:nvSpPr>
          <p:cNvPr id="39" name="Rectangle 38"/>
          <p:cNvSpPr/>
          <p:nvPr/>
        </p:nvSpPr>
        <p:spPr>
          <a:xfrm>
            <a:off x="3632073" y="2377440"/>
            <a:ext cx="82296" cy="82296"/>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TextBox 39"/>
          <p:cNvSpPr txBox="1"/>
          <p:nvPr/>
        </p:nvSpPr>
        <p:spPr>
          <a:xfrm>
            <a:off x="3814953" y="2313432"/>
            <a:ext cx="1576578" cy="219456"/>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encode · ArduinoJson 7</a:t>
            </a:r>
          </a:p>
        </p:txBody>
      </p:sp>
      <p:sp>
        <p:nvSpPr>
          <p:cNvPr id="41" name="Rectangle 40"/>
          <p:cNvSpPr/>
          <p:nvPr/>
        </p:nvSpPr>
        <p:spPr>
          <a:xfrm>
            <a:off x="5757291" y="2377440"/>
            <a:ext cx="82296" cy="82296"/>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2" name="TextBox 41"/>
          <p:cNvSpPr txBox="1"/>
          <p:nvPr/>
        </p:nvSpPr>
        <p:spPr>
          <a:xfrm>
            <a:off x="5940171" y="2313432"/>
            <a:ext cx="1709928" cy="219456"/>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publish · one TLS record</a:t>
            </a:r>
          </a:p>
        </p:txBody>
      </p:sp>
      <p:sp>
        <p:nvSpPr>
          <p:cNvPr id="43" name="TextBox 42"/>
          <p:cNvSpPr txBox="1"/>
          <p:nvPr/>
        </p:nvSpPr>
        <p:spPr>
          <a:xfrm>
            <a:off x="640080" y="2615184"/>
            <a:ext cx="10908792" cy="237744"/>
          </a:xfrm>
          <a:prstGeom prst="rect">
            <a:avLst/>
          </a:prstGeom>
          <a:noFill/>
        </p:spPr>
        <p:txBody>
          <a:bodyPr wrap="square" lIns="0" tIns="0" rIns="0" bIns="0" anchor="t">
            <a:spAutoFit/>
          </a:bodyPr>
          <a:lstStyle/>
          <a:p>
            <a:pPr algn="l">
              <a:lnSpc>
                <a:spcPct val="130000"/>
              </a:lnSpc>
              <a:spcAft>
                <a:spcPts val="0"/>
              </a:spcAft>
            </a:pPr>
            <a:r>
              <a:rPr sz="1000" b="0" i="0">
                <a:solidFill>
                  <a:srgbClr val="5A6878"/>
                </a:solidFill>
                <a:latin typeface="Segoe UI"/>
              </a:rPr>
              <a:t>The remaining ≈4 s is idle by design — alarm rules therefore live on the phone, over the stream the gateway already publishes.</a:t>
            </a:r>
          </a:p>
        </p:txBody>
      </p:sp>
      <p:sp>
        <p:nvSpPr>
          <p:cNvPr id="44" name="Rectangle 43"/>
          <p:cNvSpPr/>
          <p:nvPr/>
        </p:nvSpPr>
        <p:spPr>
          <a:xfrm>
            <a:off x="640080" y="2944368"/>
            <a:ext cx="5074920" cy="2564637"/>
          </a:xfrm>
          <a:prstGeom prst="rect">
            <a:avLst/>
          </a:prstGeom>
          <a:solidFill>
            <a:srgbClr val="0A0E13"/>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Rectangle 44"/>
          <p:cNvSpPr/>
          <p:nvPr/>
        </p:nvSpPr>
        <p:spPr>
          <a:xfrm>
            <a:off x="640080" y="2944368"/>
            <a:ext cx="25400" cy="2564637"/>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841247" y="3072384"/>
            <a:ext cx="4672583" cy="201168"/>
          </a:xfrm>
          <a:prstGeom prst="rect">
            <a:avLst/>
          </a:prstGeom>
          <a:noFill/>
        </p:spPr>
        <p:txBody>
          <a:bodyPr wrap="square" lIns="0" tIns="0" rIns="0" bIns="0" anchor="t">
            <a:spAutoFit/>
          </a:bodyPr>
          <a:lstStyle/>
          <a:p>
            <a:pPr algn="l">
              <a:lnSpc>
                <a:spcPct val="100000"/>
              </a:lnSpc>
              <a:spcAft>
                <a:spcPts val="0"/>
              </a:spcAft>
            </a:pPr>
            <a:r>
              <a:rPr sz="850" b="0" i="0">
                <a:solidFill>
                  <a:srgbClr val="63D2E8"/>
                </a:solidFill>
                <a:latin typeface="Bahnschrift SemiBold"/>
              </a:rPr>
              <a:t>osos/dkm440-gw1/telemetry</a:t>
            </a:r>
          </a:p>
        </p:txBody>
      </p:sp>
      <p:sp>
        <p:nvSpPr>
          <p:cNvPr id="47" name="TextBox 46"/>
          <p:cNvSpPr txBox="1"/>
          <p:nvPr/>
        </p:nvSpPr>
        <p:spPr>
          <a:xfrm>
            <a:off x="841247" y="3346704"/>
            <a:ext cx="4672583" cy="2052573"/>
          </a:xfrm>
          <a:prstGeom prst="rect">
            <a:avLst/>
          </a:prstGeom>
          <a:noFill/>
        </p:spPr>
        <p:txBody>
          <a:bodyPr wrap="square" lIns="0" tIns="0" rIns="0" bIns="0">
            <a:spAutoFit/>
          </a:bodyPr>
          <a:lstStyle/>
          <a:p>
            <a:pPr algn="l">
              <a:lnSpc>
                <a:spcPct val="130000"/>
              </a:lnSpc>
              <a:spcAft>
                <a:spcPts val="0"/>
              </a:spcAft>
            </a:pPr>
            <a:r>
              <a:rPr sz="1000" b="0">
                <a:solidFill>
                  <a:srgbClr val="8494A6"/>
                </a:solidFill>
                <a:latin typeface="Consolas"/>
              </a:rPr>
              <a:t>{ "ts": "2026-08-03T11:20:05Z",</a:t>
            </a:r>
          </a:p>
          <a:p>
            <a:pPr algn="l">
              <a:lnSpc>
                <a:spcPct val="130000"/>
              </a:lnSpc>
              <a:spcAft>
                <a:spcPts val="0"/>
              </a:spcAft>
            </a:pPr>
            <a:r>
              <a:rPr sz="1000" b="0">
                <a:solidFill>
                  <a:srgbClr val="8494A6"/>
                </a:solidFill>
                <a:latin typeface="Consolas"/>
              </a:rPr>
              <a:t>  "seq": 4127,</a:t>
            </a:r>
          </a:p>
          <a:p>
            <a:pPr algn="l">
              <a:lnSpc>
                <a:spcPct val="130000"/>
              </a:lnSpc>
              <a:spcAft>
                <a:spcPts val="0"/>
              </a:spcAft>
            </a:pPr>
            <a:r>
              <a:rPr sz="1000" b="0">
                <a:solidFill>
                  <a:srgbClr val="FFA928"/>
                </a:solidFill>
                <a:latin typeface="Consolas"/>
              </a:rPr>
              <a:t>  "buffered": false,</a:t>
            </a:r>
          </a:p>
          <a:p>
            <a:pPr algn="l">
              <a:lnSpc>
                <a:spcPct val="130000"/>
              </a:lnSpc>
              <a:spcAft>
                <a:spcPts val="0"/>
              </a:spcAft>
            </a:pPr>
            <a:r>
              <a:rPr sz="1000" b="0">
                <a:solidFill>
                  <a:srgbClr val="4AD991"/>
                </a:solidFill>
                <a:latin typeface="Consolas"/>
              </a:rPr>
              <a:t>  "meter_ok": true,</a:t>
            </a:r>
          </a:p>
          <a:p>
            <a:pPr algn="l">
              <a:lnSpc>
                <a:spcPct val="130000"/>
              </a:lnSpc>
              <a:spcAft>
                <a:spcPts val="0"/>
              </a:spcAft>
            </a:pPr>
            <a:r>
              <a:rPr sz="1000" b="0">
                <a:solidFill>
                  <a:srgbClr val="E6EDF3"/>
                </a:solidFill>
                <a:latin typeface="Consolas"/>
              </a:rPr>
              <a:t>  "values": {</a:t>
            </a:r>
          </a:p>
          <a:p>
            <a:pPr algn="l">
              <a:lnSpc>
                <a:spcPct val="130000"/>
              </a:lnSpc>
              <a:spcAft>
                <a:spcPts val="0"/>
              </a:spcAft>
            </a:pPr>
            <a:r>
              <a:rPr sz="1000" b="0">
                <a:solidFill>
                  <a:srgbClr val="63D2E8"/>
                </a:solidFill>
                <a:latin typeface="Consolas"/>
              </a:rPr>
              <a:t>    "Supply_Voltage":     23.350,</a:t>
            </a:r>
          </a:p>
          <a:p>
            <a:pPr algn="l">
              <a:lnSpc>
                <a:spcPct val="130000"/>
              </a:lnSpc>
              <a:spcAft>
                <a:spcPts val="0"/>
              </a:spcAft>
            </a:pPr>
            <a:r>
              <a:rPr sz="1000" b="0">
                <a:solidFill>
                  <a:srgbClr val="63D2E8"/>
                </a:solidFill>
                <a:latin typeface="Consolas"/>
              </a:rPr>
              <a:t>    "MainBus_Voltage_L1":  0.000,</a:t>
            </a:r>
          </a:p>
          <a:p>
            <a:pPr algn="l">
              <a:lnSpc>
                <a:spcPct val="130000"/>
              </a:lnSpc>
              <a:spcAft>
                <a:spcPts val="0"/>
              </a:spcAft>
            </a:pPr>
            <a:r>
              <a:rPr sz="1000" b="0">
                <a:solidFill>
                  <a:srgbClr val="FF4438"/>
                </a:solidFill>
                <a:latin typeface="Consolas"/>
              </a:rPr>
              <a:t>    "MainBus_Current_N":   null,</a:t>
            </a:r>
          </a:p>
          <a:p>
            <a:pPr algn="l">
              <a:lnSpc>
                <a:spcPct val="130000"/>
              </a:lnSpc>
              <a:spcAft>
                <a:spcPts val="0"/>
              </a:spcAft>
            </a:pPr>
            <a:r>
              <a:rPr sz="1000" b="0">
                <a:solidFill>
                  <a:srgbClr val="E6EDF3"/>
                </a:solidFill>
                <a:latin typeface="Consolas"/>
              </a:rPr>
              <a:t>    …  22 keys total</a:t>
            </a:r>
          </a:p>
          <a:p>
            <a:pPr algn="l">
              <a:lnSpc>
                <a:spcPct val="130000"/>
              </a:lnSpc>
              <a:spcAft>
                <a:spcPts val="0"/>
              </a:spcAft>
            </a:pPr>
            <a:r>
              <a:rPr sz="1000" b="0">
                <a:solidFill>
                  <a:srgbClr val="E6EDF3"/>
                </a:solidFill>
                <a:latin typeface="Consolas"/>
              </a:rPr>
              <a:t>  } }</a:t>
            </a:r>
          </a:p>
        </p:txBody>
      </p:sp>
      <p:sp>
        <p:nvSpPr>
          <p:cNvPr id="48" name="TextBox 47"/>
          <p:cNvSpPr txBox="1"/>
          <p:nvPr/>
        </p:nvSpPr>
        <p:spPr>
          <a:xfrm>
            <a:off x="640080" y="5596128"/>
            <a:ext cx="5074920" cy="731520"/>
          </a:xfrm>
          <a:prstGeom prst="rect">
            <a:avLst/>
          </a:prstGeom>
          <a:noFill/>
        </p:spPr>
        <p:txBody>
          <a:bodyPr wrap="square" lIns="0" tIns="0" rIns="0" bIns="0">
            <a:spAutoFit/>
          </a:bodyPr>
          <a:lstStyle/>
          <a:p>
            <a:pPr algn="l">
              <a:lnSpc>
                <a:spcPct val="124000"/>
              </a:lnSpc>
              <a:spcAft>
                <a:spcPts val="300"/>
              </a:spcAft>
            </a:pPr>
            <a:r>
              <a:rPr sz="900" b="1">
                <a:solidFill>
                  <a:srgbClr val="63D2E8"/>
                </a:solidFill>
                <a:latin typeface="Consolas"/>
              </a:rPr>
              <a:t>seq</a:t>
            </a:r>
            <a:r>
              <a:rPr sz="900" b="0">
                <a:solidFill>
                  <a:srgbClr val="8494A6"/>
                </a:solidFill>
                <a:latin typeface="Segoe UI"/>
              </a:rPr>
              <a:t>  ·  monotonic per boot — a gap is detectable</a:t>
            </a:r>
          </a:p>
          <a:p>
            <a:pPr algn="l">
              <a:lnSpc>
                <a:spcPct val="124000"/>
              </a:lnSpc>
              <a:spcAft>
                <a:spcPts val="300"/>
              </a:spcAft>
            </a:pPr>
            <a:r>
              <a:rPr sz="900" b="1">
                <a:solidFill>
                  <a:srgbClr val="FFA928"/>
                </a:solidFill>
                <a:latin typeface="Consolas"/>
              </a:rPr>
              <a:t>buffered</a:t>
            </a:r>
            <a:r>
              <a:rPr sz="900" b="0">
                <a:solidFill>
                  <a:srgbClr val="8494A6"/>
                </a:solidFill>
                <a:latin typeface="Segoe UI"/>
              </a:rPr>
              <a:t>  ·  honestly false; store-and-forward did not fit in 36 KB</a:t>
            </a:r>
          </a:p>
          <a:p>
            <a:pPr algn="l">
              <a:lnSpc>
                <a:spcPct val="124000"/>
              </a:lnSpc>
              <a:spcAft>
                <a:spcPts val="300"/>
              </a:spcAft>
            </a:pPr>
            <a:r>
              <a:rPr sz="900" b="1">
                <a:solidFill>
                  <a:srgbClr val="FF4438"/>
                </a:solidFill>
                <a:latin typeface="Consolas"/>
              </a:rPr>
              <a:t>null vs 0.000</a:t>
            </a:r>
            <a:r>
              <a:rPr sz="900" b="0">
                <a:solidFill>
                  <a:srgbClr val="8494A6"/>
                </a:solidFill>
                <a:latin typeface="Segoe UI"/>
              </a:rPr>
              <a:t>  ·  not read, versus read as genuinely zero</a:t>
            </a:r>
          </a:p>
        </p:txBody>
      </p:sp>
      <p:sp>
        <p:nvSpPr>
          <p:cNvPr id="49" name="TextBox 48"/>
          <p:cNvSpPr txBox="1"/>
          <p:nvPr/>
        </p:nvSpPr>
        <p:spPr>
          <a:xfrm>
            <a:off x="5989320" y="2944368"/>
            <a:ext cx="5559552"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TOPICS</a:t>
            </a:r>
          </a:p>
        </p:txBody>
      </p:sp>
      <p:sp>
        <p:nvSpPr>
          <p:cNvPr id="50" name="Rectangle 49"/>
          <p:cNvSpPr/>
          <p:nvPr/>
        </p:nvSpPr>
        <p:spPr>
          <a:xfrm>
            <a:off x="5989320" y="3200400"/>
            <a:ext cx="555955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1" name="TextBox 50"/>
          <p:cNvSpPr txBox="1"/>
          <p:nvPr/>
        </p:nvSpPr>
        <p:spPr>
          <a:xfrm>
            <a:off x="5989320" y="3346704"/>
            <a:ext cx="27432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63D2E8"/>
                </a:solidFill>
                <a:latin typeface="Consolas"/>
              </a:rPr>
              <a:t>osos/{gw}/telemetry</a:t>
            </a:r>
          </a:p>
        </p:txBody>
      </p:sp>
      <p:sp>
        <p:nvSpPr>
          <p:cNvPr id="52" name="TextBox 51"/>
          <p:cNvSpPr txBox="1"/>
          <p:nvPr/>
        </p:nvSpPr>
        <p:spPr>
          <a:xfrm>
            <a:off x="8778240" y="3364992"/>
            <a:ext cx="277063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every 5 s · the 22 values</a:t>
            </a:r>
          </a:p>
        </p:txBody>
      </p:sp>
      <p:sp>
        <p:nvSpPr>
          <p:cNvPr id="53" name="TextBox 52"/>
          <p:cNvSpPr txBox="1"/>
          <p:nvPr/>
        </p:nvSpPr>
        <p:spPr>
          <a:xfrm>
            <a:off x="5989320" y="3648456"/>
            <a:ext cx="27432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63D2E8"/>
                </a:solidFill>
                <a:latin typeface="Consolas"/>
              </a:rPr>
              <a:t>osos/{gw}/status</a:t>
            </a:r>
          </a:p>
        </p:txBody>
      </p:sp>
      <p:sp>
        <p:nvSpPr>
          <p:cNvPr id="54" name="TextBox 53"/>
          <p:cNvSpPr txBox="1"/>
          <p:nvPr/>
        </p:nvSpPr>
        <p:spPr>
          <a:xfrm>
            <a:off x="8778240" y="3666744"/>
            <a:ext cx="277063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retained · online/offline + LWT</a:t>
            </a:r>
          </a:p>
        </p:txBody>
      </p:sp>
      <p:sp>
        <p:nvSpPr>
          <p:cNvPr id="55" name="TextBox 54"/>
          <p:cNvSpPr txBox="1"/>
          <p:nvPr/>
        </p:nvSpPr>
        <p:spPr>
          <a:xfrm>
            <a:off x="5989320" y="3950208"/>
            <a:ext cx="27432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63D2E8"/>
                </a:solidFill>
                <a:latin typeface="Consolas"/>
              </a:rPr>
              <a:t>osos/{gw}/event</a:t>
            </a:r>
          </a:p>
        </p:txBody>
      </p:sp>
      <p:sp>
        <p:nvSpPr>
          <p:cNvPr id="56" name="TextBox 55"/>
          <p:cNvSpPr txBox="1"/>
          <p:nvPr/>
        </p:nvSpPr>
        <p:spPr>
          <a:xfrm>
            <a:off x="8778240" y="3968496"/>
            <a:ext cx="277063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link loss, recovery, boot</a:t>
            </a:r>
          </a:p>
        </p:txBody>
      </p:sp>
      <p:sp>
        <p:nvSpPr>
          <p:cNvPr id="57" name="TextBox 56"/>
          <p:cNvSpPr txBox="1"/>
          <p:nvPr/>
        </p:nvSpPr>
        <p:spPr>
          <a:xfrm>
            <a:off x="5989320" y="4251960"/>
            <a:ext cx="27432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FFA928"/>
                </a:solidFill>
                <a:latin typeface="Consolas"/>
              </a:rPr>
              <a:t>osos/{gw}/cmd</a:t>
            </a:r>
          </a:p>
        </p:txBody>
      </p:sp>
      <p:sp>
        <p:nvSpPr>
          <p:cNvPr id="58" name="TextBox 57"/>
          <p:cNvSpPr txBox="1"/>
          <p:nvPr/>
        </p:nvSpPr>
        <p:spPr>
          <a:xfrm>
            <a:off x="8778240" y="4270248"/>
            <a:ext cx="277063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phone → gateway</a:t>
            </a:r>
          </a:p>
        </p:txBody>
      </p:sp>
      <p:sp>
        <p:nvSpPr>
          <p:cNvPr id="59" name="TextBox 58"/>
          <p:cNvSpPr txBox="1"/>
          <p:nvPr/>
        </p:nvSpPr>
        <p:spPr>
          <a:xfrm>
            <a:off x="5989320" y="4553712"/>
            <a:ext cx="27432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FFA928"/>
                </a:solidFill>
                <a:latin typeface="Consolas"/>
              </a:rPr>
              <a:t>osos/{gw}/ack</a:t>
            </a:r>
          </a:p>
        </p:txBody>
      </p:sp>
      <p:sp>
        <p:nvSpPr>
          <p:cNvPr id="60" name="TextBox 59"/>
          <p:cNvSpPr txBox="1"/>
          <p:nvPr/>
        </p:nvSpPr>
        <p:spPr>
          <a:xfrm>
            <a:off x="8778240" y="4572000"/>
            <a:ext cx="277063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gateway → phone</a:t>
            </a:r>
          </a:p>
        </p:txBody>
      </p:sp>
      <p:sp>
        <p:nvSpPr>
          <p:cNvPr id="61" name="TextBox 60"/>
          <p:cNvSpPr txBox="1"/>
          <p:nvPr/>
        </p:nvSpPr>
        <p:spPr>
          <a:xfrm>
            <a:off x="5989320" y="4892040"/>
            <a:ext cx="5559552" cy="365760"/>
          </a:xfrm>
          <a:prstGeom prst="rect">
            <a:avLst/>
          </a:prstGeom>
          <a:noFill/>
        </p:spPr>
        <p:txBody>
          <a:bodyPr wrap="square" lIns="0" tIns="0" rIns="0" bIns="0" anchor="t">
            <a:spAutoFit/>
          </a:bodyPr>
          <a:lstStyle/>
          <a:p>
            <a:pPr algn="l">
              <a:lnSpc>
                <a:spcPct val="130000"/>
              </a:lnSpc>
              <a:spcAft>
                <a:spcPts val="0"/>
              </a:spcAft>
            </a:pPr>
            <a:r>
              <a:rPr sz="950" b="0" i="0">
                <a:solidFill>
                  <a:srgbClr val="FFA928"/>
                </a:solidFill>
                <a:latin typeface="Segoe UI"/>
              </a:rPr>
              <a:t>cmd/ack are implemented on the phone, the ESP32-S3 build and now the ESP8266 v0.4 firmware — which compiles but has not been flashed.</a:t>
            </a:r>
          </a:p>
        </p:txBody>
      </p:sp>
      <p:sp>
        <p:nvSpPr>
          <p:cNvPr id="62" name="TextBox 61"/>
          <p:cNvSpPr txBox="1"/>
          <p:nvPr/>
        </p:nvSpPr>
        <p:spPr>
          <a:xfrm>
            <a:off x="5989320" y="5358384"/>
            <a:ext cx="5559552"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TLS 1.3 — AND WHERE IT STOPS</a:t>
            </a:r>
          </a:p>
        </p:txBody>
      </p:sp>
      <p:sp>
        <p:nvSpPr>
          <p:cNvPr id="63" name="Rectangle 62"/>
          <p:cNvSpPr/>
          <p:nvPr/>
        </p:nvSpPr>
        <p:spPr>
          <a:xfrm>
            <a:off x="5989320" y="5614416"/>
            <a:ext cx="555955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4" name="TextBox 63"/>
          <p:cNvSpPr txBox="1"/>
          <p:nvPr/>
        </p:nvSpPr>
        <p:spPr>
          <a:xfrm>
            <a:off x="5989320" y="5705856"/>
            <a:ext cx="5559552" cy="640080"/>
          </a:xfrm>
          <a:prstGeom prst="rect">
            <a:avLst/>
          </a:prstGeom>
          <a:noFill/>
        </p:spPr>
        <p:txBody>
          <a:bodyPr wrap="square" lIns="0" tIns="0" rIns="0" bIns="0">
            <a:spAutoFit/>
          </a:bodyPr>
          <a:lstStyle/>
          <a:p>
            <a:pPr algn="l">
              <a:lnSpc>
                <a:spcPct val="130000"/>
              </a:lnSpc>
              <a:spcAft>
                <a:spcPts val="600"/>
              </a:spcAft>
            </a:pPr>
            <a:r>
              <a:rPr sz="1000" b="0">
                <a:solidFill>
                  <a:srgbClr val="8494A6"/>
                </a:solidFill>
                <a:latin typeface="Segoe UI"/>
              </a:rPr>
              <a:t>MFLN lets BearSSL run 1 KB receive buffers instead of 16 KB — the only reason TLS coexists with the JSON encoder at 92 % IRAM. Server verified against a DigiCert G2 anchor, config.h gitignored. </a:t>
            </a:r>
            <a:r>
              <a:rPr sz="1000" b="0">
                <a:solidFill>
                  <a:srgbClr val="FF4438"/>
                </a:solidFill>
                <a:latin typeface="Segoe UI"/>
              </a:rPr>
              <a:t>Gateway and head-end still share one credential.</a:t>
            </a:r>
          </a:p>
        </p:txBody>
      </p:sp>
      <p:sp>
        <p:nvSpPr>
          <p:cNvPr id="65" name="Rectangle 64"/>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6" name="TextBox 65"/>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67" name="TextBox 66"/>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C89A5B"/>
                </a:solidFill>
                <a:latin typeface="Consolas"/>
              </a:rPr>
              <a:t>NEURAL_NET_C/EXPLANATION.MD · EVERY DERIVATIVE BY HAND</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350" b="0" i="0">
                <a:solidFill>
                  <a:srgbClr val="E6EDF3"/>
                </a:solidFill>
                <a:latin typeface="Bahnschrift SemiBold"/>
              </a:rPr>
              <a:t>The network, from one neuron to training</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PHONE</a:t>
            </a:r>
          </a:p>
        </p:txBody>
      </p:sp>
      <p:sp>
        <p:nvSpPr>
          <p:cNvPr id="17" name="Rectangle 16"/>
          <p:cNvSpPr/>
          <p:nvPr/>
        </p:nvSpPr>
        <p:spPr>
          <a:xfrm>
            <a:off x="1151000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40080" y="1463040"/>
            <a:ext cx="5486400"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A NEURON IS A WEIGHTED SUM</a:t>
            </a:r>
          </a:p>
        </p:txBody>
      </p:sp>
      <p:sp>
        <p:nvSpPr>
          <p:cNvPr id="22" name="TextBox 21"/>
          <p:cNvSpPr txBox="1"/>
          <p:nvPr/>
        </p:nvSpPr>
        <p:spPr>
          <a:xfrm>
            <a:off x="640080" y="1719072"/>
            <a:ext cx="5486400" cy="365760"/>
          </a:xfrm>
          <a:prstGeom prst="rect">
            <a:avLst/>
          </a:prstGeom>
          <a:noFill/>
        </p:spPr>
        <p:txBody>
          <a:bodyPr wrap="square" lIns="0" tIns="0" rIns="0" bIns="0" anchor="t">
            <a:spAutoFit/>
          </a:bodyPr>
          <a:lstStyle/>
          <a:p>
            <a:pPr algn="l">
              <a:lnSpc>
                <a:spcPct val="112000"/>
              </a:lnSpc>
              <a:spcAft>
                <a:spcPts val="0"/>
              </a:spcAft>
            </a:pPr>
            <a:r>
              <a:rPr sz="2000" b="0" i="0">
                <a:solidFill>
                  <a:srgbClr val="C89A5B"/>
                </a:solidFill>
                <a:latin typeface="Consolas"/>
              </a:rPr>
              <a:t>zⱼ  =  Σᵢ ( Wⱼᵢ · inᵢ )  +  bⱼ</a:t>
            </a:r>
          </a:p>
        </p:txBody>
      </p:sp>
      <p:sp>
        <p:nvSpPr>
          <p:cNvPr id="23" name="TextBox 22"/>
          <p:cNvSpPr txBox="1"/>
          <p:nvPr/>
        </p:nvSpPr>
        <p:spPr>
          <a:xfrm>
            <a:off x="640080" y="2139696"/>
            <a:ext cx="5486400" cy="709955"/>
          </a:xfrm>
          <a:prstGeom prst="rect">
            <a:avLst/>
          </a:prstGeom>
          <a:noFill/>
        </p:spPr>
        <p:txBody>
          <a:bodyPr wrap="square" lIns="0" tIns="0" rIns="0" bIns="0" anchor="t">
            <a:spAutoFit/>
          </a:bodyPr>
          <a:lstStyle/>
          <a:p>
            <a:pPr algn="l">
              <a:lnSpc>
                <a:spcPct val="140000"/>
              </a:lnSpc>
              <a:spcAft>
                <a:spcPts val="0"/>
              </a:spcAft>
            </a:pPr>
            <a:r>
              <a:rPr sz="1100" b="0" i="0">
                <a:solidFill>
                  <a:srgbClr val="8494A6"/>
                </a:solidFill>
                <a:latin typeface="Segoe UI"/>
              </a:rPr>
              <a:t>Multiply each input by its own weight, add a bias, produce one number. Many in parallel is a layer, layers in sequence are a network, and choosing W and b automatically is training.</a:t>
            </a:r>
          </a:p>
        </p:txBody>
      </p:sp>
      <p:sp>
        <p:nvSpPr>
          <p:cNvPr id="24" name="TextBox 23"/>
          <p:cNvSpPr txBox="1"/>
          <p:nvPr/>
        </p:nvSpPr>
        <p:spPr>
          <a:xfrm>
            <a:off x="6720840" y="1463040"/>
            <a:ext cx="4828032"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WHY THERE MUST BE A HIDDEN LAYER</a:t>
            </a:r>
          </a:p>
        </p:txBody>
      </p:sp>
      <p:sp>
        <p:nvSpPr>
          <p:cNvPr id="25" name="Rectangle 24"/>
          <p:cNvSpPr/>
          <p:nvPr/>
        </p:nvSpPr>
        <p:spPr>
          <a:xfrm>
            <a:off x="6720840" y="1755648"/>
            <a:ext cx="896112" cy="896112"/>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Rounded Rectangle 25"/>
          <p:cNvSpPr/>
          <p:nvPr/>
        </p:nvSpPr>
        <p:spPr>
          <a:xfrm>
            <a:off x="6830568" y="2359151"/>
            <a:ext cx="182880" cy="182880"/>
          </a:xfrm>
          <a:prstGeom prst="roundRect">
            <a:avLst>
              <a:gd name="adj" fmla="val 50000"/>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6830568" y="2388412"/>
            <a:ext cx="182880" cy="182880"/>
          </a:xfrm>
          <a:prstGeom prst="rect">
            <a:avLst/>
          </a:prstGeom>
          <a:noFill/>
        </p:spPr>
        <p:txBody>
          <a:bodyPr wrap="square" lIns="0" tIns="0" rIns="0" bIns="0" anchor="t">
            <a:spAutoFit/>
          </a:bodyPr>
          <a:lstStyle/>
          <a:p>
            <a:pPr algn="ctr">
              <a:lnSpc>
                <a:spcPct val="112000"/>
              </a:lnSpc>
              <a:spcAft>
                <a:spcPts val="0"/>
              </a:spcAft>
            </a:pPr>
            <a:r>
              <a:rPr sz="850" b="0" i="0">
                <a:solidFill>
                  <a:srgbClr val="0D1117"/>
                </a:solidFill>
                <a:latin typeface="Consolas"/>
              </a:rPr>
              <a:t>0</a:t>
            </a:r>
          </a:p>
        </p:txBody>
      </p:sp>
      <p:sp>
        <p:nvSpPr>
          <p:cNvPr id="28" name="Rounded Rectangle 27"/>
          <p:cNvSpPr/>
          <p:nvPr/>
        </p:nvSpPr>
        <p:spPr>
          <a:xfrm>
            <a:off x="6830568" y="1865375"/>
            <a:ext cx="182880" cy="182880"/>
          </a:xfrm>
          <a:prstGeom prst="roundRect">
            <a:avLst>
              <a:gd name="adj" fmla="val 50000"/>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6830568" y="1894636"/>
            <a:ext cx="182880" cy="182880"/>
          </a:xfrm>
          <a:prstGeom prst="rect">
            <a:avLst/>
          </a:prstGeom>
          <a:noFill/>
        </p:spPr>
        <p:txBody>
          <a:bodyPr wrap="square" lIns="0" tIns="0" rIns="0" bIns="0" anchor="t">
            <a:spAutoFit/>
          </a:bodyPr>
          <a:lstStyle/>
          <a:p>
            <a:pPr algn="ctr">
              <a:lnSpc>
                <a:spcPct val="112000"/>
              </a:lnSpc>
              <a:spcAft>
                <a:spcPts val="0"/>
              </a:spcAft>
            </a:pPr>
            <a:r>
              <a:rPr sz="850" b="0" i="0">
                <a:solidFill>
                  <a:srgbClr val="0D1117"/>
                </a:solidFill>
                <a:latin typeface="Consolas"/>
              </a:rPr>
              <a:t>1</a:t>
            </a:r>
          </a:p>
        </p:txBody>
      </p:sp>
      <p:sp>
        <p:nvSpPr>
          <p:cNvPr id="30" name="Rounded Rectangle 29"/>
          <p:cNvSpPr/>
          <p:nvPr/>
        </p:nvSpPr>
        <p:spPr>
          <a:xfrm>
            <a:off x="7324344" y="2359151"/>
            <a:ext cx="182880" cy="182880"/>
          </a:xfrm>
          <a:prstGeom prst="roundRect">
            <a:avLst>
              <a:gd name="adj" fmla="val 50000"/>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7324344" y="2388412"/>
            <a:ext cx="182880" cy="182880"/>
          </a:xfrm>
          <a:prstGeom prst="rect">
            <a:avLst/>
          </a:prstGeom>
          <a:noFill/>
        </p:spPr>
        <p:txBody>
          <a:bodyPr wrap="square" lIns="0" tIns="0" rIns="0" bIns="0" anchor="t">
            <a:spAutoFit/>
          </a:bodyPr>
          <a:lstStyle/>
          <a:p>
            <a:pPr algn="ctr">
              <a:lnSpc>
                <a:spcPct val="112000"/>
              </a:lnSpc>
              <a:spcAft>
                <a:spcPts val="0"/>
              </a:spcAft>
            </a:pPr>
            <a:r>
              <a:rPr sz="850" b="0" i="0">
                <a:solidFill>
                  <a:srgbClr val="0D1117"/>
                </a:solidFill>
                <a:latin typeface="Consolas"/>
              </a:rPr>
              <a:t>1</a:t>
            </a:r>
          </a:p>
        </p:txBody>
      </p:sp>
      <p:sp>
        <p:nvSpPr>
          <p:cNvPr id="32" name="Rounded Rectangle 31"/>
          <p:cNvSpPr/>
          <p:nvPr/>
        </p:nvSpPr>
        <p:spPr>
          <a:xfrm>
            <a:off x="7324344" y="1865375"/>
            <a:ext cx="182880" cy="182880"/>
          </a:xfrm>
          <a:prstGeom prst="roundRect">
            <a:avLst>
              <a:gd name="adj" fmla="val 50000"/>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7324344" y="1894636"/>
            <a:ext cx="182880" cy="182880"/>
          </a:xfrm>
          <a:prstGeom prst="rect">
            <a:avLst/>
          </a:prstGeom>
          <a:noFill/>
        </p:spPr>
        <p:txBody>
          <a:bodyPr wrap="square" lIns="0" tIns="0" rIns="0" bIns="0" anchor="t">
            <a:spAutoFit/>
          </a:bodyPr>
          <a:lstStyle/>
          <a:p>
            <a:pPr algn="ctr">
              <a:lnSpc>
                <a:spcPct val="112000"/>
              </a:lnSpc>
              <a:spcAft>
                <a:spcPts val="0"/>
              </a:spcAft>
            </a:pPr>
            <a:r>
              <a:rPr sz="850" b="0" i="0">
                <a:solidFill>
                  <a:srgbClr val="0D1117"/>
                </a:solidFill>
                <a:latin typeface="Consolas"/>
              </a:rPr>
              <a:t>0</a:t>
            </a:r>
          </a:p>
        </p:txBody>
      </p:sp>
      <p:cxnSp>
        <p:nvCxnSpPr>
          <p:cNvPr id="34" name="Connector 33"/>
          <p:cNvCxnSpPr/>
          <p:nvPr/>
        </p:nvCxnSpPr>
        <p:spPr>
          <a:xfrm flipV="1">
            <a:off x="6784848" y="1819656"/>
            <a:ext cx="768096" cy="768096"/>
          </a:xfrm>
          <a:prstGeom prst="line">
            <a:avLst/>
          </a:prstGeom>
          <a:ln w="19050">
            <a:solidFill>
              <a:srgbClr val="FF4438"/>
            </a:solidFill>
            <a:prstDash val="dash"/>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720840" y="2706624"/>
            <a:ext cx="896112" cy="219456"/>
          </a:xfrm>
          <a:prstGeom prst="rect">
            <a:avLst/>
          </a:prstGeom>
          <a:noFill/>
        </p:spPr>
        <p:txBody>
          <a:bodyPr wrap="square" lIns="0" tIns="0" rIns="0" bIns="0" anchor="t">
            <a:spAutoFit/>
          </a:bodyPr>
          <a:lstStyle/>
          <a:p>
            <a:pPr algn="ctr">
              <a:lnSpc>
                <a:spcPct val="112000"/>
              </a:lnSpc>
              <a:spcAft>
                <a:spcPts val="0"/>
              </a:spcAft>
            </a:pPr>
            <a:r>
              <a:rPr sz="850" b="0" i="0">
                <a:solidFill>
                  <a:srgbClr val="8494A6"/>
                </a:solidFill>
                <a:latin typeface="Consolas"/>
              </a:rPr>
              <a:t>XOR</a:t>
            </a:r>
          </a:p>
        </p:txBody>
      </p:sp>
      <p:sp>
        <p:nvSpPr>
          <p:cNvPr id="36" name="TextBox 35"/>
          <p:cNvSpPr txBox="1"/>
          <p:nvPr/>
        </p:nvSpPr>
        <p:spPr>
          <a:xfrm>
            <a:off x="7882127" y="1755648"/>
            <a:ext cx="3666744" cy="1183258"/>
          </a:xfrm>
          <a:prstGeom prst="rect">
            <a:avLst/>
          </a:prstGeom>
          <a:noFill/>
        </p:spPr>
        <p:txBody>
          <a:bodyPr wrap="square" lIns="0" tIns="0" rIns="0" bIns="0" anchor="t">
            <a:spAutoFit/>
          </a:bodyPr>
          <a:lstStyle/>
          <a:p>
            <a:pPr algn="l">
              <a:lnSpc>
                <a:spcPct val="140000"/>
              </a:lnSpc>
              <a:spcAft>
                <a:spcPts val="0"/>
              </a:spcAft>
            </a:pPr>
            <a:r>
              <a:rPr sz="1100" b="0" i="0">
                <a:solidFill>
                  <a:srgbClr val="8494A6"/>
                </a:solidFill>
                <a:latin typeface="Segoe UI"/>
              </a:rPr>
              <a:t>No straight line separates XOR's ones from its zeros. Each hidden neuron draws its own line, building coordinates in which the classes become separable — and f must be non-linear, or any depth collapses back into a single matrix.</a:t>
            </a:r>
          </a:p>
        </p:txBody>
      </p:sp>
      <p:sp>
        <p:nvSpPr>
          <p:cNvPr id="37" name="Rectangle 36"/>
          <p:cNvSpPr/>
          <p:nvPr/>
        </p:nvSpPr>
        <p:spPr>
          <a:xfrm>
            <a:off x="640080" y="3017520"/>
            <a:ext cx="2624328" cy="195681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Rectangle 37"/>
          <p:cNvSpPr/>
          <p:nvPr/>
        </p:nvSpPr>
        <p:spPr>
          <a:xfrm>
            <a:off x="640080" y="3017520"/>
            <a:ext cx="2624328"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822959" y="3182112"/>
            <a:ext cx="2258568"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FORWARD</a:t>
            </a:r>
          </a:p>
        </p:txBody>
      </p:sp>
      <p:sp>
        <p:nvSpPr>
          <p:cNvPr id="40" name="TextBox 39"/>
          <p:cNvSpPr txBox="1"/>
          <p:nvPr/>
        </p:nvSpPr>
        <p:spPr>
          <a:xfrm>
            <a:off x="822959" y="3438144"/>
            <a:ext cx="2258568" cy="822960"/>
          </a:xfrm>
          <a:prstGeom prst="rect">
            <a:avLst/>
          </a:prstGeom>
          <a:noFill/>
        </p:spPr>
        <p:txBody>
          <a:bodyPr wrap="square" lIns="0" tIns="0" rIns="0" bIns="0" anchor="t">
            <a:spAutoFit/>
          </a:bodyPr>
          <a:lstStyle/>
          <a:p>
            <a:pPr algn="l">
              <a:lnSpc>
                <a:spcPct val="142000"/>
              </a:lnSpc>
              <a:spcAft>
                <a:spcPts val="0"/>
              </a:spcAft>
            </a:pPr>
            <a:r>
              <a:rPr sz="1150" b="0" i="0">
                <a:solidFill>
                  <a:srgbClr val="E6EDF3"/>
                </a:solidFill>
                <a:latin typeface="Consolas"/>
              </a:rPr>
              <a:t>a^0 = x</a:t>
            </a:r>
          </a:p>
          <a:p>
            <a:pPr algn="l">
              <a:lnSpc>
                <a:spcPct val="142000"/>
              </a:lnSpc>
              <a:spcAft>
                <a:spcPts val="0"/>
              </a:spcAft>
            </a:pPr>
            <a:r>
              <a:rPr sz="1150" b="0" i="0">
                <a:solidFill>
                  <a:srgbClr val="E6EDF3"/>
                </a:solidFill>
                <a:latin typeface="Consolas"/>
              </a:rPr>
              <a:t>z^l = W^l·a^(l-1) + b^l</a:t>
            </a:r>
          </a:p>
          <a:p>
            <a:pPr algn="l">
              <a:lnSpc>
                <a:spcPct val="142000"/>
              </a:lnSpc>
              <a:spcAft>
                <a:spcPts val="0"/>
              </a:spcAft>
            </a:pPr>
            <a:r>
              <a:rPr sz="1150" b="0" i="0">
                <a:solidFill>
                  <a:srgbClr val="E6EDF3"/>
                </a:solidFill>
                <a:latin typeface="Consolas"/>
              </a:rPr>
              <a:t>a^l = f(z^l)</a:t>
            </a:r>
          </a:p>
        </p:txBody>
      </p:sp>
      <p:sp>
        <p:nvSpPr>
          <p:cNvPr id="41" name="TextBox 40"/>
          <p:cNvSpPr txBox="1"/>
          <p:nvPr/>
        </p:nvSpPr>
        <p:spPr>
          <a:xfrm>
            <a:off x="822959" y="4279392"/>
            <a:ext cx="2258568" cy="397083"/>
          </a:xfrm>
          <a:prstGeom prst="rect">
            <a:avLst/>
          </a:prstGeom>
          <a:noFill/>
        </p:spPr>
        <p:txBody>
          <a:bodyPr wrap="square" lIns="0" tIns="0" rIns="0" bIns="0" anchor="t">
            <a:spAutoFit/>
          </a:bodyPr>
          <a:lstStyle/>
          <a:p>
            <a:pPr algn="l">
              <a:lnSpc>
                <a:spcPct val="136000"/>
              </a:lnSpc>
              <a:spcAft>
                <a:spcPts val="0"/>
              </a:spcAft>
            </a:pPr>
            <a:r>
              <a:rPr sz="950" b="0" i="0">
                <a:solidFill>
                  <a:srgbClr val="8494A6"/>
                </a:solidFill>
                <a:latin typeface="Segoe UI"/>
              </a:rPr>
              <a:t>Each layer caches z and a — not an optimisation. Backprop needs both.</a:t>
            </a:r>
          </a:p>
        </p:txBody>
      </p:sp>
      <p:cxnSp>
        <p:nvCxnSpPr>
          <p:cNvPr id="42" name="Connector 41"/>
          <p:cNvCxnSpPr/>
          <p:nvPr/>
        </p:nvCxnSpPr>
        <p:spPr>
          <a:xfrm>
            <a:off x="3278124" y="3931920"/>
            <a:ext cx="105156" cy="0"/>
          </a:xfrm>
          <a:prstGeom prst="line">
            <a:avLst/>
          </a:prstGeom>
          <a:ln w="19050">
            <a:solidFill>
              <a:srgbClr val="C89A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3396996" y="3017520"/>
            <a:ext cx="2624328" cy="195681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Rectangle 43"/>
          <p:cNvSpPr/>
          <p:nvPr/>
        </p:nvSpPr>
        <p:spPr>
          <a:xfrm>
            <a:off x="3396996" y="3017520"/>
            <a:ext cx="2624328"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3579876" y="3182112"/>
            <a:ext cx="2258568"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LOSS</a:t>
            </a:r>
          </a:p>
        </p:txBody>
      </p:sp>
      <p:sp>
        <p:nvSpPr>
          <p:cNvPr id="46" name="TextBox 45"/>
          <p:cNvSpPr txBox="1"/>
          <p:nvPr/>
        </p:nvSpPr>
        <p:spPr>
          <a:xfrm>
            <a:off x="3579876" y="3438144"/>
            <a:ext cx="2258568" cy="822960"/>
          </a:xfrm>
          <a:prstGeom prst="rect">
            <a:avLst/>
          </a:prstGeom>
          <a:noFill/>
        </p:spPr>
        <p:txBody>
          <a:bodyPr wrap="square" lIns="0" tIns="0" rIns="0" bIns="0" anchor="t">
            <a:spAutoFit/>
          </a:bodyPr>
          <a:lstStyle/>
          <a:p>
            <a:pPr algn="l">
              <a:lnSpc>
                <a:spcPct val="142000"/>
              </a:lnSpc>
              <a:spcAft>
                <a:spcPts val="0"/>
              </a:spcAft>
            </a:pPr>
            <a:r>
              <a:rPr sz="1150" b="0" i="0">
                <a:solidFill>
                  <a:srgbClr val="E6EDF3"/>
                </a:solidFill>
                <a:latin typeface="Consolas"/>
              </a:rPr>
              <a:t>L = −Σ y_j log a_j</a:t>
            </a:r>
          </a:p>
        </p:txBody>
      </p:sp>
      <p:sp>
        <p:nvSpPr>
          <p:cNvPr id="47" name="TextBox 46"/>
          <p:cNvSpPr txBox="1"/>
          <p:nvPr/>
        </p:nvSpPr>
        <p:spPr>
          <a:xfrm>
            <a:off x="3579876" y="4279392"/>
            <a:ext cx="2258568" cy="595624"/>
          </a:xfrm>
          <a:prstGeom prst="rect">
            <a:avLst/>
          </a:prstGeom>
          <a:noFill/>
        </p:spPr>
        <p:txBody>
          <a:bodyPr wrap="square" lIns="0" tIns="0" rIns="0" bIns="0" anchor="t">
            <a:spAutoFit/>
          </a:bodyPr>
          <a:lstStyle/>
          <a:p>
            <a:pPr algn="l">
              <a:lnSpc>
                <a:spcPct val="136000"/>
              </a:lnSpc>
              <a:spcAft>
                <a:spcPts val="0"/>
              </a:spcAft>
            </a:pPr>
            <a:r>
              <a:rPr sz="950" b="0" i="0">
                <a:solidFill>
                  <a:srgbClr val="8494A6"/>
                </a:solidFill>
                <a:latin typeface="Segoe UI"/>
              </a:rPr>
              <a:t>Cross-entropy over softmax punishes a confident wrong answer far harder than MSE.</a:t>
            </a:r>
          </a:p>
        </p:txBody>
      </p:sp>
      <p:cxnSp>
        <p:nvCxnSpPr>
          <p:cNvPr id="48" name="Connector 47"/>
          <p:cNvCxnSpPr/>
          <p:nvPr/>
        </p:nvCxnSpPr>
        <p:spPr>
          <a:xfrm>
            <a:off x="6035040" y="3931920"/>
            <a:ext cx="105156" cy="0"/>
          </a:xfrm>
          <a:prstGeom prst="line">
            <a:avLst/>
          </a:prstGeom>
          <a:ln w="19050">
            <a:solidFill>
              <a:srgbClr val="C89A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6153912" y="3017520"/>
            <a:ext cx="2624328" cy="195681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Rectangle 49"/>
          <p:cNvSpPr/>
          <p:nvPr/>
        </p:nvSpPr>
        <p:spPr>
          <a:xfrm>
            <a:off x="6153912" y="3017520"/>
            <a:ext cx="2624328"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1" name="TextBox 50"/>
          <p:cNvSpPr txBox="1"/>
          <p:nvPr/>
        </p:nvSpPr>
        <p:spPr>
          <a:xfrm>
            <a:off x="6336792" y="3182112"/>
            <a:ext cx="2258568"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BACKWARD</a:t>
            </a:r>
          </a:p>
        </p:txBody>
      </p:sp>
      <p:sp>
        <p:nvSpPr>
          <p:cNvPr id="52" name="TextBox 51"/>
          <p:cNvSpPr txBox="1"/>
          <p:nvPr/>
        </p:nvSpPr>
        <p:spPr>
          <a:xfrm>
            <a:off x="6336792" y="3438144"/>
            <a:ext cx="2258568" cy="822960"/>
          </a:xfrm>
          <a:prstGeom prst="rect">
            <a:avLst/>
          </a:prstGeom>
          <a:noFill/>
        </p:spPr>
        <p:txBody>
          <a:bodyPr wrap="square" lIns="0" tIns="0" rIns="0" bIns="0" anchor="t">
            <a:spAutoFit/>
          </a:bodyPr>
          <a:lstStyle/>
          <a:p>
            <a:pPr algn="l">
              <a:lnSpc>
                <a:spcPct val="142000"/>
              </a:lnSpc>
              <a:spcAft>
                <a:spcPts val="0"/>
              </a:spcAft>
            </a:pPr>
            <a:r>
              <a:rPr sz="1150" b="0" i="0">
                <a:solidFill>
                  <a:srgbClr val="E6EDF3"/>
                </a:solidFill>
                <a:latin typeface="Consolas"/>
              </a:rPr>
              <a:t>δ^L = a − y</a:t>
            </a:r>
          </a:p>
          <a:p>
            <a:pPr algn="l">
              <a:lnSpc>
                <a:spcPct val="142000"/>
              </a:lnSpc>
              <a:spcAft>
                <a:spcPts val="0"/>
              </a:spcAft>
            </a:pPr>
            <a:r>
              <a:rPr sz="1150" b="0" i="0">
                <a:solidFill>
                  <a:srgbClr val="E6EDF3"/>
                </a:solidFill>
                <a:latin typeface="Consolas"/>
              </a:rPr>
              <a:t>δ^l = (W^(l+1))^T·δ^(l+1)</a:t>
            </a:r>
          </a:p>
          <a:p>
            <a:pPr algn="l">
              <a:lnSpc>
                <a:spcPct val="142000"/>
              </a:lnSpc>
              <a:spcAft>
                <a:spcPts val="0"/>
              </a:spcAft>
            </a:pPr>
            <a:r>
              <a:rPr sz="1150" b="0" i="0">
                <a:solidFill>
                  <a:srgbClr val="E6EDF3"/>
                </a:solidFill>
                <a:latin typeface="Consolas"/>
              </a:rPr>
              <a:t>        ⊙ f′(z^l)</a:t>
            </a:r>
          </a:p>
        </p:txBody>
      </p:sp>
      <p:sp>
        <p:nvSpPr>
          <p:cNvPr id="53" name="TextBox 52"/>
          <p:cNvSpPr txBox="1"/>
          <p:nvPr/>
        </p:nvSpPr>
        <p:spPr>
          <a:xfrm>
            <a:off x="6336792" y="4279392"/>
            <a:ext cx="2258568" cy="595624"/>
          </a:xfrm>
          <a:prstGeom prst="rect">
            <a:avLst/>
          </a:prstGeom>
          <a:noFill/>
        </p:spPr>
        <p:txBody>
          <a:bodyPr wrap="square" lIns="0" tIns="0" rIns="0" bIns="0" anchor="t">
            <a:spAutoFit/>
          </a:bodyPr>
          <a:lstStyle/>
          <a:p>
            <a:pPr algn="l">
              <a:lnSpc>
                <a:spcPct val="136000"/>
              </a:lnSpc>
              <a:spcAft>
                <a:spcPts val="0"/>
              </a:spcAft>
            </a:pPr>
            <a:r>
              <a:rPr sz="950" b="0" i="0">
                <a:solidFill>
                  <a:srgbClr val="8494A6"/>
                </a:solidFill>
                <a:latin typeface="Segoe UI"/>
              </a:rPr>
              <a:t>The chain rule written out. With softmax + cross-entropy the output term collapses to a − y.</a:t>
            </a:r>
          </a:p>
        </p:txBody>
      </p:sp>
      <p:cxnSp>
        <p:nvCxnSpPr>
          <p:cNvPr id="54" name="Connector 53"/>
          <p:cNvCxnSpPr/>
          <p:nvPr/>
        </p:nvCxnSpPr>
        <p:spPr>
          <a:xfrm>
            <a:off x="8791956" y="3931920"/>
            <a:ext cx="105156" cy="0"/>
          </a:xfrm>
          <a:prstGeom prst="line">
            <a:avLst/>
          </a:prstGeom>
          <a:ln w="19050">
            <a:solidFill>
              <a:srgbClr val="C89A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8910828" y="3017520"/>
            <a:ext cx="2624328" cy="195681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6" name="Rectangle 55"/>
          <p:cNvSpPr/>
          <p:nvPr/>
        </p:nvSpPr>
        <p:spPr>
          <a:xfrm>
            <a:off x="8910828" y="3017520"/>
            <a:ext cx="2624328"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7" name="TextBox 56"/>
          <p:cNvSpPr txBox="1"/>
          <p:nvPr/>
        </p:nvSpPr>
        <p:spPr>
          <a:xfrm>
            <a:off x="9093707" y="3182112"/>
            <a:ext cx="2258568"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STEP</a:t>
            </a:r>
          </a:p>
        </p:txBody>
      </p:sp>
      <p:sp>
        <p:nvSpPr>
          <p:cNvPr id="58" name="TextBox 57"/>
          <p:cNvSpPr txBox="1"/>
          <p:nvPr/>
        </p:nvSpPr>
        <p:spPr>
          <a:xfrm>
            <a:off x="9093707" y="3438144"/>
            <a:ext cx="2258568" cy="822960"/>
          </a:xfrm>
          <a:prstGeom prst="rect">
            <a:avLst/>
          </a:prstGeom>
          <a:noFill/>
        </p:spPr>
        <p:txBody>
          <a:bodyPr wrap="square" lIns="0" tIns="0" rIns="0" bIns="0" anchor="t">
            <a:spAutoFit/>
          </a:bodyPr>
          <a:lstStyle/>
          <a:p>
            <a:pPr algn="l">
              <a:lnSpc>
                <a:spcPct val="142000"/>
              </a:lnSpc>
              <a:spcAft>
                <a:spcPts val="0"/>
              </a:spcAft>
            </a:pPr>
            <a:r>
              <a:rPr sz="1150" b="0" i="0">
                <a:solidFill>
                  <a:srgbClr val="E6EDF3"/>
                </a:solidFill>
                <a:latin typeface="Consolas"/>
              </a:rPr>
              <a:t>W ← W − η·(1/n)·Σ δ·a^T</a:t>
            </a:r>
          </a:p>
        </p:txBody>
      </p:sp>
      <p:sp>
        <p:nvSpPr>
          <p:cNvPr id="59" name="TextBox 58"/>
          <p:cNvSpPr txBox="1"/>
          <p:nvPr/>
        </p:nvSpPr>
        <p:spPr>
          <a:xfrm>
            <a:off x="9093707" y="4279392"/>
            <a:ext cx="2258568" cy="397083"/>
          </a:xfrm>
          <a:prstGeom prst="rect">
            <a:avLst/>
          </a:prstGeom>
          <a:noFill/>
        </p:spPr>
        <p:txBody>
          <a:bodyPr wrap="square" lIns="0" tIns="0" rIns="0" bIns="0" anchor="t">
            <a:spAutoFit/>
          </a:bodyPr>
          <a:lstStyle/>
          <a:p>
            <a:pPr algn="l">
              <a:lnSpc>
                <a:spcPct val="136000"/>
              </a:lnSpc>
              <a:spcAft>
                <a:spcPts val="0"/>
              </a:spcAft>
            </a:pPr>
            <a:r>
              <a:rPr sz="950" b="0" i="0">
                <a:solidFill>
                  <a:srgbClr val="8494A6"/>
                </a:solidFill>
                <a:latin typeface="Segoe UI"/>
              </a:rPr>
              <a:t>Mini-batch SGD: shuffle, accumulate over 64 samples, take one averaged step.</a:t>
            </a:r>
          </a:p>
        </p:txBody>
      </p:sp>
      <p:sp>
        <p:nvSpPr>
          <p:cNvPr id="60" name="Rectangle 59"/>
          <p:cNvSpPr/>
          <p:nvPr/>
        </p:nvSpPr>
        <p:spPr>
          <a:xfrm>
            <a:off x="640080" y="5138928"/>
            <a:ext cx="5349240" cy="11338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1" name="Rectangle 60"/>
          <p:cNvSpPr/>
          <p:nvPr/>
        </p:nvSpPr>
        <p:spPr>
          <a:xfrm>
            <a:off x="640080" y="5138928"/>
            <a:ext cx="5349240" cy="31750"/>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2" name="TextBox 61"/>
          <p:cNvSpPr txBox="1"/>
          <p:nvPr/>
        </p:nvSpPr>
        <p:spPr>
          <a:xfrm>
            <a:off x="841248" y="5303520"/>
            <a:ext cx="4937760" cy="237744"/>
          </a:xfrm>
          <a:prstGeom prst="rect">
            <a:avLst/>
          </a:prstGeom>
          <a:noFill/>
        </p:spPr>
        <p:txBody>
          <a:bodyPr wrap="square" lIns="0" tIns="0" rIns="0" bIns="0" anchor="t">
            <a:spAutoFit/>
          </a:bodyPr>
          <a:lstStyle/>
          <a:p>
            <a:pPr algn="l">
              <a:lnSpc>
                <a:spcPct val="112000"/>
              </a:lnSpc>
              <a:spcAft>
                <a:spcPts val="0"/>
              </a:spcAft>
            </a:pPr>
            <a:r>
              <a:rPr sz="900" b="0" i="0">
                <a:solidFill>
                  <a:srgbClr val="4AD991"/>
                </a:solidFill>
                <a:latin typeface="Bahnschrift SemiBold"/>
              </a:rPr>
              <a:t>HOW WE KNOW THE DERIVATIVES ARE RIGHT</a:t>
            </a:r>
          </a:p>
        </p:txBody>
      </p:sp>
      <p:sp>
        <p:nvSpPr>
          <p:cNvPr id="63" name="TextBox 62"/>
          <p:cNvSpPr txBox="1"/>
          <p:nvPr/>
        </p:nvSpPr>
        <p:spPr>
          <a:xfrm>
            <a:off x="841248" y="5541264"/>
            <a:ext cx="4937760" cy="274320"/>
          </a:xfrm>
          <a:prstGeom prst="rect">
            <a:avLst/>
          </a:prstGeom>
          <a:noFill/>
        </p:spPr>
        <p:txBody>
          <a:bodyPr wrap="square" lIns="0" tIns="0" rIns="0" bIns="0" anchor="t">
            <a:spAutoFit/>
          </a:bodyPr>
          <a:lstStyle/>
          <a:p>
            <a:pPr algn="l">
              <a:lnSpc>
                <a:spcPct val="112000"/>
              </a:lnSpc>
              <a:spcAft>
                <a:spcPts val="0"/>
              </a:spcAft>
            </a:pPr>
            <a:r>
              <a:rPr sz="1400" b="0" i="0">
                <a:solidFill>
                  <a:srgbClr val="4AD991"/>
                </a:solidFill>
                <a:latin typeface="Consolas"/>
              </a:rPr>
              <a:t>max |analytic − numeric|  &lt;  1e-9</a:t>
            </a:r>
          </a:p>
        </p:txBody>
      </p:sp>
      <p:sp>
        <p:nvSpPr>
          <p:cNvPr id="64" name="TextBox 63"/>
          <p:cNvSpPr txBox="1"/>
          <p:nvPr/>
        </p:nvSpPr>
        <p:spPr>
          <a:xfrm>
            <a:off x="841248" y="5833872"/>
            <a:ext cx="4937760" cy="391243"/>
          </a:xfrm>
          <a:prstGeom prst="rect">
            <a:avLst/>
          </a:prstGeom>
          <a:noFill/>
        </p:spPr>
        <p:txBody>
          <a:bodyPr wrap="square" lIns="0" tIns="0" rIns="0" bIns="0" anchor="t">
            <a:spAutoFit/>
          </a:bodyPr>
          <a:lstStyle/>
          <a:p>
            <a:pPr algn="l">
              <a:lnSpc>
                <a:spcPct val="134000"/>
              </a:lnSpc>
              <a:spcAft>
                <a:spcPts val="0"/>
              </a:spcAft>
            </a:pPr>
            <a:r>
              <a:rPr sz="950" b="0" i="0">
                <a:solidFill>
                  <a:srgbClr val="8494A6"/>
                </a:solidFill>
                <a:latin typeface="Segoe UI"/>
              </a:rPr>
              <a:t>gradcheck.cpp perturbs every weight by ±ε and compares the finite difference against backprop.</a:t>
            </a:r>
          </a:p>
        </p:txBody>
      </p:sp>
      <p:sp>
        <p:nvSpPr>
          <p:cNvPr id="65" name="TextBox 64"/>
          <p:cNvSpPr txBox="1"/>
          <p:nvPr/>
        </p:nvSpPr>
        <p:spPr>
          <a:xfrm>
            <a:off x="6199632" y="5138928"/>
            <a:ext cx="5349240"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THE REST OF IT — main_mnist.cpp</a:t>
            </a:r>
          </a:p>
        </p:txBody>
      </p:sp>
      <p:sp>
        <p:nvSpPr>
          <p:cNvPr id="66" name="Rectangle 65"/>
          <p:cNvSpPr/>
          <p:nvPr/>
        </p:nvSpPr>
        <p:spPr>
          <a:xfrm>
            <a:off x="6199632" y="5394960"/>
            <a:ext cx="53492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7" name="TextBox 66"/>
          <p:cNvSpPr txBox="1"/>
          <p:nvPr/>
        </p:nvSpPr>
        <p:spPr>
          <a:xfrm>
            <a:off x="6199632" y="5504688"/>
            <a:ext cx="5349240" cy="237744"/>
          </a:xfrm>
          <a:prstGeom prst="rect">
            <a:avLst/>
          </a:prstGeom>
          <a:noFill/>
        </p:spPr>
        <p:txBody>
          <a:bodyPr wrap="square" lIns="0" tIns="0" rIns="0" bIns="0" anchor="t">
            <a:spAutoFit/>
          </a:bodyPr>
          <a:lstStyle/>
          <a:p>
            <a:pPr algn="l">
              <a:lnSpc>
                <a:spcPct val="112000"/>
              </a:lnSpc>
              <a:spcAft>
                <a:spcPts val="0"/>
              </a:spcAft>
            </a:pPr>
            <a:r>
              <a:rPr sz="950" b="0" i="0">
                <a:solidFill>
                  <a:srgbClr val="E6EDF3"/>
                </a:solidFill>
                <a:latin typeface="Consolas"/>
              </a:rPr>
              <a:t>EPOCHS 10 · BATCH 64 · ETA 0.1 · Fisher–Yates shuffle per epoch</a:t>
            </a:r>
          </a:p>
        </p:txBody>
      </p:sp>
      <p:sp>
        <p:nvSpPr>
          <p:cNvPr id="68" name="TextBox 67"/>
          <p:cNvSpPr txBox="1"/>
          <p:nvPr/>
        </p:nvSpPr>
        <p:spPr>
          <a:xfrm>
            <a:off x="6199632" y="5724144"/>
            <a:ext cx="5349240"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Consolas"/>
              </a:rPr>
              <a:t>weights scaled by fan-in · softmax with max subtracted</a:t>
            </a:r>
          </a:p>
        </p:txBody>
      </p:sp>
      <p:sp>
        <p:nvSpPr>
          <p:cNvPr id="69" name="TextBox 68"/>
          <p:cNvSpPr txBox="1"/>
          <p:nvPr/>
        </p:nvSpPr>
        <p:spPr>
          <a:xfrm>
            <a:off x="6199632" y="5943600"/>
            <a:ext cx="5349240" cy="237744"/>
          </a:xfrm>
          <a:prstGeom prst="rect">
            <a:avLst/>
          </a:prstGeom>
          <a:noFill/>
        </p:spPr>
        <p:txBody>
          <a:bodyPr wrap="square" lIns="0" tIns="0" rIns="0" bIns="0" anchor="t">
            <a:spAutoFit/>
          </a:bodyPr>
          <a:lstStyle/>
          <a:p>
            <a:pPr algn="l">
              <a:lnSpc>
                <a:spcPct val="112000"/>
              </a:lnSpc>
              <a:spcAft>
                <a:spcPts val="0"/>
              </a:spcAft>
            </a:pPr>
            <a:r>
              <a:rPr sz="950" b="0" i="0">
                <a:solidFill>
                  <a:srgbClr val="5A6878"/>
                </a:solidFill>
                <a:latin typeface="Consolas"/>
              </a:rPr>
              <a:t>sigmoid s′ = s(1−s) peaks at 0.25 · ReLU r′ = 1 does not vanish</a:t>
            </a:r>
          </a:p>
        </p:txBody>
      </p:sp>
      <p:sp>
        <p:nvSpPr>
          <p:cNvPr id="70" name="Rectangle 69"/>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1" name="TextBox 70"/>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72" name="TextBox 71"/>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09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C89A5B"/>
                </a:solidFill>
                <a:latin typeface="Consolas"/>
              </a:rPr>
              <a:t>70 000 HANDWRITTEN DIGITS · 60 K TRAIN / 10 K TEST</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MNIST — the standard first problem</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PHONE</a:t>
            </a:r>
          </a:p>
        </p:txBody>
      </p:sp>
      <p:sp>
        <p:nvSpPr>
          <p:cNvPr id="17" name="Rectangle 16"/>
          <p:cNvSpPr/>
          <p:nvPr/>
        </p:nvSpPr>
        <p:spPr>
          <a:xfrm>
            <a:off x="1151000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21" name="Picture 20" descr="mnist-strip.png"/>
          <p:cNvPicPr>
            <a:picLocks noChangeAspect="1"/>
          </p:cNvPicPr>
          <p:nvPr/>
        </p:nvPicPr>
        <p:blipFill>
          <a:blip r:embed="rId2"/>
          <a:stretch>
            <a:fillRect/>
          </a:stretch>
        </p:blipFill>
        <p:spPr>
          <a:xfrm>
            <a:off x="640080" y="1554480"/>
            <a:ext cx="6537960" cy="810179"/>
          </a:xfrm>
          <a:prstGeom prst="rect">
            <a:avLst/>
          </a:prstGeom>
        </p:spPr>
      </p:pic>
      <p:sp>
        <p:nvSpPr>
          <p:cNvPr id="22" name="TextBox 21"/>
          <p:cNvSpPr txBox="1"/>
          <p:nvPr/>
        </p:nvSpPr>
        <p:spPr>
          <a:xfrm>
            <a:off x="640080" y="2487168"/>
            <a:ext cx="6537960"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real samples, read straight out of data/t10k-images-idx3-ubyte</a:t>
            </a:r>
          </a:p>
        </p:txBody>
      </p:sp>
      <p:sp>
        <p:nvSpPr>
          <p:cNvPr id="23" name="Rectangle 22"/>
          <p:cNvSpPr/>
          <p:nvPr/>
        </p:nvSpPr>
        <p:spPr>
          <a:xfrm>
            <a:off x="7589520" y="1481328"/>
            <a:ext cx="3959352" cy="12984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7589520" y="1481328"/>
            <a:ext cx="3959352"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7827264" y="1664208"/>
            <a:ext cx="3566160" cy="274320"/>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TEST ACCURACY</a:t>
            </a:r>
          </a:p>
        </p:txBody>
      </p:sp>
      <p:sp>
        <p:nvSpPr>
          <p:cNvPr id="26" name="TextBox 25"/>
          <p:cNvSpPr txBox="1"/>
          <p:nvPr/>
        </p:nvSpPr>
        <p:spPr>
          <a:xfrm>
            <a:off x="7827264" y="1920240"/>
            <a:ext cx="3566160" cy="640080"/>
          </a:xfrm>
          <a:prstGeom prst="rect">
            <a:avLst/>
          </a:prstGeom>
          <a:noFill/>
        </p:spPr>
        <p:txBody>
          <a:bodyPr wrap="square" lIns="0" tIns="0" rIns="0" bIns="0" anchor="t">
            <a:spAutoFit/>
          </a:bodyPr>
          <a:lstStyle/>
          <a:p>
            <a:pPr algn="l">
              <a:lnSpc>
                <a:spcPct val="112000"/>
              </a:lnSpc>
              <a:spcAft>
                <a:spcPts val="0"/>
              </a:spcAft>
            </a:pPr>
            <a:r>
              <a:rPr sz="3800" b="0" i="0">
                <a:solidFill>
                  <a:srgbClr val="C89A5B"/>
                </a:solidFill>
                <a:latin typeface="Consolas"/>
              </a:rPr>
              <a:t>97.65 %</a:t>
            </a:r>
          </a:p>
        </p:txBody>
      </p:sp>
      <p:sp>
        <p:nvSpPr>
          <p:cNvPr id="27" name="TextBox 26"/>
          <p:cNvSpPr txBox="1"/>
          <p:nvPr/>
        </p:nvSpPr>
        <p:spPr>
          <a:xfrm>
            <a:off x="10149840" y="2157984"/>
            <a:ext cx="1280160" cy="274320"/>
          </a:xfrm>
          <a:prstGeom prst="rect">
            <a:avLst/>
          </a:prstGeom>
          <a:noFill/>
        </p:spPr>
        <p:txBody>
          <a:bodyPr wrap="square" lIns="0" tIns="0" rIns="0" bIns="0" anchor="t">
            <a:spAutoFit/>
          </a:bodyPr>
          <a:lstStyle/>
          <a:p>
            <a:pPr algn="r">
              <a:lnSpc>
                <a:spcPct val="112000"/>
              </a:lnSpc>
              <a:spcAft>
                <a:spcPts val="0"/>
              </a:spcAft>
            </a:pPr>
            <a:r>
              <a:rPr sz="900" b="0" i="0">
                <a:solidFill>
                  <a:srgbClr val="5A6878"/>
                </a:solidFill>
                <a:latin typeface="Consolas"/>
              </a:rPr>
              <a:t>10 000 unseen</a:t>
            </a:r>
          </a:p>
        </p:txBody>
      </p:sp>
      <p:pic>
        <p:nvPicPr>
          <p:cNvPr id="28" name="Picture 27" descr="mlp-diagram.png"/>
          <p:cNvPicPr>
            <a:picLocks noChangeAspect="1"/>
          </p:cNvPicPr>
          <p:nvPr/>
        </p:nvPicPr>
        <p:blipFill>
          <a:blip r:embed="rId3"/>
          <a:stretch>
            <a:fillRect/>
          </a:stretch>
        </p:blipFill>
        <p:spPr>
          <a:xfrm>
            <a:off x="640080" y="2926080"/>
            <a:ext cx="6537960" cy="2580774"/>
          </a:xfrm>
          <a:prstGeom prst="rect">
            <a:avLst/>
          </a:prstGeom>
        </p:spPr>
      </p:pic>
      <p:sp>
        <p:nvSpPr>
          <p:cNvPr id="29" name="TextBox 28"/>
          <p:cNvSpPr txBox="1"/>
          <p:nvPr/>
        </p:nvSpPr>
        <p:spPr>
          <a:xfrm>
            <a:off x="7589520" y="3017520"/>
            <a:ext cx="3959352"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WHY THIS SHAPE</a:t>
            </a:r>
          </a:p>
        </p:txBody>
      </p:sp>
      <p:sp>
        <p:nvSpPr>
          <p:cNvPr id="30" name="Rectangle 29"/>
          <p:cNvSpPr/>
          <p:nvPr/>
        </p:nvSpPr>
        <p:spPr>
          <a:xfrm>
            <a:off x="7589520" y="3273552"/>
            <a:ext cx="395935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7589520" y="3456432"/>
            <a:ext cx="3959352" cy="2377440"/>
          </a:xfrm>
          <a:prstGeom prst="rect">
            <a:avLst/>
          </a:prstGeom>
          <a:noFill/>
        </p:spPr>
        <p:txBody>
          <a:bodyPr wrap="square" lIns="0" tIns="0" rIns="0" bIns="0">
            <a:spAutoFit/>
          </a:bodyPr>
          <a:lstStyle/>
          <a:p>
            <a:pPr algn="l">
              <a:lnSpc>
                <a:spcPct val="122000"/>
              </a:lnSpc>
              <a:spcAft>
                <a:spcPts val="700"/>
              </a:spcAft>
            </a:pPr>
            <a:r>
              <a:rPr sz="1050" b="1">
                <a:solidFill>
                  <a:srgbClr val="C89A5B"/>
                </a:solidFill>
                <a:latin typeface="Consolas"/>
              </a:rPr>
              <a:t>— </a:t>
            </a:r>
            <a:r>
              <a:rPr sz="1050" b="1">
                <a:solidFill>
                  <a:srgbClr val="E6EDF3"/>
                </a:solidFill>
                <a:latin typeface="Segoe UI"/>
              </a:rPr>
              <a:t>784 in</a:t>
            </a:r>
            <a:r>
              <a:rPr sz="1050" b="0">
                <a:solidFill>
                  <a:srgbClr val="8494A6"/>
                </a:solidFill>
                <a:latin typeface="Segoe UI"/>
              </a:rPr>
              <a:t>  28 × 28 pixels flattened and divided by 255. No convolution, no augmentation at train time.</a:t>
            </a:r>
          </a:p>
          <a:p>
            <a:pPr algn="l">
              <a:lnSpc>
                <a:spcPct val="122000"/>
              </a:lnSpc>
              <a:spcAft>
                <a:spcPts val="700"/>
              </a:spcAft>
            </a:pPr>
            <a:r>
              <a:rPr sz="1050" b="1">
                <a:solidFill>
                  <a:srgbClr val="C89A5B"/>
                </a:solidFill>
                <a:latin typeface="Consolas"/>
              </a:rPr>
              <a:t>— </a:t>
            </a:r>
            <a:r>
              <a:rPr sz="1050" b="1">
                <a:solidFill>
                  <a:srgbClr val="E6EDF3"/>
                </a:solidFill>
                <a:latin typeface="Segoe UI"/>
              </a:rPr>
              <a:t>128 hidden, ReLU</a:t>
            </a:r>
            <a:r>
              <a:rPr sz="1050" b="0">
                <a:solidFill>
                  <a:srgbClr val="8494A6"/>
                </a:solidFill>
                <a:latin typeface="Segoe UI"/>
              </a:rPr>
              <a:t>  wide enough to learn stroke parts, small enough that the whole weight file is 407 KB and fits in a phone asset.</a:t>
            </a:r>
          </a:p>
          <a:p>
            <a:pPr algn="l">
              <a:lnSpc>
                <a:spcPct val="122000"/>
              </a:lnSpc>
              <a:spcAft>
                <a:spcPts val="700"/>
              </a:spcAft>
            </a:pPr>
            <a:r>
              <a:rPr sz="1050" b="1">
                <a:solidFill>
                  <a:srgbClr val="C89A5B"/>
                </a:solidFill>
                <a:latin typeface="Consolas"/>
              </a:rPr>
              <a:t>— </a:t>
            </a:r>
            <a:r>
              <a:rPr sz="1050" b="1">
                <a:solidFill>
                  <a:srgbClr val="E6EDF3"/>
                </a:solidFill>
                <a:latin typeface="Segoe UI"/>
              </a:rPr>
              <a:t>10 out, softmax</a:t>
            </a:r>
            <a:r>
              <a:rPr sz="1050" b="0">
                <a:solidFill>
                  <a:srgbClr val="8494A6"/>
                </a:solidFill>
                <a:latin typeface="Segoe UI"/>
              </a:rPr>
              <a:t>  ten probabilities that sum to one — which is what makes a confidence gate meaningful later.</a:t>
            </a:r>
          </a:p>
        </p:txBody>
      </p:sp>
      <p:sp>
        <p:nvSpPr>
          <p:cNvPr id="32" name="Rectangle 31"/>
          <p:cNvSpPr/>
          <p:nvPr/>
        </p:nvSpPr>
        <p:spPr>
          <a:xfrm>
            <a:off x="640080" y="5577840"/>
            <a:ext cx="6537960"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40080" y="5742432"/>
            <a:ext cx="6537960" cy="457200"/>
          </a:xfrm>
          <a:prstGeom prst="rect">
            <a:avLst/>
          </a:prstGeom>
          <a:noFill/>
        </p:spPr>
        <p:txBody>
          <a:bodyPr wrap="square" lIns="0" tIns="0" rIns="0" bIns="0" anchor="t">
            <a:spAutoFit/>
          </a:bodyPr>
          <a:lstStyle/>
          <a:p>
            <a:pPr algn="l">
              <a:lnSpc>
                <a:spcPct val="135000"/>
              </a:lnSpc>
              <a:spcAft>
                <a:spcPts val="0"/>
              </a:spcAft>
            </a:pPr>
            <a:r>
              <a:rPr sz="1100" b="0" i="0">
                <a:solidFill>
                  <a:srgbClr val="8494A6"/>
                </a:solidFill>
                <a:latin typeface="Segoe UI"/>
              </a:rPr>
              <a:t>Written from scratch: no TensorFlow, no PyTorch, no BLAS. Roughly 900 lines of C++17, every derivative derived by hand and checked numerically.</a:t>
            </a:r>
          </a:p>
        </p:txBody>
      </p:sp>
      <p:sp>
        <p:nvSpPr>
          <p:cNvPr id="34" name="Rectangle 33"/>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36" name="TextBox 35"/>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C89A5B"/>
                </a:solidFill>
                <a:latin typeface="Consolas"/>
              </a:rPr>
              <a:t>70 000 HANDWRITTEN DIGITS · 60 K TRAIN / 10 K TEST</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MNIST, and the seam to the phone</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21" name="Picture 20" descr="mnist-strip.png"/>
          <p:cNvPicPr>
            <a:picLocks noChangeAspect="1"/>
          </p:cNvPicPr>
          <p:nvPr/>
        </p:nvPicPr>
        <p:blipFill>
          <a:blip r:embed="rId2"/>
          <a:stretch>
            <a:fillRect/>
          </a:stretch>
        </p:blipFill>
        <p:spPr>
          <a:xfrm>
            <a:off x="640080" y="1517904"/>
            <a:ext cx="6537960" cy="810179"/>
          </a:xfrm>
          <a:prstGeom prst="rect">
            <a:avLst/>
          </a:prstGeom>
        </p:spPr>
      </p:pic>
      <p:sp>
        <p:nvSpPr>
          <p:cNvPr id="22" name="TextBox 21"/>
          <p:cNvSpPr txBox="1"/>
          <p:nvPr/>
        </p:nvSpPr>
        <p:spPr>
          <a:xfrm>
            <a:off x="640080" y="2432304"/>
            <a:ext cx="6537960"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real samples, read straight out of data/t10k-images-idx3-ubyte</a:t>
            </a:r>
          </a:p>
        </p:txBody>
      </p:sp>
      <p:sp>
        <p:nvSpPr>
          <p:cNvPr id="23" name="Rectangle 22"/>
          <p:cNvSpPr/>
          <p:nvPr/>
        </p:nvSpPr>
        <p:spPr>
          <a:xfrm>
            <a:off x="7589520" y="1481328"/>
            <a:ext cx="3959352" cy="1188720"/>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7589520" y="1481328"/>
            <a:ext cx="3959352"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7808975" y="1645920"/>
            <a:ext cx="3566160" cy="274320"/>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TEST ACCURACY</a:t>
            </a:r>
          </a:p>
        </p:txBody>
      </p:sp>
      <p:sp>
        <p:nvSpPr>
          <p:cNvPr id="26" name="TextBox 25"/>
          <p:cNvSpPr txBox="1"/>
          <p:nvPr/>
        </p:nvSpPr>
        <p:spPr>
          <a:xfrm>
            <a:off x="7808975" y="1883664"/>
            <a:ext cx="3566160" cy="640080"/>
          </a:xfrm>
          <a:prstGeom prst="rect">
            <a:avLst/>
          </a:prstGeom>
          <a:noFill/>
        </p:spPr>
        <p:txBody>
          <a:bodyPr wrap="square" lIns="0" tIns="0" rIns="0" bIns="0" anchor="t">
            <a:spAutoFit/>
          </a:bodyPr>
          <a:lstStyle/>
          <a:p>
            <a:pPr algn="l">
              <a:lnSpc>
                <a:spcPct val="112000"/>
              </a:lnSpc>
              <a:spcAft>
                <a:spcPts val="0"/>
              </a:spcAft>
            </a:pPr>
            <a:r>
              <a:rPr sz="3200" b="0" i="0">
                <a:solidFill>
                  <a:srgbClr val="C89A5B"/>
                </a:solidFill>
                <a:latin typeface="Consolas"/>
              </a:rPr>
              <a:t>97.65 %</a:t>
            </a:r>
          </a:p>
        </p:txBody>
      </p:sp>
      <p:sp>
        <p:nvSpPr>
          <p:cNvPr id="27" name="TextBox 26"/>
          <p:cNvSpPr txBox="1"/>
          <p:nvPr/>
        </p:nvSpPr>
        <p:spPr>
          <a:xfrm>
            <a:off x="10241280" y="2066543"/>
            <a:ext cx="1097280" cy="274320"/>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10 000 unseen</a:t>
            </a:r>
          </a:p>
        </p:txBody>
      </p:sp>
      <p:sp>
        <p:nvSpPr>
          <p:cNvPr id="28" name="TextBox 27"/>
          <p:cNvSpPr txBox="1"/>
          <p:nvPr/>
        </p:nvSpPr>
        <p:spPr>
          <a:xfrm>
            <a:off x="640080" y="2798064"/>
            <a:ext cx="6537960"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ONE STROKE, EIGHT STEPS — AND TWO INDEPENDENT IMPLEMENTATIONS OF IT</a:t>
            </a:r>
          </a:p>
        </p:txBody>
      </p:sp>
      <p:pic>
        <p:nvPicPr>
          <p:cNvPr id="29" name="Picture 28" descr="mnist-pipeline.png"/>
          <p:cNvPicPr>
            <a:picLocks noChangeAspect="1"/>
          </p:cNvPicPr>
          <p:nvPr/>
        </p:nvPicPr>
        <p:blipFill>
          <a:blip r:embed="rId3"/>
          <a:stretch>
            <a:fillRect/>
          </a:stretch>
        </p:blipFill>
        <p:spPr>
          <a:xfrm>
            <a:off x="640080" y="3072384"/>
            <a:ext cx="6537960" cy="1328023"/>
          </a:xfrm>
          <a:prstGeom prst="rect">
            <a:avLst/>
          </a:prstGeom>
        </p:spPr>
      </p:pic>
      <p:sp>
        <p:nvSpPr>
          <p:cNvPr id="30" name="TextBox 29"/>
          <p:cNvSpPr txBox="1"/>
          <p:nvPr/>
        </p:nvSpPr>
        <p:spPr>
          <a:xfrm>
            <a:off x="640080" y="4517136"/>
            <a:ext cx="6537960" cy="457200"/>
          </a:xfrm>
          <a:prstGeom prst="rect">
            <a:avLst/>
          </a:prstGeom>
          <a:noFill/>
        </p:spPr>
        <p:txBody>
          <a:bodyPr wrap="square" lIns="0" tIns="0" rIns="0" bIns="0" anchor="t">
            <a:spAutoFit/>
          </a:bodyPr>
          <a:lstStyle/>
          <a:p>
            <a:pPr algn="l">
              <a:lnSpc>
                <a:spcPct val="125000"/>
              </a:lnSpc>
              <a:spcAft>
                <a:spcPts val="0"/>
              </a:spcAft>
            </a:pPr>
            <a:r>
              <a:rPr sz="850" b="0" i="0">
                <a:solidFill>
                  <a:srgbClr val="5A6878"/>
                </a:solidFill>
                <a:latin typeface="Consolas"/>
              </a:rPr>
              <a:t>280×280 canvas · stroke 20 round cap · R-channel · threshold 25 · ink ≥ 30 · fit 20 px block-average · centre-of-mass in 28×28</a:t>
            </a:r>
          </a:p>
        </p:txBody>
      </p:sp>
      <p:sp>
        <p:nvSpPr>
          <p:cNvPr id="31" name="TextBox 30"/>
          <p:cNvSpPr txBox="1"/>
          <p:nvPr/>
        </p:nvSpPr>
        <p:spPr>
          <a:xfrm>
            <a:off x="7589520" y="2798064"/>
            <a:ext cx="3959352"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WHY THIS SHAPE</a:t>
            </a:r>
          </a:p>
        </p:txBody>
      </p:sp>
      <p:sp>
        <p:nvSpPr>
          <p:cNvPr id="32" name="Rectangle 31"/>
          <p:cNvSpPr/>
          <p:nvPr/>
        </p:nvSpPr>
        <p:spPr>
          <a:xfrm>
            <a:off x="7589520" y="3054096"/>
            <a:ext cx="395935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7589520" y="3182112"/>
            <a:ext cx="3959352" cy="1828800"/>
          </a:xfrm>
          <a:prstGeom prst="rect">
            <a:avLst/>
          </a:prstGeom>
          <a:noFill/>
        </p:spPr>
        <p:txBody>
          <a:bodyPr wrap="square" lIns="0" tIns="0" rIns="0" bIns="0">
            <a:spAutoFit/>
          </a:bodyPr>
          <a:lstStyle/>
          <a:p>
            <a:pPr algn="l">
              <a:lnSpc>
                <a:spcPct val="122000"/>
              </a:lnSpc>
              <a:spcAft>
                <a:spcPts val="600"/>
              </a:spcAft>
            </a:pPr>
            <a:r>
              <a:rPr sz="1000" b="1">
                <a:solidFill>
                  <a:srgbClr val="C89A5B"/>
                </a:solidFill>
                <a:latin typeface="Consolas"/>
              </a:rPr>
              <a:t>— </a:t>
            </a:r>
            <a:r>
              <a:rPr sz="1000" b="1">
                <a:solidFill>
                  <a:srgbClr val="E6EDF3"/>
                </a:solidFill>
                <a:latin typeface="Segoe UI"/>
              </a:rPr>
              <a:t>784 in</a:t>
            </a:r>
            <a:r>
              <a:rPr sz="1000" b="0">
                <a:solidFill>
                  <a:srgbClr val="8494A6"/>
                </a:solidFill>
                <a:latin typeface="Segoe UI"/>
              </a:rPr>
              <a:t>  28 × 28 pixels flattened and divided by 255. No convolution, no augmentation at train time.</a:t>
            </a:r>
          </a:p>
          <a:p>
            <a:pPr algn="l">
              <a:lnSpc>
                <a:spcPct val="122000"/>
              </a:lnSpc>
              <a:spcAft>
                <a:spcPts val="600"/>
              </a:spcAft>
            </a:pPr>
            <a:r>
              <a:rPr sz="1000" b="1">
                <a:solidFill>
                  <a:srgbClr val="C89A5B"/>
                </a:solidFill>
                <a:latin typeface="Consolas"/>
              </a:rPr>
              <a:t>— </a:t>
            </a:r>
            <a:r>
              <a:rPr sz="1000" b="1">
                <a:solidFill>
                  <a:srgbClr val="E6EDF3"/>
                </a:solidFill>
                <a:latin typeface="Segoe UI"/>
              </a:rPr>
              <a:t>128 hidden, ReLU</a:t>
            </a:r>
            <a:r>
              <a:rPr sz="1000" b="0">
                <a:solidFill>
                  <a:srgbClr val="8494A6"/>
                </a:solidFill>
                <a:latin typeface="Segoe UI"/>
              </a:rPr>
              <a:t>  wide enough for stroke parts, small enough that the whole weight file is 407 KB and fits in a phone asset.</a:t>
            </a:r>
          </a:p>
          <a:p>
            <a:pPr algn="l">
              <a:lnSpc>
                <a:spcPct val="122000"/>
              </a:lnSpc>
              <a:spcAft>
                <a:spcPts val="600"/>
              </a:spcAft>
            </a:pPr>
            <a:r>
              <a:rPr sz="1000" b="1">
                <a:solidFill>
                  <a:srgbClr val="C89A5B"/>
                </a:solidFill>
                <a:latin typeface="Consolas"/>
              </a:rPr>
              <a:t>— </a:t>
            </a:r>
            <a:r>
              <a:rPr sz="1000" b="1">
                <a:solidFill>
                  <a:srgbClr val="E6EDF3"/>
                </a:solidFill>
                <a:latin typeface="Segoe UI"/>
              </a:rPr>
              <a:t>10 out, softmax</a:t>
            </a:r>
            <a:r>
              <a:rPr sz="1000" b="0">
                <a:solidFill>
                  <a:srgbClr val="8494A6"/>
                </a:solidFill>
                <a:latin typeface="Segoe UI"/>
              </a:rPr>
              <a:t>  ten probabilities summing to one — which is what makes a confidence gate meaningful.</a:t>
            </a:r>
          </a:p>
        </p:txBody>
      </p:sp>
      <p:sp>
        <p:nvSpPr>
          <p:cNvPr id="34" name="Rectangle 33"/>
          <p:cNvSpPr/>
          <p:nvPr/>
        </p:nvSpPr>
        <p:spPr>
          <a:xfrm>
            <a:off x="640080" y="4956048"/>
            <a:ext cx="6537960" cy="131673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Rectangle 34"/>
          <p:cNvSpPr/>
          <p:nvPr/>
        </p:nvSpPr>
        <p:spPr>
          <a:xfrm>
            <a:off x="640080" y="4956048"/>
            <a:ext cx="6537960" cy="3175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859536" y="5120640"/>
            <a:ext cx="612648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4438"/>
                </a:solidFill>
                <a:latin typeface="Bahnschrift SemiBold"/>
              </a:rPr>
              <a:t>MX-2 IS THE ONE REAL PIECE OF TECHNICAL DEBT</a:t>
            </a:r>
          </a:p>
        </p:txBody>
      </p:sp>
      <p:sp>
        <p:nvSpPr>
          <p:cNvPr id="37" name="TextBox 36"/>
          <p:cNvSpPr txBox="1"/>
          <p:nvPr/>
        </p:nvSpPr>
        <p:spPr>
          <a:xfrm>
            <a:off x="859536" y="5376672"/>
            <a:ext cx="6126480" cy="626973"/>
          </a:xfrm>
          <a:prstGeom prst="rect">
            <a:avLst/>
          </a:prstGeom>
          <a:noFill/>
        </p:spPr>
        <p:txBody>
          <a:bodyPr wrap="square" lIns="0" tIns="0" rIns="0" bIns="0" anchor="t">
            <a:spAutoFit/>
          </a:bodyPr>
          <a:lstStyle/>
          <a:p>
            <a:pPr algn="l">
              <a:lnSpc>
                <a:spcPct val="136000"/>
              </a:lnSpc>
              <a:spcAft>
                <a:spcPts val="0"/>
              </a:spcAft>
            </a:pPr>
            <a:r>
              <a:rPr sz="1000" b="0" i="0">
                <a:solidFill>
                  <a:srgbClr val="8494A6"/>
                </a:solidFill>
                <a:latin typeface="Segoe UI"/>
              </a:rPr>
              <a:t>draw.js and Preprocess.kt must produce byte-identical 784-vectors from the same stroke — two hand-ported implementations of that eight-step pipeline, with no test pinning them together. A divergence would not crash anything; it would silently change which command fires.</a:t>
            </a:r>
          </a:p>
        </p:txBody>
      </p:sp>
      <p:sp>
        <p:nvSpPr>
          <p:cNvPr id="38" name="Rectangle 37"/>
          <p:cNvSpPr/>
          <p:nvPr/>
        </p:nvSpPr>
        <p:spPr>
          <a:xfrm>
            <a:off x="7589520" y="4956048"/>
            <a:ext cx="3959352" cy="131673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Rectangle 38"/>
          <p:cNvSpPr/>
          <p:nvPr/>
        </p:nvSpPr>
        <p:spPr>
          <a:xfrm>
            <a:off x="7589520" y="4956048"/>
            <a:ext cx="3959352" cy="31750"/>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TextBox 39"/>
          <p:cNvSpPr txBox="1"/>
          <p:nvPr/>
        </p:nvSpPr>
        <p:spPr>
          <a:xfrm>
            <a:off x="7808975" y="5120640"/>
            <a:ext cx="3566160" cy="237744"/>
          </a:xfrm>
          <a:prstGeom prst="rect">
            <a:avLst/>
          </a:prstGeom>
          <a:noFill/>
        </p:spPr>
        <p:txBody>
          <a:bodyPr wrap="square" lIns="0" tIns="0" rIns="0" bIns="0" anchor="t">
            <a:spAutoFit/>
          </a:bodyPr>
          <a:lstStyle/>
          <a:p>
            <a:pPr algn="l">
              <a:lnSpc>
                <a:spcPct val="112000"/>
              </a:lnSpc>
              <a:spcAft>
                <a:spcPts val="0"/>
              </a:spcAft>
            </a:pPr>
            <a:r>
              <a:rPr sz="900" b="0" i="0">
                <a:solidFill>
                  <a:srgbClr val="4AD991"/>
                </a:solidFill>
                <a:latin typeface="Bahnschrift SemiBold"/>
              </a:rPr>
              <a:t>MX-1  WEIGHT PARITY</a:t>
            </a:r>
          </a:p>
        </p:txBody>
      </p:sp>
      <p:sp>
        <p:nvSpPr>
          <p:cNvPr id="41" name="TextBox 40"/>
          <p:cNvSpPr txBox="1"/>
          <p:nvPr/>
        </p:nvSpPr>
        <p:spPr>
          <a:xfrm>
            <a:off x="7808975" y="5376672"/>
            <a:ext cx="3566160" cy="626973"/>
          </a:xfrm>
          <a:prstGeom prst="rect">
            <a:avLst/>
          </a:prstGeom>
          <a:noFill/>
        </p:spPr>
        <p:txBody>
          <a:bodyPr wrap="square" lIns="0" tIns="0" rIns="0" bIns="0" anchor="t">
            <a:spAutoFit/>
          </a:bodyPr>
          <a:lstStyle/>
          <a:p>
            <a:pPr algn="l">
              <a:lnSpc>
                <a:spcPct val="136000"/>
              </a:lnSpc>
              <a:spcAft>
                <a:spcPts val="0"/>
              </a:spcAft>
            </a:pPr>
            <a:r>
              <a:rPr sz="1000" b="0" i="0">
                <a:solidFill>
                  <a:srgbClr val="8494A6"/>
                </a:solidFill>
                <a:latin typeface="Segoe UI"/>
              </a:rPr>
              <a:t>w.bin exports to nnc-json-1 and loads bit-identically in www/nn.js and Android Weights.kt. One trained artifact, two consumers, zero re-training.</a:t>
            </a:r>
          </a:p>
        </p:txBody>
      </p:sp>
      <p:sp>
        <p:nvSpPr>
          <p:cNvPr id="42" name="Rectangle 41"/>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TextBox 42"/>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no TensorFlow, no PyTorch, no BLAS · ~900 lines of C++17, every derivative derived by hand</a:t>
            </a:r>
          </a:p>
        </p:txBody>
      </p:sp>
      <p:sp>
        <p:nvSpPr>
          <p:cNvPr id="44" name="TextBox 43"/>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KOTLIN · JETPACK COMPOSE · HIVEMQ MQTT CLIENT</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osos-hmi</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21" name="Picture 20" descr="phone-fleet.png"/>
          <p:cNvPicPr>
            <a:picLocks noChangeAspect="1"/>
          </p:cNvPicPr>
          <p:nvPr/>
        </p:nvPicPr>
        <p:blipFill>
          <a:blip r:embed="rId2"/>
          <a:stretch>
            <a:fillRect/>
          </a:stretch>
        </p:blipFill>
        <p:spPr>
          <a:xfrm>
            <a:off x="640080" y="1572768"/>
            <a:ext cx="1645920" cy="3401568"/>
          </a:xfrm>
          <a:prstGeom prst="rect">
            <a:avLst/>
          </a:prstGeom>
        </p:spPr>
      </p:pic>
      <p:sp>
        <p:nvSpPr>
          <p:cNvPr id="22" name="TextBox 21"/>
          <p:cNvSpPr txBox="1"/>
          <p:nvPr/>
        </p:nvSpPr>
        <p:spPr>
          <a:xfrm>
            <a:off x="640080" y="5157216"/>
            <a:ext cx="20574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63D2E8"/>
                </a:solidFill>
                <a:latin typeface="Bahnschrift SemiBold"/>
              </a:rPr>
              <a:t>FLEET</a:t>
            </a:r>
          </a:p>
        </p:txBody>
      </p:sp>
      <p:sp>
        <p:nvSpPr>
          <p:cNvPr id="23" name="TextBox 22"/>
          <p:cNvSpPr txBox="1"/>
          <p:nvPr/>
        </p:nvSpPr>
        <p:spPr>
          <a:xfrm>
            <a:off x="640080" y="5431536"/>
            <a:ext cx="2057400" cy="822960"/>
          </a:xfrm>
          <a:prstGeom prst="rect">
            <a:avLst/>
          </a:prstGeom>
          <a:noFill/>
        </p:spPr>
        <p:txBody>
          <a:bodyPr wrap="square" lIns="0" tIns="0" rIns="0" bIns="0" anchor="t">
            <a:spAutoFit/>
          </a:bodyPr>
          <a:lstStyle/>
          <a:p>
            <a:pPr algn="l">
              <a:lnSpc>
                <a:spcPct val="135000"/>
              </a:lnSpc>
              <a:spcAft>
                <a:spcPts val="0"/>
              </a:spcAft>
            </a:pPr>
            <a:r>
              <a:rPr sz="950" b="0" i="0">
                <a:solidFill>
                  <a:srgbClr val="8494A6"/>
                </a:solidFill>
                <a:latin typeface="Segoe UI"/>
              </a:rPr>
              <a:t>Every modem and analyzer, in the operator's own folders. Asleep modems dim. One master sleep switch.</a:t>
            </a:r>
          </a:p>
        </p:txBody>
      </p:sp>
      <p:pic>
        <p:nvPicPr>
          <p:cNvPr id="24" name="Picture 23" descr="phone-modem.png"/>
          <p:cNvPicPr>
            <a:picLocks noChangeAspect="1"/>
          </p:cNvPicPr>
          <p:nvPr/>
        </p:nvPicPr>
        <p:blipFill>
          <a:blip r:embed="rId3"/>
          <a:stretch>
            <a:fillRect/>
          </a:stretch>
        </p:blipFill>
        <p:spPr>
          <a:xfrm>
            <a:off x="2821838" y="1572768"/>
            <a:ext cx="1645920" cy="3401568"/>
          </a:xfrm>
          <a:prstGeom prst="rect">
            <a:avLst/>
          </a:prstGeom>
        </p:spPr>
      </p:pic>
      <p:sp>
        <p:nvSpPr>
          <p:cNvPr id="25" name="TextBox 24"/>
          <p:cNvSpPr txBox="1"/>
          <p:nvPr/>
        </p:nvSpPr>
        <p:spPr>
          <a:xfrm>
            <a:off x="2821838" y="5157216"/>
            <a:ext cx="20574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FF4438"/>
                </a:solidFill>
                <a:latin typeface="Bahnschrift SemiBold"/>
              </a:rPr>
              <a:t>MODEM</a:t>
            </a:r>
          </a:p>
        </p:txBody>
      </p:sp>
      <p:sp>
        <p:nvSpPr>
          <p:cNvPr id="26" name="TextBox 25"/>
          <p:cNvSpPr txBox="1"/>
          <p:nvPr/>
        </p:nvSpPr>
        <p:spPr>
          <a:xfrm>
            <a:off x="2821838" y="5431536"/>
            <a:ext cx="2057400" cy="822960"/>
          </a:xfrm>
          <a:prstGeom prst="rect">
            <a:avLst/>
          </a:prstGeom>
          <a:noFill/>
        </p:spPr>
        <p:txBody>
          <a:bodyPr wrap="square" lIns="0" tIns="0" rIns="0" bIns="0" anchor="t">
            <a:spAutoFit/>
          </a:bodyPr>
          <a:lstStyle/>
          <a:p>
            <a:pPr algn="l">
              <a:lnSpc>
                <a:spcPct val="135000"/>
              </a:lnSpc>
              <a:spcAft>
                <a:spcPts val="0"/>
              </a:spcAft>
            </a:pPr>
            <a:r>
              <a:rPr sz="950" b="0" i="0">
                <a:solidFill>
                  <a:srgbClr val="8494A6"/>
                </a:solidFill>
                <a:latin typeface="Segoe UI"/>
              </a:rPr>
              <a:t>One modem's observed state: sleep, interval, and four load channels switched from the phone.</a:t>
            </a:r>
          </a:p>
        </p:txBody>
      </p:sp>
      <p:pic>
        <p:nvPicPr>
          <p:cNvPr id="27" name="Picture 26" descr="phone-monitor.png"/>
          <p:cNvPicPr>
            <a:picLocks noChangeAspect="1"/>
          </p:cNvPicPr>
          <p:nvPr/>
        </p:nvPicPr>
        <p:blipFill>
          <a:blip r:embed="rId4"/>
          <a:stretch>
            <a:fillRect/>
          </a:stretch>
        </p:blipFill>
        <p:spPr>
          <a:xfrm>
            <a:off x="5003596" y="1572768"/>
            <a:ext cx="1645920" cy="3401568"/>
          </a:xfrm>
          <a:prstGeom prst="rect">
            <a:avLst/>
          </a:prstGeom>
        </p:spPr>
      </p:pic>
      <p:sp>
        <p:nvSpPr>
          <p:cNvPr id="28" name="TextBox 27"/>
          <p:cNvSpPr txBox="1"/>
          <p:nvPr/>
        </p:nvSpPr>
        <p:spPr>
          <a:xfrm>
            <a:off x="5003596" y="5157216"/>
            <a:ext cx="20574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63D2E8"/>
                </a:solidFill>
                <a:latin typeface="Bahnschrift SemiBold"/>
              </a:rPr>
              <a:t>MONITOR</a:t>
            </a:r>
          </a:p>
        </p:txBody>
      </p:sp>
      <p:sp>
        <p:nvSpPr>
          <p:cNvPr id="29" name="TextBox 28"/>
          <p:cNvSpPr txBox="1"/>
          <p:nvPr/>
        </p:nvSpPr>
        <p:spPr>
          <a:xfrm>
            <a:off x="5003596" y="5431536"/>
            <a:ext cx="2057400" cy="822960"/>
          </a:xfrm>
          <a:prstGeom prst="rect">
            <a:avLst/>
          </a:prstGeom>
          <a:noFill/>
        </p:spPr>
        <p:txBody>
          <a:bodyPr wrap="square" lIns="0" tIns="0" rIns="0" bIns="0" anchor="t">
            <a:spAutoFit/>
          </a:bodyPr>
          <a:lstStyle/>
          <a:p>
            <a:pPr algn="l">
              <a:lnSpc>
                <a:spcPct val="135000"/>
              </a:lnSpc>
              <a:spcAft>
                <a:spcPts val="0"/>
              </a:spcAft>
            </a:pPr>
            <a:r>
              <a:rPr sz="950" b="0" i="0">
                <a:solidFill>
                  <a:srgbClr val="8494A6"/>
                </a:solidFill>
                <a:latin typeface="Segoe UI"/>
              </a:rPr>
              <a:t>Five tile views for the selected analyzer; tap a tile for its sparkline over the last 720 frames.</a:t>
            </a:r>
          </a:p>
        </p:txBody>
      </p:sp>
      <p:pic>
        <p:nvPicPr>
          <p:cNvPr id="30" name="Picture 29" descr="phone-draw.png"/>
          <p:cNvPicPr>
            <a:picLocks noChangeAspect="1"/>
          </p:cNvPicPr>
          <p:nvPr/>
        </p:nvPicPr>
        <p:blipFill>
          <a:blip r:embed="rId5"/>
          <a:stretch>
            <a:fillRect/>
          </a:stretch>
        </p:blipFill>
        <p:spPr>
          <a:xfrm>
            <a:off x="7185355" y="1572768"/>
            <a:ext cx="1645920" cy="3401568"/>
          </a:xfrm>
          <a:prstGeom prst="rect">
            <a:avLst/>
          </a:prstGeom>
        </p:spPr>
      </p:pic>
      <p:sp>
        <p:nvSpPr>
          <p:cNvPr id="31" name="TextBox 30"/>
          <p:cNvSpPr txBox="1"/>
          <p:nvPr/>
        </p:nvSpPr>
        <p:spPr>
          <a:xfrm>
            <a:off x="7185355" y="5157216"/>
            <a:ext cx="20574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C89A5B"/>
                </a:solidFill>
                <a:latin typeface="Bahnschrift SemiBold"/>
              </a:rPr>
              <a:t>DRAW</a:t>
            </a:r>
          </a:p>
        </p:txBody>
      </p:sp>
      <p:sp>
        <p:nvSpPr>
          <p:cNvPr id="32" name="TextBox 31"/>
          <p:cNvSpPr txBox="1"/>
          <p:nvPr/>
        </p:nvSpPr>
        <p:spPr>
          <a:xfrm>
            <a:off x="7185355" y="5431536"/>
            <a:ext cx="2057400" cy="822960"/>
          </a:xfrm>
          <a:prstGeom prst="rect">
            <a:avLst/>
          </a:prstGeom>
          <a:noFill/>
        </p:spPr>
        <p:txBody>
          <a:bodyPr wrap="square" lIns="0" tIns="0" rIns="0" bIns="0" anchor="t">
            <a:spAutoFit/>
          </a:bodyPr>
          <a:lstStyle/>
          <a:p>
            <a:pPr algn="l">
              <a:lnSpc>
                <a:spcPct val="135000"/>
              </a:lnSpc>
              <a:spcAft>
                <a:spcPts val="0"/>
              </a:spcAft>
            </a:pPr>
            <a:r>
              <a:rPr sz="950" b="0" i="0">
                <a:solidFill>
                  <a:srgbClr val="8494A6"/>
                </a:solidFill>
                <a:latin typeface="Segoe UI"/>
              </a:rPr>
              <a:t>650 ms of pen-up idle triggers recognition, so multi-stroke symbols still work. Every result opens the inspector.</a:t>
            </a:r>
          </a:p>
        </p:txBody>
      </p:sp>
      <p:pic>
        <p:nvPicPr>
          <p:cNvPr id="33" name="Picture 32" descr="phone-alarms.png"/>
          <p:cNvPicPr>
            <a:picLocks noChangeAspect="1"/>
          </p:cNvPicPr>
          <p:nvPr/>
        </p:nvPicPr>
        <p:blipFill>
          <a:blip r:embed="rId6"/>
          <a:stretch>
            <a:fillRect/>
          </a:stretch>
        </p:blipFill>
        <p:spPr>
          <a:xfrm>
            <a:off x="9367113" y="1572768"/>
            <a:ext cx="1645920" cy="3401568"/>
          </a:xfrm>
          <a:prstGeom prst="rect">
            <a:avLst/>
          </a:prstGeom>
        </p:spPr>
      </p:pic>
      <p:sp>
        <p:nvSpPr>
          <p:cNvPr id="34" name="TextBox 33"/>
          <p:cNvSpPr txBox="1"/>
          <p:nvPr/>
        </p:nvSpPr>
        <p:spPr>
          <a:xfrm>
            <a:off x="9367113" y="5157216"/>
            <a:ext cx="2057400" cy="237744"/>
          </a:xfrm>
          <a:prstGeom prst="rect">
            <a:avLst/>
          </a:prstGeom>
          <a:noFill/>
        </p:spPr>
        <p:txBody>
          <a:bodyPr wrap="square" lIns="0" tIns="0" rIns="0" bIns="0" anchor="t">
            <a:spAutoFit/>
          </a:bodyPr>
          <a:lstStyle/>
          <a:p>
            <a:pPr algn="l">
              <a:lnSpc>
                <a:spcPct val="112000"/>
              </a:lnSpc>
              <a:spcAft>
                <a:spcPts val="0"/>
              </a:spcAft>
            </a:pPr>
            <a:r>
              <a:rPr sz="1100" b="0" i="0">
                <a:solidFill>
                  <a:srgbClr val="FFA928"/>
                </a:solidFill>
                <a:latin typeface="Bahnschrift SemiBold"/>
              </a:rPr>
              <a:t>ALARMS</a:t>
            </a:r>
          </a:p>
        </p:txBody>
      </p:sp>
      <p:sp>
        <p:nvSpPr>
          <p:cNvPr id="35" name="TextBox 34"/>
          <p:cNvSpPr txBox="1"/>
          <p:nvPr/>
        </p:nvSpPr>
        <p:spPr>
          <a:xfrm>
            <a:off x="9367113" y="5431536"/>
            <a:ext cx="2057400" cy="822960"/>
          </a:xfrm>
          <a:prstGeom prst="rect">
            <a:avLst/>
          </a:prstGeom>
          <a:noFill/>
        </p:spPr>
        <p:txBody>
          <a:bodyPr wrap="square" lIns="0" tIns="0" rIns="0" bIns="0" anchor="t">
            <a:spAutoFit/>
          </a:bodyPr>
          <a:lstStyle/>
          <a:p>
            <a:pPr algn="l">
              <a:lnSpc>
                <a:spcPct val="135000"/>
              </a:lnSpc>
              <a:spcAft>
                <a:spcPts val="0"/>
              </a:spcAft>
            </a:pPr>
            <a:r>
              <a:rPr sz="950" b="0" i="0">
                <a:solidFill>
                  <a:srgbClr val="8494A6"/>
                </a:solidFill>
                <a:latin typeface="Segoe UI"/>
              </a:rPr>
              <a:t>Rules on the telemetry stream. Muted while asleep — still recorded, and returned as a digest on wake.</a:t>
            </a:r>
          </a:p>
        </p:txBody>
      </p:sp>
      <p:sp>
        <p:nvSpPr>
          <p:cNvPr id="36" name="TextBox 35"/>
          <p:cNvSpPr txBox="1"/>
          <p:nvPr/>
        </p:nvSpPr>
        <p:spPr>
          <a:xfrm>
            <a:off x="640080" y="6473952"/>
            <a:ext cx="10058400" cy="457200"/>
          </a:xfrm>
          <a:prstGeom prst="rect">
            <a:avLst/>
          </a:prstGeom>
          <a:noFill/>
        </p:spPr>
        <p:txBody>
          <a:bodyPr wrap="square" lIns="0" tIns="0" rIns="0" bIns="0" anchor="t">
            <a:spAutoFit/>
          </a:bodyPr>
          <a:lstStyle/>
          <a:p>
            <a:pPr algn="l">
              <a:lnSpc>
                <a:spcPct val="125000"/>
              </a:lnSpc>
              <a:spcAft>
                <a:spcPts val="0"/>
              </a:spcAft>
            </a:pPr>
            <a:endParaRPr/>
          </a:p>
        </p:txBody>
      </p:sp>
      <p:sp>
        <p:nvSpPr>
          <p:cNvPr id="37" name="Rectangle 36"/>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TextBox 37"/>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osos-hmi 0.3.0 · screens redrawn from the Compose source, not photographed</a:t>
            </a:r>
          </a:p>
        </p:txBody>
      </p:sp>
      <p:sp>
        <p:nvSpPr>
          <p:cNvPr id="39" name="TextBox 38"/>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PROTOCOL V2 · MANY MODEMS × MANY ANALYZERS</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From one meter to a fleet</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40080" y="1536192"/>
            <a:ext cx="10908792" cy="457200"/>
          </a:xfrm>
          <a:prstGeom prst="rect">
            <a:avLst/>
          </a:prstGeom>
          <a:noFill/>
        </p:spPr>
        <p:txBody>
          <a:bodyPr wrap="square" lIns="0" tIns="0" rIns="0" bIns="0" anchor="t">
            <a:spAutoFit/>
          </a:bodyPr>
          <a:lstStyle/>
          <a:p>
            <a:pPr algn="l">
              <a:lnSpc>
                <a:spcPct val="110000"/>
              </a:lnSpc>
              <a:spcAft>
                <a:spcPts val="0"/>
              </a:spcAft>
            </a:pPr>
            <a:r>
              <a:rPr sz="1900" b="0" i="0">
                <a:solidFill>
                  <a:srgbClr val="63D2E8"/>
                </a:solidFill>
                <a:latin typeface="Bahnschrift SemiBold"/>
              </a:rPr>
              <a:t>The machine owns the addresses. The operator owns the names.</a:t>
            </a:r>
          </a:p>
        </p:txBody>
      </p:sp>
      <p:sp>
        <p:nvSpPr>
          <p:cNvPr id="22" name="TextBox 21"/>
          <p:cNvSpPr txBox="1"/>
          <p:nvPr/>
        </p:nvSpPr>
        <p:spPr>
          <a:xfrm>
            <a:off x="640080" y="1938528"/>
            <a:ext cx="10908792" cy="365760"/>
          </a:xfrm>
          <a:prstGeom prst="rect">
            <a:avLst/>
          </a:prstGeom>
          <a:noFill/>
        </p:spPr>
        <p:txBody>
          <a:bodyPr wrap="square" lIns="0" tIns="0" rIns="0" bIns="0" anchor="t">
            <a:spAutoFit/>
          </a:bodyPr>
          <a:lstStyle/>
          <a:p>
            <a:pPr algn="l">
              <a:lnSpc>
                <a:spcPct val="140000"/>
              </a:lnSpc>
              <a:spcAft>
                <a:spcPts val="0"/>
              </a:spcAft>
            </a:pPr>
            <a:r>
              <a:rPr sz="1200" b="0" i="0">
                <a:solidFill>
                  <a:srgbClr val="8494A6"/>
                </a:solidFill>
                <a:latin typeface="Segoe UI"/>
              </a:rPr>
              <a:t>A modem announces what it actually polls on a retained registry topic; the app annotates it with names and folders on a separate retained topic it alone owns. Two writers, two topics, no shared field — so a rename can never corrupt a Modbus address, and neither can win a race with the other.</a:t>
            </a:r>
          </a:p>
        </p:txBody>
      </p:sp>
      <p:sp>
        <p:nvSpPr>
          <p:cNvPr id="23" name="Rectangle 22"/>
          <p:cNvSpPr/>
          <p:nvPr/>
        </p:nvSpPr>
        <p:spPr>
          <a:xfrm>
            <a:off x="640080" y="2615184"/>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640080"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Rectangle 24"/>
          <p:cNvSpPr/>
          <p:nvPr/>
        </p:nvSpPr>
        <p:spPr>
          <a:xfrm>
            <a:off x="640080" y="2816352"/>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822959"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Multiple analyzers</a:t>
            </a:r>
          </a:p>
        </p:txBody>
      </p:sp>
      <p:sp>
        <p:nvSpPr>
          <p:cNvPr id="27" name="TextBox 26"/>
          <p:cNvSpPr txBox="1"/>
          <p:nvPr/>
        </p:nvSpPr>
        <p:spPr>
          <a:xfrm>
            <a:off x="822959" y="3310128"/>
            <a:ext cx="2258568" cy="201168"/>
          </a:xfrm>
          <a:prstGeom prst="rect">
            <a:avLst/>
          </a:prstGeom>
          <a:noFill/>
        </p:spPr>
        <p:txBody>
          <a:bodyPr wrap="square" lIns="0" tIns="0" rIns="0" bIns="0" anchor="t">
            <a:spAutoFit/>
          </a:bodyPr>
          <a:lstStyle/>
          <a:p>
            <a:pPr algn="l">
              <a:lnSpc>
                <a:spcPct val="112000"/>
              </a:lnSpc>
              <a:spcAft>
                <a:spcPts val="0"/>
              </a:spcAft>
            </a:pPr>
            <a:r>
              <a:rPr sz="800" b="0" i="0">
                <a:solidFill>
                  <a:srgbClr val="63D2E8"/>
                </a:solidFill>
                <a:latin typeface="Consolas"/>
              </a:rPr>
              <a:t>FLAT IDS, FOLDERS AS METADATA</a:t>
            </a:r>
          </a:p>
        </p:txBody>
      </p:sp>
      <p:sp>
        <p:nvSpPr>
          <p:cNvPr id="28" name="TextBox 27"/>
          <p:cNvSpPr txBox="1"/>
          <p:nvPr/>
        </p:nvSpPr>
        <p:spPr>
          <a:xfrm>
            <a:off x="822959"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an-01 stays an-01 for life. Names and folders live in MQTT, not in the topic, so a rename moves no data and breaks no history. The simulator runs 25 per modem; the ESP8266 is capped at 8 by its buffer.</a:t>
            </a:r>
          </a:p>
        </p:txBody>
      </p:sp>
      <p:sp>
        <p:nvSpPr>
          <p:cNvPr id="29" name="Rectangle 28"/>
          <p:cNvSpPr/>
          <p:nvPr/>
        </p:nvSpPr>
        <p:spPr>
          <a:xfrm>
            <a:off x="3396996"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ectangle 29"/>
          <p:cNvSpPr/>
          <p:nvPr/>
        </p:nvSpPr>
        <p:spPr>
          <a:xfrm>
            <a:off x="3396996" y="2816352"/>
            <a:ext cx="2624328"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3579876"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Sleep mode</a:t>
            </a:r>
          </a:p>
        </p:txBody>
      </p:sp>
      <p:sp>
        <p:nvSpPr>
          <p:cNvPr id="32" name="TextBox 31"/>
          <p:cNvSpPr txBox="1"/>
          <p:nvPr/>
        </p:nvSpPr>
        <p:spPr>
          <a:xfrm>
            <a:off x="3579876" y="3310128"/>
            <a:ext cx="2258568" cy="201168"/>
          </a:xfrm>
          <a:prstGeom prst="rect">
            <a:avLst/>
          </a:prstGeom>
          <a:noFill/>
        </p:spPr>
        <p:txBody>
          <a:bodyPr wrap="square" lIns="0" tIns="0" rIns="0" bIns="0" anchor="t">
            <a:spAutoFit/>
          </a:bodyPr>
          <a:lstStyle/>
          <a:p>
            <a:pPr algn="l">
              <a:lnSpc>
                <a:spcPct val="112000"/>
              </a:lnSpc>
              <a:spcAft>
                <a:spcPts val="0"/>
              </a:spcAft>
            </a:pPr>
            <a:r>
              <a:rPr sz="800" b="0" i="0">
                <a:solidFill>
                  <a:srgbClr val="C89A5B"/>
                </a:solidFill>
                <a:latin typeface="Consolas"/>
              </a:rPr>
              <a:t>MUTE, NEVER DEAF</a:t>
            </a:r>
          </a:p>
        </p:txBody>
      </p:sp>
      <p:sp>
        <p:nvSpPr>
          <p:cNvPr id="33" name="TextBox 32"/>
          <p:cNvSpPr txBox="1"/>
          <p:nvPr/>
        </p:nvSpPr>
        <p:spPr>
          <a:xfrm>
            <a:off x="3579876"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Alarms keep evaluating while asleep — only the notification is suppressed, and everything suppressed comes back as a digest on wake. Per-modem, plus one master switch. The overnight record survives the quiet.</a:t>
            </a:r>
          </a:p>
        </p:txBody>
      </p:sp>
      <p:sp>
        <p:nvSpPr>
          <p:cNvPr id="34" name="Rectangle 33"/>
          <p:cNvSpPr/>
          <p:nvPr/>
        </p:nvSpPr>
        <p:spPr>
          <a:xfrm>
            <a:off x="6153912"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Rectangle 34"/>
          <p:cNvSpPr/>
          <p:nvPr/>
        </p:nvSpPr>
        <p:spPr>
          <a:xfrm>
            <a:off x="6153912" y="2816352"/>
            <a:ext cx="2624328"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6336792"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Modem energy</a:t>
            </a:r>
          </a:p>
        </p:txBody>
      </p:sp>
      <p:sp>
        <p:nvSpPr>
          <p:cNvPr id="37" name="TextBox 36"/>
          <p:cNvSpPr txBox="1"/>
          <p:nvPr/>
        </p:nvSpPr>
        <p:spPr>
          <a:xfrm>
            <a:off x="6336792" y="3310128"/>
            <a:ext cx="2258568" cy="201168"/>
          </a:xfrm>
          <a:prstGeom prst="rect">
            <a:avLst/>
          </a:prstGeom>
          <a:noFill/>
        </p:spPr>
        <p:txBody>
          <a:bodyPr wrap="square" lIns="0" tIns="0" rIns="0" bIns="0" anchor="t">
            <a:spAutoFit/>
          </a:bodyPr>
          <a:lstStyle/>
          <a:p>
            <a:pPr algn="l">
              <a:lnSpc>
                <a:spcPct val="112000"/>
              </a:lnSpc>
              <a:spcAft>
                <a:spcPts val="0"/>
              </a:spcAft>
            </a:pPr>
            <a:r>
              <a:rPr sz="800" b="0" i="0">
                <a:solidFill>
                  <a:srgbClr val="C89A5B"/>
                </a:solidFill>
                <a:latin typeface="Consolas"/>
              </a:rPr>
              <a:t>NEVER DEEP SLEEP</a:t>
            </a:r>
          </a:p>
        </p:txBody>
      </p:sp>
      <p:sp>
        <p:nvSpPr>
          <p:cNvPr id="38" name="TextBox 37"/>
          <p:cNvSpPr txBox="1"/>
          <p:nvPr/>
        </p:nvSpPr>
        <p:spPr>
          <a:xfrm>
            <a:off x="6336792"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Sleep means a 5 s → 300 s interval and a lower radio duty cycle, with the broker connection intact. Deep sleep would drop the very link the wake command arrives on, and fire the LWT — reporting the modem dead while it merely rested.</a:t>
            </a:r>
          </a:p>
        </p:txBody>
      </p:sp>
      <p:sp>
        <p:nvSpPr>
          <p:cNvPr id="39" name="Rectangle 38"/>
          <p:cNvSpPr/>
          <p:nvPr/>
        </p:nvSpPr>
        <p:spPr>
          <a:xfrm>
            <a:off x="8910828"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Rectangle 39"/>
          <p:cNvSpPr/>
          <p:nvPr/>
        </p:nvSpPr>
        <p:spPr>
          <a:xfrm>
            <a:off x="8910828" y="2816352"/>
            <a:ext cx="2624328" cy="3175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9093707"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Load control</a:t>
            </a:r>
          </a:p>
        </p:txBody>
      </p:sp>
      <p:sp>
        <p:nvSpPr>
          <p:cNvPr id="42" name="TextBox 41"/>
          <p:cNvSpPr txBox="1"/>
          <p:nvPr/>
        </p:nvSpPr>
        <p:spPr>
          <a:xfrm>
            <a:off x="9093707" y="3310128"/>
            <a:ext cx="2258568" cy="201168"/>
          </a:xfrm>
          <a:prstGeom prst="rect">
            <a:avLst/>
          </a:prstGeom>
          <a:noFill/>
        </p:spPr>
        <p:txBody>
          <a:bodyPr wrap="square" lIns="0" tIns="0" rIns="0" bIns="0" anchor="t">
            <a:spAutoFit/>
          </a:bodyPr>
          <a:lstStyle/>
          <a:p>
            <a:pPr algn="l">
              <a:lnSpc>
                <a:spcPct val="112000"/>
              </a:lnSpc>
              <a:spcAft>
                <a:spcPts val="0"/>
              </a:spcAft>
            </a:pPr>
            <a:r>
              <a:rPr sz="800" b="0" i="0">
                <a:solidFill>
                  <a:srgbClr val="FF4438"/>
                </a:solidFill>
                <a:latin typeface="Consolas"/>
              </a:rPr>
              <a:t>FOUR CHANNELS, OFF ON BOOT</a:t>
            </a:r>
          </a:p>
        </p:txBody>
      </p:sp>
      <p:sp>
        <p:nvSpPr>
          <p:cNvPr id="43" name="TextBox 42"/>
          <p:cNvSpPr txBox="1"/>
          <p:nvPr/>
        </p:nvSpPr>
        <p:spPr>
          <a:xfrm>
            <a:off x="9093707"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Relay channels on the modem's own GPIO — not a meter register, so the DKM-440 command block stays untouched. Loads are never persisted: re-closing a contactor after a power cut has to be a decision, not a default.</a:t>
            </a:r>
          </a:p>
        </p:txBody>
      </p:sp>
      <p:sp>
        <p:nvSpPr>
          <p:cNvPr id="44" name="TextBox 43"/>
          <p:cNvSpPr txBox="1"/>
          <p:nvPr/>
        </p:nvSpPr>
        <p:spPr>
          <a:xfrm>
            <a:off x="640080" y="5230368"/>
            <a:ext cx="10908792" cy="237744"/>
          </a:xfrm>
          <a:prstGeom prst="rect">
            <a:avLst/>
          </a:prstGeom>
          <a:noFill/>
        </p:spPr>
        <p:txBody>
          <a:bodyPr wrap="square" lIns="0" tIns="0" rIns="0" bIns="0" anchor="t">
            <a:spAutoFit/>
          </a:bodyPr>
          <a:lstStyle/>
          <a:p>
            <a:pPr algn="l">
              <a:lnSpc>
                <a:spcPct val="112000"/>
              </a:lnSpc>
              <a:spcAft>
                <a:spcPts val="0"/>
              </a:spcAft>
            </a:pPr>
            <a:r>
              <a:rPr sz="900" b="0" i="0">
                <a:solidFill>
                  <a:srgbClr val="4AD991"/>
                </a:solidFill>
                <a:latin typeface="Bahnschrift SemiBold"/>
              </a:rPr>
              <a:t>AND THE ONE THAT COSTS NOTHING</a:t>
            </a:r>
          </a:p>
        </p:txBody>
      </p:sp>
      <p:sp>
        <p:nvSpPr>
          <p:cNvPr id="45" name="Rectangle 44"/>
          <p:cNvSpPr/>
          <p:nvPr/>
        </p:nvSpPr>
        <p:spPr>
          <a:xfrm>
            <a:off x="640080" y="5486400"/>
            <a:ext cx="1090879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40080" y="5705856"/>
            <a:ext cx="3474720" cy="237744"/>
          </a:xfrm>
          <a:prstGeom prst="rect">
            <a:avLst/>
          </a:prstGeom>
          <a:noFill/>
        </p:spPr>
        <p:txBody>
          <a:bodyPr wrap="square" lIns="0" tIns="0" rIns="0" bIns="0" anchor="t">
            <a:spAutoFit/>
          </a:bodyPr>
          <a:lstStyle/>
          <a:p>
            <a:pPr algn="l">
              <a:lnSpc>
                <a:spcPct val="112000"/>
              </a:lnSpc>
              <a:spcAft>
                <a:spcPts val="0"/>
              </a:spcAft>
            </a:pPr>
            <a:r>
              <a:rPr sz="1100" b="0" i="0">
                <a:solidFill>
                  <a:srgbClr val="4AD991"/>
                </a:solidFill>
                <a:latin typeface="Consolas"/>
              </a:rPr>
              <a:t>Versioned</a:t>
            </a:r>
          </a:p>
        </p:txBody>
      </p:sp>
      <p:sp>
        <p:nvSpPr>
          <p:cNvPr id="47" name="TextBox 46"/>
          <p:cNvSpPr txBox="1"/>
          <p:nvPr/>
        </p:nvSpPr>
        <p:spPr>
          <a:xfrm>
            <a:off x="640080" y="5961888"/>
            <a:ext cx="34747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every v2 payload carries "v": 2 — the legacy topics carry none and are v1 by definition</a:t>
            </a:r>
          </a:p>
        </p:txBody>
      </p:sp>
      <p:sp>
        <p:nvSpPr>
          <p:cNvPr id="48" name="TextBox 47"/>
          <p:cNvSpPr txBox="1"/>
          <p:nvPr/>
        </p:nvSpPr>
        <p:spPr>
          <a:xfrm>
            <a:off x="4315968" y="5705856"/>
            <a:ext cx="3474720" cy="237744"/>
          </a:xfrm>
          <a:prstGeom prst="rect">
            <a:avLst/>
          </a:prstGeom>
          <a:noFill/>
        </p:spPr>
        <p:txBody>
          <a:bodyPr wrap="square" lIns="0" tIns="0" rIns="0" bIns="0" anchor="t">
            <a:spAutoFit/>
          </a:bodyPr>
          <a:lstStyle/>
          <a:p>
            <a:pPr algn="l">
              <a:lnSpc>
                <a:spcPct val="112000"/>
              </a:lnSpc>
              <a:spcAft>
                <a:spcPts val="0"/>
              </a:spcAft>
            </a:pPr>
            <a:r>
              <a:rPr sz="1100" b="0" i="0">
                <a:solidFill>
                  <a:srgbClr val="4AD991"/>
                </a:solidFill>
                <a:latin typeface="Consolas"/>
              </a:rPr>
              <a:t>Backward compatible</a:t>
            </a:r>
          </a:p>
        </p:txBody>
      </p:sp>
      <p:sp>
        <p:nvSpPr>
          <p:cNvPr id="49" name="TextBox 48"/>
          <p:cNvSpPr txBox="1"/>
          <p:nvPr/>
        </p:nvSpPr>
        <p:spPr>
          <a:xfrm>
            <a:off x="4315968" y="5961888"/>
            <a:ext cx="34747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the old gateway still renders, tagged v1, with no special case in the reducer</a:t>
            </a:r>
          </a:p>
        </p:txBody>
      </p:sp>
      <p:sp>
        <p:nvSpPr>
          <p:cNvPr id="50" name="TextBox 49"/>
          <p:cNvSpPr txBox="1"/>
          <p:nvPr/>
        </p:nvSpPr>
        <p:spPr>
          <a:xfrm>
            <a:off x="7991855" y="5705856"/>
            <a:ext cx="3474720" cy="237744"/>
          </a:xfrm>
          <a:prstGeom prst="rect">
            <a:avLst/>
          </a:prstGeom>
          <a:noFill/>
        </p:spPr>
        <p:txBody>
          <a:bodyPr wrap="square" lIns="0" tIns="0" rIns="0" bIns="0" anchor="t">
            <a:spAutoFit/>
          </a:bodyPr>
          <a:lstStyle/>
          <a:p>
            <a:pPr algn="l">
              <a:lnSpc>
                <a:spcPct val="112000"/>
              </a:lnSpc>
              <a:spcAft>
                <a:spcPts val="0"/>
              </a:spcAft>
            </a:pPr>
            <a:r>
              <a:rPr sz="1100" b="0" i="0">
                <a:solidFill>
                  <a:srgbClr val="4AD991"/>
                </a:solidFill>
                <a:latin typeface="Consolas"/>
              </a:rPr>
              <a:t>Free rollback</a:t>
            </a:r>
          </a:p>
        </p:txBody>
      </p:sp>
      <p:sp>
        <p:nvSpPr>
          <p:cNvPr id="51" name="TextBox 50"/>
          <p:cNvSpPr txBox="1"/>
          <p:nvPr/>
        </p:nvSpPr>
        <p:spPr>
          <a:xfrm>
            <a:off x="7991855" y="5961888"/>
            <a:ext cx="34747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if the flash goes wrong the demo degrades to v1 rather than dying</a:t>
            </a:r>
          </a:p>
        </p:txBody>
      </p:sp>
      <p:sp>
        <p:nvSpPr>
          <p:cNvPr id="52" name="Rectangle 51"/>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3" name="TextBox 52"/>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54" name="TextBox 53"/>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FFA928"/>
                </a:solidFill>
                <a:latin typeface="Consolas"/>
              </a:rPr>
              <a:t>CONFIG/COMMANDS.JSON IS THE SINGLE SOURCE OF TRUTH</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A drawing becomes a command</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640080" y="1517904"/>
            <a:ext cx="5577840" cy="2834640"/>
          </a:xfrm>
          <a:prstGeom prst="rect">
            <a:avLst/>
          </a:prstGeom>
          <a:solidFill>
            <a:srgbClr val="0A0E13"/>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p:cNvSpPr/>
          <p:nvPr/>
        </p:nvSpPr>
        <p:spPr>
          <a:xfrm>
            <a:off x="640080" y="1517904"/>
            <a:ext cx="25400" cy="283464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41247" y="1645919"/>
            <a:ext cx="5175503" cy="201168"/>
          </a:xfrm>
          <a:prstGeom prst="rect">
            <a:avLst/>
          </a:prstGeom>
          <a:noFill/>
        </p:spPr>
        <p:txBody>
          <a:bodyPr wrap="square" lIns="0" tIns="0" rIns="0" bIns="0" anchor="t">
            <a:spAutoFit/>
          </a:bodyPr>
          <a:lstStyle/>
          <a:p>
            <a:pPr algn="l">
              <a:lnSpc>
                <a:spcPct val="100000"/>
              </a:lnSpc>
              <a:spcAft>
                <a:spcPts val="0"/>
              </a:spcAft>
            </a:pPr>
            <a:r>
              <a:rPr sz="850" b="0" i="0">
                <a:solidFill>
                  <a:srgbClr val="63D2E8"/>
                </a:solidFill>
                <a:latin typeface="Bahnschrift SemiBold"/>
              </a:rPr>
              <a:t>config/commands.json</a:t>
            </a:r>
          </a:p>
        </p:txBody>
      </p:sp>
      <p:sp>
        <p:nvSpPr>
          <p:cNvPr id="24" name="TextBox 23"/>
          <p:cNvSpPr txBox="1"/>
          <p:nvPr/>
        </p:nvSpPr>
        <p:spPr>
          <a:xfrm>
            <a:off x="841247" y="1920239"/>
            <a:ext cx="5175503" cy="2322576"/>
          </a:xfrm>
          <a:prstGeom prst="rect">
            <a:avLst/>
          </a:prstGeom>
          <a:noFill/>
        </p:spPr>
        <p:txBody>
          <a:bodyPr wrap="square" lIns="0" tIns="0" rIns="0" bIns="0">
            <a:spAutoFit/>
          </a:bodyPr>
          <a:lstStyle/>
          <a:p>
            <a:pPr algn="l">
              <a:lnSpc>
                <a:spcPct val="130000"/>
              </a:lnSpc>
              <a:spcAft>
                <a:spcPts val="0"/>
              </a:spcAft>
            </a:pPr>
            <a:r>
              <a:rPr sz="1000" b="0">
                <a:solidFill>
                  <a:srgbClr val="E6EDF3"/>
                </a:solidFill>
                <a:latin typeface="Consolas"/>
              </a:rPr>
              <a:t>{</a:t>
            </a:r>
          </a:p>
          <a:p>
            <a:pPr algn="l">
              <a:lnSpc>
                <a:spcPct val="130000"/>
              </a:lnSpc>
              <a:spcAft>
                <a:spcPts val="0"/>
              </a:spcAft>
            </a:pPr>
            <a:r>
              <a:rPr sz="1000" b="0">
                <a:solidFill>
                  <a:srgbClr val="8494A6"/>
                </a:solidFill>
                <a:latin typeface="Consolas"/>
              </a:rPr>
              <a:t>  "digits": {</a:t>
            </a:r>
          </a:p>
          <a:p>
            <a:pPr algn="l">
              <a:lnSpc>
                <a:spcPct val="130000"/>
              </a:lnSpc>
              <a:spcAft>
                <a:spcPts val="0"/>
              </a:spcAft>
            </a:pPr>
            <a:r>
              <a:rPr sz="1000" b="0">
                <a:solidFill>
                  <a:srgbClr val="FFA928"/>
                </a:solidFill>
                <a:latin typeface="Consolas"/>
              </a:rPr>
              <a:t>    "0": { "scope": "gateway", "action": "ping" },</a:t>
            </a:r>
          </a:p>
          <a:p>
            <a:pPr algn="l">
              <a:lnSpc>
                <a:spcPct val="130000"/>
              </a:lnSpc>
              <a:spcAft>
                <a:spcPts val="0"/>
              </a:spcAft>
            </a:pPr>
            <a:r>
              <a:rPr sz="1000" b="0">
                <a:solidFill>
                  <a:srgbClr val="FFA928"/>
                </a:solidFill>
                <a:latin typeface="Consolas"/>
              </a:rPr>
              <a:t>    "1": { "scope": "gateway", "action": "read_now" },</a:t>
            </a:r>
          </a:p>
          <a:p>
            <a:pPr algn="l">
              <a:lnSpc>
                <a:spcPct val="130000"/>
              </a:lnSpc>
              <a:spcAft>
                <a:spcPts val="0"/>
              </a:spcAft>
            </a:pPr>
            <a:r>
              <a:rPr sz="1000" b="0">
                <a:solidFill>
                  <a:srgbClr val="FFA928"/>
                </a:solidFill>
                <a:latin typeface="Consolas"/>
              </a:rPr>
              <a:t>    "2": { "scope": "gateway", "action": "set_interval",</a:t>
            </a:r>
          </a:p>
          <a:p>
            <a:pPr algn="l">
              <a:lnSpc>
                <a:spcPct val="130000"/>
              </a:lnSpc>
              <a:spcAft>
                <a:spcPts val="0"/>
              </a:spcAft>
            </a:pPr>
            <a:r>
              <a:rPr sz="1000" b="0">
                <a:solidFill>
                  <a:srgbClr val="FFA928"/>
                </a:solidFill>
                <a:latin typeface="Consolas"/>
              </a:rPr>
              <a:t>           "args": { "seconds": 2 } },</a:t>
            </a:r>
          </a:p>
          <a:p>
            <a:pPr algn="l">
              <a:lnSpc>
                <a:spcPct val="130000"/>
              </a:lnSpc>
              <a:spcAft>
                <a:spcPts val="0"/>
              </a:spcAft>
            </a:pPr>
            <a:r>
              <a:rPr sz="1000" b="0">
                <a:solidFill>
                  <a:srgbClr val="63D2E8"/>
                </a:solidFill>
                <a:latin typeface="Consolas"/>
              </a:rPr>
              <a:t>    "4": { "scope": "local", "action": "view",</a:t>
            </a:r>
          </a:p>
          <a:p>
            <a:pPr algn="l">
              <a:lnSpc>
                <a:spcPct val="130000"/>
              </a:lnSpc>
              <a:spcAft>
                <a:spcPts val="0"/>
              </a:spcAft>
            </a:pPr>
            <a:r>
              <a:rPr sz="1000" b="0">
                <a:solidFill>
                  <a:srgbClr val="63D2E8"/>
                </a:solidFill>
                <a:latin typeface="Consolas"/>
              </a:rPr>
              <a:t>           "args": { "page": "L1" } },</a:t>
            </a:r>
          </a:p>
          <a:p>
            <a:pPr algn="l">
              <a:lnSpc>
                <a:spcPct val="130000"/>
              </a:lnSpc>
              <a:spcAft>
                <a:spcPts val="0"/>
              </a:spcAft>
            </a:pPr>
            <a:r>
              <a:rPr sz="1000" b="0">
                <a:solidFill>
                  <a:srgbClr val="5A6878"/>
                </a:solidFill>
                <a:latin typeface="Consolas"/>
              </a:rPr>
              <a:t>    "9": { "scope": "none", "action": "unassigned" }</a:t>
            </a:r>
          </a:p>
          <a:p>
            <a:pPr algn="l">
              <a:lnSpc>
                <a:spcPct val="130000"/>
              </a:lnSpc>
              <a:spcAft>
                <a:spcPts val="0"/>
              </a:spcAft>
            </a:pPr>
            <a:r>
              <a:rPr sz="1000" b="0">
                <a:solidFill>
                  <a:srgbClr val="E6EDF3"/>
                </a:solidFill>
                <a:latin typeface="Consolas"/>
              </a:rPr>
              <a:t>  }</a:t>
            </a:r>
          </a:p>
          <a:p>
            <a:pPr algn="l">
              <a:lnSpc>
                <a:spcPct val="130000"/>
              </a:lnSpc>
              <a:spcAft>
                <a:spcPts val="0"/>
              </a:spcAft>
            </a:pPr>
            <a:r>
              <a:rPr sz="1000" b="0">
                <a:solidFill>
                  <a:srgbClr val="E6EDF3"/>
                </a:solidFill>
                <a:latin typeface="Consolas"/>
              </a:rPr>
              <a:t>}</a:t>
            </a:r>
          </a:p>
        </p:txBody>
      </p:sp>
      <p:sp>
        <p:nvSpPr>
          <p:cNvPr id="25" name="TextBox 24"/>
          <p:cNvSpPr txBox="1"/>
          <p:nvPr/>
        </p:nvSpPr>
        <p:spPr>
          <a:xfrm>
            <a:off x="640080" y="4498848"/>
            <a:ext cx="5577840" cy="668003"/>
          </a:xfrm>
          <a:prstGeom prst="rect">
            <a:avLst/>
          </a:prstGeom>
          <a:noFill/>
        </p:spPr>
        <p:txBody>
          <a:bodyPr wrap="square" lIns="0" tIns="0" rIns="0" bIns="0" anchor="t">
            <a:spAutoFit/>
          </a:bodyPr>
          <a:lstStyle/>
          <a:p>
            <a:pPr algn="l">
              <a:lnSpc>
                <a:spcPct val="138000"/>
              </a:lnSpc>
              <a:spcAft>
                <a:spcPts val="0"/>
              </a:spcAft>
            </a:pPr>
            <a:r>
              <a:rPr sz="1050" b="0" i="0">
                <a:solidFill>
                  <a:srgbClr val="8494A6"/>
                </a:solidFill>
                <a:latin typeface="Segoe UI"/>
              </a:rPr>
              <a:t>To add one: pick a free digit — 9 is reserved and unassigned — choose a scope, name an action the firmware already keys off, and regenerate the assets. The same file is bundled into the app and served to the browser HMI, so the two cannot disagree.</a:t>
            </a:r>
          </a:p>
        </p:txBody>
      </p:sp>
      <p:sp>
        <p:nvSpPr>
          <p:cNvPr id="26" name="Rectangle 25"/>
          <p:cNvSpPr/>
          <p:nvPr/>
        </p:nvSpPr>
        <p:spPr>
          <a:xfrm>
            <a:off x="640080" y="5175504"/>
            <a:ext cx="2706624" cy="1097280"/>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Rectangle 26"/>
          <p:cNvSpPr/>
          <p:nvPr/>
        </p:nvSpPr>
        <p:spPr>
          <a:xfrm>
            <a:off x="640080" y="5175504"/>
            <a:ext cx="2706624"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TextBox 27"/>
          <p:cNvSpPr txBox="1"/>
          <p:nvPr/>
        </p:nvSpPr>
        <p:spPr>
          <a:xfrm>
            <a:off x="822960" y="5340096"/>
            <a:ext cx="2377440" cy="237744"/>
          </a:xfrm>
          <a:prstGeom prst="rect">
            <a:avLst/>
          </a:prstGeom>
          <a:noFill/>
        </p:spPr>
        <p:txBody>
          <a:bodyPr wrap="square" lIns="0" tIns="0" rIns="0" bIns="0" anchor="t">
            <a:spAutoFit/>
          </a:bodyPr>
          <a:lstStyle/>
          <a:p>
            <a:pPr algn="l">
              <a:lnSpc>
                <a:spcPct val="112000"/>
              </a:lnSpc>
              <a:spcAft>
                <a:spcPts val="0"/>
              </a:spcAft>
            </a:pPr>
            <a:r>
              <a:rPr sz="1100" b="0" i="0">
                <a:solidFill>
                  <a:srgbClr val="63D2E8"/>
                </a:solidFill>
                <a:latin typeface="Consolas"/>
              </a:rPr>
              <a:t>scope = local</a:t>
            </a:r>
          </a:p>
        </p:txBody>
      </p:sp>
      <p:sp>
        <p:nvSpPr>
          <p:cNvPr id="29" name="TextBox 28"/>
          <p:cNvSpPr txBox="1"/>
          <p:nvPr/>
        </p:nvSpPr>
        <p:spPr>
          <a:xfrm>
            <a:off x="822960" y="5596128"/>
            <a:ext cx="2377440" cy="586865"/>
          </a:xfrm>
          <a:prstGeom prst="rect">
            <a:avLst/>
          </a:prstGeom>
          <a:noFill/>
        </p:spPr>
        <p:txBody>
          <a:bodyPr wrap="square" lIns="0" tIns="0" rIns="0" bIns="0" anchor="t">
            <a:spAutoFit/>
          </a:bodyPr>
          <a:lstStyle/>
          <a:p>
            <a:pPr algn="l">
              <a:lnSpc>
                <a:spcPct val="134000"/>
              </a:lnSpc>
              <a:spcAft>
                <a:spcPts val="0"/>
              </a:spcAft>
            </a:pPr>
            <a:r>
              <a:rPr sz="950" b="0" i="0">
                <a:solidFill>
                  <a:srgbClr val="8494A6"/>
                </a:solidFill>
                <a:latin typeface="Segoe UI"/>
              </a:rPr>
              <a:t>Fires straight from the prediction. A misread switches to the wrong tile — harmless, and obvious.</a:t>
            </a:r>
          </a:p>
        </p:txBody>
      </p:sp>
      <p:sp>
        <p:nvSpPr>
          <p:cNvPr id="30" name="Rectangle 29"/>
          <p:cNvSpPr/>
          <p:nvPr/>
        </p:nvSpPr>
        <p:spPr>
          <a:xfrm>
            <a:off x="3511296" y="5175504"/>
            <a:ext cx="2706624" cy="1097280"/>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Rectangle 30"/>
          <p:cNvSpPr/>
          <p:nvPr/>
        </p:nvSpPr>
        <p:spPr>
          <a:xfrm>
            <a:off x="3511296" y="5175504"/>
            <a:ext cx="2706624" cy="31750"/>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3694176" y="5340096"/>
            <a:ext cx="2377440" cy="237744"/>
          </a:xfrm>
          <a:prstGeom prst="rect">
            <a:avLst/>
          </a:prstGeom>
          <a:noFill/>
        </p:spPr>
        <p:txBody>
          <a:bodyPr wrap="square" lIns="0" tIns="0" rIns="0" bIns="0" anchor="t">
            <a:spAutoFit/>
          </a:bodyPr>
          <a:lstStyle/>
          <a:p>
            <a:pPr algn="l">
              <a:lnSpc>
                <a:spcPct val="112000"/>
              </a:lnSpc>
              <a:spcAft>
                <a:spcPts val="0"/>
              </a:spcAft>
            </a:pPr>
            <a:r>
              <a:rPr sz="1100" b="0" i="0">
                <a:solidFill>
                  <a:srgbClr val="FFA928"/>
                </a:solidFill>
                <a:latin typeface="Consolas"/>
              </a:rPr>
              <a:t>scope = gateway</a:t>
            </a:r>
          </a:p>
        </p:txBody>
      </p:sp>
      <p:sp>
        <p:nvSpPr>
          <p:cNvPr id="33" name="TextBox 32"/>
          <p:cNvSpPr txBox="1"/>
          <p:nvPr/>
        </p:nvSpPr>
        <p:spPr>
          <a:xfrm>
            <a:off x="3694176" y="5596128"/>
            <a:ext cx="2377440" cy="391243"/>
          </a:xfrm>
          <a:prstGeom prst="rect">
            <a:avLst/>
          </a:prstGeom>
          <a:noFill/>
        </p:spPr>
        <p:txBody>
          <a:bodyPr wrap="square" lIns="0" tIns="0" rIns="0" bIns="0" anchor="t">
            <a:spAutoFit/>
          </a:bodyPr>
          <a:lstStyle/>
          <a:p>
            <a:pPr algn="l">
              <a:lnSpc>
                <a:spcPct val="134000"/>
              </a:lnSpc>
              <a:spcAft>
                <a:spcPts val="0"/>
              </a:spcAft>
            </a:pPr>
            <a:r>
              <a:rPr sz="950" b="0" i="0">
                <a:solidFill>
                  <a:srgbClr val="8494A6"/>
                </a:solidFill>
                <a:latin typeface="Segoe UI"/>
              </a:rPr>
              <a:t>Leaves the phone and reaches an industrial device. Never fires on recognition alone.</a:t>
            </a:r>
          </a:p>
        </p:txBody>
      </p:sp>
      <p:sp>
        <p:nvSpPr>
          <p:cNvPr id="34" name="TextBox 33"/>
          <p:cNvSpPr txBox="1"/>
          <p:nvPr/>
        </p:nvSpPr>
        <p:spPr>
          <a:xfrm>
            <a:off x="6492240" y="1517904"/>
            <a:ext cx="5056632" cy="731520"/>
          </a:xfrm>
          <a:prstGeom prst="rect">
            <a:avLst/>
          </a:prstGeom>
          <a:noFill/>
        </p:spPr>
        <p:txBody>
          <a:bodyPr wrap="square" lIns="0" tIns="0" rIns="0" bIns="0" anchor="t">
            <a:spAutoFit/>
          </a:bodyPr>
          <a:lstStyle/>
          <a:p>
            <a:pPr algn="l">
              <a:lnSpc>
                <a:spcPct val="112000"/>
              </a:lnSpc>
              <a:spcAft>
                <a:spcPts val="0"/>
              </a:spcAft>
            </a:pPr>
            <a:r>
              <a:rPr sz="2100" b="0" i="0">
                <a:solidFill>
                  <a:srgbClr val="E6EDF3"/>
                </a:solidFill>
                <a:latin typeface="Bahnschrift SemiBold"/>
              </a:rPr>
              <a:t>Recognition never actuates.</a:t>
            </a:r>
          </a:p>
          <a:p>
            <a:pPr algn="l">
              <a:lnSpc>
                <a:spcPct val="112000"/>
              </a:lnSpc>
              <a:spcAft>
                <a:spcPts val="0"/>
              </a:spcAft>
            </a:pPr>
            <a:r>
              <a:rPr sz="2100" b="0" i="0">
                <a:solidFill>
                  <a:srgbClr val="E6EDF3"/>
                </a:solidFill>
                <a:latin typeface="Bahnschrift SemiBold"/>
              </a:rPr>
              <a:t>It only ever proposes.</a:t>
            </a:r>
          </a:p>
        </p:txBody>
      </p:sp>
      <p:sp>
        <p:nvSpPr>
          <p:cNvPr id="35" name="Rectangle 34"/>
          <p:cNvSpPr/>
          <p:nvPr/>
        </p:nvSpPr>
        <p:spPr>
          <a:xfrm>
            <a:off x="6492240" y="2432304"/>
            <a:ext cx="5056632" cy="111556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Rectangle 35"/>
          <p:cNvSpPr/>
          <p:nvPr/>
        </p:nvSpPr>
        <p:spPr>
          <a:xfrm>
            <a:off x="6492240" y="2432304"/>
            <a:ext cx="5056632"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6693408" y="2651760"/>
            <a:ext cx="365760" cy="365760"/>
          </a:xfrm>
          <a:prstGeom prst="rect">
            <a:avLst/>
          </a:prstGeom>
          <a:noFill/>
        </p:spPr>
        <p:txBody>
          <a:bodyPr wrap="square" lIns="0" tIns="0" rIns="0" bIns="0" anchor="t">
            <a:spAutoFit/>
          </a:bodyPr>
          <a:lstStyle/>
          <a:p>
            <a:pPr algn="l">
              <a:lnSpc>
                <a:spcPct val="112000"/>
              </a:lnSpc>
              <a:spcAft>
                <a:spcPts val="0"/>
              </a:spcAft>
            </a:pPr>
            <a:r>
              <a:rPr sz="1900" b="0" i="0">
                <a:solidFill>
                  <a:srgbClr val="63D2E8"/>
                </a:solidFill>
                <a:latin typeface="Consolas"/>
              </a:rPr>
              <a:t>1</a:t>
            </a:r>
          </a:p>
        </p:txBody>
      </p:sp>
      <p:sp>
        <p:nvSpPr>
          <p:cNvPr id="38" name="TextBox 37"/>
          <p:cNvSpPr txBox="1"/>
          <p:nvPr/>
        </p:nvSpPr>
        <p:spPr>
          <a:xfrm>
            <a:off x="7223760" y="2615184"/>
            <a:ext cx="4114800" cy="256032"/>
          </a:xfrm>
          <a:prstGeom prst="rect">
            <a:avLst/>
          </a:prstGeom>
          <a:noFill/>
        </p:spPr>
        <p:txBody>
          <a:bodyPr wrap="square" lIns="0" tIns="0" rIns="0" bIns="0" anchor="t">
            <a:spAutoFit/>
          </a:bodyPr>
          <a:lstStyle/>
          <a:p>
            <a:pPr algn="l">
              <a:lnSpc>
                <a:spcPct val="112000"/>
              </a:lnSpc>
              <a:spcAft>
                <a:spcPts val="0"/>
              </a:spcAft>
            </a:pPr>
            <a:r>
              <a:rPr sz="1300" b="0" i="0">
                <a:solidFill>
                  <a:srgbClr val="E6EDF3"/>
                </a:solidFill>
                <a:latin typeface="Bahnschrift SemiBold"/>
              </a:rPr>
              <a:t>Confidence gate</a:t>
            </a:r>
          </a:p>
        </p:txBody>
      </p:sp>
      <p:sp>
        <p:nvSpPr>
          <p:cNvPr id="39" name="TextBox 38"/>
          <p:cNvSpPr txBox="1"/>
          <p:nvPr/>
        </p:nvSpPr>
        <p:spPr>
          <a:xfrm>
            <a:off x="7223760" y="2907792"/>
            <a:ext cx="4114800" cy="411835"/>
          </a:xfrm>
          <a:prstGeom prst="rect">
            <a:avLst/>
          </a:prstGeom>
          <a:noFill/>
        </p:spPr>
        <p:txBody>
          <a:bodyPr wrap="square" lIns="0" tIns="0" rIns="0" bIns="0" anchor="t">
            <a:spAutoFit/>
          </a:bodyPr>
          <a:lstStyle/>
          <a:p>
            <a:pPr algn="l">
              <a:lnSpc>
                <a:spcPct val="134000"/>
              </a:lnSpc>
              <a:spcAft>
                <a:spcPts val="0"/>
              </a:spcAft>
            </a:pPr>
            <a:r>
              <a:rPr sz="1000" b="0" i="0">
                <a:solidFill>
                  <a:srgbClr val="8494A6"/>
                </a:solidFill>
                <a:latin typeface="Segoe UI"/>
              </a:rPr>
              <a:t>softmax ≥ 0.90 for digits · head ≥ 0.85 with a cosine ≥ 0.80 check for custom symbols</a:t>
            </a:r>
          </a:p>
        </p:txBody>
      </p:sp>
      <p:sp>
        <p:nvSpPr>
          <p:cNvPr id="40" name="Rectangle 39"/>
          <p:cNvSpPr/>
          <p:nvPr/>
        </p:nvSpPr>
        <p:spPr>
          <a:xfrm>
            <a:off x="6492240" y="3621024"/>
            <a:ext cx="5056632" cy="111556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Rectangle 40"/>
          <p:cNvSpPr/>
          <p:nvPr/>
        </p:nvSpPr>
        <p:spPr>
          <a:xfrm>
            <a:off x="6492240" y="3621024"/>
            <a:ext cx="5056632" cy="31750"/>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2" name="TextBox 41"/>
          <p:cNvSpPr txBox="1"/>
          <p:nvPr/>
        </p:nvSpPr>
        <p:spPr>
          <a:xfrm>
            <a:off x="6693408" y="3840480"/>
            <a:ext cx="365760" cy="365760"/>
          </a:xfrm>
          <a:prstGeom prst="rect">
            <a:avLst/>
          </a:prstGeom>
          <a:noFill/>
        </p:spPr>
        <p:txBody>
          <a:bodyPr wrap="square" lIns="0" tIns="0" rIns="0" bIns="0" anchor="t">
            <a:spAutoFit/>
          </a:bodyPr>
          <a:lstStyle/>
          <a:p>
            <a:pPr algn="l">
              <a:lnSpc>
                <a:spcPct val="112000"/>
              </a:lnSpc>
              <a:spcAft>
                <a:spcPts val="0"/>
              </a:spcAft>
            </a:pPr>
            <a:r>
              <a:rPr sz="1900" b="0" i="0">
                <a:solidFill>
                  <a:srgbClr val="FFA928"/>
                </a:solidFill>
                <a:latin typeface="Consolas"/>
              </a:rPr>
              <a:t>2</a:t>
            </a:r>
          </a:p>
        </p:txBody>
      </p:sp>
      <p:sp>
        <p:nvSpPr>
          <p:cNvPr id="43" name="TextBox 42"/>
          <p:cNvSpPr txBox="1"/>
          <p:nvPr/>
        </p:nvSpPr>
        <p:spPr>
          <a:xfrm>
            <a:off x="7223760" y="3803904"/>
            <a:ext cx="4114800" cy="256032"/>
          </a:xfrm>
          <a:prstGeom prst="rect">
            <a:avLst/>
          </a:prstGeom>
          <a:noFill/>
        </p:spPr>
        <p:txBody>
          <a:bodyPr wrap="square" lIns="0" tIns="0" rIns="0" bIns="0" anchor="t">
            <a:spAutoFit/>
          </a:bodyPr>
          <a:lstStyle/>
          <a:p>
            <a:pPr algn="l">
              <a:lnSpc>
                <a:spcPct val="112000"/>
              </a:lnSpc>
              <a:spcAft>
                <a:spcPts val="0"/>
              </a:spcAft>
            </a:pPr>
            <a:r>
              <a:rPr sz="1300" b="0" i="0">
                <a:solidFill>
                  <a:srgbClr val="E6EDF3"/>
                </a:solidFill>
                <a:latin typeface="Bahnschrift SemiBold"/>
              </a:rPr>
              <a:t>Human gate</a:t>
            </a:r>
          </a:p>
        </p:txBody>
      </p:sp>
      <p:sp>
        <p:nvSpPr>
          <p:cNvPr id="44" name="TextBox 43"/>
          <p:cNvSpPr txBox="1"/>
          <p:nvPr/>
        </p:nvSpPr>
        <p:spPr>
          <a:xfrm>
            <a:off x="7223760" y="4096512"/>
            <a:ext cx="4114800" cy="411835"/>
          </a:xfrm>
          <a:prstGeom prst="rect">
            <a:avLst/>
          </a:prstGeom>
          <a:noFill/>
        </p:spPr>
        <p:txBody>
          <a:bodyPr wrap="square" lIns="0" tIns="0" rIns="0" bIns="0" anchor="t">
            <a:spAutoFit/>
          </a:bodyPr>
          <a:lstStyle/>
          <a:p>
            <a:pPr algn="l">
              <a:lnSpc>
                <a:spcPct val="134000"/>
              </a:lnSpc>
              <a:spcAft>
                <a:spcPts val="0"/>
              </a:spcAft>
            </a:pPr>
            <a:r>
              <a:rPr sz="1000" b="0" i="0">
                <a:solidFill>
                  <a:srgbClr val="8494A6"/>
                </a:solidFill>
                <a:latin typeface="Segoe UI"/>
              </a:rPr>
              <a:t>a gateway command arms a confirm bar and is published only after an explicit Send tap</a:t>
            </a:r>
          </a:p>
        </p:txBody>
      </p:sp>
      <p:sp>
        <p:nvSpPr>
          <p:cNvPr id="45" name="Rectangle 44"/>
          <p:cNvSpPr/>
          <p:nvPr/>
        </p:nvSpPr>
        <p:spPr>
          <a:xfrm>
            <a:off x="6492240" y="4809744"/>
            <a:ext cx="5056632" cy="111556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Rectangle 45"/>
          <p:cNvSpPr/>
          <p:nvPr/>
        </p:nvSpPr>
        <p:spPr>
          <a:xfrm>
            <a:off x="6492240" y="4809744"/>
            <a:ext cx="5056632" cy="3175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TextBox 46"/>
          <p:cNvSpPr txBox="1"/>
          <p:nvPr/>
        </p:nvSpPr>
        <p:spPr>
          <a:xfrm>
            <a:off x="6693408" y="5029200"/>
            <a:ext cx="365760" cy="365760"/>
          </a:xfrm>
          <a:prstGeom prst="rect">
            <a:avLst/>
          </a:prstGeom>
          <a:noFill/>
        </p:spPr>
        <p:txBody>
          <a:bodyPr wrap="square" lIns="0" tIns="0" rIns="0" bIns="0" anchor="t">
            <a:spAutoFit/>
          </a:bodyPr>
          <a:lstStyle/>
          <a:p>
            <a:pPr algn="l">
              <a:lnSpc>
                <a:spcPct val="112000"/>
              </a:lnSpc>
              <a:spcAft>
                <a:spcPts val="0"/>
              </a:spcAft>
            </a:pPr>
            <a:r>
              <a:rPr sz="1900" b="0" i="0">
                <a:solidFill>
                  <a:srgbClr val="FF4438"/>
                </a:solidFill>
                <a:latin typeface="Consolas"/>
              </a:rPr>
              <a:t>3</a:t>
            </a:r>
          </a:p>
        </p:txBody>
      </p:sp>
      <p:sp>
        <p:nvSpPr>
          <p:cNvPr id="48" name="TextBox 47"/>
          <p:cNvSpPr txBox="1"/>
          <p:nvPr/>
        </p:nvSpPr>
        <p:spPr>
          <a:xfrm>
            <a:off x="7223760" y="4992624"/>
            <a:ext cx="4114800" cy="256032"/>
          </a:xfrm>
          <a:prstGeom prst="rect">
            <a:avLst/>
          </a:prstGeom>
          <a:noFill/>
        </p:spPr>
        <p:txBody>
          <a:bodyPr wrap="square" lIns="0" tIns="0" rIns="0" bIns="0" anchor="t">
            <a:spAutoFit/>
          </a:bodyPr>
          <a:lstStyle/>
          <a:p>
            <a:pPr algn="l">
              <a:lnSpc>
                <a:spcPct val="112000"/>
              </a:lnSpc>
              <a:spcAft>
                <a:spcPts val="0"/>
              </a:spcAft>
            </a:pPr>
            <a:r>
              <a:rPr sz="1300" b="0" i="0">
                <a:solidFill>
                  <a:srgbClr val="E6EDF3"/>
                </a:solidFill>
                <a:latin typeface="Bahnschrift SemiBold"/>
              </a:rPr>
              <a:t>Structural gate</a:t>
            </a:r>
          </a:p>
        </p:txBody>
      </p:sp>
      <p:sp>
        <p:nvSpPr>
          <p:cNvPr id="49" name="TextBox 48"/>
          <p:cNvSpPr txBox="1"/>
          <p:nvPr/>
        </p:nvSpPr>
        <p:spPr>
          <a:xfrm>
            <a:off x="7223760" y="5285231"/>
            <a:ext cx="4114800" cy="411835"/>
          </a:xfrm>
          <a:prstGeom prst="rect">
            <a:avLst/>
          </a:prstGeom>
          <a:noFill/>
        </p:spPr>
        <p:txBody>
          <a:bodyPr wrap="square" lIns="0" tIns="0" rIns="0" bIns="0" anchor="t">
            <a:spAutoFit/>
          </a:bodyPr>
          <a:lstStyle/>
          <a:p>
            <a:pPr algn="l">
              <a:lnSpc>
                <a:spcPct val="134000"/>
              </a:lnSpc>
              <a:spcAft>
                <a:spcPts val="0"/>
              </a:spcAft>
            </a:pPr>
            <a:r>
              <a:rPr sz="1000" b="0" i="0">
                <a:solidFill>
                  <a:srgbClr val="8494A6"/>
                </a:solidFill>
                <a:latin typeface="Segoe UI"/>
              </a:rPr>
              <a:t>relay and dkm_write are absent from the firmware source — not flag-disabled, not commented out, absent</a:t>
            </a:r>
          </a:p>
        </p:txBody>
      </p:sp>
      <p:sp>
        <p:nvSpPr>
          <p:cNvPr id="50" name="TextBox 49"/>
          <p:cNvSpPr txBox="1"/>
          <p:nvPr/>
        </p:nvSpPr>
        <p:spPr>
          <a:xfrm>
            <a:off x="6492240" y="6016752"/>
            <a:ext cx="5056632" cy="189782"/>
          </a:xfrm>
          <a:prstGeom prst="rect">
            <a:avLst/>
          </a:prstGeom>
          <a:noFill/>
        </p:spPr>
        <p:txBody>
          <a:bodyPr wrap="square" lIns="0" tIns="0" rIns="0" bIns="0" anchor="t">
            <a:spAutoFit/>
          </a:bodyPr>
          <a:lstStyle/>
          <a:p>
            <a:pPr algn="l">
              <a:lnSpc>
                <a:spcPct val="130000"/>
              </a:lnSpc>
              <a:spcAft>
                <a:spcPts val="0"/>
              </a:spcAft>
            </a:pPr>
            <a:r>
              <a:rPr sz="950" b="0" i="0">
                <a:solidFill>
                  <a:srgbClr val="5A6878"/>
                </a:solidFill>
                <a:latin typeface="Segoe UI"/>
              </a:rPr>
              <a:t>The first two gates are policy; the third cannot be reached by any configuration.</a:t>
            </a:r>
          </a:p>
        </p:txBody>
      </p:sp>
      <p:sp>
        <p:nvSpPr>
          <p:cNvPr id="51" name="Rectangle 50"/>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2" name="TextBox 51"/>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53" name="TextBox 52"/>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ON-DEVICE LEARNING AND ALARM RULES · BOTH SIT HERE BECAUSE OF A GATEWAY CONSTRAINT</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100" b="0" i="0">
                <a:solidFill>
                  <a:srgbClr val="E6EDF3"/>
                </a:solidFill>
                <a:latin typeface="Bahnschrift SemiBold"/>
              </a:rPr>
              <a:t>What the phone does that the gateway cannot</a:t>
            </a:r>
          </a:p>
        </p:txBody>
      </p:sp>
      <p:sp>
        <p:nvSpPr>
          <p:cNvPr id="5" name="Rectangle 4"/>
          <p:cNvSpPr/>
          <p:nvPr/>
        </p:nvSpPr>
        <p:spPr>
          <a:xfrm>
            <a:off x="672678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METER</a:t>
            </a:r>
          </a:p>
        </p:txBody>
      </p:sp>
      <p:sp>
        <p:nvSpPr>
          <p:cNvPr id="8" name="Rectangle 7"/>
          <p:cNvSpPr/>
          <p:nvPr/>
        </p:nvSpPr>
        <p:spPr>
          <a:xfrm>
            <a:off x="794979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GATEWAY</a:t>
            </a:r>
          </a:p>
        </p:txBody>
      </p:sp>
      <p:sp>
        <p:nvSpPr>
          <p:cNvPr id="11" name="Rectangle 10"/>
          <p:cNvSpPr/>
          <p:nvPr/>
        </p:nvSpPr>
        <p:spPr>
          <a:xfrm>
            <a:off x="9172803" y="583844"/>
            <a:ext cx="1083106" cy="12700"/>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0D1117"/>
          </a:solidFill>
          <a:ln w="12700">
            <a:solidFill>
              <a:srgbClr val="3D4A5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5A6878"/>
                </a:solidFill>
                <a:latin typeface="Bahnschrift SemiBold"/>
              </a:rPr>
              <a:t>BROKER</a:t>
            </a:r>
          </a:p>
        </p:txBody>
      </p:sp>
      <p:sp>
        <p:nvSpPr>
          <p:cNvPr id="14" name="Rectangle 13"/>
          <p:cNvSpPr/>
          <p:nvPr/>
        </p:nvSpPr>
        <p:spPr>
          <a:xfrm>
            <a:off x="1039581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40080" y="1463040"/>
            <a:ext cx="5349240" cy="237744"/>
          </a:xfrm>
          <a:prstGeom prst="rect">
            <a:avLst/>
          </a:prstGeom>
          <a:noFill/>
        </p:spPr>
        <p:txBody>
          <a:bodyPr wrap="square" lIns="0" tIns="0" rIns="0" bIns="0" anchor="t">
            <a:spAutoFit/>
          </a:bodyPr>
          <a:lstStyle/>
          <a:p>
            <a:pPr algn="l">
              <a:lnSpc>
                <a:spcPct val="112000"/>
              </a:lnSpc>
              <a:spcAft>
                <a:spcPts val="0"/>
              </a:spcAft>
            </a:pPr>
            <a:r>
              <a:rPr sz="900" b="0" i="0">
                <a:solidFill>
                  <a:srgbClr val="C89A5B"/>
                </a:solidFill>
                <a:latin typeface="Bahnschrift SemiBold"/>
              </a:rPr>
              <a:t>TEACHING IT YOUR OWN SYMBOL</a:t>
            </a:r>
          </a:p>
        </p:txBody>
      </p:sp>
      <p:sp>
        <p:nvSpPr>
          <p:cNvPr id="22" name="Rectangle 21"/>
          <p:cNvSpPr/>
          <p:nvPr/>
        </p:nvSpPr>
        <p:spPr>
          <a:xfrm>
            <a:off x="640080" y="1719072"/>
            <a:ext cx="53492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40080" y="1828800"/>
            <a:ext cx="5349240" cy="438881"/>
          </a:xfrm>
          <a:prstGeom prst="rect">
            <a:avLst/>
          </a:prstGeom>
          <a:noFill/>
        </p:spPr>
        <p:txBody>
          <a:bodyPr wrap="square" lIns="0" tIns="0" rIns="0" bIns="0" anchor="t">
            <a:spAutoFit/>
          </a:bodyPr>
          <a:lstStyle/>
          <a:p>
            <a:pPr algn="l">
              <a:lnSpc>
                <a:spcPct val="136000"/>
              </a:lnSpc>
              <a:spcAft>
                <a:spcPts val="0"/>
              </a:spcAft>
            </a:pPr>
            <a:r>
              <a:rPr sz="1050" b="0" i="0">
                <a:solidFill>
                  <a:srgbClr val="8494A6"/>
                </a:solidFill>
                <a:latin typeface="Segoe UI"/>
              </a:rPr>
              <a:t>There is no headroom on an ESP8266 for a model, so learning happens where the samples are drawn.</a:t>
            </a:r>
          </a:p>
        </p:txBody>
      </p:sp>
      <p:sp>
        <p:nvSpPr>
          <p:cNvPr id="24" name="TextBox 23"/>
          <p:cNvSpPr txBox="1"/>
          <p:nvPr/>
        </p:nvSpPr>
        <p:spPr>
          <a:xfrm>
            <a:off x="640080" y="2313432"/>
            <a:ext cx="320040" cy="256032"/>
          </a:xfrm>
          <a:prstGeom prst="rect">
            <a:avLst/>
          </a:prstGeom>
          <a:noFill/>
        </p:spPr>
        <p:txBody>
          <a:bodyPr wrap="square" lIns="0" tIns="0" rIns="0" bIns="0" anchor="t">
            <a:spAutoFit/>
          </a:bodyPr>
          <a:lstStyle/>
          <a:p>
            <a:pPr algn="l">
              <a:lnSpc>
                <a:spcPct val="112000"/>
              </a:lnSpc>
              <a:spcAft>
                <a:spcPts val="0"/>
              </a:spcAft>
            </a:pPr>
            <a:r>
              <a:rPr sz="1200" b="0" i="0">
                <a:solidFill>
                  <a:srgbClr val="C89A5B"/>
                </a:solidFill>
                <a:latin typeface="Consolas"/>
              </a:rPr>
              <a:t>1</a:t>
            </a:r>
          </a:p>
        </p:txBody>
      </p:sp>
      <p:sp>
        <p:nvSpPr>
          <p:cNvPr id="25" name="TextBox 24"/>
          <p:cNvSpPr txBox="1"/>
          <p:nvPr/>
        </p:nvSpPr>
        <p:spPr>
          <a:xfrm>
            <a:off x="1005840" y="2304288"/>
            <a:ext cx="4983480" cy="256032"/>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Freeze the MLP</a:t>
            </a:r>
          </a:p>
        </p:txBody>
      </p:sp>
      <p:sp>
        <p:nvSpPr>
          <p:cNvPr id="26" name="TextBox 25"/>
          <p:cNvSpPr txBox="1"/>
          <p:nvPr/>
        </p:nvSpPr>
        <p:spPr>
          <a:xfrm>
            <a:off x="1005840" y="2560320"/>
            <a:ext cx="4983480" cy="417982"/>
          </a:xfrm>
          <a:prstGeom prst="rect">
            <a:avLst/>
          </a:prstGeom>
          <a:noFill/>
        </p:spPr>
        <p:txBody>
          <a:bodyPr wrap="square" lIns="0" tIns="0" rIns="0" bIns="0" anchor="t">
            <a:spAutoFit/>
          </a:bodyPr>
          <a:lstStyle/>
          <a:p>
            <a:pPr algn="l">
              <a:lnSpc>
                <a:spcPct val="136000"/>
              </a:lnSpc>
              <a:spcAft>
                <a:spcPts val="0"/>
              </a:spcAft>
            </a:pPr>
            <a:r>
              <a:rPr sz="1000" b="0" i="0">
                <a:solidFill>
                  <a:srgbClr val="8494A6"/>
                </a:solidFill>
                <a:latin typeface="Segoe UI"/>
              </a:rPr>
              <a:t>the 784-128-10 network is not retrained; its 128-unit ReLU layer is reused as an embedding</a:t>
            </a:r>
          </a:p>
        </p:txBody>
      </p:sp>
      <p:sp>
        <p:nvSpPr>
          <p:cNvPr id="27" name="TextBox 26"/>
          <p:cNvSpPr txBox="1"/>
          <p:nvPr/>
        </p:nvSpPr>
        <p:spPr>
          <a:xfrm>
            <a:off x="640080" y="3188614"/>
            <a:ext cx="320040" cy="256032"/>
          </a:xfrm>
          <a:prstGeom prst="rect">
            <a:avLst/>
          </a:prstGeom>
          <a:noFill/>
        </p:spPr>
        <p:txBody>
          <a:bodyPr wrap="square" lIns="0" tIns="0" rIns="0" bIns="0" anchor="t">
            <a:spAutoFit/>
          </a:bodyPr>
          <a:lstStyle/>
          <a:p>
            <a:pPr algn="l">
              <a:lnSpc>
                <a:spcPct val="112000"/>
              </a:lnSpc>
              <a:spcAft>
                <a:spcPts val="0"/>
              </a:spcAft>
            </a:pPr>
            <a:r>
              <a:rPr sz="1200" b="0" i="0">
                <a:solidFill>
                  <a:srgbClr val="C89A5B"/>
                </a:solidFill>
                <a:latin typeface="Consolas"/>
              </a:rPr>
              <a:t>2</a:t>
            </a:r>
          </a:p>
        </p:txBody>
      </p:sp>
      <p:sp>
        <p:nvSpPr>
          <p:cNvPr id="28" name="TextBox 27"/>
          <p:cNvSpPr txBox="1"/>
          <p:nvPr/>
        </p:nvSpPr>
        <p:spPr>
          <a:xfrm>
            <a:off x="1005840" y="3179470"/>
            <a:ext cx="4983480" cy="256032"/>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Augment ×5</a:t>
            </a:r>
          </a:p>
        </p:txBody>
      </p:sp>
      <p:sp>
        <p:nvSpPr>
          <p:cNvPr id="29" name="TextBox 28"/>
          <p:cNvSpPr txBox="1"/>
          <p:nvPr/>
        </p:nvSpPr>
        <p:spPr>
          <a:xfrm>
            <a:off x="1005840" y="3435502"/>
            <a:ext cx="4983480" cy="208991"/>
          </a:xfrm>
          <a:prstGeom prst="rect">
            <a:avLst/>
          </a:prstGeom>
          <a:noFill/>
        </p:spPr>
        <p:txBody>
          <a:bodyPr wrap="square" lIns="0" tIns="0" rIns="0" bIns="0" anchor="t">
            <a:spAutoFit/>
          </a:bodyPr>
          <a:lstStyle/>
          <a:p>
            <a:pPr algn="l">
              <a:lnSpc>
                <a:spcPct val="136000"/>
              </a:lnSpc>
              <a:spcAft>
                <a:spcPts val="0"/>
              </a:spcAft>
            </a:pPr>
            <a:r>
              <a:rPr sz="1000" b="0" i="0">
                <a:solidFill>
                  <a:srgbClr val="8494A6"/>
                </a:solidFill>
                <a:latin typeface="Segoe UI"/>
              </a:rPr>
              <a:t>±1 and ±2 px shifts turn 10–15 samples into 50–75 training vectors for free</a:t>
            </a:r>
          </a:p>
        </p:txBody>
      </p:sp>
      <p:sp>
        <p:nvSpPr>
          <p:cNvPr id="30" name="TextBox 29"/>
          <p:cNvSpPr txBox="1"/>
          <p:nvPr/>
        </p:nvSpPr>
        <p:spPr>
          <a:xfrm>
            <a:off x="640080" y="3854805"/>
            <a:ext cx="320040" cy="256032"/>
          </a:xfrm>
          <a:prstGeom prst="rect">
            <a:avLst/>
          </a:prstGeom>
          <a:noFill/>
        </p:spPr>
        <p:txBody>
          <a:bodyPr wrap="square" lIns="0" tIns="0" rIns="0" bIns="0" anchor="t">
            <a:spAutoFit/>
          </a:bodyPr>
          <a:lstStyle/>
          <a:p>
            <a:pPr algn="l">
              <a:lnSpc>
                <a:spcPct val="112000"/>
              </a:lnSpc>
              <a:spcAft>
                <a:spcPts val="0"/>
              </a:spcAft>
            </a:pPr>
            <a:r>
              <a:rPr sz="1200" b="0" i="0">
                <a:solidFill>
                  <a:srgbClr val="C89A5B"/>
                </a:solidFill>
                <a:latin typeface="Consolas"/>
              </a:rPr>
              <a:t>3</a:t>
            </a:r>
          </a:p>
        </p:txBody>
      </p:sp>
      <p:sp>
        <p:nvSpPr>
          <p:cNvPr id="31" name="TextBox 30"/>
          <p:cNvSpPr txBox="1"/>
          <p:nvPr/>
        </p:nvSpPr>
        <p:spPr>
          <a:xfrm>
            <a:off x="1005840" y="3845661"/>
            <a:ext cx="4983480" cy="256032"/>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Train a head</a:t>
            </a:r>
          </a:p>
        </p:txBody>
      </p:sp>
      <p:sp>
        <p:nvSpPr>
          <p:cNvPr id="32" name="TextBox 31"/>
          <p:cNvSpPr txBox="1"/>
          <p:nvPr/>
        </p:nvSpPr>
        <p:spPr>
          <a:xfrm>
            <a:off x="1005840" y="4101693"/>
            <a:ext cx="4983480" cy="417982"/>
          </a:xfrm>
          <a:prstGeom prst="rect">
            <a:avLst/>
          </a:prstGeom>
          <a:noFill/>
        </p:spPr>
        <p:txBody>
          <a:bodyPr wrap="square" lIns="0" tIns="0" rIns="0" bIns="0" anchor="t">
            <a:spAutoFit/>
          </a:bodyPr>
          <a:lstStyle/>
          <a:p>
            <a:pPr algn="l">
              <a:lnSpc>
                <a:spcPct val="136000"/>
              </a:lnSpc>
              <a:spcAft>
                <a:spcPts val="0"/>
              </a:spcAft>
            </a:pPr>
            <a:r>
              <a:rPr sz="1000" b="0" i="0">
                <a:solidFill>
                  <a:srgbClr val="8494A6"/>
                </a:solidFill>
                <a:latin typeface="Segoe UI"/>
              </a:rPr>
              <a:t>logistic regression 128 → N by SGD with L2, finishing in milliseconds and rerunning whenever samples change</a:t>
            </a:r>
          </a:p>
        </p:txBody>
      </p:sp>
      <p:sp>
        <p:nvSpPr>
          <p:cNvPr id="33" name="TextBox 32"/>
          <p:cNvSpPr txBox="1"/>
          <p:nvPr/>
        </p:nvSpPr>
        <p:spPr>
          <a:xfrm>
            <a:off x="640080" y="4729987"/>
            <a:ext cx="320040" cy="256032"/>
          </a:xfrm>
          <a:prstGeom prst="rect">
            <a:avLst/>
          </a:prstGeom>
          <a:noFill/>
        </p:spPr>
        <p:txBody>
          <a:bodyPr wrap="square" lIns="0" tIns="0" rIns="0" bIns="0" anchor="t">
            <a:spAutoFit/>
          </a:bodyPr>
          <a:lstStyle/>
          <a:p>
            <a:pPr algn="l">
              <a:lnSpc>
                <a:spcPct val="112000"/>
              </a:lnSpc>
              <a:spcAft>
                <a:spcPts val="0"/>
              </a:spcAft>
            </a:pPr>
            <a:r>
              <a:rPr sz="1200" b="0" i="0">
                <a:solidFill>
                  <a:srgbClr val="C89A5B"/>
                </a:solidFill>
                <a:latin typeface="Consolas"/>
              </a:rPr>
              <a:t>4</a:t>
            </a:r>
          </a:p>
        </p:txBody>
      </p:sp>
      <p:sp>
        <p:nvSpPr>
          <p:cNvPr id="34" name="TextBox 33"/>
          <p:cNvSpPr txBox="1"/>
          <p:nvPr/>
        </p:nvSpPr>
        <p:spPr>
          <a:xfrm>
            <a:off x="1005840" y="4720844"/>
            <a:ext cx="4983480" cy="256032"/>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Gate twice</a:t>
            </a:r>
          </a:p>
        </p:txBody>
      </p:sp>
      <p:sp>
        <p:nvSpPr>
          <p:cNvPr id="35" name="TextBox 34"/>
          <p:cNvSpPr txBox="1"/>
          <p:nvPr/>
        </p:nvSpPr>
        <p:spPr>
          <a:xfrm>
            <a:off x="1005840" y="4976876"/>
            <a:ext cx="4983480" cy="417982"/>
          </a:xfrm>
          <a:prstGeom prst="rect">
            <a:avLst/>
          </a:prstGeom>
          <a:noFill/>
        </p:spPr>
        <p:txBody>
          <a:bodyPr wrap="square" lIns="0" tIns="0" rIns="0" bIns="0" anchor="t">
            <a:spAutoFit/>
          </a:bodyPr>
          <a:lstStyle/>
          <a:p>
            <a:pPr algn="l">
              <a:lnSpc>
                <a:spcPct val="136000"/>
              </a:lnSpc>
              <a:spcAft>
                <a:spcPts val="0"/>
              </a:spcAft>
            </a:pPr>
            <a:r>
              <a:rPr sz="1000" b="0" i="0">
                <a:solidFill>
                  <a:srgbClr val="8494A6"/>
                </a:solidFill>
                <a:latin typeface="Segoe UI"/>
              </a:rPr>
              <a:t>head softmax ≥ 0.85 and best-sample cosine ≥ 0.80; under 10 samples the head is not trusted at all</a:t>
            </a:r>
          </a:p>
        </p:txBody>
      </p:sp>
      <p:sp>
        <p:nvSpPr>
          <p:cNvPr id="36" name="Rectangle 35"/>
          <p:cNvSpPr/>
          <p:nvPr/>
        </p:nvSpPr>
        <p:spPr>
          <a:xfrm>
            <a:off x="640080" y="5705856"/>
            <a:ext cx="5349240"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640080" y="5833872"/>
            <a:ext cx="5349240" cy="385404"/>
          </a:xfrm>
          <a:prstGeom prst="rect">
            <a:avLst/>
          </a:prstGeom>
          <a:noFill/>
        </p:spPr>
        <p:txBody>
          <a:bodyPr wrap="square" lIns="0" tIns="0" rIns="0" bIns="0" anchor="t">
            <a:spAutoFit/>
          </a:bodyPr>
          <a:lstStyle/>
          <a:p>
            <a:pPr algn="l">
              <a:lnSpc>
                <a:spcPct val="132000"/>
              </a:lnSpc>
              <a:spcAft>
                <a:spcPts val="0"/>
              </a:spcAft>
            </a:pPr>
            <a:r>
              <a:rPr sz="950" b="0" i="0">
                <a:solidFill>
                  <a:srgbClr val="C89A5B"/>
                </a:solidFill>
                <a:latin typeface="Segoe UI"/>
              </a:rPr>
              <a:t>The inspector shows head softmax, per-class cosine and the digit MLP's top-3 after every recognition — a match is never a black box.</a:t>
            </a:r>
          </a:p>
        </p:txBody>
      </p:sp>
      <p:sp>
        <p:nvSpPr>
          <p:cNvPr id="38" name="TextBox 37"/>
          <p:cNvSpPr txBox="1"/>
          <p:nvPr/>
        </p:nvSpPr>
        <p:spPr>
          <a:xfrm>
            <a:off x="6199632" y="1463040"/>
            <a:ext cx="534924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4438"/>
                </a:solidFill>
                <a:latin typeface="Bahnschrift SemiBold"/>
              </a:rPr>
              <a:t>ADDING AN ALARM</a:t>
            </a:r>
          </a:p>
        </p:txBody>
      </p:sp>
      <p:sp>
        <p:nvSpPr>
          <p:cNvPr id="39" name="Rectangle 38"/>
          <p:cNvSpPr/>
          <p:nvPr/>
        </p:nvSpPr>
        <p:spPr>
          <a:xfrm>
            <a:off x="6199632" y="1719072"/>
            <a:ext cx="53492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TextBox 39"/>
          <p:cNvSpPr txBox="1"/>
          <p:nvPr/>
        </p:nvSpPr>
        <p:spPr>
          <a:xfrm>
            <a:off x="6199632" y="1828800"/>
            <a:ext cx="5349240" cy="658322"/>
          </a:xfrm>
          <a:prstGeom prst="rect">
            <a:avLst/>
          </a:prstGeom>
          <a:noFill/>
        </p:spPr>
        <p:txBody>
          <a:bodyPr wrap="square" lIns="0" tIns="0" rIns="0" bIns="0" anchor="t">
            <a:spAutoFit/>
          </a:bodyPr>
          <a:lstStyle/>
          <a:p>
            <a:pPr algn="l">
              <a:lnSpc>
                <a:spcPct val="136000"/>
              </a:lnSpc>
              <a:spcAft>
                <a:spcPts val="0"/>
              </a:spcAft>
            </a:pPr>
            <a:r>
              <a:rPr sz="1050" b="0" i="0">
                <a:solidFill>
                  <a:srgbClr val="8494A6"/>
                </a:solidFill>
                <a:latin typeface="Segoe UI"/>
              </a:rPr>
              <a:t>The Modbus read budget is fixed by the report interval, so a threshold cannot be polled faster without breaking the polite-master rule. Rules are evaluated on the telemetry stream instead, and cost zero extra reads.</a:t>
            </a:r>
          </a:p>
        </p:txBody>
      </p:sp>
      <p:sp>
        <p:nvSpPr>
          <p:cNvPr id="41" name="TextBox 40"/>
          <p:cNvSpPr txBox="1"/>
          <p:nvPr/>
        </p:nvSpPr>
        <p:spPr>
          <a:xfrm>
            <a:off x="6199632" y="2798064"/>
            <a:ext cx="5349240"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A RULE IS FOUR FIELDS</a:t>
            </a:r>
          </a:p>
        </p:txBody>
      </p:sp>
      <p:sp>
        <p:nvSpPr>
          <p:cNvPr id="42" name="Rectangle 41"/>
          <p:cNvSpPr/>
          <p:nvPr/>
        </p:nvSpPr>
        <p:spPr>
          <a:xfrm>
            <a:off x="6199632" y="3054096"/>
            <a:ext cx="53492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TextBox 42"/>
          <p:cNvSpPr txBox="1"/>
          <p:nvPr/>
        </p:nvSpPr>
        <p:spPr>
          <a:xfrm>
            <a:off x="6199632" y="3200400"/>
            <a:ext cx="1371600" cy="237744"/>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key</a:t>
            </a:r>
          </a:p>
        </p:txBody>
      </p:sp>
      <p:sp>
        <p:nvSpPr>
          <p:cNvPr id="44" name="TextBox 43"/>
          <p:cNvSpPr txBox="1"/>
          <p:nvPr/>
        </p:nvSpPr>
        <p:spPr>
          <a:xfrm>
            <a:off x="7626096" y="3218688"/>
            <a:ext cx="2194560" cy="237744"/>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which telemetry value</a:t>
            </a:r>
          </a:p>
        </p:txBody>
      </p:sp>
      <p:sp>
        <p:nvSpPr>
          <p:cNvPr id="45" name="TextBox 44"/>
          <p:cNvSpPr txBox="1"/>
          <p:nvPr/>
        </p:nvSpPr>
        <p:spPr>
          <a:xfrm>
            <a:off x="9875520" y="3200400"/>
            <a:ext cx="1673352" cy="237744"/>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MainBus_Voltage_L1</a:t>
            </a:r>
          </a:p>
        </p:txBody>
      </p:sp>
      <p:sp>
        <p:nvSpPr>
          <p:cNvPr id="46" name="TextBox 45"/>
          <p:cNvSpPr txBox="1"/>
          <p:nvPr/>
        </p:nvSpPr>
        <p:spPr>
          <a:xfrm>
            <a:off x="6199632" y="3511296"/>
            <a:ext cx="1371600" cy="237744"/>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min / max</a:t>
            </a:r>
          </a:p>
        </p:txBody>
      </p:sp>
      <p:sp>
        <p:nvSpPr>
          <p:cNvPr id="47" name="TextBox 46"/>
          <p:cNvSpPr txBox="1"/>
          <p:nvPr/>
        </p:nvSpPr>
        <p:spPr>
          <a:xfrm>
            <a:off x="7626096" y="3529584"/>
            <a:ext cx="2194560" cy="237744"/>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the acceptable band</a:t>
            </a:r>
          </a:p>
        </p:txBody>
      </p:sp>
      <p:sp>
        <p:nvSpPr>
          <p:cNvPr id="48" name="TextBox 47"/>
          <p:cNvSpPr txBox="1"/>
          <p:nvPr/>
        </p:nvSpPr>
        <p:spPr>
          <a:xfrm>
            <a:off x="9875520" y="3511296"/>
            <a:ext cx="1673352" cy="237744"/>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207.00…253.00</a:t>
            </a:r>
          </a:p>
        </p:txBody>
      </p:sp>
      <p:sp>
        <p:nvSpPr>
          <p:cNvPr id="49" name="TextBox 48"/>
          <p:cNvSpPr txBox="1"/>
          <p:nvPr/>
        </p:nvSpPr>
        <p:spPr>
          <a:xfrm>
            <a:off x="6199632" y="3822191"/>
            <a:ext cx="1371600" cy="237744"/>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holdSec</a:t>
            </a:r>
          </a:p>
        </p:txBody>
      </p:sp>
      <p:sp>
        <p:nvSpPr>
          <p:cNvPr id="50" name="TextBox 49"/>
          <p:cNvSpPr txBox="1"/>
          <p:nvPr/>
        </p:nvSpPr>
        <p:spPr>
          <a:xfrm>
            <a:off x="7626096" y="3840479"/>
            <a:ext cx="2194560" cy="237744"/>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how long it must stay out</a:t>
            </a:r>
          </a:p>
        </p:txBody>
      </p:sp>
      <p:sp>
        <p:nvSpPr>
          <p:cNvPr id="51" name="TextBox 50"/>
          <p:cNvSpPr txBox="1"/>
          <p:nvPr/>
        </p:nvSpPr>
        <p:spPr>
          <a:xfrm>
            <a:off x="9875520" y="3822191"/>
            <a:ext cx="1673352" cy="237744"/>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30</a:t>
            </a:r>
          </a:p>
        </p:txBody>
      </p:sp>
      <p:sp>
        <p:nvSpPr>
          <p:cNvPr id="52" name="TextBox 51"/>
          <p:cNvSpPr txBox="1"/>
          <p:nvPr/>
        </p:nvSpPr>
        <p:spPr>
          <a:xfrm>
            <a:off x="6199632" y="4133087"/>
            <a:ext cx="1371600" cy="237744"/>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enabled</a:t>
            </a:r>
          </a:p>
        </p:txBody>
      </p:sp>
      <p:sp>
        <p:nvSpPr>
          <p:cNvPr id="53" name="TextBox 52"/>
          <p:cNvSpPr txBox="1"/>
          <p:nvPr/>
        </p:nvSpPr>
        <p:spPr>
          <a:xfrm>
            <a:off x="7626096" y="4151375"/>
            <a:ext cx="2194560" cy="237744"/>
          </a:xfrm>
          <a:prstGeom prst="rect">
            <a:avLst/>
          </a:prstGeom>
          <a:noFill/>
        </p:spPr>
        <p:txBody>
          <a:bodyPr wrap="square" lIns="0" tIns="0" rIns="0" bIns="0" anchor="t">
            <a:spAutoFit/>
          </a:bodyPr>
          <a:lstStyle/>
          <a:p>
            <a:pPr algn="l">
              <a:lnSpc>
                <a:spcPct val="112000"/>
              </a:lnSpc>
              <a:spcAft>
                <a:spcPts val="0"/>
              </a:spcAft>
            </a:pPr>
            <a:r>
              <a:rPr sz="1000" b="0" i="0">
                <a:solidFill>
                  <a:srgbClr val="8494A6"/>
                </a:solidFill>
                <a:latin typeface="Segoe UI"/>
              </a:rPr>
              <a:t>armed or not</a:t>
            </a:r>
          </a:p>
        </p:txBody>
      </p:sp>
      <p:sp>
        <p:nvSpPr>
          <p:cNvPr id="54" name="TextBox 53"/>
          <p:cNvSpPr txBox="1"/>
          <p:nvPr/>
        </p:nvSpPr>
        <p:spPr>
          <a:xfrm>
            <a:off x="9875520" y="4133087"/>
            <a:ext cx="1673352" cy="237744"/>
          </a:xfrm>
          <a:prstGeom prst="rect">
            <a:avLst/>
          </a:prstGeom>
          <a:noFill/>
        </p:spPr>
        <p:txBody>
          <a:bodyPr wrap="square" lIns="0" tIns="0" rIns="0" bIns="0" anchor="t">
            <a:spAutoFit/>
          </a:bodyPr>
          <a:lstStyle/>
          <a:p>
            <a:pPr algn="l">
              <a:lnSpc>
                <a:spcPct val="112000"/>
              </a:lnSpc>
              <a:spcAft>
                <a:spcPts val="0"/>
              </a:spcAft>
            </a:pPr>
            <a:r>
              <a:rPr sz="1000" b="0" i="0">
                <a:solidFill>
                  <a:srgbClr val="E6EDF3"/>
                </a:solidFill>
                <a:latin typeface="Consolas"/>
              </a:rPr>
              <a:t>true</a:t>
            </a:r>
          </a:p>
        </p:txBody>
      </p:sp>
      <p:sp>
        <p:nvSpPr>
          <p:cNvPr id="55" name="TextBox 54"/>
          <p:cNvSpPr txBox="1"/>
          <p:nvPr/>
        </p:nvSpPr>
        <p:spPr>
          <a:xfrm>
            <a:off x="6199632" y="4480559"/>
            <a:ext cx="5349240" cy="192702"/>
          </a:xfrm>
          <a:prstGeom prst="rect">
            <a:avLst/>
          </a:prstGeom>
          <a:noFill/>
        </p:spPr>
        <p:txBody>
          <a:bodyPr wrap="square" lIns="0" tIns="0" rIns="0" bIns="0" anchor="t">
            <a:spAutoFit/>
          </a:bodyPr>
          <a:lstStyle/>
          <a:p>
            <a:pPr algn="l">
              <a:lnSpc>
                <a:spcPct val="132000"/>
              </a:lnSpc>
              <a:spcAft>
                <a:spcPts val="0"/>
              </a:spcAft>
            </a:pPr>
            <a:r>
              <a:rPr sz="950" b="0" i="0">
                <a:solidFill>
                  <a:srgbClr val="5A6878"/>
                </a:solidFill>
                <a:latin typeface="Segoe UI"/>
              </a:rPr>
              <a:t>The hold timer is what makes it usable: one noisy frame will not wake anyone at 3 a.m.</a:t>
            </a:r>
          </a:p>
        </p:txBody>
      </p:sp>
      <p:sp>
        <p:nvSpPr>
          <p:cNvPr id="56" name="TextBox 55"/>
          <p:cNvSpPr txBox="1"/>
          <p:nvPr/>
        </p:nvSpPr>
        <p:spPr>
          <a:xfrm>
            <a:off x="6199632" y="5138928"/>
            <a:ext cx="5349240"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THREE RULES YOU DO NOT HAVE TO WRITE</a:t>
            </a:r>
          </a:p>
        </p:txBody>
      </p:sp>
      <p:sp>
        <p:nvSpPr>
          <p:cNvPr id="57" name="Rectangle 56"/>
          <p:cNvSpPr/>
          <p:nvPr/>
        </p:nvSpPr>
        <p:spPr>
          <a:xfrm>
            <a:off x="6199632" y="5394960"/>
            <a:ext cx="53492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8" name="TextBox 57"/>
          <p:cNvSpPr txBox="1"/>
          <p:nvPr/>
        </p:nvSpPr>
        <p:spPr>
          <a:xfrm>
            <a:off x="6199632" y="5522976"/>
            <a:ext cx="21031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FF4438"/>
                </a:solidFill>
                <a:latin typeface="Consolas"/>
              </a:rPr>
              <a:t>meter_ok == false</a:t>
            </a:r>
          </a:p>
        </p:txBody>
      </p:sp>
      <p:sp>
        <p:nvSpPr>
          <p:cNvPr id="59" name="TextBox 58"/>
          <p:cNvSpPr txBox="1"/>
          <p:nvPr/>
        </p:nvSpPr>
        <p:spPr>
          <a:xfrm>
            <a:off x="8412480" y="5532120"/>
            <a:ext cx="313639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for ≥ 30 s</a:t>
            </a:r>
          </a:p>
        </p:txBody>
      </p:sp>
      <p:sp>
        <p:nvSpPr>
          <p:cNvPr id="60" name="TextBox 59"/>
          <p:cNvSpPr txBox="1"/>
          <p:nvPr/>
        </p:nvSpPr>
        <p:spPr>
          <a:xfrm>
            <a:off x="6199632" y="5797296"/>
            <a:ext cx="21031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FF4438"/>
                </a:solidFill>
                <a:latin typeface="Consolas"/>
              </a:rPr>
              <a:t>gateway LWT</a:t>
            </a:r>
          </a:p>
        </p:txBody>
      </p:sp>
      <p:sp>
        <p:nvSpPr>
          <p:cNvPr id="61" name="TextBox 60"/>
          <p:cNvSpPr txBox="1"/>
          <p:nvPr/>
        </p:nvSpPr>
        <p:spPr>
          <a:xfrm>
            <a:off x="8412480" y="5806440"/>
            <a:ext cx="313639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retained status says offline</a:t>
            </a:r>
          </a:p>
        </p:txBody>
      </p:sp>
      <p:sp>
        <p:nvSpPr>
          <p:cNvPr id="62" name="TextBox 61"/>
          <p:cNvSpPr txBox="1"/>
          <p:nvPr/>
        </p:nvSpPr>
        <p:spPr>
          <a:xfrm>
            <a:off x="6199632" y="6071616"/>
            <a:ext cx="2103120" cy="237744"/>
          </a:xfrm>
          <a:prstGeom prst="rect">
            <a:avLst/>
          </a:prstGeom>
          <a:noFill/>
        </p:spPr>
        <p:txBody>
          <a:bodyPr wrap="square" lIns="0" tIns="0" rIns="0" bIns="0" anchor="t">
            <a:spAutoFit/>
          </a:bodyPr>
          <a:lstStyle/>
          <a:p>
            <a:pPr algn="l">
              <a:lnSpc>
                <a:spcPct val="112000"/>
              </a:lnSpc>
              <a:spcAft>
                <a:spcPts val="0"/>
              </a:spcAft>
            </a:pPr>
            <a:r>
              <a:rPr sz="1000" b="0" i="0">
                <a:solidFill>
                  <a:srgbClr val="FF4438"/>
                </a:solidFill>
                <a:latin typeface="Consolas"/>
              </a:rPr>
              <a:t>telemetry silence</a:t>
            </a:r>
          </a:p>
        </p:txBody>
      </p:sp>
      <p:sp>
        <p:nvSpPr>
          <p:cNvPr id="63" name="TextBox 62"/>
          <p:cNvSpPr txBox="1"/>
          <p:nvPr/>
        </p:nvSpPr>
        <p:spPr>
          <a:xfrm>
            <a:off x="8412480" y="6080759"/>
            <a:ext cx="3136392" cy="237744"/>
          </a:xfrm>
          <a:prstGeom prst="rect">
            <a:avLst/>
          </a:prstGeom>
          <a:noFill/>
        </p:spPr>
        <p:txBody>
          <a:bodyPr wrap="square" lIns="0" tIns="0" rIns="0" bIns="0" anchor="t">
            <a:spAutoFit/>
          </a:bodyPr>
          <a:lstStyle/>
          <a:p>
            <a:pPr algn="l">
              <a:lnSpc>
                <a:spcPct val="112000"/>
              </a:lnSpc>
              <a:spcAft>
                <a:spcPts val="0"/>
              </a:spcAft>
            </a:pPr>
            <a:r>
              <a:rPr sz="950" b="0" i="0">
                <a:solidFill>
                  <a:srgbClr val="8494A6"/>
                </a:solidFill>
                <a:latin typeface="Segoe UI"/>
              </a:rPr>
              <a:t>no frame for &gt; 3× the interval</a:t>
            </a:r>
          </a:p>
        </p:txBody>
      </p:sp>
      <p:sp>
        <p:nvSpPr>
          <p:cNvPr id="64" name="Rectangle 63"/>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5" name="TextBox 64"/>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66" name="TextBox 65"/>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EVIDENCE-BASED · NOTHING HERE IS ROUNDED UP</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Where it actually stands</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640080" y="1572768"/>
            <a:ext cx="3557016" cy="3913632"/>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p:cNvSpPr/>
          <p:nvPr/>
        </p:nvSpPr>
        <p:spPr>
          <a:xfrm>
            <a:off x="640080" y="1572768"/>
            <a:ext cx="3557016" cy="31750"/>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41247" y="1792224"/>
            <a:ext cx="3108960" cy="237744"/>
          </a:xfrm>
          <a:prstGeom prst="rect">
            <a:avLst/>
          </a:prstGeom>
          <a:noFill/>
        </p:spPr>
        <p:txBody>
          <a:bodyPr wrap="square" lIns="0" tIns="0" rIns="0" bIns="0" anchor="t">
            <a:spAutoFit/>
          </a:bodyPr>
          <a:lstStyle/>
          <a:p>
            <a:pPr algn="l">
              <a:lnSpc>
                <a:spcPct val="112000"/>
              </a:lnSpc>
              <a:spcAft>
                <a:spcPts val="0"/>
              </a:spcAft>
            </a:pPr>
            <a:r>
              <a:rPr sz="900" b="0" i="0">
                <a:solidFill>
                  <a:srgbClr val="4AD991"/>
                </a:solidFill>
                <a:latin typeface="Bahnschrift SemiBold"/>
              </a:rPr>
              <a:t>PROVEN ON HARDWARE</a:t>
            </a:r>
          </a:p>
        </p:txBody>
      </p:sp>
      <p:sp>
        <p:nvSpPr>
          <p:cNvPr id="24" name="Rectangle 23"/>
          <p:cNvSpPr/>
          <p:nvPr/>
        </p:nvSpPr>
        <p:spPr>
          <a:xfrm>
            <a:off x="841247" y="2066543"/>
            <a:ext cx="315468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Rectangle 24"/>
          <p:cNvSpPr/>
          <p:nvPr/>
        </p:nvSpPr>
        <p:spPr>
          <a:xfrm>
            <a:off x="841247" y="2313432"/>
            <a:ext cx="64008" cy="64008"/>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1042415" y="22494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22/22 registers, 15 consecutive cycles</a:t>
            </a:r>
          </a:p>
        </p:txBody>
      </p:sp>
      <p:sp>
        <p:nvSpPr>
          <p:cNvPr id="27" name="Rectangle 26"/>
          <p:cNvSpPr/>
          <p:nvPr/>
        </p:nvSpPr>
        <p:spPr>
          <a:xfrm>
            <a:off x="841247" y="2770632"/>
            <a:ext cx="64008" cy="64008"/>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TextBox 27"/>
          <p:cNvSpPr txBox="1"/>
          <p:nvPr/>
        </p:nvSpPr>
        <p:spPr>
          <a:xfrm>
            <a:off x="1042415" y="27066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PC client read the same value, same second</a:t>
            </a:r>
          </a:p>
        </p:txBody>
      </p:sp>
      <p:sp>
        <p:nvSpPr>
          <p:cNvPr id="29" name="Rectangle 28"/>
          <p:cNvSpPr/>
          <p:nvPr/>
        </p:nvSpPr>
        <p:spPr>
          <a:xfrm>
            <a:off x="841247" y="3227832"/>
            <a:ext cx="64008" cy="64008"/>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1042415" y="31638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TLS 1.3 handshake, server verified (BR-1)</a:t>
            </a:r>
          </a:p>
        </p:txBody>
      </p:sp>
      <p:sp>
        <p:nvSpPr>
          <p:cNvPr id="31" name="Rectangle 30"/>
          <p:cNvSpPr/>
          <p:nvPr/>
        </p:nvSpPr>
        <p:spPr>
          <a:xfrm>
            <a:off x="841247" y="3685032"/>
            <a:ext cx="64008" cy="64008"/>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1042415" y="36210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meter address survives a power cycle</a:t>
            </a:r>
          </a:p>
        </p:txBody>
      </p:sp>
      <p:sp>
        <p:nvSpPr>
          <p:cNvPr id="33" name="Rectangle 32"/>
          <p:cNvSpPr/>
          <p:nvPr/>
        </p:nvSpPr>
        <p:spPr>
          <a:xfrm>
            <a:off x="841247" y="4142232"/>
            <a:ext cx="64008" cy="64008"/>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TextBox 33"/>
          <p:cNvSpPr txBox="1"/>
          <p:nvPr/>
        </p:nvSpPr>
        <p:spPr>
          <a:xfrm>
            <a:off x="1042415" y="40782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fleet tree renders 2 modems + a v1 gateway</a:t>
            </a:r>
          </a:p>
        </p:txBody>
      </p:sp>
      <p:sp>
        <p:nvSpPr>
          <p:cNvPr id="35" name="Rectangle 34"/>
          <p:cNvSpPr/>
          <p:nvPr/>
        </p:nvSpPr>
        <p:spPr>
          <a:xfrm>
            <a:off x="841247" y="4599432"/>
            <a:ext cx="64008" cy="64008"/>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1042415" y="45354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gradient check 1e-9 · MNIST 97.65 % (SRS-02)</a:t>
            </a:r>
          </a:p>
        </p:txBody>
      </p:sp>
      <p:sp>
        <p:nvSpPr>
          <p:cNvPr id="37" name="Rectangle 36"/>
          <p:cNvSpPr/>
          <p:nvPr/>
        </p:nvSpPr>
        <p:spPr>
          <a:xfrm>
            <a:off x="841247" y="5056632"/>
            <a:ext cx="64008" cy="64008"/>
          </a:xfrm>
          <a:prstGeom prst="rect">
            <a:avLst/>
          </a:prstGeom>
          <a:solidFill>
            <a:srgbClr val="4AD99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TextBox 37"/>
          <p:cNvSpPr txBox="1"/>
          <p:nvPr/>
        </p:nvSpPr>
        <p:spPr>
          <a:xfrm>
            <a:off x="1042415" y="49926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credentials out of version control</a:t>
            </a:r>
          </a:p>
        </p:txBody>
      </p:sp>
      <p:sp>
        <p:nvSpPr>
          <p:cNvPr id="39" name="Rectangle 38"/>
          <p:cNvSpPr/>
          <p:nvPr/>
        </p:nvSpPr>
        <p:spPr>
          <a:xfrm>
            <a:off x="4315968" y="1572768"/>
            <a:ext cx="3557016" cy="3913632"/>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Rectangle 39"/>
          <p:cNvSpPr/>
          <p:nvPr/>
        </p:nvSpPr>
        <p:spPr>
          <a:xfrm>
            <a:off x="4315968" y="1572768"/>
            <a:ext cx="3557016" cy="31750"/>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4517136" y="1792224"/>
            <a:ext cx="310896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A928"/>
                </a:solidFill>
                <a:latin typeface="Bahnschrift SemiBold"/>
              </a:rPr>
              <a:t>CODE COMPLETE, UNPROVEN</a:t>
            </a:r>
          </a:p>
        </p:txBody>
      </p:sp>
      <p:sp>
        <p:nvSpPr>
          <p:cNvPr id="42" name="Rectangle 41"/>
          <p:cNvSpPr/>
          <p:nvPr/>
        </p:nvSpPr>
        <p:spPr>
          <a:xfrm>
            <a:off x="4517136" y="2066543"/>
            <a:ext cx="315468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Rectangle 42"/>
          <p:cNvSpPr/>
          <p:nvPr/>
        </p:nvSpPr>
        <p:spPr>
          <a:xfrm>
            <a:off x="4517136" y="231343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4718304" y="22494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cmd/ack on the ESP8266 — compiles, not flashed</a:t>
            </a:r>
          </a:p>
        </p:txBody>
      </p:sp>
      <p:sp>
        <p:nvSpPr>
          <p:cNvPr id="45" name="Rectangle 44"/>
          <p:cNvSpPr/>
          <p:nvPr/>
        </p:nvSpPr>
        <p:spPr>
          <a:xfrm>
            <a:off x="4517136" y="277063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4718304" y="27066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sleep and 4 load channels — same</a:t>
            </a:r>
          </a:p>
        </p:txBody>
      </p:sp>
      <p:sp>
        <p:nvSpPr>
          <p:cNvPr id="47" name="Rectangle 46"/>
          <p:cNvSpPr/>
          <p:nvPr/>
        </p:nvSpPr>
        <p:spPr>
          <a:xfrm>
            <a:off x="4517136" y="322783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8" name="TextBox 47"/>
          <p:cNvSpPr txBox="1"/>
          <p:nvPr/>
        </p:nvSpPr>
        <p:spPr>
          <a:xfrm>
            <a:off x="4718304" y="31638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power-pull → retained offline (A2)</a:t>
            </a:r>
          </a:p>
        </p:txBody>
      </p:sp>
      <p:sp>
        <p:nvSpPr>
          <p:cNvPr id="49" name="Rectangle 48"/>
          <p:cNvSpPr/>
          <p:nvPr/>
        </p:nvSpPr>
        <p:spPr>
          <a:xfrm>
            <a:off x="4517136" y="368503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TextBox 49"/>
          <p:cNvSpPr txBox="1"/>
          <p:nvPr/>
        </p:nvSpPr>
        <p:spPr>
          <a:xfrm>
            <a:off x="4718304" y="36210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&lt; 2 s command latency (NF-1)</a:t>
            </a:r>
          </a:p>
        </p:txBody>
      </p:sp>
      <p:sp>
        <p:nvSpPr>
          <p:cNvPr id="51" name="Rectangle 50"/>
          <p:cNvSpPr/>
          <p:nvPr/>
        </p:nvSpPr>
        <p:spPr>
          <a:xfrm>
            <a:off x="4517136" y="414223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2" name="TextBox 51"/>
          <p:cNvSpPr txBox="1"/>
          <p:nvPr/>
        </p:nvSpPr>
        <p:spPr>
          <a:xfrm>
            <a:off x="4718304" y="40782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RS-485 gateway — never run on hardware</a:t>
            </a:r>
          </a:p>
        </p:txBody>
      </p:sp>
      <p:sp>
        <p:nvSpPr>
          <p:cNvPr id="53" name="Rectangle 52"/>
          <p:cNvSpPr/>
          <p:nvPr/>
        </p:nvSpPr>
        <p:spPr>
          <a:xfrm>
            <a:off x="4517136" y="459943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4" name="TextBox 53"/>
          <p:cNvSpPr txBox="1"/>
          <p:nvPr/>
        </p:nvSpPr>
        <p:spPr>
          <a:xfrm>
            <a:off x="4718304" y="45354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overnight soak — not yet attempted</a:t>
            </a:r>
          </a:p>
        </p:txBody>
      </p:sp>
      <p:sp>
        <p:nvSpPr>
          <p:cNvPr id="55" name="Rectangle 54"/>
          <p:cNvSpPr/>
          <p:nvPr/>
        </p:nvSpPr>
        <p:spPr>
          <a:xfrm>
            <a:off x="7991855" y="1572768"/>
            <a:ext cx="3557016" cy="3913632"/>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6" name="Rectangle 55"/>
          <p:cNvSpPr/>
          <p:nvPr/>
        </p:nvSpPr>
        <p:spPr>
          <a:xfrm>
            <a:off x="7991855" y="1572768"/>
            <a:ext cx="3557016" cy="3175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7" name="TextBox 56"/>
          <p:cNvSpPr txBox="1"/>
          <p:nvPr/>
        </p:nvSpPr>
        <p:spPr>
          <a:xfrm>
            <a:off x="8193023" y="1792224"/>
            <a:ext cx="310896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4438"/>
                </a:solidFill>
                <a:latin typeface="Bahnschrift SemiBold"/>
              </a:rPr>
              <a:t>OPEN, AND SAID SO</a:t>
            </a:r>
          </a:p>
        </p:txBody>
      </p:sp>
      <p:sp>
        <p:nvSpPr>
          <p:cNvPr id="58" name="Rectangle 57"/>
          <p:cNvSpPr/>
          <p:nvPr/>
        </p:nvSpPr>
        <p:spPr>
          <a:xfrm>
            <a:off x="8193023" y="2066543"/>
            <a:ext cx="315468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9" name="Rectangle 58"/>
          <p:cNvSpPr/>
          <p:nvPr/>
        </p:nvSpPr>
        <p:spPr>
          <a:xfrm>
            <a:off x="8193023" y="2313432"/>
            <a:ext cx="64008"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0" name="TextBox 59"/>
          <p:cNvSpPr txBox="1"/>
          <p:nvPr/>
        </p:nvSpPr>
        <p:spPr>
          <a:xfrm>
            <a:off x="8394191" y="22494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sleep current never measured on a meter (F-6)</a:t>
            </a:r>
          </a:p>
        </p:txBody>
      </p:sp>
      <p:sp>
        <p:nvSpPr>
          <p:cNvPr id="61" name="Rectangle 60"/>
          <p:cNvSpPr/>
          <p:nvPr/>
        </p:nvSpPr>
        <p:spPr>
          <a:xfrm>
            <a:off x="8193023" y="2770632"/>
            <a:ext cx="64008"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2" name="TextBox 61"/>
          <p:cNvSpPr txBox="1"/>
          <p:nvPr/>
        </p:nvSpPr>
        <p:spPr>
          <a:xfrm>
            <a:off x="8394191" y="27066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no broker role separation or ACLs (BR-2)</a:t>
            </a:r>
          </a:p>
        </p:txBody>
      </p:sp>
      <p:sp>
        <p:nvSpPr>
          <p:cNvPr id="63" name="Rectangle 62"/>
          <p:cNvSpPr/>
          <p:nvPr/>
        </p:nvSpPr>
        <p:spPr>
          <a:xfrm>
            <a:off x="8193023" y="3227832"/>
            <a:ext cx="64008"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4" name="TextBox 63"/>
          <p:cNvSpPr txBox="1"/>
          <p:nvPr/>
        </p:nvSpPr>
        <p:spPr>
          <a:xfrm>
            <a:off x="8394191" y="31638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store-and-forward: buffered is always false</a:t>
            </a:r>
          </a:p>
        </p:txBody>
      </p:sp>
      <p:sp>
        <p:nvSpPr>
          <p:cNvPr id="65" name="Rectangle 64"/>
          <p:cNvSpPr/>
          <p:nvPr/>
        </p:nvSpPr>
        <p:spPr>
          <a:xfrm>
            <a:off x="8193023" y="3685032"/>
            <a:ext cx="64008"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6" name="TextBox 65"/>
          <p:cNvSpPr txBox="1"/>
          <p:nvPr/>
        </p:nvSpPr>
        <p:spPr>
          <a:xfrm>
            <a:off x="8394191" y="36210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no golden-vector test for MX-2 parity</a:t>
            </a:r>
          </a:p>
        </p:txBody>
      </p:sp>
      <p:sp>
        <p:nvSpPr>
          <p:cNvPr id="67" name="Rectangle 66"/>
          <p:cNvSpPr/>
          <p:nvPr/>
        </p:nvSpPr>
        <p:spPr>
          <a:xfrm>
            <a:off x="8193023" y="4142232"/>
            <a:ext cx="64008"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8" name="TextBox 67"/>
          <p:cNvSpPr txBox="1"/>
          <p:nvPr/>
        </p:nvSpPr>
        <p:spPr>
          <a:xfrm>
            <a:off x="8394191" y="40782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supply channel reads ≈2 % high, uninvestigated</a:t>
            </a:r>
          </a:p>
        </p:txBody>
      </p:sp>
      <p:sp>
        <p:nvSpPr>
          <p:cNvPr id="69" name="Rectangle 68"/>
          <p:cNvSpPr/>
          <p:nvPr/>
        </p:nvSpPr>
        <p:spPr>
          <a:xfrm>
            <a:off x="8193023" y="4599432"/>
            <a:ext cx="64008"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0" name="TextBox 69"/>
          <p:cNvSpPr txBox="1"/>
          <p:nvPr/>
        </p:nvSpPr>
        <p:spPr>
          <a:xfrm>
            <a:off x="8394191" y="4535424"/>
            <a:ext cx="2962656" cy="457200"/>
          </a:xfrm>
          <a:prstGeom prst="rect">
            <a:avLst/>
          </a:prstGeom>
          <a:noFill/>
        </p:spPr>
        <p:txBody>
          <a:bodyPr wrap="square" lIns="0" tIns="0" rIns="0" bIns="0" anchor="t">
            <a:spAutoFit/>
          </a:bodyPr>
          <a:lstStyle/>
          <a:p>
            <a:pPr algn="l">
              <a:lnSpc>
                <a:spcPct val="130000"/>
              </a:lnSpc>
              <a:spcAft>
                <a:spcPts val="0"/>
              </a:spcAft>
            </a:pPr>
            <a:r>
              <a:rPr sz="1050" b="0" i="0">
                <a:solidFill>
                  <a:srgbClr val="8494A6"/>
                </a:solidFill>
                <a:latin typeface="Segoe UI"/>
              </a:rPr>
              <a:t>mains accuracy never verified against a DMM</a:t>
            </a:r>
          </a:p>
        </p:txBody>
      </p:sp>
      <p:sp>
        <p:nvSpPr>
          <p:cNvPr id="71" name="Rectangle 70"/>
          <p:cNvSpPr/>
          <p:nvPr/>
        </p:nvSpPr>
        <p:spPr>
          <a:xfrm>
            <a:off x="640080" y="5669280"/>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2" name="TextBox 71"/>
          <p:cNvSpPr txBox="1"/>
          <p:nvPr/>
        </p:nvSpPr>
        <p:spPr>
          <a:xfrm>
            <a:off x="640080" y="5852160"/>
            <a:ext cx="10908792" cy="548640"/>
          </a:xfrm>
          <a:prstGeom prst="rect">
            <a:avLst/>
          </a:prstGeom>
          <a:noFill/>
        </p:spPr>
        <p:txBody>
          <a:bodyPr wrap="square" lIns="0" tIns="0" rIns="0" bIns="0">
            <a:spAutoFit/>
          </a:bodyPr>
          <a:lstStyle/>
          <a:p>
            <a:pPr algn="l">
              <a:lnSpc>
                <a:spcPct val="135000"/>
              </a:lnSpc>
              <a:spcAft>
                <a:spcPts val="600"/>
              </a:spcAft>
            </a:pPr>
            <a:r>
              <a:rPr sz="1200" b="1">
                <a:solidFill>
                  <a:srgbClr val="E6EDF3"/>
                </a:solidFill>
                <a:latin typeface="Segoe UI"/>
              </a:rPr>
              <a:t>The PC head-end was superseded, not skipped.  </a:t>
            </a:r>
            <a:r>
              <a:rPr sz="1200" b="0">
                <a:solidFill>
                  <a:srgbClr val="8494A6"/>
                </a:solidFill>
                <a:latin typeface="Segoe UI"/>
              </a:rPr>
              <a:t>HE-1…HE-5 were written before the Android app existed. The phone is the head-end now, and those five requirements should be rewritten to say so rather than left looking failed.</a:t>
            </a:r>
          </a:p>
        </p:txBody>
      </p:sp>
      <p:sp>
        <p:nvSpPr>
          <p:cNvPr id="73" name="Rectangle 72"/>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4" name="TextBox 73"/>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75" name="TextBox 74"/>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DOCS/IKOM_APPLICATIONS.MD · 2026-07-31</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What this is worth to IKOM</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40080" y="1536192"/>
            <a:ext cx="10908792" cy="457200"/>
          </a:xfrm>
          <a:prstGeom prst="rect">
            <a:avLst/>
          </a:prstGeom>
          <a:noFill/>
        </p:spPr>
        <p:txBody>
          <a:bodyPr wrap="square" lIns="0" tIns="0" rIns="0" bIns="0" anchor="t">
            <a:spAutoFit/>
          </a:bodyPr>
          <a:lstStyle/>
          <a:p>
            <a:pPr algn="l">
              <a:lnSpc>
                <a:spcPct val="110000"/>
              </a:lnSpc>
              <a:spcAft>
                <a:spcPts val="0"/>
              </a:spcAft>
            </a:pPr>
            <a:r>
              <a:rPr sz="1900" b="0" i="0">
                <a:solidFill>
                  <a:srgbClr val="63D2E8"/>
                </a:solidFill>
                <a:latin typeface="Bahnschrift SemiBold"/>
              </a:rPr>
              <a:t>The valuable line in the repository is the architecture, not the register map.</a:t>
            </a:r>
          </a:p>
        </p:txBody>
      </p:sp>
      <p:sp>
        <p:nvSpPr>
          <p:cNvPr id="22" name="TextBox 21"/>
          <p:cNvSpPr txBox="1"/>
          <p:nvPr/>
        </p:nvSpPr>
        <p:spPr>
          <a:xfrm>
            <a:off x="640080" y="1938528"/>
            <a:ext cx="10908792" cy="365760"/>
          </a:xfrm>
          <a:prstGeom prst="rect">
            <a:avLst/>
          </a:prstGeom>
          <a:noFill/>
        </p:spPr>
        <p:txBody>
          <a:bodyPr wrap="square" lIns="0" tIns="0" rIns="0" bIns="0" anchor="t">
            <a:spAutoFit/>
          </a:bodyPr>
          <a:lstStyle/>
          <a:p>
            <a:pPr algn="l">
              <a:lnSpc>
                <a:spcPct val="140000"/>
              </a:lnSpc>
              <a:spcAft>
                <a:spcPts val="0"/>
              </a:spcAft>
            </a:pPr>
            <a:r>
              <a:rPr sz="1200" b="0" i="0">
                <a:solidFill>
                  <a:srgbClr val="8494A6"/>
                </a:solidFill>
                <a:latin typeface="Segoe UI"/>
              </a:rPr>
              <a:t>Three of the four pieces built here are vendor-neutral. Any Modbus field device can go behind this gateway in about a day once its map is known — and the method for deriving an unknown map is itself written down.</a:t>
            </a:r>
          </a:p>
        </p:txBody>
      </p:sp>
      <p:sp>
        <p:nvSpPr>
          <p:cNvPr id="23" name="Rectangle 22"/>
          <p:cNvSpPr/>
          <p:nvPr/>
        </p:nvSpPr>
        <p:spPr>
          <a:xfrm>
            <a:off x="640080" y="2615184"/>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640080"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Rectangle 24"/>
          <p:cNvSpPr/>
          <p:nvPr/>
        </p:nvSpPr>
        <p:spPr>
          <a:xfrm>
            <a:off x="640080" y="2816352"/>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822959"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Submetering</a:t>
            </a:r>
          </a:p>
        </p:txBody>
      </p:sp>
      <p:sp>
        <p:nvSpPr>
          <p:cNvPr id="27" name="TextBox 26"/>
          <p:cNvSpPr txBox="1"/>
          <p:nvPr/>
        </p:nvSpPr>
        <p:spPr>
          <a:xfrm>
            <a:off x="822959" y="3310128"/>
            <a:ext cx="2258568" cy="201168"/>
          </a:xfrm>
          <a:prstGeom prst="rect">
            <a:avLst/>
          </a:prstGeom>
          <a:noFill/>
        </p:spPr>
        <p:txBody>
          <a:bodyPr wrap="square" lIns="0" tIns="0" rIns="0" bIns="0" anchor="t">
            <a:spAutoFit/>
          </a:bodyPr>
          <a:lstStyle/>
          <a:p>
            <a:pPr algn="l">
              <a:lnSpc>
                <a:spcPct val="112000"/>
              </a:lnSpc>
              <a:spcAft>
                <a:spcPts val="0"/>
              </a:spcAft>
            </a:pPr>
            <a:r>
              <a:rPr sz="800" b="0" i="0">
                <a:solidFill>
                  <a:srgbClr val="63D2E8"/>
                </a:solidFill>
                <a:latin typeface="Consolas"/>
              </a:rPr>
              <a:t>RECOMMENDED FIRST</a:t>
            </a:r>
          </a:p>
        </p:txBody>
      </p:sp>
      <p:sp>
        <p:nvSpPr>
          <p:cNvPr id="28" name="TextBox 27"/>
          <p:cNvSpPr txBox="1"/>
          <p:nvPr/>
        </p:nvSpPr>
        <p:spPr>
          <a:xfrm>
            <a:off x="822959"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One DKM-440 covers 30 single-phase feeders — an entire distribution panel at one Modbus address. Apartment blocks, shopping centres, organised industrial zones. One meter, one gateway, thirty billable circuits.</a:t>
            </a:r>
          </a:p>
        </p:txBody>
      </p:sp>
      <p:sp>
        <p:nvSpPr>
          <p:cNvPr id="29" name="Rectangle 28"/>
          <p:cNvSpPr/>
          <p:nvPr/>
        </p:nvSpPr>
        <p:spPr>
          <a:xfrm>
            <a:off x="3396996"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ectangle 29"/>
          <p:cNvSpPr/>
          <p:nvPr/>
        </p:nvSpPr>
        <p:spPr>
          <a:xfrm>
            <a:off x="3396996" y="2816352"/>
            <a:ext cx="2624328"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3579876"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Power quality</a:t>
            </a:r>
          </a:p>
        </p:txBody>
      </p:sp>
      <p:sp>
        <p:nvSpPr>
          <p:cNvPr id="32" name="TextBox 31"/>
          <p:cNvSpPr txBox="1"/>
          <p:nvPr/>
        </p:nvSpPr>
        <p:spPr>
          <a:xfrm>
            <a:off x="3579876" y="3310128"/>
            <a:ext cx="2258568" cy="201168"/>
          </a:xfrm>
          <a:prstGeom prst="rect">
            <a:avLst/>
          </a:prstGeom>
          <a:noFill/>
        </p:spPr>
        <p:txBody>
          <a:bodyPr wrap="square" lIns="0" tIns="0" rIns="0" bIns="0" anchor="t">
            <a:spAutoFit/>
          </a:bodyPr>
          <a:lstStyle/>
          <a:p>
            <a:pPr algn="l">
              <a:lnSpc>
                <a:spcPct val="112000"/>
              </a:lnSpc>
              <a:spcAft>
                <a:spcPts val="0"/>
              </a:spcAft>
            </a:pPr>
            <a:r>
              <a:rPr sz="800" b="0" i="0">
                <a:solidFill>
                  <a:srgbClr val="C89A5B"/>
                </a:solidFill>
                <a:latin typeface="Consolas"/>
              </a:rPr>
              <a:t>BEST MARGIN</a:t>
            </a:r>
          </a:p>
        </p:txBody>
      </p:sp>
      <p:sp>
        <p:nvSpPr>
          <p:cNvPr id="33" name="TextBox 32"/>
          <p:cNvSpPr txBox="1"/>
          <p:nvPr/>
        </p:nvSpPr>
        <p:spPr>
          <a:xfrm>
            <a:off x="3579876"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The meter measures harmonics to the 17th, THD-V/I and imbalance — none of it currently exposed. Instrument a plant for a fortnight, produce a report, recommend filters. Sells expertise, not boxes.</a:t>
            </a:r>
          </a:p>
        </p:txBody>
      </p:sp>
      <p:sp>
        <p:nvSpPr>
          <p:cNvPr id="34" name="Rectangle 33"/>
          <p:cNvSpPr/>
          <p:nvPr/>
        </p:nvSpPr>
        <p:spPr>
          <a:xfrm>
            <a:off x="6153912"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Rectangle 34"/>
          <p:cNvSpPr/>
          <p:nvPr/>
        </p:nvSpPr>
        <p:spPr>
          <a:xfrm>
            <a:off x="6153912" y="2816352"/>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6336792"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OSOS as a service</a:t>
            </a:r>
          </a:p>
        </p:txBody>
      </p:sp>
      <p:sp>
        <p:nvSpPr>
          <p:cNvPr id="37" name="TextBox 36"/>
          <p:cNvSpPr txBox="1"/>
          <p:nvPr/>
        </p:nvSpPr>
        <p:spPr>
          <a:xfrm>
            <a:off x="6336792" y="3310128"/>
            <a:ext cx="2258568" cy="201168"/>
          </a:xfrm>
          <a:prstGeom prst="rect">
            <a:avLst/>
          </a:prstGeom>
          <a:noFill/>
        </p:spPr>
        <p:txBody>
          <a:bodyPr wrap="square" lIns="0" tIns="0" rIns="0" bIns="0" anchor="t">
            <a:spAutoFit/>
          </a:bodyPr>
          <a:lstStyle/>
          <a:p>
            <a:pPr algn="l">
              <a:lnSpc>
                <a:spcPct val="112000"/>
              </a:lnSpc>
              <a:spcAft>
                <a:spcPts val="0"/>
              </a:spcAft>
            </a:pPr>
            <a:r>
              <a:rPr sz="800" b="0" i="0">
                <a:solidFill>
                  <a:srgbClr val="63D2E8"/>
                </a:solidFill>
                <a:latin typeface="Consolas"/>
              </a:rPr>
              <a:t>SHORTEST PATH TO REVENUE</a:t>
            </a:r>
          </a:p>
        </p:txBody>
      </p:sp>
      <p:sp>
        <p:nvSpPr>
          <p:cNvPr id="38" name="TextBox 37"/>
          <p:cNvSpPr txBox="1"/>
          <p:nvPr/>
        </p:nvSpPr>
        <p:spPr>
          <a:xfrm>
            <a:off x="6336792"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Automatic meter reading is regulated and recurring in Turkey. This is already most of a compliant reader; the gap is data integrity, history and a reporting front end — not new hardware.</a:t>
            </a:r>
          </a:p>
        </p:txBody>
      </p:sp>
      <p:sp>
        <p:nvSpPr>
          <p:cNvPr id="39" name="Rectangle 38"/>
          <p:cNvSpPr/>
          <p:nvPr/>
        </p:nvSpPr>
        <p:spPr>
          <a:xfrm>
            <a:off x="8910828" y="2816352"/>
            <a:ext cx="2624328" cy="2212848"/>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Rectangle 39"/>
          <p:cNvSpPr/>
          <p:nvPr/>
        </p:nvSpPr>
        <p:spPr>
          <a:xfrm>
            <a:off x="8910828" y="2816352"/>
            <a:ext cx="2624328"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9093707" y="3017520"/>
            <a:ext cx="2258568" cy="274320"/>
          </a:xfrm>
          <a:prstGeom prst="rect">
            <a:avLst/>
          </a:prstGeom>
          <a:noFill/>
        </p:spPr>
        <p:txBody>
          <a:bodyPr wrap="square" lIns="0" tIns="0" rIns="0" bIns="0" anchor="t">
            <a:spAutoFit/>
          </a:bodyPr>
          <a:lstStyle/>
          <a:p>
            <a:pPr algn="l">
              <a:lnSpc>
                <a:spcPct val="112000"/>
              </a:lnSpc>
              <a:spcAft>
                <a:spcPts val="0"/>
              </a:spcAft>
            </a:pPr>
            <a:r>
              <a:rPr sz="1500" b="0" i="0">
                <a:solidFill>
                  <a:srgbClr val="E6EDF3"/>
                </a:solidFill>
                <a:latin typeface="Bahnschrift SemiBold"/>
              </a:rPr>
              <a:t>Street lighting</a:t>
            </a:r>
          </a:p>
        </p:txBody>
      </p:sp>
      <p:sp>
        <p:nvSpPr>
          <p:cNvPr id="42" name="TextBox 41"/>
          <p:cNvSpPr txBox="1"/>
          <p:nvPr/>
        </p:nvSpPr>
        <p:spPr>
          <a:xfrm>
            <a:off x="9093707" y="3584448"/>
            <a:ext cx="2258568" cy="1280160"/>
          </a:xfrm>
          <a:prstGeom prst="rect">
            <a:avLst/>
          </a:prstGeom>
          <a:noFill/>
        </p:spPr>
        <p:txBody>
          <a:bodyPr wrap="square" lIns="0" tIns="0" rIns="0" bIns="0" anchor="t">
            <a:spAutoFit/>
          </a:bodyPr>
          <a:lstStyle/>
          <a:p>
            <a:pPr algn="l">
              <a:lnSpc>
                <a:spcPct val="138000"/>
              </a:lnSpc>
              <a:spcAft>
                <a:spcPts val="0"/>
              </a:spcAft>
            </a:pPr>
            <a:r>
              <a:rPr sz="1000" b="0" i="0">
                <a:solidFill>
                  <a:srgbClr val="8494A6"/>
                </a:solidFill>
                <a:latin typeface="Segoe UI"/>
              </a:rPr>
              <a:t>An astronomical time relay plus two remotely drivable relays, in the same box as the measurement. Municipal lighting maps onto it almost exactly.</a:t>
            </a:r>
          </a:p>
        </p:txBody>
      </p:sp>
      <p:sp>
        <p:nvSpPr>
          <p:cNvPr id="43" name="TextBox 42"/>
          <p:cNvSpPr txBox="1"/>
          <p:nvPr/>
        </p:nvSpPr>
        <p:spPr>
          <a:xfrm>
            <a:off x="640080" y="5230368"/>
            <a:ext cx="10908792" cy="237744"/>
          </a:xfrm>
          <a:prstGeom prst="rect">
            <a:avLst/>
          </a:prstGeom>
          <a:noFill/>
        </p:spPr>
        <p:txBody>
          <a:bodyPr wrap="square" lIns="0" tIns="0" rIns="0" bIns="0" anchor="t">
            <a:spAutoFit/>
          </a:bodyPr>
          <a:lstStyle/>
          <a:p>
            <a:pPr algn="l">
              <a:lnSpc>
                <a:spcPct val="112000"/>
              </a:lnSpc>
              <a:spcAft>
                <a:spcPts val="0"/>
              </a:spcAft>
            </a:pPr>
            <a:r>
              <a:rPr sz="900" b="0" i="0">
                <a:solidFill>
                  <a:srgbClr val="FF4438"/>
                </a:solidFill>
                <a:latin typeface="Bahnschrift SemiBold"/>
              </a:rPr>
              <a:t>BEFORE ANY OF THEM</a:t>
            </a:r>
          </a:p>
        </p:txBody>
      </p:sp>
      <p:sp>
        <p:nvSpPr>
          <p:cNvPr id="44" name="Rectangle 43"/>
          <p:cNvSpPr/>
          <p:nvPr/>
        </p:nvSpPr>
        <p:spPr>
          <a:xfrm>
            <a:off x="640080" y="5486400"/>
            <a:ext cx="1090879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640080" y="5669280"/>
            <a:ext cx="3474720" cy="237744"/>
          </a:xfrm>
          <a:prstGeom prst="rect">
            <a:avLst/>
          </a:prstGeom>
          <a:noFill/>
        </p:spPr>
        <p:txBody>
          <a:bodyPr wrap="square" lIns="0" tIns="0" rIns="0" bIns="0" anchor="t">
            <a:spAutoFit/>
          </a:bodyPr>
          <a:lstStyle/>
          <a:p>
            <a:pPr algn="l">
              <a:lnSpc>
                <a:spcPct val="112000"/>
              </a:lnSpc>
              <a:spcAft>
                <a:spcPts val="0"/>
              </a:spcAft>
            </a:pPr>
            <a:r>
              <a:rPr sz="1150" b="0" i="0">
                <a:solidFill>
                  <a:srgbClr val="FF4438"/>
                </a:solidFill>
                <a:latin typeface="Bahnschrift SemiBold"/>
              </a:rPr>
              <a:t>Store-and-forward</a:t>
            </a:r>
          </a:p>
        </p:txBody>
      </p:sp>
      <p:sp>
        <p:nvSpPr>
          <p:cNvPr id="46" name="TextBox 45"/>
          <p:cNvSpPr txBox="1"/>
          <p:nvPr/>
        </p:nvSpPr>
        <p:spPr>
          <a:xfrm>
            <a:off x="640080" y="5925312"/>
            <a:ext cx="3474720" cy="365760"/>
          </a:xfrm>
          <a:prstGeom prst="rect">
            <a:avLst/>
          </a:prstGeom>
          <a:noFill/>
        </p:spPr>
        <p:txBody>
          <a:bodyPr wrap="square" lIns="0" tIns="0" rIns="0" bIns="0" anchor="t">
            <a:spAutoFit/>
          </a:bodyPr>
          <a:lstStyle/>
          <a:p>
            <a:pPr algn="l">
              <a:lnSpc>
                <a:spcPct val="130000"/>
              </a:lnSpc>
              <a:spcAft>
                <a:spcPts val="0"/>
              </a:spcAft>
            </a:pPr>
            <a:r>
              <a:rPr sz="1000" b="0" i="0">
                <a:solidFill>
                  <a:srgbClr val="8494A6"/>
                </a:solidFill>
                <a:latin typeface="Segoe UI"/>
              </a:rPr>
              <a:t>a reader that silently drops data during a network blip cannot be a system of record</a:t>
            </a:r>
          </a:p>
        </p:txBody>
      </p:sp>
      <p:sp>
        <p:nvSpPr>
          <p:cNvPr id="47" name="TextBox 46"/>
          <p:cNvSpPr txBox="1"/>
          <p:nvPr/>
        </p:nvSpPr>
        <p:spPr>
          <a:xfrm>
            <a:off x="4315968" y="5669280"/>
            <a:ext cx="3474720" cy="237744"/>
          </a:xfrm>
          <a:prstGeom prst="rect">
            <a:avLst/>
          </a:prstGeom>
          <a:noFill/>
        </p:spPr>
        <p:txBody>
          <a:bodyPr wrap="square" lIns="0" tIns="0" rIns="0" bIns="0" anchor="t">
            <a:spAutoFit/>
          </a:bodyPr>
          <a:lstStyle/>
          <a:p>
            <a:pPr algn="l">
              <a:lnSpc>
                <a:spcPct val="112000"/>
              </a:lnSpc>
              <a:spcAft>
                <a:spcPts val="0"/>
              </a:spcAft>
            </a:pPr>
            <a:r>
              <a:rPr sz="1150" b="0" i="0">
                <a:solidFill>
                  <a:srgbClr val="FF4438"/>
                </a:solidFill>
                <a:latin typeface="Bahnschrift SemiBold"/>
              </a:rPr>
              <a:t>A historian</a:t>
            </a:r>
          </a:p>
        </p:txBody>
      </p:sp>
      <p:sp>
        <p:nvSpPr>
          <p:cNvPr id="48" name="TextBox 47"/>
          <p:cNvSpPr txBox="1"/>
          <p:nvPr/>
        </p:nvSpPr>
        <p:spPr>
          <a:xfrm>
            <a:off x="4315968" y="5925312"/>
            <a:ext cx="3474720" cy="365760"/>
          </a:xfrm>
          <a:prstGeom prst="rect">
            <a:avLst/>
          </a:prstGeom>
          <a:noFill/>
        </p:spPr>
        <p:txBody>
          <a:bodyPr wrap="square" lIns="0" tIns="0" rIns="0" bIns="0" anchor="t">
            <a:spAutoFit/>
          </a:bodyPr>
          <a:lstStyle/>
          <a:p>
            <a:pPr algn="l">
              <a:lnSpc>
                <a:spcPct val="130000"/>
              </a:lnSpc>
              <a:spcAft>
                <a:spcPts val="0"/>
              </a:spcAft>
            </a:pPr>
            <a:r>
              <a:rPr sz="1000" b="0" i="0">
                <a:solidFill>
                  <a:srgbClr val="8494A6"/>
                </a:solidFill>
                <a:latin typeface="Segoe UI"/>
              </a:rPr>
              <a:t>720 frames in RAM is monitoring; billing and compliance need durable history</a:t>
            </a:r>
          </a:p>
        </p:txBody>
      </p:sp>
      <p:sp>
        <p:nvSpPr>
          <p:cNvPr id="49" name="TextBox 48"/>
          <p:cNvSpPr txBox="1"/>
          <p:nvPr/>
        </p:nvSpPr>
        <p:spPr>
          <a:xfrm>
            <a:off x="7991855" y="5669280"/>
            <a:ext cx="3474720" cy="237744"/>
          </a:xfrm>
          <a:prstGeom prst="rect">
            <a:avLst/>
          </a:prstGeom>
          <a:noFill/>
        </p:spPr>
        <p:txBody>
          <a:bodyPr wrap="square" lIns="0" tIns="0" rIns="0" bIns="0" anchor="t">
            <a:spAutoFit/>
          </a:bodyPr>
          <a:lstStyle/>
          <a:p>
            <a:pPr algn="l">
              <a:lnSpc>
                <a:spcPct val="112000"/>
              </a:lnSpc>
              <a:spcAft>
                <a:spcPts val="0"/>
              </a:spcAft>
            </a:pPr>
            <a:r>
              <a:rPr sz="1150" b="0" i="0">
                <a:solidFill>
                  <a:srgbClr val="FF4438"/>
                </a:solidFill>
                <a:latin typeface="Bahnschrift SemiBold"/>
              </a:rPr>
              <a:t>Per-device credentials</a:t>
            </a:r>
          </a:p>
        </p:txBody>
      </p:sp>
      <p:sp>
        <p:nvSpPr>
          <p:cNvPr id="50" name="TextBox 49"/>
          <p:cNvSpPr txBox="1"/>
          <p:nvPr/>
        </p:nvSpPr>
        <p:spPr>
          <a:xfrm>
            <a:off x="7991855" y="5925312"/>
            <a:ext cx="3474720" cy="365760"/>
          </a:xfrm>
          <a:prstGeom prst="rect">
            <a:avLst/>
          </a:prstGeom>
          <a:noFill/>
        </p:spPr>
        <p:txBody>
          <a:bodyPr wrap="square" lIns="0" tIns="0" rIns="0" bIns="0" anchor="t">
            <a:spAutoFit/>
          </a:bodyPr>
          <a:lstStyle/>
          <a:p>
            <a:pPr algn="l">
              <a:lnSpc>
                <a:spcPct val="130000"/>
              </a:lnSpc>
              <a:spcAft>
                <a:spcPts val="0"/>
              </a:spcAft>
            </a:pPr>
            <a:r>
              <a:rPr sz="1000" b="0" i="0">
                <a:solidFill>
                  <a:srgbClr val="8494A6"/>
                </a:solidFill>
                <a:latin typeface="Segoe UI"/>
              </a:rPr>
              <a:t>cheap to fix now, expensive after the first customer site</a:t>
            </a:r>
          </a:p>
        </p:txBody>
      </p:sp>
      <p:sp>
        <p:nvSpPr>
          <p:cNvPr id="51" name="Rectangle 50"/>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2" name="TextBox 51"/>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53" name="TextBox 52"/>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74320"/>
            <a:ext cx="5852160" cy="219456"/>
          </a:xfrm>
          <a:prstGeom prst="rect">
            <a:avLst/>
          </a:prstGeom>
          <a:noFill/>
        </p:spPr>
        <p:txBody>
          <a:bodyPr wrap="square" lIns="0" tIns="0" rIns="0" bIns="0" anchor="t">
            <a:spAutoFit/>
          </a:bodyPr>
          <a:lstStyle/>
          <a:p>
            <a:pPr algn="l">
              <a:lnSpc>
                <a:spcPct val="100000"/>
              </a:lnSpc>
              <a:spcAft>
                <a:spcPts val="0"/>
              </a:spcAft>
            </a:pPr>
            <a:r>
              <a:rPr sz="900" b="0" i="0">
                <a:solidFill>
                  <a:srgbClr val="63D2E8"/>
                </a:solidFill>
                <a:latin typeface="Consolas"/>
              </a:rPr>
              <a:t>FOUR STEPS · DOCS/BROKER_ACL.MD CARRIES THE DETAIL</a:t>
            </a:r>
          </a:p>
        </p:txBody>
      </p:sp>
      <p:sp>
        <p:nvSpPr>
          <p:cNvPr id="4" name="TextBox 3"/>
          <p:cNvSpPr txBox="1"/>
          <p:nvPr/>
        </p:nvSpPr>
        <p:spPr>
          <a:xfrm>
            <a:off x="640080" y="493776"/>
            <a:ext cx="5870448" cy="640080"/>
          </a:xfrm>
          <a:prstGeom prst="rect">
            <a:avLst/>
          </a:prstGeom>
          <a:noFill/>
        </p:spPr>
        <p:txBody>
          <a:bodyPr wrap="square" lIns="0" tIns="0" rIns="0" bIns="0" anchor="b">
            <a:spAutoFit/>
          </a:bodyPr>
          <a:lstStyle/>
          <a:p>
            <a:pPr algn="l">
              <a:lnSpc>
                <a:spcPct val="100000"/>
              </a:lnSpc>
              <a:spcAft>
                <a:spcPts val="0"/>
              </a:spcAft>
            </a:pPr>
            <a:r>
              <a:rPr sz="2700" b="0" i="0">
                <a:solidFill>
                  <a:srgbClr val="E6EDF3"/>
                </a:solidFill>
                <a:latin typeface="Bahnschrift SemiBold"/>
              </a:rPr>
              <a:t>Putting it into production</a:t>
            </a:r>
          </a:p>
        </p:txBody>
      </p:sp>
      <p:sp>
        <p:nvSpPr>
          <p:cNvPr id="5" name="Rectangle 4"/>
          <p:cNvSpPr/>
          <p:nvPr/>
        </p:nvSpPr>
        <p:spPr>
          <a:xfrm>
            <a:off x="672678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61797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604532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8" name="Rectangle 7"/>
          <p:cNvSpPr/>
          <p:nvPr/>
        </p:nvSpPr>
        <p:spPr>
          <a:xfrm>
            <a:off x="794979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784097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26833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11" name="Rectangle 10"/>
          <p:cNvSpPr/>
          <p:nvPr/>
        </p:nvSpPr>
        <p:spPr>
          <a:xfrm>
            <a:off x="917280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906399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49134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14" name="Rectangle 13"/>
          <p:cNvSpPr/>
          <p:nvPr/>
        </p:nvSpPr>
        <p:spPr>
          <a:xfrm>
            <a:off x="10395813" y="5838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10287000"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971435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17" name="Rectangle 16"/>
          <p:cNvSpPr/>
          <p:nvPr/>
        </p:nvSpPr>
        <p:spPr>
          <a:xfrm>
            <a:off x="11510009" y="5486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10937367" y="6949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19" name="Rectangle 18"/>
          <p:cNvSpPr/>
          <p:nvPr/>
        </p:nvSpPr>
        <p:spPr>
          <a:xfrm>
            <a:off x="640080" y="1225296"/>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40080" y="1220724"/>
            <a:ext cx="566928" cy="254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40080" y="1481328"/>
            <a:ext cx="5577840" cy="237744"/>
          </a:xfrm>
          <a:prstGeom prst="rect">
            <a:avLst/>
          </a:prstGeom>
          <a:noFill/>
        </p:spPr>
        <p:txBody>
          <a:bodyPr wrap="square" lIns="0" tIns="0" rIns="0" bIns="0" anchor="t">
            <a:spAutoFit/>
          </a:bodyPr>
          <a:lstStyle/>
          <a:p>
            <a:pPr algn="l">
              <a:lnSpc>
                <a:spcPct val="112000"/>
              </a:lnSpc>
              <a:spcAft>
                <a:spcPts val="0"/>
              </a:spcAft>
            </a:pPr>
            <a:r>
              <a:rPr sz="900" b="0" i="0">
                <a:solidFill>
                  <a:srgbClr val="63D2E8"/>
                </a:solidFill>
                <a:latin typeface="Bahnschrift SemiBold"/>
              </a:rPr>
              <a:t>ADDING A METER IS ONE LINE</a:t>
            </a:r>
          </a:p>
        </p:txBody>
      </p:sp>
      <p:sp>
        <p:nvSpPr>
          <p:cNvPr id="22" name="Rectangle 21"/>
          <p:cNvSpPr/>
          <p:nvPr/>
        </p:nvSpPr>
        <p:spPr>
          <a:xfrm>
            <a:off x="640080" y="1737360"/>
            <a:ext cx="557784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Rectangle 22"/>
          <p:cNvSpPr/>
          <p:nvPr/>
        </p:nvSpPr>
        <p:spPr>
          <a:xfrm>
            <a:off x="640080" y="1865376"/>
            <a:ext cx="5577840" cy="1700784"/>
          </a:xfrm>
          <a:prstGeom prst="rect">
            <a:avLst/>
          </a:prstGeom>
          <a:solidFill>
            <a:srgbClr val="0A0E13"/>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640080" y="1865376"/>
            <a:ext cx="25400" cy="1700784"/>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841247" y="1993392"/>
            <a:ext cx="5175503" cy="1463040"/>
          </a:xfrm>
          <a:prstGeom prst="rect">
            <a:avLst/>
          </a:prstGeom>
          <a:noFill/>
        </p:spPr>
        <p:txBody>
          <a:bodyPr wrap="square" lIns="0" tIns="0" rIns="0" bIns="0">
            <a:spAutoFit/>
          </a:bodyPr>
          <a:lstStyle/>
          <a:p>
            <a:pPr algn="l">
              <a:lnSpc>
                <a:spcPct val="130000"/>
              </a:lnSpc>
              <a:spcAft>
                <a:spcPts val="0"/>
              </a:spcAft>
            </a:pPr>
            <a:r>
              <a:rPr sz="1000" b="0">
                <a:solidFill>
                  <a:srgbClr val="5A6878"/>
                </a:solidFill>
                <a:latin typeface="Consolas"/>
              </a:rPr>
              <a:t>// firmware8266/osos_gw8266/config.h</a:t>
            </a:r>
          </a:p>
          <a:p>
            <a:pPr algn="l">
              <a:lnSpc>
                <a:spcPct val="130000"/>
              </a:lnSpc>
              <a:spcAft>
                <a:spcPts val="0"/>
              </a:spcAft>
            </a:pPr>
            <a:r>
              <a:rPr sz="1000" b="0">
                <a:solidFill>
                  <a:srgbClr val="E6EDF3"/>
                </a:solidFill>
                <a:latin typeface="Consolas"/>
              </a:rPr>
              <a:t>static const AnalyzerCfg CFG_ANALYZERS[] = {</a:t>
            </a:r>
          </a:p>
          <a:p>
            <a:pPr algn="l">
              <a:lnSpc>
                <a:spcPct val="130000"/>
              </a:lnSpc>
              <a:spcAft>
                <a:spcPts val="0"/>
              </a:spcAft>
            </a:pPr>
            <a:r>
              <a:rPr sz="1000" b="0">
                <a:solidFill>
                  <a:srgbClr val="E6EDF3"/>
                </a:solidFill>
                <a:latin typeface="Consolas"/>
              </a:rPr>
              <a:t>    { "an-01", "192.169.10.74", 502, 1, 5 },</a:t>
            </a:r>
          </a:p>
          <a:p>
            <a:pPr algn="l">
              <a:lnSpc>
                <a:spcPct val="130000"/>
              </a:lnSpc>
              <a:spcAft>
                <a:spcPts val="0"/>
              </a:spcAft>
            </a:pPr>
            <a:r>
              <a:rPr sz="1000" b="0">
                <a:solidFill>
                  <a:srgbClr val="4AD991"/>
                </a:solidFill>
                <a:latin typeface="Consolas"/>
              </a:rPr>
              <a:t>    { "an-02", "192.169.10.75", 502, 1, 5 },   // &lt;- new</a:t>
            </a:r>
          </a:p>
          <a:p>
            <a:pPr algn="l">
              <a:lnSpc>
                <a:spcPct val="130000"/>
              </a:lnSpc>
              <a:spcAft>
                <a:spcPts val="0"/>
              </a:spcAft>
            </a:pPr>
            <a:r>
              <a:rPr sz="1000" b="0">
                <a:solidFill>
                  <a:srgbClr val="E6EDF3"/>
                </a:solidFill>
                <a:latin typeface="Consolas"/>
              </a:rPr>
              <a:t>};</a:t>
            </a:r>
          </a:p>
          <a:p>
            <a:pPr algn="l">
              <a:lnSpc>
                <a:spcPct val="130000"/>
              </a:lnSpc>
              <a:spcAft>
                <a:spcPts val="0"/>
              </a:spcAft>
            </a:pPr>
            <a:r>
              <a:rPr sz="1000" b="0">
                <a:solidFill>
                  <a:srgbClr val="5A6878"/>
                </a:solidFill>
                <a:latin typeface="Consolas"/>
              </a:rPr>
              <a:t>#define CFG_MODEM_ID  "gw-01"   // per modem</a:t>
            </a:r>
          </a:p>
        </p:txBody>
      </p:sp>
      <p:sp>
        <p:nvSpPr>
          <p:cNvPr id="26" name="TextBox 25"/>
          <p:cNvSpPr txBox="1"/>
          <p:nvPr/>
        </p:nvSpPr>
        <p:spPr>
          <a:xfrm>
            <a:off x="640080" y="3657600"/>
            <a:ext cx="5577840" cy="822960"/>
          </a:xfrm>
          <a:prstGeom prst="rect">
            <a:avLst/>
          </a:prstGeom>
          <a:noFill/>
        </p:spPr>
        <p:txBody>
          <a:bodyPr wrap="square" lIns="0" tIns="0" rIns="0" bIns="0" anchor="t">
            <a:spAutoFit/>
          </a:bodyPr>
          <a:lstStyle/>
          <a:p>
            <a:pPr algn="l">
              <a:lnSpc>
                <a:spcPct val="140000"/>
              </a:lnSpc>
              <a:spcAft>
                <a:spcPts val="0"/>
              </a:spcAft>
            </a:pPr>
            <a:r>
              <a:rPr sz="1100" b="0" i="0">
                <a:solidFill>
                  <a:srgbClr val="8494A6"/>
                </a:solidFill>
                <a:latin typeface="Segoe UI"/>
              </a:rPr>
              <a:t>No topic changes, no app rebuild, no migration. The analyzer appears in the tree the moment the modem republishes its registry, named an-02 until someone names it properly from the phone.</a:t>
            </a:r>
          </a:p>
        </p:txBody>
      </p:sp>
      <p:sp>
        <p:nvSpPr>
          <p:cNvPr id="27" name="Rectangle 26"/>
          <p:cNvSpPr/>
          <p:nvPr/>
        </p:nvSpPr>
        <p:spPr>
          <a:xfrm>
            <a:off x="6492240" y="1481328"/>
            <a:ext cx="5056632" cy="11338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Rectangle 27"/>
          <p:cNvSpPr/>
          <p:nvPr/>
        </p:nvSpPr>
        <p:spPr>
          <a:xfrm>
            <a:off x="6492240" y="1481328"/>
            <a:ext cx="5056632" cy="3175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6693408" y="1609344"/>
            <a:ext cx="4663440" cy="237744"/>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1 · Per-modem credentials</a:t>
            </a:r>
          </a:p>
        </p:txBody>
      </p:sp>
      <p:sp>
        <p:nvSpPr>
          <p:cNvPr id="30" name="TextBox 29"/>
          <p:cNvSpPr txBox="1"/>
          <p:nvPr/>
        </p:nvSpPr>
        <p:spPr>
          <a:xfrm>
            <a:off x="6693408" y="1883664"/>
            <a:ext cx="4663440" cy="640080"/>
          </a:xfrm>
          <a:prstGeom prst="rect">
            <a:avLst/>
          </a:prstGeom>
          <a:noFill/>
        </p:spPr>
        <p:txBody>
          <a:bodyPr wrap="square" lIns="0" tIns="0" rIns="0" bIns="0" anchor="t">
            <a:spAutoFit/>
          </a:bodyPr>
          <a:lstStyle/>
          <a:p>
            <a:pPr algn="l">
              <a:lnSpc>
                <a:spcPct val="134000"/>
              </a:lnSpc>
              <a:spcAft>
                <a:spcPts val="0"/>
              </a:spcAft>
            </a:pPr>
            <a:r>
              <a:rPr sz="950" b="0" i="0">
                <a:solidFill>
                  <a:srgbClr val="8494A6"/>
                </a:solidFill>
                <a:latin typeface="Segoe UI"/>
              </a:rPr>
              <a:t>One broker user per modem, plus one head-end user, with the ACLs in docs/BROKER_ACL.md. This is the one item still open (BR-2) and the only one that is a security issue rather than a feature.</a:t>
            </a:r>
          </a:p>
        </p:txBody>
      </p:sp>
      <p:sp>
        <p:nvSpPr>
          <p:cNvPr id="31" name="Rectangle 30"/>
          <p:cNvSpPr/>
          <p:nvPr/>
        </p:nvSpPr>
        <p:spPr>
          <a:xfrm>
            <a:off x="6492240" y="2706624"/>
            <a:ext cx="5056632" cy="11338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Rectangle 31"/>
          <p:cNvSpPr/>
          <p:nvPr/>
        </p:nvSpPr>
        <p:spPr>
          <a:xfrm>
            <a:off x="6492240" y="2706624"/>
            <a:ext cx="5056632"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693408" y="2834640"/>
            <a:ext cx="4663440" cy="237744"/>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2 · Point it at your broker</a:t>
            </a:r>
          </a:p>
        </p:txBody>
      </p:sp>
      <p:sp>
        <p:nvSpPr>
          <p:cNvPr id="34" name="TextBox 33"/>
          <p:cNvSpPr txBox="1"/>
          <p:nvPr/>
        </p:nvSpPr>
        <p:spPr>
          <a:xfrm>
            <a:off x="6693408" y="3108960"/>
            <a:ext cx="4663440" cy="640080"/>
          </a:xfrm>
          <a:prstGeom prst="rect">
            <a:avLst/>
          </a:prstGeom>
          <a:noFill/>
        </p:spPr>
        <p:txBody>
          <a:bodyPr wrap="square" lIns="0" tIns="0" rIns="0" bIns="0" anchor="t">
            <a:spAutoFit/>
          </a:bodyPr>
          <a:lstStyle/>
          <a:p>
            <a:pPr algn="l">
              <a:lnSpc>
                <a:spcPct val="134000"/>
              </a:lnSpc>
              <a:spcAft>
                <a:spcPts val="0"/>
              </a:spcAft>
            </a:pPr>
            <a:r>
              <a:rPr sz="950" b="0" i="0">
                <a:solidFill>
                  <a:srgbClr val="8494A6"/>
                </a:solidFill>
                <a:latin typeface="Segoe UI"/>
              </a:rPr>
              <a:t>CFG_MQTT_HOST in config.h, and the app's Settings screen. Nothing else is broker-specific — no EMQX API, no vendor extension.</a:t>
            </a:r>
          </a:p>
        </p:txBody>
      </p:sp>
      <p:sp>
        <p:nvSpPr>
          <p:cNvPr id="35" name="Rectangle 34"/>
          <p:cNvSpPr/>
          <p:nvPr/>
        </p:nvSpPr>
        <p:spPr>
          <a:xfrm>
            <a:off x="6492240" y="3931920"/>
            <a:ext cx="5056632" cy="11338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Rectangle 35"/>
          <p:cNvSpPr/>
          <p:nvPr/>
        </p:nvSpPr>
        <p:spPr>
          <a:xfrm>
            <a:off x="6492240" y="3931920"/>
            <a:ext cx="5056632" cy="31750"/>
          </a:xfrm>
          <a:prstGeom prst="rect">
            <a:avLst/>
          </a:prstGeom>
          <a:solidFill>
            <a:srgbClr val="C89A5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6693408" y="4059935"/>
            <a:ext cx="4663440" cy="237744"/>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3 · Own the metadata</a:t>
            </a:r>
          </a:p>
        </p:txBody>
      </p:sp>
      <p:sp>
        <p:nvSpPr>
          <p:cNvPr id="38" name="TextBox 37"/>
          <p:cNvSpPr txBox="1"/>
          <p:nvPr/>
        </p:nvSpPr>
        <p:spPr>
          <a:xfrm>
            <a:off x="6693408" y="4334256"/>
            <a:ext cx="4663440" cy="640080"/>
          </a:xfrm>
          <a:prstGeom prst="rect">
            <a:avLst/>
          </a:prstGeom>
          <a:noFill/>
        </p:spPr>
        <p:txBody>
          <a:bodyPr wrap="square" lIns="0" tIns="0" rIns="0" bIns="0" anchor="t">
            <a:spAutoFit/>
          </a:bodyPr>
          <a:lstStyle/>
          <a:p>
            <a:pPr algn="l">
              <a:lnSpc>
                <a:spcPct val="134000"/>
              </a:lnSpc>
              <a:spcAft>
                <a:spcPts val="0"/>
              </a:spcAft>
            </a:pPr>
            <a:r>
              <a:rPr sz="950" b="0" i="0" dirty="0" err="1">
                <a:solidFill>
                  <a:srgbClr val="8494A6"/>
                </a:solidFill>
                <a:latin typeface="Segoe UI"/>
              </a:rPr>
              <a:t>osos</a:t>
            </a:r>
            <a:r>
              <a:rPr sz="950" b="0" i="0" dirty="0">
                <a:solidFill>
                  <a:srgbClr val="8494A6"/>
                </a:solidFill>
                <a:latin typeface="Segoe UI"/>
              </a:rPr>
              <a:t>/m/+/labels and </a:t>
            </a:r>
            <a:r>
              <a:rPr sz="950" b="0" i="0" dirty="0" err="1">
                <a:solidFill>
                  <a:srgbClr val="8494A6"/>
                </a:solidFill>
                <a:latin typeface="Segoe UI"/>
              </a:rPr>
              <a:t>osos</a:t>
            </a:r>
            <a:r>
              <a:rPr sz="950" b="0" i="0" dirty="0">
                <a:solidFill>
                  <a:srgbClr val="8494A6"/>
                </a:solidFill>
                <a:latin typeface="Segoe UI"/>
              </a:rPr>
              <a:t>/tree are retained JSON the app writes. A bridge into IKOM Data Manager subscribes to those two topics and the fleet is in your database, named.</a:t>
            </a:r>
          </a:p>
        </p:txBody>
      </p:sp>
      <p:sp>
        <p:nvSpPr>
          <p:cNvPr id="39" name="Rectangle 38"/>
          <p:cNvSpPr/>
          <p:nvPr/>
        </p:nvSpPr>
        <p:spPr>
          <a:xfrm>
            <a:off x="6492240" y="5157216"/>
            <a:ext cx="5056632" cy="1133856"/>
          </a:xfrm>
          <a:prstGeom prst="rect">
            <a:avLst/>
          </a:prstGeom>
          <a:solidFill>
            <a:srgbClr val="161C24"/>
          </a:solidFill>
          <a:ln w="12700">
            <a:solidFill>
              <a:srgbClr val="2C364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Rectangle 39"/>
          <p:cNvSpPr/>
          <p:nvPr/>
        </p:nvSpPr>
        <p:spPr>
          <a:xfrm>
            <a:off x="6492240" y="5157216"/>
            <a:ext cx="5056632" cy="31750"/>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6693408" y="5285231"/>
            <a:ext cx="4663440" cy="237744"/>
          </a:xfrm>
          <a:prstGeom prst="rect">
            <a:avLst/>
          </a:prstGeom>
          <a:noFill/>
        </p:spPr>
        <p:txBody>
          <a:bodyPr wrap="square" lIns="0" tIns="0" rIns="0" bIns="0" anchor="t">
            <a:spAutoFit/>
          </a:bodyPr>
          <a:lstStyle/>
          <a:p>
            <a:pPr algn="l">
              <a:lnSpc>
                <a:spcPct val="112000"/>
              </a:lnSpc>
              <a:spcAft>
                <a:spcPts val="0"/>
              </a:spcAft>
            </a:pPr>
            <a:r>
              <a:rPr sz="1200" b="0" i="0">
                <a:solidFill>
                  <a:srgbClr val="E6EDF3"/>
                </a:solidFill>
                <a:latin typeface="Bahnschrift SemiBold"/>
              </a:rPr>
              <a:t>4 · Store-and-forward first</a:t>
            </a:r>
          </a:p>
        </p:txBody>
      </p:sp>
      <p:sp>
        <p:nvSpPr>
          <p:cNvPr id="42" name="TextBox 41"/>
          <p:cNvSpPr txBox="1"/>
          <p:nvPr/>
        </p:nvSpPr>
        <p:spPr>
          <a:xfrm>
            <a:off x="6693408" y="5559552"/>
            <a:ext cx="4663440" cy="640080"/>
          </a:xfrm>
          <a:prstGeom prst="rect">
            <a:avLst/>
          </a:prstGeom>
          <a:noFill/>
        </p:spPr>
        <p:txBody>
          <a:bodyPr wrap="square" lIns="0" tIns="0" rIns="0" bIns="0" anchor="t">
            <a:spAutoFit/>
          </a:bodyPr>
          <a:lstStyle/>
          <a:p>
            <a:pPr algn="l">
              <a:lnSpc>
                <a:spcPct val="134000"/>
              </a:lnSpc>
              <a:spcAft>
                <a:spcPts val="0"/>
              </a:spcAft>
            </a:pPr>
            <a:r>
              <a:rPr sz="950" b="0" i="0">
                <a:solidFill>
                  <a:srgbClr val="8494A6"/>
                </a:solidFill>
                <a:latin typeface="Segoe UI"/>
              </a:rPr>
              <a:t>buffered is always false today. A reader that silently drops data during a network blip cannot be a system of record — this is the gate before any billing use.</a:t>
            </a:r>
          </a:p>
        </p:txBody>
      </p:sp>
      <p:sp>
        <p:nvSpPr>
          <p:cNvPr id="43" name="Rectangle 42"/>
          <p:cNvSpPr/>
          <p:nvPr/>
        </p:nvSpPr>
        <p:spPr>
          <a:xfrm>
            <a:off x="640080" y="4626864"/>
            <a:ext cx="5870448" cy="54864"/>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640081" y="4773167"/>
            <a:ext cx="5852160" cy="144911"/>
          </a:xfrm>
          <a:prstGeom prst="rect">
            <a:avLst/>
          </a:prstGeom>
          <a:noFill/>
        </p:spPr>
        <p:txBody>
          <a:bodyPr wrap="square" lIns="0" tIns="0" rIns="0" bIns="0" anchor="t">
            <a:spAutoFit/>
          </a:bodyPr>
          <a:lstStyle/>
          <a:p>
            <a:pPr algn="l">
              <a:lnSpc>
                <a:spcPct val="112000"/>
              </a:lnSpc>
              <a:spcAft>
                <a:spcPts val="0"/>
              </a:spcAft>
            </a:pPr>
            <a:r>
              <a:rPr sz="900" b="0" i="0">
                <a:solidFill>
                  <a:srgbClr val="4AD991"/>
                </a:solidFill>
                <a:latin typeface="Bahnschrift SemiBold"/>
              </a:rPr>
              <a:t>WHAT IS ALREADY VENDOR-NEUTRAL</a:t>
            </a:r>
          </a:p>
        </p:txBody>
      </p:sp>
      <p:sp>
        <p:nvSpPr>
          <p:cNvPr id="45" name="Rectangle 44"/>
          <p:cNvSpPr/>
          <p:nvPr/>
        </p:nvSpPr>
        <p:spPr>
          <a:xfrm>
            <a:off x="640080" y="5029200"/>
            <a:ext cx="10908792"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40080" y="5230368"/>
            <a:ext cx="3520440" cy="237744"/>
          </a:xfrm>
          <a:prstGeom prst="rect">
            <a:avLst/>
          </a:prstGeom>
          <a:noFill/>
        </p:spPr>
        <p:txBody>
          <a:bodyPr wrap="square" lIns="0" tIns="0" rIns="0" bIns="0" anchor="t">
            <a:spAutoFit/>
          </a:bodyPr>
          <a:lstStyle/>
          <a:p>
            <a:pPr algn="l">
              <a:lnSpc>
                <a:spcPct val="112000"/>
              </a:lnSpc>
              <a:spcAft>
                <a:spcPts val="0"/>
              </a:spcAft>
            </a:pPr>
            <a:r>
              <a:rPr sz="1100" b="0" i="0">
                <a:solidFill>
                  <a:srgbClr val="4AD991"/>
                </a:solidFill>
                <a:latin typeface="Consolas"/>
              </a:rPr>
              <a:t>The topic grammar</a:t>
            </a:r>
          </a:p>
        </p:txBody>
      </p:sp>
      <p:sp>
        <p:nvSpPr>
          <p:cNvPr id="47" name="TextBox 46"/>
          <p:cNvSpPr txBox="1"/>
          <p:nvPr/>
        </p:nvSpPr>
        <p:spPr>
          <a:xfrm>
            <a:off x="640080" y="5486400"/>
            <a:ext cx="3520440" cy="457200"/>
          </a:xfrm>
          <a:prstGeom prst="rect">
            <a:avLst/>
          </a:prstGeom>
          <a:noFill/>
        </p:spPr>
        <p:txBody>
          <a:bodyPr wrap="square" lIns="0" tIns="0" rIns="0" bIns="0" anchor="t">
            <a:spAutoFit/>
          </a:bodyPr>
          <a:lstStyle/>
          <a:p>
            <a:pPr algn="l">
              <a:lnSpc>
                <a:spcPct val="130000"/>
              </a:lnSpc>
              <a:spcAft>
                <a:spcPts val="0"/>
              </a:spcAft>
            </a:pPr>
            <a:r>
              <a:rPr sz="1000" b="0" i="0">
                <a:solidFill>
                  <a:srgbClr val="8494A6"/>
                </a:solidFill>
                <a:latin typeface="Segoe UI"/>
              </a:rPr>
              <a:t>one file per language, three implementations that must agree</a:t>
            </a:r>
          </a:p>
        </p:txBody>
      </p:sp>
      <p:sp>
        <p:nvSpPr>
          <p:cNvPr id="48" name="TextBox 47"/>
          <p:cNvSpPr txBox="1"/>
          <p:nvPr/>
        </p:nvSpPr>
        <p:spPr>
          <a:xfrm>
            <a:off x="4315968" y="5230368"/>
            <a:ext cx="3520440" cy="237744"/>
          </a:xfrm>
          <a:prstGeom prst="rect">
            <a:avLst/>
          </a:prstGeom>
          <a:noFill/>
        </p:spPr>
        <p:txBody>
          <a:bodyPr wrap="square" lIns="0" tIns="0" rIns="0" bIns="0" anchor="t">
            <a:spAutoFit/>
          </a:bodyPr>
          <a:lstStyle/>
          <a:p>
            <a:pPr algn="l">
              <a:lnSpc>
                <a:spcPct val="112000"/>
              </a:lnSpc>
              <a:spcAft>
                <a:spcPts val="0"/>
              </a:spcAft>
            </a:pPr>
            <a:r>
              <a:rPr sz="1100" b="0" i="0">
                <a:solidFill>
                  <a:srgbClr val="4AD991"/>
                </a:solidFill>
                <a:latin typeface="Consolas"/>
              </a:rPr>
              <a:t>The gateway</a:t>
            </a:r>
          </a:p>
        </p:txBody>
      </p:sp>
      <p:sp>
        <p:nvSpPr>
          <p:cNvPr id="49" name="TextBox 48"/>
          <p:cNvSpPr txBox="1"/>
          <p:nvPr/>
        </p:nvSpPr>
        <p:spPr>
          <a:xfrm>
            <a:off x="4315968" y="5486400"/>
            <a:ext cx="1901952" cy="379143"/>
          </a:xfrm>
          <a:prstGeom prst="rect">
            <a:avLst/>
          </a:prstGeom>
          <a:noFill/>
        </p:spPr>
        <p:txBody>
          <a:bodyPr wrap="square" lIns="0" tIns="0" rIns="0" bIns="0" anchor="t">
            <a:spAutoFit/>
          </a:bodyPr>
          <a:lstStyle/>
          <a:p>
            <a:pPr algn="l">
              <a:lnSpc>
                <a:spcPct val="130000"/>
              </a:lnSpc>
              <a:spcAft>
                <a:spcPts val="0"/>
              </a:spcAft>
            </a:pPr>
            <a:r>
              <a:rPr sz="1000" b="0" i="0" dirty="0">
                <a:solidFill>
                  <a:srgbClr val="8494A6"/>
                </a:solidFill>
                <a:latin typeface="Segoe UI"/>
              </a:rPr>
              <a:t>any Modbus TCP device, once its </a:t>
            </a:r>
            <a:endParaRPr lang="tr-TR" sz="1000" b="0" i="0" dirty="0">
              <a:solidFill>
                <a:srgbClr val="8494A6"/>
              </a:solidFill>
              <a:latin typeface="Segoe UI"/>
            </a:endParaRPr>
          </a:p>
          <a:p>
            <a:pPr algn="l">
              <a:lnSpc>
                <a:spcPct val="130000"/>
              </a:lnSpc>
              <a:spcAft>
                <a:spcPts val="0"/>
              </a:spcAft>
            </a:pPr>
            <a:r>
              <a:rPr sz="1000" b="0" i="0" dirty="0">
                <a:solidFill>
                  <a:srgbClr val="8494A6"/>
                </a:solidFill>
                <a:latin typeface="Segoe UI"/>
              </a:rPr>
              <a:t>register map is known</a:t>
            </a:r>
          </a:p>
        </p:txBody>
      </p:sp>
      <p:sp>
        <p:nvSpPr>
          <p:cNvPr id="50" name="TextBox 49"/>
          <p:cNvSpPr txBox="1"/>
          <p:nvPr/>
        </p:nvSpPr>
        <p:spPr>
          <a:xfrm>
            <a:off x="7991855" y="5230368"/>
            <a:ext cx="3520440" cy="237744"/>
          </a:xfrm>
          <a:prstGeom prst="rect">
            <a:avLst/>
          </a:prstGeom>
          <a:noFill/>
        </p:spPr>
        <p:txBody>
          <a:bodyPr wrap="square" lIns="0" tIns="0" rIns="0" bIns="0" anchor="t">
            <a:spAutoFit/>
          </a:bodyPr>
          <a:lstStyle/>
          <a:p>
            <a:pPr algn="l">
              <a:lnSpc>
                <a:spcPct val="112000"/>
              </a:lnSpc>
              <a:spcAft>
                <a:spcPts val="0"/>
              </a:spcAft>
            </a:pPr>
            <a:r>
              <a:rPr sz="1100" b="0" i="0">
                <a:solidFill>
                  <a:srgbClr val="4AD991"/>
                </a:solidFill>
                <a:latin typeface="Consolas"/>
              </a:rPr>
              <a:t>The app</a:t>
            </a:r>
          </a:p>
        </p:txBody>
      </p:sp>
      <p:sp>
        <p:nvSpPr>
          <p:cNvPr id="51" name="TextBox 50"/>
          <p:cNvSpPr txBox="1"/>
          <p:nvPr/>
        </p:nvSpPr>
        <p:spPr>
          <a:xfrm>
            <a:off x="7991855" y="5486400"/>
            <a:ext cx="3520440" cy="457200"/>
          </a:xfrm>
          <a:prstGeom prst="rect">
            <a:avLst/>
          </a:prstGeom>
          <a:noFill/>
        </p:spPr>
        <p:txBody>
          <a:bodyPr wrap="square" lIns="0" tIns="0" rIns="0" bIns="0" anchor="t">
            <a:spAutoFit/>
          </a:bodyPr>
          <a:lstStyle/>
          <a:p>
            <a:pPr algn="l">
              <a:lnSpc>
                <a:spcPct val="130000"/>
              </a:lnSpc>
              <a:spcAft>
                <a:spcPts val="0"/>
              </a:spcAft>
            </a:pPr>
            <a:r>
              <a:rPr sz="1000" b="0" i="0">
                <a:solidFill>
                  <a:srgbClr val="8494A6"/>
                </a:solidFill>
                <a:latin typeface="Segoe UI"/>
              </a:rPr>
              <a:t>subscribes fleet-wide; it has no idea what a DKM-440 is</a:t>
            </a:r>
          </a:p>
        </p:txBody>
      </p:sp>
      <p:sp>
        <p:nvSpPr>
          <p:cNvPr id="52" name="TextBox 51"/>
          <p:cNvSpPr txBox="1"/>
          <p:nvPr/>
        </p:nvSpPr>
        <p:spPr>
          <a:xfrm>
            <a:off x="640080" y="6035040"/>
            <a:ext cx="4727050" cy="368114"/>
          </a:xfrm>
          <a:prstGeom prst="rect">
            <a:avLst/>
          </a:prstGeom>
          <a:noFill/>
        </p:spPr>
        <p:txBody>
          <a:bodyPr wrap="square" lIns="0" tIns="0" rIns="0" bIns="0" anchor="t">
            <a:spAutoFit/>
          </a:bodyPr>
          <a:lstStyle/>
          <a:p>
            <a:pPr algn="l">
              <a:lnSpc>
                <a:spcPct val="112000"/>
              </a:lnSpc>
              <a:spcAft>
                <a:spcPts val="0"/>
              </a:spcAft>
            </a:pPr>
            <a:r>
              <a:rPr sz="1100" b="0" i="0" dirty="0">
                <a:solidFill>
                  <a:srgbClr val="5A6878"/>
                </a:solidFill>
                <a:latin typeface="Consolas"/>
              </a:rPr>
              <a:t>The register map is the part that is specific to this meter. Everything above it moves.</a:t>
            </a:r>
          </a:p>
        </p:txBody>
      </p:sp>
      <p:sp>
        <p:nvSpPr>
          <p:cNvPr id="53" name="Rectangle 52"/>
          <p:cNvSpPr/>
          <p:nvPr/>
        </p:nvSpPr>
        <p:spPr>
          <a:xfrm>
            <a:off x="640080" y="6382512"/>
            <a:ext cx="10908792" cy="9525"/>
          </a:xfrm>
          <a:prstGeom prst="rect">
            <a:avLst/>
          </a:prstGeom>
          <a:solidFill>
            <a:srgbClr val="2C364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4" name="TextBox 53"/>
          <p:cNvSpPr txBox="1"/>
          <p:nvPr/>
        </p:nvSpPr>
        <p:spPr>
          <a:xfrm>
            <a:off x="640080" y="6492240"/>
            <a:ext cx="7315200" cy="237744"/>
          </a:xfrm>
          <a:prstGeom prst="rect">
            <a:avLst/>
          </a:prstGeom>
          <a:noFill/>
        </p:spPr>
        <p:txBody>
          <a:bodyPr wrap="square" lIns="0" tIns="0" rIns="0" bIns="0" anchor="t">
            <a:spAutoFit/>
          </a:bodyPr>
          <a:lstStyle/>
          <a:p>
            <a:pPr algn="l">
              <a:lnSpc>
                <a:spcPct val="112000"/>
              </a:lnSpc>
              <a:spcAft>
                <a:spcPts val="0"/>
              </a:spcAft>
            </a:pPr>
            <a:r>
              <a:rPr sz="850" b="0" i="0">
                <a:solidFill>
                  <a:srgbClr val="5A6878"/>
                </a:solidFill>
                <a:latin typeface="Consolas"/>
              </a:rPr>
              <a:t>OSOS · DKM-440 remote meter reading</a:t>
            </a:r>
          </a:p>
        </p:txBody>
      </p:sp>
      <p:sp>
        <p:nvSpPr>
          <p:cNvPr id="55" name="TextBox 54"/>
          <p:cNvSpPr txBox="1"/>
          <p:nvPr/>
        </p:nvSpPr>
        <p:spPr>
          <a:xfrm>
            <a:off x="10177272" y="6492240"/>
            <a:ext cx="1371600" cy="237744"/>
          </a:xfrm>
          <a:prstGeom prst="rect">
            <a:avLst/>
          </a:prstGeom>
          <a:noFill/>
        </p:spPr>
        <p:txBody>
          <a:bodyPr wrap="square" lIns="0" tIns="0" rIns="0" bIns="0" anchor="t">
            <a:spAutoFit/>
          </a:bodyPr>
          <a:lstStyle/>
          <a:p>
            <a:pPr algn="r">
              <a:lnSpc>
                <a:spcPct val="112000"/>
              </a:lnSpc>
              <a:spcAft>
                <a:spcPts val="0"/>
              </a:spcAft>
            </a:pPr>
            <a:r>
              <a:rPr sz="850" b="0" i="0">
                <a:solidFill>
                  <a:srgbClr val="5A6878"/>
                </a:solidFill>
                <a:latin typeface="Consolas"/>
              </a:rPr>
              <a:t>17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868680" y="1188720"/>
            <a:ext cx="9144000" cy="274320"/>
          </a:xfrm>
          <a:prstGeom prst="rect">
            <a:avLst/>
          </a:prstGeom>
          <a:noFill/>
        </p:spPr>
        <p:txBody>
          <a:bodyPr wrap="square" lIns="0" tIns="0" rIns="0" bIns="0" anchor="t">
            <a:spAutoFit/>
          </a:bodyPr>
          <a:lstStyle/>
          <a:p>
            <a:pPr algn="l">
              <a:lnSpc>
                <a:spcPct val="112000"/>
              </a:lnSpc>
              <a:spcAft>
                <a:spcPts val="0"/>
              </a:spcAft>
            </a:pPr>
            <a:r>
              <a:rPr sz="1050" b="0" i="0">
                <a:solidFill>
                  <a:srgbClr val="63D2E8"/>
                </a:solidFill>
                <a:latin typeface="Consolas"/>
              </a:rPr>
              <a:t>IN ONE SENTENCE</a:t>
            </a:r>
          </a:p>
        </p:txBody>
      </p:sp>
      <p:sp>
        <p:nvSpPr>
          <p:cNvPr id="5" name="TextBox 4"/>
          <p:cNvSpPr txBox="1"/>
          <p:nvPr/>
        </p:nvSpPr>
        <p:spPr>
          <a:xfrm>
            <a:off x="841248" y="1609344"/>
            <a:ext cx="10424160" cy="1828800"/>
          </a:xfrm>
          <a:prstGeom prst="rect">
            <a:avLst/>
          </a:prstGeom>
          <a:noFill/>
        </p:spPr>
        <p:txBody>
          <a:bodyPr wrap="square" lIns="0" tIns="0" rIns="0" bIns="0" anchor="t">
            <a:spAutoFit/>
          </a:bodyPr>
          <a:lstStyle/>
          <a:p>
            <a:pPr algn="l">
              <a:lnSpc>
                <a:spcPct val="112000"/>
              </a:lnSpc>
              <a:spcAft>
                <a:spcPts val="0"/>
              </a:spcAft>
            </a:pPr>
            <a:r>
              <a:rPr sz="3600" b="0" i="0">
                <a:solidFill>
                  <a:srgbClr val="E6EDF3"/>
                </a:solidFill>
                <a:latin typeface="Bahnschrift SemiBold"/>
              </a:rPr>
              <a:t>A register inside an industrial meter</a:t>
            </a:r>
          </a:p>
          <a:p>
            <a:pPr algn="l">
              <a:lnSpc>
                <a:spcPct val="112000"/>
              </a:lnSpc>
              <a:spcAft>
                <a:spcPts val="0"/>
              </a:spcAft>
            </a:pPr>
            <a:r>
              <a:rPr sz="3600" b="0" i="0">
                <a:solidFill>
                  <a:srgbClr val="E6EDF3"/>
                </a:solidFill>
                <a:latin typeface="Bahnschrift SemiBold"/>
              </a:rPr>
              <a:t>now reaches a phone in five seconds,</a:t>
            </a:r>
          </a:p>
          <a:p>
            <a:pPr algn="l">
              <a:lnSpc>
                <a:spcPct val="112000"/>
              </a:lnSpc>
              <a:spcAft>
                <a:spcPts val="0"/>
              </a:spcAft>
            </a:pPr>
            <a:r>
              <a:rPr sz="3600" b="0" i="0">
                <a:solidFill>
                  <a:srgbClr val="E6EDF3"/>
                </a:solidFill>
                <a:latin typeface="Bahnschrift SemiBold"/>
              </a:rPr>
              <a:t>and a drawing sends one back.</a:t>
            </a:r>
          </a:p>
        </p:txBody>
      </p:sp>
      <p:sp>
        <p:nvSpPr>
          <p:cNvPr id="6" name="Rectangle 5"/>
          <p:cNvSpPr/>
          <p:nvPr/>
        </p:nvSpPr>
        <p:spPr>
          <a:xfrm>
            <a:off x="868680" y="3749039"/>
            <a:ext cx="1463040" cy="31750"/>
          </a:xfrm>
          <a:prstGeom prst="rect">
            <a:avLst/>
          </a:prstGeom>
          <a:solidFill>
            <a:srgbClr val="63D2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868680" y="4059936"/>
            <a:ext cx="4937760" cy="1463040"/>
          </a:xfrm>
          <a:prstGeom prst="rect">
            <a:avLst/>
          </a:prstGeom>
          <a:noFill/>
        </p:spPr>
        <p:txBody>
          <a:bodyPr wrap="square" lIns="0" tIns="0" rIns="0" bIns="0" anchor="t">
            <a:spAutoFit/>
          </a:bodyPr>
          <a:lstStyle/>
          <a:p>
            <a:pPr algn="l">
              <a:lnSpc>
                <a:spcPct val="150000"/>
              </a:lnSpc>
              <a:spcAft>
                <a:spcPts val="0"/>
              </a:spcAft>
            </a:pPr>
            <a:r>
              <a:rPr sz="1300" b="0" i="0">
                <a:solidFill>
                  <a:srgbClr val="8494A6"/>
                </a:solidFill>
                <a:latin typeface="Segoe UI"/>
              </a:rPr>
              <a:t>Everything between those two ends — the polite-master pacing, the one-UART constraint, the least-squares register hunt, the TLS buffer negotiation, the confidence gate — is the actual work. The demo is the receipt.</a:t>
            </a:r>
          </a:p>
        </p:txBody>
      </p:sp>
      <p:sp>
        <p:nvSpPr>
          <p:cNvPr id="8" name="TextBox 7"/>
          <p:cNvSpPr txBox="1"/>
          <p:nvPr/>
        </p:nvSpPr>
        <p:spPr>
          <a:xfrm>
            <a:off x="6492240" y="4059936"/>
            <a:ext cx="5029200" cy="237744"/>
          </a:xfrm>
          <a:prstGeom prst="rect">
            <a:avLst/>
          </a:prstGeom>
          <a:noFill/>
        </p:spPr>
        <p:txBody>
          <a:bodyPr wrap="square" lIns="0" tIns="0" rIns="0" bIns="0" anchor="t">
            <a:spAutoFit/>
          </a:bodyPr>
          <a:lstStyle/>
          <a:p>
            <a:pPr algn="l">
              <a:lnSpc>
                <a:spcPct val="112000"/>
              </a:lnSpc>
              <a:spcAft>
                <a:spcPts val="0"/>
              </a:spcAft>
            </a:pPr>
            <a:r>
              <a:rPr sz="900" b="0" i="0">
                <a:solidFill>
                  <a:srgbClr val="FFA928"/>
                </a:solidFill>
                <a:latin typeface="Bahnschrift SemiBold"/>
              </a:rPr>
              <a:t>STILL OWED</a:t>
            </a:r>
          </a:p>
        </p:txBody>
      </p:sp>
      <p:sp>
        <p:nvSpPr>
          <p:cNvPr id="9" name="Rectangle 8"/>
          <p:cNvSpPr/>
          <p:nvPr/>
        </p:nvSpPr>
        <p:spPr>
          <a:xfrm>
            <a:off x="6492240" y="4315968"/>
            <a:ext cx="5029200" cy="9525"/>
          </a:xfrm>
          <a:prstGeom prst="rect">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ectangle 9"/>
          <p:cNvSpPr/>
          <p:nvPr/>
        </p:nvSpPr>
        <p:spPr>
          <a:xfrm>
            <a:off x="6492240" y="455371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6693408" y="4498848"/>
            <a:ext cx="4846320" cy="365760"/>
          </a:xfrm>
          <a:prstGeom prst="rect">
            <a:avLst/>
          </a:prstGeom>
          <a:noFill/>
        </p:spPr>
        <p:txBody>
          <a:bodyPr wrap="square" lIns="0" tIns="0" rIns="0" bIns="0" anchor="t">
            <a:spAutoFit/>
          </a:bodyPr>
          <a:lstStyle/>
          <a:p>
            <a:pPr algn="l">
              <a:lnSpc>
                <a:spcPct val="130000"/>
              </a:lnSpc>
              <a:spcAft>
                <a:spcPts val="0"/>
              </a:spcAft>
            </a:pPr>
            <a:r>
              <a:rPr sz="1100" b="0" i="0">
                <a:solidFill>
                  <a:srgbClr val="8494A6"/>
                </a:solidFill>
                <a:latin typeface="Segoe UI"/>
              </a:rPr>
              <a:t>flashing v0.4 to the ESP8266 — it compiles, it has not run</a:t>
            </a:r>
          </a:p>
        </p:txBody>
      </p:sp>
      <p:sp>
        <p:nvSpPr>
          <p:cNvPr id="12" name="Rectangle 11"/>
          <p:cNvSpPr/>
          <p:nvPr/>
        </p:nvSpPr>
        <p:spPr>
          <a:xfrm>
            <a:off x="6492240" y="491947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6693408" y="4864608"/>
            <a:ext cx="4846320" cy="365760"/>
          </a:xfrm>
          <a:prstGeom prst="rect">
            <a:avLst/>
          </a:prstGeom>
          <a:noFill/>
        </p:spPr>
        <p:txBody>
          <a:bodyPr wrap="square" lIns="0" tIns="0" rIns="0" bIns="0" anchor="t">
            <a:spAutoFit/>
          </a:bodyPr>
          <a:lstStyle/>
          <a:p>
            <a:pPr algn="l">
              <a:lnSpc>
                <a:spcPct val="130000"/>
              </a:lnSpc>
              <a:spcAft>
                <a:spcPts val="0"/>
              </a:spcAft>
            </a:pPr>
            <a:r>
              <a:rPr sz="1100" b="0" i="0">
                <a:solidFill>
                  <a:srgbClr val="8494A6"/>
                </a:solidFill>
                <a:latin typeface="Segoe UI"/>
              </a:rPr>
              <a:t>broker role separation and ACLs</a:t>
            </a:r>
          </a:p>
        </p:txBody>
      </p:sp>
      <p:sp>
        <p:nvSpPr>
          <p:cNvPr id="14" name="Rectangle 13"/>
          <p:cNvSpPr/>
          <p:nvPr/>
        </p:nvSpPr>
        <p:spPr>
          <a:xfrm>
            <a:off x="6492240" y="528523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6693408" y="5230368"/>
            <a:ext cx="4846320" cy="365760"/>
          </a:xfrm>
          <a:prstGeom prst="rect">
            <a:avLst/>
          </a:prstGeom>
          <a:noFill/>
        </p:spPr>
        <p:txBody>
          <a:bodyPr wrap="square" lIns="0" tIns="0" rIns="0" bIns="0" anchor="t">
            <a:spAutoFit/>
          </a:bodyPr>
          <a:lstStyle/>
          <a:p>
            <a:pPr algn="l">
              <a:lnSpc>
                <a:spcPct val="130000"/>
              </a:lnSpc>
              <a:spcAft>
                <a:spcPts val="0"/>
              </a:spcAft>
            </a:pPr>
            <a:r>
              <a:rPr sz="1100" b="0" i="0">
                <a:solidFill>
                  <a:srgbClr val="8494A6"/>
                </a:solidFill>
                <a:latin typeface="Segoe UI"/>
              </a:rPr>
              <a:t>the awake-vs-asleep current, measured not assumed</a:t>
            </a:r>
          </a:p>
        </p:txBody>
      </p:sp>
      <p:sp>
        <p:nvSpPr>
          <p:cNvPr id="16" name="Rectangle 15"/>
          <p:cNvSpPr/>
          <p:nvPr/>
        </p:nvSpPr>
        <p:spPr>
          <a:xfrm>
            <a:off x="6492240" y="5650992"/>
            <a:ext cx="64008" cy="64008"/>
          </a:xfrm>
          <a:prstGeom prst="rect">
            <a:avLst/>
          </a:prstGeom>
          <a:solidFill>
            <a:srgbClr val="FFA92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6693408" y="5596128"/>
            <a:ext cx="4846320" cy="365760"/>
          </a:xfrm>
          <a:prstGeom prst="rect">
            <a:avLst/>
          </a:prstGeom>
          <a:noFill/>
        </p:spPr>
        <p:txBody>
          <a:bodyPr wrap="square" lIns="0" tIns="0" rIns="0" bIns="0" anchor="t">
            <a:spAutoFit/>
          </a:bodyPr>
          <a:lstStyle/>
          <a:p>
            <a:pPr algn="l">
              <a:lnSpc>
                <a:spcPct val="130000"/>
              </a:lnSpc>
              <a:spcAft>
                <a:spcPts val="0"/>
              </a:spcAft>
            </a:pPr>
            <a:r>
              <a:rPr sz="1100" b="0" i="0">
                <a:solidFill>
                  <a:srgbClr val="8494A6"/>
                </a:solidFill>
                <a:latin typeface="Segoe UI"/>
              </a:rPr>
              <a:t>a DMM across the meter's own supply terminals</a:t>
            </a:r>
          </a:p>
        </p:txBody>
      </p:sp>
      <p:sp>
        <p:nvSpPr>
          <p:cNvPr id="18" name="Rectangle 17"/>
          <p:cNvSpPr/>
          <p:nvPr/>
        </p:nvSpPr>
        <p:spPr>
          <a:xfrm>
            <a:off x="938631" y="60702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Rectangle 18"/>
          <p:cNvSpPr/>
          <p:nvPr/>
        </p:nvSpPr>
        <p:spPr>
          <a:xfrm>
            <a:off x="829818" y="60350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257175" y="61813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METER</a:t>
            </a:r>
          </a:p>
        </p:txBody>
      </p:sp>
      <p:sp>
        <p:nvSpPr>
          <p:cNvPr id="21" name="Rectangle 20"/>
          <p:cNvSpPr/>
          <p:nvPr/>
        </p:nvSpPr>
        <p:spPr>
          <a:xfrm>
            <a:off x="2161641" y="60702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p:cNvSpPr/>
          <p:nvPr/>
        </p:nvSpPr>
        <p:spPr>
          <a:xfrm>
            <a:off x="2052827" y="60350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1480184" y="61813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GATEWAY</a:t>
            </a:r>
          </a:p>
        </p:txBody>
      </p:sp>
      <p:sp>
        <p:nvSpPr>
          <p:cNvPr id="24" name="Rectangle 23"/>
          <p:cNvSpPr/>
          <p:nvPr/>
        </p:nvSpPr>
        <p:spPr>
          <a:xfrm>
            <a:off x="3384651" y="60702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Rectangle 24"/>
          <p:cNvSpPr/>
          <p:nvPr/>
        </p:nvSpPr>
        <p:spPr>
          <a:xfrm>
            <a:off x="3275838" y="60350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2703195" y="61813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BROKER</a:t>
            </a:r>
          </a:p>
        </p:txBody>
      </p:sp>
      <p:sp>
        <p:nvSpPr>
          <p:cNvPr id="27" name="Rectangle 26"/>
          <p:cNvSpPr/>
          <p:nvPr/>
        </p:nvSpPr>
        <p:spPr>
          <a:xfrm>
            <a:off x="4607661" y="6070244"/>
            <a:ext cx="1083106" cy="12700"/>
          </a:xfrm>
          <a:prstGeom prst="rect">
            <a:avLst/>
          </a:prstGeom>
          <a:solidFill>
            <a:srgbClr val="2E7D8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Rectangle 27"/>
          <p:cNvSpPr/>
          <p:nvPr/>
        </p:nvSpPr>
        <p:spPr>
          <a:xfrm>
            <a:off x="4498847" y="60350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3926204" y="61813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PHONE</a:t>
            </a:r>
          </a:p>
        </p:txBody>
      </p:sp>
      <p:sp>
        <p:nvSpPr>
          <p:cNvPr id="30" name="Rectangle 29"/>
          <p:cNvSpPr/>
          <p:nvPr/>
        </p:nvSpPr>
        <p:spPr>
          <a:xfrm>
            <a:off x="5721857" y="6035040"/>
            <a:ext cx="77724" cy="77724"/>
          </a:xfrm>
          <a:prstGeom prst="rect">
            <a:avLst/>
          </a:prstGeom>
          <a:solidFill>
            <a:srgbClr val="63D2E8"/>
          </a:solidFill>
          <a:ln w="12700">
            <a:solidFill>
              <a:srgbClr val="63D2E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5149215" y="6181344"/>
            <a:ext cx="1223010" cy="201168"/>
          </a:xfrm>
          <a:prstGeom prst="rect">
            <a:avLst/>
          </a:prstGeom>
          <a:noFill/>
        </p:spPr>
        <p:txBody>
          <a:bodyPr wrap="square" lIns="0" tIns="0" rIns="0" bIns="0" anchor="t">
            <a:spAutoFit/>
          </a:bodyPr>
          <a:lstStyle/>
          <a:p>
            <a:pPr algn="ctr">
              <a:lnSpc>
                <a:spcPct val="100000"/>
              </a:lnSpc>
              <a:spcAft>
                <a:spcPts val="0"/>
              </a:spcAft>
            </a:pPr>
            <a:r>
              <a:rPr sz="750" b="0" i="0">
                <a:solidFill>
                  <a:srgbClr val="63D2E8"/>
                </a:solidFill>
                <a:latin typeface="Bahnschrift SemiBold"/>
              </a:rPr>
              <a:t>NET</a:t>
            </a:r>
          </a:p>
        </p:txBody>
      </p:sp>
      <p:sp>
        <p:nvSpPr>
          <p:cNvPr id="32" name="TextBox 31"/>
          <p:cNvSpPr txBox="1"/>
          <p:nvPr/>
        </p:nvSpPr>
        <p:spPr>
          <a:xfrm>
            <a:off x="6492240" y="6053328"/>
            <a:ext cx="5029200" cy="274320"/>
          </a:xfrm>
          <a:prstGeom prst="rect">
            <a:avLst/>
          </a:prstGeom>
          <a:noFill/>
        </p:spPr>
        <p:txBody>
          <a:bodyPr wrap="square" lIns="0" tIns="0" rIns="0" bIns="0" anchor="t">
            <a:spAutoFit/>
          </a:bodyPr>
          <a:lstStyle/>
          <a:p>
            <a:pPr algn="r">
              <a:lnSpc>
                <a:spcPct val="112000"/>
              </a:lnSpc>
              <a:spcAft>
                <a:spcPts val="0"/>
              </a:spcAft>
            </a:pPr>
            <a:r>
              <a:rPr sz="1000" b="0" i="0">
                <a:solidFill>
                  <a:srgbClr val="5A6878"/>
                </a:solidFill>
                <a:latin typeface="Consolas"/>
              </a:rPr>
              <a:t>SRS-00 · SRS-01 · SRS-02   ·   delivery 2026-08-06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4875</Words>
  <Application>Microsoft Office PowerPoint</Application>
  <PresentationFormat>Widescreen</PresentationFormat>
  <Paragraphs>659</Paragraphs>
  <Slides>20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Bahnschrift SemiBold</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AHMET TUĞRUL ALTINÜZENGİ</cp:lastModifiedBy>
  <cp:revision>2</cp:revision>
  <dcterms:created xsi:type="dcterms:W3CDTF">2013-01-27T09:14:16Z</dcterms:created>
  <dcterms:modified xsi:type="dcterms:W3CDTF">2026-08-06T20:36:27Z</dcterms:modified>
  <cp:category/>
</cp:coreProperties>
</file>
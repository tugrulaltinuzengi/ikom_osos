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75" r:id="rId12"/>
    <p:sldId id="266" r:id="rId13"/>
    <p:sldId id="267" r:id="rId14"/>
    <p:sldId id="268" r:id="rId15"/>
    <p:sldId id="269" r:id="rId16"/>
    <p:sldId id="270" r:id="rId17"/>
    <p:sldId id="271" r:id="rId18"/>
    <p:sldId id="272" r:id="rId19"/>
    <p:sldId id="273" r:id="rId20"/>
    <p:sldId id="274"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2" d="100"/>
          <a:sy n="72" d="100"/>
        </p:scale>
        <p:origin x="90" y="18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7.xml"/><Relationship Id="rId4" Type="http://schemas.openxmlformats.org/officeDocument/2006/relationships/image" Target="../media/image4.jpg"/></Relationships>
</file>

<file path=ppt/slides/_rels/slide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D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hero-dkm.jpg"/>
          <p:cNvPicPr>
            <a:picLocks noChangeAspect="1"/>
          </p:cNvPicPr>
          <p:nvPr/>
        </p:nvPicPr>
        <p:blipFill>
          <a:blip r:embed="rId2"/>
          <a:stretch>
            <a:fillRect/>
          </a:stretch>
        </p:blipFill>
        <p:spPr>
          <a:xfrm>
            <a:off x="7452360" y="0"/>
            <a:ext cx="5130673" cy="6858000"/>
          </a:xfrm>
          <a:prstGeom prst="rect">
            <a:avLst/>
          </a:prstGeom>
        </p:spPr>
      </p:pic>
      <p:sp>
        <p:nvSpPr>
          <p:cNvPr id="4" name="Rectangle 3"/>
          <p:cNvSpPr/>
          <p:nvPr/>
        </p:nvSpPr>
        <p:spPr>
          <a:xfrm>
            <a:off x="7452360" y="0"/>
            <a:ext cx="155448" cy="6858000"/>
          </a:xfrm>
          <a:prstGeom prst="rect">
            <a:avLst/>
          </a:prstGeom>
          <a:solidFill>
            <a:srgbClr val="0D111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Rectangle 4"/>
          <p:cNvSpPr/>
          <p:nvPr/>
        </p:nvSpPr>
        <p:spPr>
          <a:xfrm>
            <a:off x="7598664" y="0"/>
            <a:ext cx="155448" cy="6858000"/>
          </a:xfrm>
          <a:prstGeom prst="rect">
            <a:avLst/>
          </a:prstGeom>
          <a:solidFill>
            <a:srgbClr val="161C2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Rectangle 5"/>
          <p:cNvSpPr/>
          <p:nvPr/>
        </p:nvSpPr>
        <p:spPr>
          <a:xfrm>
            <a:off x="7744968" y="0"/>
            <a:ext cx="155448" cy="6858000"/>
          </a:xfrm>
          <a:prstGeom prst="rect">
            <a:avLst/>
          </a:prstGeom>
          <a:solidFill>
            <a:srgbClr val="161C2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Rectangle 6"/>
          <p:cNvSpPr/>
          <p:nvPr/>
        </p:nvSpPr>
        <p:spPr>
          <a:xfrm>
            <a:off x="7891272" y="0"/>
            <a:ext cx="155448" cy="6858000"/>
          </a:xfrm>
          <a:prstGeom prst="rect">
            <a:avLst/>
          </a:prstGeom>
          <a:solidFill>
            <a:srgbClr val="161C2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Rectangle 7"/>
          <p:cNvSpPr/>
          <p:nvPr/>
        </p:nvSpPr>
        <p:spPr>
          <a:xfrm>
            <a:off x="7452360" y="0"/>
            <a:ext cx="146304" cy="6858000"/>
          </a:xfrm>
          <a:prstGeom prst="rect">
            <a:avLst/>
          </a:prstGeom>
          <a:solidFill>
            <a:srgbClr val="0D111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Rectangle 8"/>
          <p:cNvSpPr/>
          <p:nvPr/>
        </p:nvSpPr>
        <p:spPr>
          <a:xfrm>
            <a:off x="8037575" y="0"/>
            <a:ext cx="12700" cy="6858000"/>
          </a:xfrm>
          <a:prstGeom prst="rect">
            <a:avLst/>
          </a:prstGeom>
          <a:solidFill>
            <a:srgbClr val="2C364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Rectangle 9"/>
          <p:cNvSpPr/>
          <p:nvPr/>
        </p:nvSpPr>
        <p:spPr>
          <a:xfrm>
            <a:off x="0" y="0"/>
            <a:ext cx="146304" cy="6858000"/>
          </a:xfrm>
          <a:prstGeom prst="rect">
            <a:avLst/>
          </a:prstGeom>
          <a:solidFill>
            <a:srgbClr val="63D2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868680" y="1207008"/>
            <a:ext cx="6766560" cy="274320"/>
          </a:xfrm>
          <a:prstGeom prst="rect">
            <a:avLst/>
          </a:prstGeom>
          <a:noFill/>
        </p:spPr>
        <p:txBody>
          <a:bodyPr wrap="square" lIns="0" tIns="0" rIns="0" bIns="0" anchor="t">
            <a:spAutoFit/>
          </a:bodyPr>
          <a:lstStyle/>
          <a:p>
            <a:pPr algn="l">
              <a:lnSpc>
                <a:spcPct val="112000"/>
              </a:lnSpc>
              <a:spcAft>
                <a:spcPts val="0"/>
              </a:spcAft>
            </a:pPr>
            <a:r>
              <a:rPr sz="1050" b="0" i="0">
                <a:solidFill>
                  <a:srgbClr val="63D2E8"/>
                </a:solidFill>
                <a:latin typeface="Consolas"/>
              </a:rPr>
              <a:t>IKOM  ·  STAJ TESLİMİ  ·  2026-08-06</a:t>
            </a:r>
          </a:p>
        </p:txBody>
      </p:sp>
      <p:sp>
        <p:nvSpPr>
          <p:cNvPr id="12" name="TextBox 11"/>
          <p:cNvSpPr txBox="1"/>
          <p:nvPr/>
        </p:nvSpPr>
        <p:spPr>
          <a:xfrm>
            <a:off x="841248" y="1664208"/>
            <a:ext cx="6949440" cy="2011680"/>
          </a:xfrm>
          <a:prstGeom prst="rect">
            <a:avLst/>
          </a:prstGeom>
          <a:noFill/>
        </p:spPr>
        <p:txBody>
          <a:bodyPr wrap="square" lIns="0" tIns="0" rIns="0" bIns="0" anchor="t">
            <a:spAutoFit/>
          </a:bodyPr>
          <a:lstStyle/>
          <a:p>
            <a:pPr algn="l">
              <a:lnSpc>
                <a:spcPct val="100000"/>
              </a:lnSpc>
              <a:spcAft>
                <a:spcPts val="0"/>
              </a:spcAft>
            </a:pPr>
            <a:r>
              <a:rPr sz="4400" b="0" i="0">
                <a:solidFill>
                  <a:srgbClr val="E6EDF3"/>
                </a:solidFill>
                <a:latin typeface="Bahnschrift SemiBold"/>
              </a:rPr>
              <a:t>Reading a power</a:t>
            </a:r>
          </a:p>
          <a:p>
            <a:pPr algn="l">
              <a:lnSpc>
                <a:spcPct val="100000"/>
              </a:lnSpc>
              <a:spcAft>
                <a:spcPts val="0"/>
              </a:spcAft>
            </a:pPr>
            <a:r>
              <a:rPr sz="4400" b="0" i="0">
                <a:solidFill>
                  <a:srgbClr val="E6EDF3"/>
                </a:solidFill>
                <a:latin typeface="Bahnschrift SemiBold"/>
              </a:rPr>
              <a:t>analyser from a phone</a:t>
            </a:r>
          </a:p>
        </p:txBody>
      </p:sp>
      <p:sp>
        <p:nvSpPr>
          <p:cNvPr id="13" name="Rectangle 12"/>
          <p:cNvSpPr/>
          <p:nvPr/>
        </p:nvSpPr>
        <p:spPr>
          <a:xfrm>
            <a:off x="868680" y="3401568"/>
            <a:ext cx="1463040" cy="31750"/>
          </a:xfrm>
          <a:prstGeom prst="rect">
            <a:avLst/>
          </a:prstGeom>
          <a:solidFill>
            <a:srgbClr val="63D2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TextBox 13"/>
          <p:cNvSpPr txBox="1"/>
          <p:nvPr/>
        </p:nvSpPr>
        <p:spPr>
          <a:xfrm>
            <a:off x="868680" y="3712463"/>
            <a:ext cx="6400800" cy="1371600"/>
          </a:xfrm>
          <a:prstGeom prst="rect">
            <a:avLst/>
          </a:prstGeom>
          <a:noFill/>
        </p:spPr>
        <p:txBody>
          <a:bodyPr wrap="square" lIns="0" tIns="0" rIns="0" bIns="0" anchor="t">
            <a:spAutoFit/>
          </a:bodyPr>
          <a:lstStyle/>
          <a:p>
            <a:pPr algn="l">
              <a:lnSpc>
                <a:spcPct val="145000"/>
              </a:lnSpc>
              <a:spcAft>
                <a:spcPts val="0"/>
              </a:spcAft>
            </a:pPr>
            <a:r>
              <a:rPr sz="1400" b="0" i="0">
                <a:solidFill>
                  <a:srgbClr val="8494A6"/>
                </a:solidFill>
                <a:latin typeface="Segoe UI"/>
              </a:rPr>
              <a:t>A DATAKOM DKM-440 is read over Modbus TCP, republished as JSON over</a:t>
            </a:r>
          </a:p>
          <a:p>
            <a:pPr algn="l">
              <a:lnSpc>
                <a:spcPct val="145000"/>
              </a:lnSpc>
              <a:spcAft>
                <a:spcPts val="0"/>
              </a:spcAft>
            </a:pPr>
            <a:r>
              <a:rPr sz="1400" b="0" i="0">
                <a:solidFill>
                  <a:srgbClr val="8494A6"/>
                </a:solidFill>
                <a:latin typeface="Segoe UI"/>
              </a:rPr>
              <a:t>MQTT/TLS, and displayed on an Android phone — where a from-scratch</a:t>
            </a:r>
          </a:p>
          <a:p>
            <a:pPr algn="l">
              <a:lnSpc>
                <a:spcPct val="145000"/>
              </a:lnSpc>
              <a:spcAft>
                <a:spcPts val="0"/>
              </a:spcAft>
            </a:pPr>
            <a:r>
              <a:rPr sz="1400" b="0" i="0">
                <a:solidFill>
                  <a:srgbClr val="8494A6"/>
                </a:solidFill>
                <a:latin typeface="Segoe UI"/>
              </a:rPr>
              <a:t>C++ neural network turns a hand-drawn symbol into a gateway command.</a:t>
            </a:r>
          </a:p>
        </p:txBody>
      </p:sp>
      <p:sp>
        <p:nvSpPr>
          <p:cNvPr id="15" name="Rounded Rectangle 14"/>
          <p:cNvSpPr/>
          <p:nvPr/>
        </p:nvSpPr>
        <p:spPr>
          <a:xfrm>
            <a:off x="868680" y="5175504"/>
            <a:ext cx="709574" cy="292608"/>
          </a:xfrm>
          <a:prstGeom prst="roundRect">
            <a:avLst>
              <a:gd name="adj" fmla="val 32000"/>
            </a:avLst>
          </a:prstGeom>
          <a:noFill/>
          <a:ln w="12700">
            <a:solidFill>
              <a:srgbClr val="63D2E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lnSpc>
                <a:spcPct val="110000"/>
              </a:lnSpc>
            </a:pPr>
            <a:r>
              <a:rPr sz="850" b="0">
                <a:solidFill>
                  <a:srgbClr val="63D2E8"/>
                </a:solidFill>
                <a:latin typeface="Bahnschrift SemiBold"/>
              </a:rPr>
              <a:t>DKM-440</a:t>
            </a:r>
          </a:p>
        </p:txBody>
      </p:sp>
      <p:sp>
        <p:nvSpPr>
          <p:cNvPr id="16" name="Rounded Rectangle 15"/>
          <p:cNvSpPr/>
          <p:nvPr/>
        </p:nvSpPr>
        <p:spPr>
          <a:xfrm>
            <a:off x="1724558" y="5175504"/>
            <a:ext cx="709574" cy="292608"/>
          </a:xfrm>
          <a:prstGeom prst="roundRect">
            <a:avLst>
              <a:gd name="adj" fmla="val 32000"/>
            </a:avLst>
          </a:prstGeom>
          <a:noFill/>
          <a:ln w="12700">
            <a:solidFill>
              <a:srgbClr val="63D2E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lnSpc>
                <a:spcPct val="110000"/>
              </a:lnSpc>
            </a:pPr>
            <a:r>
              <a:rPr sz="850" b="0">
                <a:solidFill>
                  <a:srgbClr val="63D2E8"/>
                </a:solidFill>
                <a:latin typeface="Bahnschrift SemiBold"/>
              </a:rPr>
              <a:t>ESP8266</a:t>
            </a:r>
          </a:p>
        </p:txBody>
      </p:sp>
      <p:sp>
        <p:nvSpPr>
          <p:cNvPr id="17" name="Rounded Rectangle 16"/>
          <p:cNvSpPr/>
          <p:nvPr/>
        </p:nvSpPr>
        <p:spPr>
          <a:xfrm>
            <a:off x="2580436" y="5175504"/>
            <a:ext cx="1272844" cy="292608"/>
          </a:xfrm>
          <a:prstGeom prst="roundRect">
            <a:avLst>
              <a:gd name="adj" fmla="val 32000"/>
            </a:avLst>
          </a:prstGeom>
          <a:noFill/>
          <a:ln w="12700">
            <a:solidFill>
              <a:srgbClr val="63D2E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lnSpc>
                <a:spcPct val="110000"/>
              </a:lnSpc>
            </a:pPr>
            <a:r>
              <a:rPr sz="850" b="0">
                <a:solidFill>
                  <a:srgbClr val="63D2E8"/>
                </a:solidFill>
                <a:latin typeface="Bahnschrift SemiBold"/>
              </a:rPr>
              <a:t>EMQX / TLS 1.3</a:t>
            </a:r>
          </a:p>
        </p:txBody>
      </p:sp>
      <p:sp>
        <p:nvSpPr>
          <p:cNvPr id="18" name="Rounded Rectangle 17"/>
          <p:cNvSpPr/>
          <p:nvPr/>
        </p:nvSpPr>
        <p:spPr>
          <a:xfrm>
            <a:off x="3999585" y="5175504"/>
            <a:ext cx="709574" cy="292608"/>
          </a:xfrm>
          <a:prstGeom prst="roundRect">
            <a:avLst>
              <a:gd name="adj" fmla="val 32000"/>
            </a:avLst>
          </a:prstGeom>
          <a:noFill/>
          <a:ln w="12700">
            <a:solidFill>
              <a:srgbClr val="63D2E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lnSpc>
                <a:spcPct val="110000"/>
              </a:lnSpc>
            </a:pPr>
            <a:r>
              <a:rPr sz="850" b="0">
                <a:solidFill>
                  <a:srgbClr val="63D2E8"/>
                </a:solidFill>
                <a:latin typeface="Bahnschrift SemiBold"/>
              </a:rPr>
              <a:t>Android</a:t>
            </a:r>
          </a:p>
        </p:txBody>
      </p:sp>
      <p:sp>
        <p:nvSpPr>
          <p:cNvPr id="19" name="Rounded Rectangle 18"/>
          <p:cNvSpPr/>
          <p:nvPr/>
        </p:nvSpPr>
        <p:spPr>
          <a:xfrm>
            <a:off x="4855464" y="5175504"/>
            <a:ext cx="870508" cy="292608"/>
          </a:xfrm>
          <a:prstGeom prst="roundRect">
            <a:avLst>
              <a:gd name="adj" fmla="val 32000"/>
            </a:avLst>
          </a:prstGeom>
          <a:noFill/>
          <a:ln w="12700">
            <a:solidFill>
              <a:srgbClr val="C89A5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lnSpc>
                <a:spcPct val="110000"/>
              </a:lnSpc>
            </a:pPr>
            <a:r>
              <a:rPr sz="850" b="0">
                <a:solidFill>
                  <a:srgbClr val="C89A5B"/>
                </a:solidFill>
                <a:latin typeface="Bahnschrift SemiBold"/>
              </a:rPr>
              <a:t>C++17 MLP</a:t>
            </a:r>
          </a:p>
        </p:txBody>
      </p:sp>
      <p:sp>
        <p:nvSpPr>
          <p:cNvPr id="20" name="TextBox 19"/>
          <p:cNvSpPr txBox="1"/>
          <p:nvPr/>
        </p:nvSpPr>
        <p:spPr>
          <a:xfrm>
            <a:off x="868680" y="4754880"/>
            <a:ext cx="6766560" cy="274320"/>
          </a:xfrm>
          <a:prstGeom prst="rect">
            <a:avLst/>
          </a:prstGeom>
          <a:noFill/>
        </p:spPr>
        <p:txBody>
          <a:bodyPr wrap="square" lIns="0" tIns="0" rIns="0" bIns="0" anchor="t">
            <a:spAutoFit/>
          </a:bodyPr>
          <a:lstStyle/>
          <a:p>
            <a:pPr algn="l">
              <a:lnSpc>
                <a:spcPct val="130000"/>
              </a:lnSpc>
              <a:spcAft>
                <a:spcPts val="0"/>
              </a:spcAft>
            </a:pPr>
            <a:r>
              <a:rPr sz="1150" b="0" i="0">
                <a:solidFill>
                  <a:srgbClr val="63D2E8"/>
                </a:solidFill>
                <a:latin typeface="Segoe UI"/>
              </a:rPr>
              <a:t>Industrial telemetry is taught in slices; this bench is the whole path, on one desk.</a:t>
            </a:r>
          </a:p>
        </p:txBody>
      </p:sp>
      <p:sp>
        <p:nvSpPr>
          <p:cNvPr id="21" name="TextBox 20"/>
          <p:cNvSpPr txBox="1"/>
          <p:nvPr/>
        </p:nvSpPr>
        <p:spPr>
          <a:xfrm>
            <a:off x="868680" y="5897880"/>
            <a:ext cx="6400800" cy="274320"/>
          </a:xfrm>
          <a:prstGeom prst="rect">
            <a:avLst/>
          </a:prstGeom>
          <a:noFill/>
        </p:spPr>
        <p:txBody>
          <a:bodyPr wrap="square" lIns="0" tIns="0" rIns="0" bIns="0" anchor="t">
            <a:spAutoFit/>
          </a:bodyPr>
          <a:lstStyle/>
          <a:p>
            <a:pPr algn="l">
              <a:lnSpc>
                <a:spcPct val="130000"/>
              </a:lnSpc>
              <a:spcAft>
                <a:spcPts val="0"/>
              </a:spcAft>
            </a:pPr>
            <a:r>
              <a:rPr sz="1050" b="0" i="0">
                <a:solidFill>
                  <a:srgbClr val="5A6878"/>
                </a:solidFill>
                <a:latin typeface="Consolas"/>
              </a:rPr>
              <a:t>Every figure in this deck is a measured value from the bench, or it is labelled as unproven.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D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274320"/>
            <a:ext cx="5852160" cy="219456"/>
          </a:xfrm>
          <a:prstGeom prst="rect">
            <a:avLst/>
          </a:prstGeom>
          <a:noFill/>
        </p:spPr>
        <p:txBody>
          <a:bodyPr wrap="square" lIns="0" tIns="0" rIns="0" bIns="0" anchor="t">
            <a:spAutoFit/>
          </a:bodyPr>
          <a:lstStyle/>
          <a:p>
            <a:pPr algn="l">
              <a:lnSpc>
                <a:spcPct val="100000"/>
              </a:lnSpc>
              <a:spcAft>
                <a:spcPts val="0"/>
              </a:spcAft>
            </a:pPr>
            <a:r>
              <a:rPr sz="900" b="0" i="0">
                <a:solidFill>
                  <a:srgbClr val="63D2E8"/>
                </a:solidFill>
                <a:latin typeface="Consolas"/>
              </a:rPr>
              <a:t>VERIFIED END TO END · 2026-07-28</a:t>
            </a:r>
          </a:p>
        </p:txBody>
      </p:sp>
      <p:sp>
        <p:nvSpPr>
          <p:cNvPr id="4" name="TextBox 3"/>
          <p:cNvSpPr txBox="1"/>
          <p:nvPr/>
        </p:nvSpPr>
        <p:spPr>
          <a:xfrm>
            <a:off x="640080" y="493776"/>
            <a:ext cx="5870448" cy="640080"/>
          </a:xfrm>
          <a:prstGeom prst="rect">
            <a:avLst/>
          </a:prstGeom>
          <a:noFill/>
        </p:spPr>
        <p:txBody>
          <a:bodyPr wrap="square" lIns="0" tIns="0" rIns="0" bIns="0" anchor="b">
            <a:spAutoFit/>
          </a:bodyPr>
          <a:lstStyle/>
          <a:p>
            <a:pPr algn="l">
              <a:lnSpc>
                <a:spcPct val="100000"/>
              </a:lnSpc>
              <a:spcAft>
                <a:spcPts val="0"/>
              </a:spcAft>
            </a:pPr>
            <a:r>
              <a:rPr sz="2700" b="0" i="0">
                <a:solidFill>
                  <a:srgbClr val="E6EDF3"/>
                </a:solidFill>
                <a:latin typeface="Bahnschrift SemiBold"/>
              </a:rPr>
              <a:t>What runs today</a:t>
            </a:r>
          </a:p>
        </p:txBody>
      </p:sp>
      <p:sp>
        <p:nvSpPr>
          <p:cNvPr id="5" name="Rectangle 4"/>
          <p:cNvSpPr/>
          <p:nvPr/>
        </p:nvSpPr>
        <p:spPr>
          <a:xfrm>
            <a:off x="6726783" y="583844"/>
            <a:ext cx="1083106" cy="12700"/>
          </a:xfrm>
          <a:prstGeom prst="rect">
            <a:avLst/>
          </a:prstGeom>
          <a:solidFill>
            <a:srgbClr val="2E7D8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Rectangle 5"/>
          <p:cNvSpPr/>
          <p:nvPr/>
        </p:nvSpPr>
        <p:spPr>
          <a:xfrm>
            <a:off x="6617970" y="548640"/>
            <a:ext cx="77724" cy="77724"/>
          </a:xfrm>
          <a:prstGeom prst="rect">
            <a:avLst/>
          </a:prstGeom>
          <a:solidFill>
            <a:srgbClr val="63D2E8"/>
          </a:solidFill>
          <a:ln w="12700">
            <a:solidFill>
              <a:srgbClr val="63D2E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6045327" y="694944"/>
            <a:ext cx="1223010" cy="201168"/>
          </a:xfrm>
          <a:prstGeom prst="rect">
            <a:avLst/>
          </a:prstGeom>
          <a:noFill/>
        </p:spPr>
        <p:txBody>
          <a:bodyPr wrap="square" lIns="0" tIns="0" rIns="0" bIns="0" anchor="t">
            <a:spAutoFit/>
          </a:bodyPr>
          <a:lstStyle/>
          <a:p>
            <a:pPr algn="ctr">
              <a:lnSpc>
                <a:spcPct val="100000"/>
              </a:lnSpc>
              <a:spcAft>
                <a:spcPts val="0"/>
              </a:spcAft>
            </a:pPr>
            <a:r>
              <a:rPr sz="750" b="0" i="0">
                <a:solidFill>
                  <a:srgbClr val="63D2E8"/>
                </a:solidFill>
                <a:latin typeface="Bahnschrift SemiBold"/>
              </a:rPr>
              <a:t>METER</a:t>
            </a:r>
          </a:p>
        </p:txBody>
      </p:sp>
      <p:sp>
        <p:nvSpPr>
          <p:cNvPr id="8" name="Rectangle 7"/>
          <p:cNvSpPr/>
          <p:nvPr/>
        </p:nvSpPr>
        <p:spPr>
          <a:xfrm>
            <a:off x="7949793" y="583844"/>
            <a:ext cx="1083106" cy="12700"/>
          </a:xfrm>
          <a:prstGeom prst="rect">
            <a:avLst/>
          </a:prstGeom>
          <a:solidFill>
            <a:srgbClr val="2E7D8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Rectangle 8"/>
          <p:cNvSpPr/>
          <p:nvPr/>
        </p:nvSpPr>
        <p:spPr>
          <a:xfrm>
            <a:off x="7840979" y="548640"/>
            <a:ext cx="77724" cy="77724"/>
          </a:xfrm>
          <a:prstGeom prst="rect">
            <a:avLst/>
          </a:prstGeom>
          <a:solidFill>
            <a:srgbClr val="63D2E8"/>
          </a:solidFill>
          <a:ln w="12700">
            <a:solidFill>
              <a:srgbClr val="63D2E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TextBox 9"/>
          <p:cNvSpPr txBox="1"/>
          <p:nvPr/>
        </p:nvSpPr>
        <p:spPr>
          <a:xfrm>
            <a:off x="7268337" y="694944"/>
            <a:ext cx="1223010" cy="201168"/>
          </a:xfrm>
          <a:prstGeom prst="rect">
            <a:avLst/>
          </a:prstGeom>
          <a:noFill/>
        </p:spPr>
        <p:txBody>
          <a:bodyPr wrap="square" lIns="0" tIns="0" rIns="0" bIns="0" anchor="t">
            <a:spAutoFit/>
          </a:bodyPr>
          <a:lstStyle/>
          <a:p>
            <a:pPr algn="ctr">
              <a:lnSpc>
                <a:spcPct val="100000"/>
              </a:lnSpc>
              <a:spcAft>
                <a:spcPts val="0"/>
              </a:spcAft>
            </a:pPr>
            <a:r>
              <a:rPr sz="750" b="0" i="0">
                <a:solidFill>
                  <a:srgbClr val="63D2E8"/>
                </a:solidFill>
                <a:latin typeface="Bahnschrift SemiBold"/>
              </a:rPr>
              <a:t>GATEWAY</a:t>
            </a:r>
          </a:p>
        </p:txBody>
      </p:sp>
      <p:sp>
        <p:nvSpPr>
          <p:cNvPr id="11" name="Rectangle 10"/>
          <p:cNvSpPr/>
          <p:nvPr/>
        </p:nvSpPr>
        <p:spPr>
          <a:xfrm>
            <a:off x="9172803" y="583844"/>
            <a:ext cx="1083106" cy="12700"/>
          </a:xfrm>
          <a:prstGeom prst="rect">
            <a:avLst/>
          </a:prstGeom>
          <a:solidFill>
            <a:srgbClr val="2E7D8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Rectangle 11"/>
          <p:cNvSpPr/>
          <p:nvPr/>
        </p:nvSpPr>
        <p:spPr>
          <a:xfrm>
            <a:off x="9063990" y="548640"/>
            <a:ext cx="77724" cy="77724"/>
          </a:xfrm>
          <a:prstGeom prst="rect">
            <a:avLst/>
          </a:prstGeom>
          <a:solidFill>
            <a:srgbClr val="63D2E8"/>
          </a:solidFill>
          <a:ln w="12700">
            <a:solidFill>
              <a:srgbClr val="63D2E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8491347" y="694944"/>
            <a:ext cx="1223010" cy="201168"/>
          </a:xfrm>
          <a:prstGeom prst="rect">
            <a:avLst/>
          </a:prstGeom>
          <a:noFill/>
        </p:spPr>
        <p:txBody>
          <a:bodyPr wrap="square" lIns="0" tIns="0" rIns="0" bIns="0" anchor="t">
            <a:spAutoFit/>
          </a:bodyPr>
          <a:lstStyle/>
          <a:p>
            <a:pPr algn="ctr">
              <a:lnSpc>
                <a:spcPct val="100000"/>
              </a:lnSpc>
              <a:spcAft>
                <a:spcPts val="0"/>
              </a:spcAft>
            </a:pPr>
            <a:r>
              <a:rPr sz="750" b="0" i="0">
                <a:solidFill>
                  <a:srgbClr val="63D2E8"/>
                </a:solidFill>
                <a:latin typeface="Bahnschrift SemiBold"/>
              </a:rPr>
              <a:t>BROKER</a:t>
            </a:r>
          </a:p>
        </p:txBody>
      </p:sp>
      <p:sp>
        <p:nvSpPr>
          <p:cNvPr id="14" name="Rectangle 13"/>
          <p:cNvSpPr/>
          <p:nvPr/>
        </p:nvSpPr>
        <p:spPr>
          <a:xfrm>
            <a:off x="10395813" y="583844"/>
            <a:ext cx="1083106" cy="12700"/>
          </a:xfrm>
          <a:prstGeom prst="rect">
            <a:avLst/>
          </a:prstGeom>
          <a:solidFill>
            <a:srgbClr val="2C364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Rectangle 14"/>
          <p:cNvSpPr/>
          <p:nvPr/>
        </p:nvSpPr>
        <p:spPr>
          <a:xfrm>
            <a:off x="10287000" y="548640"/>
            <a:ext cx="77724" cy="77724"/>
          </a:xfrm>
          <a:prstGeom prst="rect">
            <a:avLst/>
          </a:prstGeom>
          <a:solidFill>
            <a:srgbClr val="63D2E8"/>
          </a:solidFill>
          <a:ln w="12700">
            <a:solidFill>
              <a:srgbClr val="63D2E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TextBox 15"/>
          <p:cNvSpPr txBox="1"/>
          <p:nvPr/>
        </p:nvSpPr>
        <p:spPr>
          <a:xfrm>
            <a:off x="9714357" y="694944"/>
            <a:ext cx="1223010" cy="201168"/>
          </a:xfrm>
          <a:prstGeom prst="rect">
            <a:avLst/>
          </a:prstGeom>
          <a:noFill/>
        </p:spPr>
        <p:txBody>
          <a:bodyPr wrap="square" lIns="0" tIns="0" rIns="0" bIns="0" anchor="t">
            <a:spAutoFit/>
          </a:bodyPr>
          <a:lstStyle/>
          <a:p>
            <a:pPr algn="ctr">
              <a:lnSpc>
                <a:spcPct val="100000"/>
              </a:lnSpc>
              <a:spcAft>
                <a:spcPts val="0"/>
              </a:spcAft>
            </a:pPr>
            <a:r>
              <a:rPr sz="750" b="0" i="0">
                <a:solidFill>
                  <a:srgbClr val="63D2E8"/>
                </a:solidFill>
                <a:latin typeface="Bahnschrift SemiBold"/>
              </a:rPr>
              <a:t>PHONE</a:t>
            </a:r>
          </a:p>
        </p:txBody>
      </p:sp>
      <p:sp>
        <p:nvSpPr>
          <p:cNvPr id="17" name="Rectangle 16"/>
          <p:cNvSpPr/>
          <p:nvPr/>
        </p:nvSpPr>
        <p:spPr>
          <a:xfrm>
            <a:off x="11510009" y="548640"/>
            <a:ext cx="77724" cy="77724"/>
          </a:xfrm>
          <a:prstGeom prst="rect">
            <a:avLst/>
          </a:prstGeom>
          <a:solidFill>
            <a:srgbClr val="0D1117"/>
          </a:solidFill>
          <a:ln w="12700">
            <a:solidFill>
              <a:srgbClr val="3D4A5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TextBox 17"/>
          <p:cNvSpPr txBox="1"/>
          <p:nvPr/>
        </p:nvSpPr>
        <p:spPr>
          <a:xfrm>
            <a:off x="10937367" y="694944"/>
            <a:ext cx="1223010" cy="201168"/>
          </a:xfrm>
          <a:prstGeom prst="rect">
            <a:avLst/>
          </a:prstGeom>
          <a:noFill/>
        </p:spPr>
        <p:txBody>
          <a:bodyPr wrap="square" lIns="0" tIns="0" rIns="0" bIns="0" anchor="t">
            <a:spAutoFit/>
          </a:bodyPr>
          <a:lstStyle/>
          <a:p>
            <a:pPr algn="ctr">
              <a:lnSpc>
                <a:spcPct val="100000"/>
              </a:lnSpc>
              <a:spcAft>
                <a:spcPts val="0"/>
              </a:spcAft>
            </a:pPr>
            <a:r>
              <a:rPr sz="750" b="0" i="0">
                <a:solidFill>
                  <a:srgbClr val="5A6878"/>
                </a:solidFill>
                <a:latin typeface="Bahnschrift SemiBold"/>
              </a:rPr>
              <a:t>NET</a:t>
            </a:r>
          </a:p>
        </p:txBody>
      </p:sp>
      <p:sp>
        <p:nvSpPr>
          <p:cNvPr id="19" name="Rectangle 18"/>
          <p:cNvSpPr/>
          <p:nvPr/>
        </p:nvSpPr>
        <p:spPr>
          <a:xfrm>
            <a:off x="640080" y="1225296"/>
            <a:ext cx="10908792" cy="9525"/>
          </a:xfrm>
          <a:prstGeom prst="rect">
            <a:avLst/>
          </a:prstGeom>
          <a:solidFill>
            <a:srgbClr val="2C364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Rectangle 19"/>
          <p:cNvSpPr/>
          <p:nvPr/>
        </p:nvSpPr>
        <p:spPr>
          <a:xfrm>
            <a:off x="640080" y="1220724"/>
            <a:ext cx="566928" cy="25400"/>
          </a:xfrm>
          <a:prstGeom prst="rect">
            <a:avLst/>
          </a:prstGeom>
          <a:solidFill>
            <a:srgbClr val="63D2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1" name="Rectangle 20"/>
          <p:cNvSpPr/>
          <p:nvPr/>
        </p:nvSpPr>
        <p:spPr>
          <a:xfrm>
            <a:off x="640080" y="1645920"/>
            <a:ext cx="2487168" cy="1188720"/>
          </a:xfrm>
          <a:prstGeom prst="rect">
            <a:avLst/>
          </a:prstGeom>
          <a:solidFill>
            <a:srgbClr val="161C24"/>
          </a:solidFill>
          <a:ln w="12700">
            <a:solidFill>
              <a:srgbClr val="2C364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2" name="Rectangle 21"/>
          <p:cNvSpPr/>
          <p:nvPr/>
        </p:nvSpPr>
        <p:spPr>
          <a:xfrm>
            <a:off x="640080" y="1645920"/>
            <a:ext cx="2487168" cy="31750"/>
          </a:xfrm>
          <a:prstGeom prst="rect">
            <a:avLst/>
          </a:prstGeom>
          <a:solidFill>
            <a:srgbClr val="63D2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3" name="TextBox 22"/>
          <p:cNvSpPr txBox="1"/>
          <p:nvPr/>
        </p:nvSpPr>
        <p:spPr>
          <a:xfrm>
            <a:off x="841247" y="1901952"/>
            <a:ext cx="2084832" cy="274320"/>
          </a:xfrm>
          <a:prstGeom prst="rect">
            <a:avLst/>
          </a:prstGeom>
          <a:noFill/>
        </p:spPr>
        <p:txBody>
          <a:bodyPr wrap="square" lIns="0" tIns="0" rIns="0" bIns="0" anchor="t">
            <a:spAutoFit/>
          </a:bodyPr>
          <a:lstStyle/>
          <a:p>
            <a:pPr algn="l">
              <a:lnSpc>
                <a:spcPct val="112000"/>
              </a:lnSpc>
              <a:spcAft>
                <a:spcPts val="0"/>
              </a:spcAft>
            </a:pPr>
            <a:r>
              <a:rPr sz="1500" b="0" i="0">
                <a:solidFill>
                  <a:srgbClr val="E6EDF3"/>
                </a:solidFill>
                <a:latin typeface="Bahnschrift SemiBold"/>
              </a:rPr>
              <a:t>DKM-440</a:t>
            </a:r>
          </a:p>
        </p:txBody>
      </p:sp>
      <p:sp>
        <p:nvSpPr>
          <p:cNvPr id="24" name="TextBox 23"/>
          <p:cNvSpPr txBox="1"/>
          <p:nvPr/>
        </p:nvSpPr>
        <p:spPr>
          <a:xfrm>
            <a:off x="841247" y="2212848"/>
            <a:ext cx="2084832" cy="457200"/>
          </a:xfrm>
          <a:prstGeom prst="rect">
            <a:avLst/>
          </a:prstGeom>
          <a:noFill/>
        </p:spPr>
        <p:txBody>
          <a:bodyPr wrap="square" lIns="0" tIns="0" rIns="0" bIns="0" anchor="t">
            <a:spAutoFit/>
          </a:bodyPr>
          <a:lstStyle/>
          <a:p>
            <a:pPr algn="l">
              <a:lnSpc>
                <a:spcPct val="130000"/>
              </a:lnSpc>
              <a:spcAft>
                <a:spcPts val="0"/>
              </a:spcAft>
            </a:pPr>
            <a:r>
              <a:rPr sz="900" b="0" i="0">
                <a:solidFill>
                  <a:srgbClr val="8494A6"/>
                </a:solidFill>
                <a:latin typeface="Consolas"/>
              </a:rPr>
              <a:t>192.169.10.74:502</a:t>
            </a:r>
          </a:p>
          <a:p>
            <a:pPr algn="l">
              <a:lnSpc>
                <a:spcPct val="130000"/>
              </a:lnSpc>
              <a:spcAft>
                <a:spcPts val="0"/>
              </a:spcAft>
            </a:pPr>
            <a:r>
              <a:rPr sz="900" b="0" i="0">
                <a:solidFill>
                  <a:srgbClr val="8494A6"/>
                </a:solidFill>
                <a:latin typeface="Consolas"/>
              </a:rPr>
              <a:t>Modbus TCP · unit 1</a:t>
            </a:r>
          </a:p>
        </p:txBody>
      </p:sp>
      <p:cxnSp>
        <p:nvCxnSpPr>
          <p:cNvPr id="25" name="Connector 24"/>
          <p:cNvCxnSpPr/>
          <p:nvPr/>
        </p:nvCxnSpPr>
        <p:spPr>
          <a:xfrm>
            <a:off x="3163824" y="2304288"/>
            <a:ext cx="246888" cy="0"/>
          </a:xfrm>
          <a:prstGeom prst="line">
            <a:avLst/>
          </a:prstGeom>
          <a:ln w="22225">
            <a:solidFill>
              <a:srgbClr val="2E7D8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3447288" y="1645920"/>
            <a:ext cx="2487168" cy="1188720"/>
          </a:xfrm>
          <a:prstGeom prst="rect">
            <a:avLst/>
          </a:prstGeom>
          <a:solidFill>
            <a:srgbClr val="161C24"/>
          </a:solidFill>
          <a:ln w="12700">
            <a:solidFill>
              <a:srgbClr val="2C364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7" name="Rectangle 26"/>
          <p:cNvSpPr/>
          <p:nvPr/>
        </p:nvSpPr>
        <p:spPr>
          <a:xfrm>
            <a:off x="3447288" y="1645920"/>
            <a:ext cx="2487168" cy="31750"/>
          </a:xfrm>
          <a:prstGeom prst="rect">
            <a:avLst/>
          </a:prstGeom>
          <a:solidFill>
            <a:srgbClr val="63D2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8" name="TextBox 27"/>
          <p:cNvSpPr txBox="1"/>
          <p:nvPr/>
        </p:nvSpPr>
        <p:spPr>
          <a:xfrm>
            <a:off x="3648456" y="1901952"/>
            <a:ext cx="2084832" cy="274320"/>
          </a:xfrm>
          <a:prstGeom prst="rect">
            <a:avLst/>
          </a:prstGeom>
          <a:noFill/>
        </p:spPr>
        <p:txBody>
          <a:bodyPr wrap="square" lIns="0" tIns="0" rIns="0" bIns="0" anchor="t">
            <a:spAutoFit/>
          </a:bodyPr>
          <a:lstStyle/>
          <a:p>
            <a:pPr algn="l">
              <a:lnSpc>
                <a:spcPct val="112000"/>
              </a:lnSpc>
              <a:spcAft>
                <a:spcPts val="0"/>
              </a:spcAft>
            </a:pPr>
            <a:r>
              <a:rPr sz="1500" b="0" i="0">
                <a:solidFill>
                  <a:srgbClr val="E6EDF3"/>
                </a:solidFill>
                <a:latin typeface="Bahnschrift SemiBold"/>
              </a:rPr>
              <a:t>ESP8266</a:t>
            </a:r>
          </a:p>
        </p:txBody>
      </p:sp>
      <p:sp>
        <p:nvSpPr>
          <p:cNvPr id="29" name="TextBox 28"/>
          <p:cNvSpPr txBox="1"/>
          <p:nvPr/>
        </p:nvSpPr>
        <p:spPr>
          <a:xfrm>
            <a:off x="3648456" y="2212848"/>
            <a:ext cx="2084832" cy="457200"/>
          </a:xfrm>
          <a:prstGeom prst="rect">
            <a:avLst/>
          </a:prstGeom>
          <a:noFill/>
        </p:spPr>
        <p:txBody>
          <a:bodyPr wrap="square" lIns="0" tIns="0" rIns="0" bIns="0" anchor="t">
            <a:spAutoFit/>
          </a:bodyPr>
          <a:lstStyle/>
          <a:p>
            <a:pPr algn="l">
              <a:lnSpc>
                <a:spcPct val="130000"/>
              </a:lnSpc>
              <a:spcAft>
                <a:spcPts val="0"/>
              </a:spcAft>
            </a:pPr>
            <a:r>
              <a:rPr sz="900" b="0" i="0">
                <a:solidFill>
                  <a:srgbClr val="8494A6"/>
                </a:solidFill>
                <a:latin typeface="Consolas"/>
              </a:rPr>
              <a:t>192.169.10.75</a:t>
            </a:r>
          </a:p>
          <a:p>
            <a:pPr algn="l">
              <a:lnSpc>
                <a:spcPct val="130000"/>
              </a:lnSpc>
              <a:spcAft>
                <a:spcPts val="0"/>
              </a:spcAft>
            </a:pPr>
            <a:r>
              <a:rPr sz="900" b="0" i="0">
                <a:solidFill>
                  <a:srgbClr val="8494A6"/>
                </a:solidFill>
                <a:latin typeface="Consolas"/>
              </a:rPr>
              <a:t>Wi-Fi · gateway</a:t>
            </a:r>
          </a:p>
        </p:txBody>
      </p:sp>
      <p:cxnSp>
        <p:nvCxnSpPr>
          <p:cNvPr id="30" name="Connector 29"/>
          <p:cNvCxnSpPr/>
          <p:nvPr/>
        </p:nvCxnSpPr>
        <p:spPr>
          <a:xfrm>
            <a:off x="5971032" y="2304288"/>
            <a:ext cx="246888" cy="0"/>
          </a:xfrm>
          <a:prstGeom prst="line">
            <a:avLst/>
          </a:prstGeom>
          <a:ln w="22225">
            <a:solidFill>
              <a:srgbClr val="2E7D8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6254496" y="1645920"/>
            <a:ext cx="2487168" cy="1188720"/>
          </a:xfrm>
          <a:prstGeom prst="rect">
            <a:avLst/>
          </a:prstGeom>
          <a:solidFill>
            <a:srgbClr val="161C24"/>
          </a:solidFill>
          <a:ln w="12700">
            <a:solidFill>
              <a:srgbClr val="2C364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2" name="Rectangle 31"/>
          <p:cNvSpPr/>
          <p:nvPr/>
        </p:nvSpPr>
        <p:spPr>
          <a:xfrm>
            <a:off x="6254496" y="1645920"/>
            <a:ext cx="2487168" cy="31750"/>
          </a:xfrm>
          <a:prstGeom prst="rect">
            <a:avLst/>
          </a:prstGeom>
          <a:solidFill>
            <a:srgbClr val="63D2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3" name="TextBox 32"/>
          <p:cNvSpPr txBox="1"/>
          <p:nvPr/>
        </p:nvSpPr>
        <p:spPr>
          <a:xfrm>
            <a:off x="6455664" y="1901952"/>
            <a:ext cx="2084832" cy="274320"/>
          </a:xfrm>
          <a:prstGeom prst="rect">
            <a:avLst/>
          </a:prstGeom>
          <a:noFill/>
        </p:spPr>
        <p:txBody>
          <a:bodyPr wrap="square" lIns="0" tIns="0" rIns="0" bIns="0" anchor="t">
            <a:spAutoFit/>
          </a:bodyPr>
          <a:lstStyle/>
          <a:p>
            <a:pPr algn="l">
              <a:lnSpc>
                <a:spcPct val="112000"/>
              </a:lnSpc>
              <a:spcAft>
                <a:spcPts val="0"/>
              </a:spcAft>
            </a:pPr>
            <a:r>
              <a:rPr sz="1500" b="0" i="0">
                <a:solidFill>
                  <a:srgbClr val="E6EDF3"/>
                </a:solidFill>
                <a:latin typeface="Bahnschrift SemiBold"/>
              </a:rPr>
              <a:t>EMQX</a:t>
            </a:r>
          </a:p>
        </p:txBody>
      </p:sp>
      <p:sp>
        <p:nvSpPr>
          <p:cNvPr id="34" name="TextBox 33"/>
          <p:cNvSpPr txBox="1"/>
          <p:nvPr/>
        </p:nvSpPr>
        <p:spPr>
          <a:xfrm>
            <a:off x="6455664" y="2212848"/>
            <a:ext cx="2084832" cy="457200"/>
          </a:xfrm>
          <a:prstGeom prst="rect">
            <a:avLst/>
          </a:prstGeom>
          <a:noFill/>
        </p:spPr>
        <p:txBody>
          <a:bodyPr wrap="square" lIns="0" tIns="0" rIns="0" bIns="0" anchor="t">
            <a:spAutoFit/>
          </a:bodyPr>
          <a:lstStyle/>
          <a:p>
            <a:pPr algn="l">
              <a:lnSpc>
                <a:spcPct val="130000"/>
              </a:lnSpc>
              <a:spcAft>
                <a:spcPts val="0"/>
              </a:spcAft>
            </a:pPr>
            <a:r>
              <a:rPr sz="900" b="0" i="0">
                <a:solidFill>
                  <a:srgbClr val="8494A6"/>
                </a:solidFill>
                <a:latin typeface="Consolas"/>
              </a:rPr>
              <a:t>…emqxsl.com:8883</a:t>
            </a:r>
          </a:p>
          <a:p>
            <a:pPr algn="l">
              <a:lnSpc>
                <a:spcPct val="130000"/>
              </a:lnSpc>
              <a:spcAft>
                <a:spcPts val="0"/>
              </a:spcAft>
            </a:pPr>
            <a:r>
              <a:rPr sz="900" b="0" i="0">
                <a:solidFill>
                  <a:srgbClr val="8494A6"/>
                </a:solidFill>
                <a:latin typeface="Consolas"/>
              </a:rPr>
              <a:t>TLS 1.3 · retained + LWT</a:t>
            </a:r>
          </a:p>
        </p:txBody>
      </p:sp>
      <p:cxnSp>
        <p:nvCxnSpPr>
          <p:cNvPr id="35" name="Connector 34"/>
          <p:cNvCxnSpPr/>
          <p:nvPr/>
        </p:nvCxnSpPr>
        <p:spPr>
          <a:xfrm>
            <a:off x="8778240" y="2304288"/>
            <a:ext cx="246888" cy="0"/>
          </a:xfrm>
          <a:prstGeom prst="line">
            <a:avLst/>
          </a:prstGeom>
          <a:ln w="22225">
            <a:solidFill>
              <a:srgbClr val="2E7D8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9061704" y="1645920"/>
            <a:ext cx="2487168" cy="1188720"/>
          </a:xfrm>
          <a:prstGeom prst="rect">
            <a:avLst/>
          </a:prstGeom>
          <a:solidFill>
            <a:srgbClr val="161C24"/>
          </a:solidFill>
          <a:ln w="12700">
            <a:solidFill>
              <a:srgbClr val="2C364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7" name="Rectangle 36"/>
          <p:cNvSpPr/>
          <p:nvPr/>
        </p:nvSpPr>
        <p:spPr>
          <a:xfrm>
            <a:off x="9061704" y="1645920"/>
            <a:ext cx="2487168" cy="31750"/>
          </a:xfrm>
          <a:prstGeom prst="rect">
            <a:avLst/>
          </a:prstGeom>
          <a:solidFill>
            <a:srgbClr val="63D2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8" name="TextBox 37"/>
          <p:cNvSpPr txBox="1"/>
          <p:nvPr/>
        </p:nvSpPr>
        <p:spPr>
          <a:xfrm>
            <a:off x="9262872" y="1901952"/>
            <a:ext cx="2084832" cy="274320"/>
          </a:xfrm>
          <a:prstGeom prst="rect">
            <a:avLst/>
          </a:prstGeom>
          <a:noFill/>
        </p:spPr>
        <p:txBody>
          <a:bodyPr wrap="square" lIns="0" tIns="0" rIns="0" bIns="0" anchor="t">
            <a:spAutoFit/>
          </a:bodyPr>
          <a:lstStyle/>
          <a:p>
            <a:pPr algn="l">
              <a:lnSpc>
                <a:spcPct val="112000"/>
              </a:lnSpc>
              <a:spcAft>
                <a:spcPts val="0"/>
              </a:spcAft>
            </a:pPr>
            <a:r>
              <a:rPr sz="1500" b="0" i="0">
                <a:solidFill>
                  <a:srgbClr val="E6EDF3"/>
                </a:solidFill>
                <a:latin typeface="Bahnschrift SemiBold"/>
              </a:rPr>
              <a:t>osos-hmi</a:t>
            </a:r>
          </a:p>
        </p:txBody>
      </p:sp>
      <p:sp>
        <p:nvSpPr>
          <p:cNvPr id="39" name="TextBox 38"/>
          <p:cNvSpPr txBox="1"/>
          <p:nvPr/>
        </p:nvSpPr>
        <p:spPr>
          <a:xfrm>
            <a:off x="9262872" y="2212848"/>
            <a:ext cx="2084832" cy="457200"/>
          </a:xfrm>
          <a:prstGeom prst="rect">
            <a:avLst/>
          </a:prstGeom>
          <a:noFill/>
        </p:spPr>
        <p:txBody>
          <a:bodyPr wrap="square" lIns="0" tIns="0" rIns="0" bIns="0" anchor="t">
            <a:spAutoFit/>
          </a:bodyPr>
          <a:lstStyle/>
          <a:p>
            <a:pPr algn="l">
              <a:lnSpc>
                <a:spcPct val="130000"/>
              </a:lnSpc>
              <a:spcAft>
                <a:spcPts val="0"/>
              </a:spcAft>
            </a:pPr>
            <a:r>
              <a:rPr sz="900" b="0" i="0">
                <a:solidFill>
                  <a:srgbClr val="8494A6"/>
                </a:solidFill>
                <a:latin typeface="Consolas"/>
              </a:rPr>
              <a:t>Android · Kotlin</a:t>
            </a:r>
          </a:p>
          <a:p>
            <a:pPr algn="l">
              <a:lnSpc>
                <a:spcPct val="130000"/>
              </a:lnSpc>
              <a:spcAft>
                <a:spcPts val="0"/>
              </a:spcAft>
            </a:pPr>
            <a:r>
              <a:rPr sz="900" b="0" i="0">
                <a:solidFill>
                  <a:srgbClr val="8494A6"/>
                </a:solidFill>
                <a:latin typeface="Consolas"/>
              </a:rPr>
              <a:t>live tiles · alarms</a:t>
            </a:r>
          </a:p>
        </p:txBody>
      </p:sp>
      <p:sp>
        <p:nvSpPr>
          <p:cNvPr id="40" name="TextBox 39"/>
          <p:cNvSpPr txBox="1"/>
          <p:nvPr/>
        </p:nvSpPr>
        <p:spPr>
          <a:xfrm>
            <a:off x="2871216" y="1792224"/>
            <a:ext cx="832104" cy="365760"/>
          </a:xfrm>
          <a:prstGeom prst="rect">
            <a:avLst/>
          </a:prstGeom>
          <a:noFill/>
        </p:spPr>
        <p:txBody>
          <a:bodyPr wrap="square" lIns="0" tIns="0" rIns="0" bIns="0" anchor="t">
            <a:spAutoFit/>
          </a:bodyPr>
          <a:lstStyle/>
          <a:p>
            <a:pPr algn="ctr">
              <a:lnSpc>
                <a:spcPct val="120000"/>
              </a:lnSpc>
              <a:spcAft>
                <a:spcPts val="0"/>
              </a:spcAft>
            </a:pPr>
            <a:r>
              <a:rPr sz="750" b="0" i="0">
                <a:solidFill>
                  <a:srgbClr val="5A6878"/>
                </a:solidFill>
                <a:latin typeface="Consolas"/>
              </a:rPr>
              <a:t>Modbus</a:t>
            </a:r>
          </a:p>
          <a:p>
            <a:pPr algn="ctr">
              <a:lnSpc>
                <a:spcPct val="120000"/>
              </a:lnSpc>
              <a:spcAft>
                <a:spcPts val="0"/>
              </a:spcAft>
            </a:pPr>
            <a:r>
              <a:rPr sz="750" b="0" i="0">
                <a:solidFill>
                  <a:srgbClr val="5A6878"/>
                </a:solidFill>
                <a:latin typeface="Consolas"/>
              </a:rPr>
              <a:t>TCP</a:t>
            </a:r>
          </a:p>
        </p:txBody>
      </p:sp>
      <p:sp>
        <p:nvSpPr>
          <p:cNvPr id="41" name="TextBox 40"/>
          <p:cNvSpPr txBox="1"/>
          <p:nvPr/>
        </p:nvSpPr>
        <p:spPr>
          <a:xfrm>
            <a:off x="5678424" y="1792224"/>
            <a:ext cx="832104" cy="365760"/>
          </a:xfrm>
          <a:prstGeom prst="rect">
            <a:avLst/>
          </a:prstGeom>
          <a:noFill/>
        </p:spPr>
        <p:txBody>
          <a:bodyPr wrap="square" lIns="0" tIns="0" rIns="0" bIns="0" anchor="t">
            <a:spAutoFit/>
          </a:bodyPr>
          <a:lstStyle/>
          <a:p>
            <a:pPr algn="ctr">
              <a:lnSpc>
                <a:spcPct val="120000"/>
              </a:lnSpc>
              <a:spcAft>
                <a:spcPts val="0"/>
              </a:spcAft>
            </a:pPr>
            <a:r>
              <a:rPr sz="750" b="0" i="0">
                <a:solidFill>
                  <a:srgbClr val="5A6878"/>
                </a:solidFill>
                <a:latin typeface="Consolas"/>
              </a:rPr>
              <a:t>MQTT</a:t>
            </a:r>
          </a:p>
          <a:p>
            <a:pPr algn="ctr">
              <a:lnSpc>
                <a:spcPct val="120000"/>
              </a:lnSpc>
              <a:spcAft>
                <a:spcPts val="0"/>
              </a:spcAft>
            </a:pPr>
            <a:r>
              <a:rPr sz="750" b="0" i="0">
                <a:solidFill>
                  <a:srgbClr val="5A6878"/>
                </a:solidFill>
                <a:latin typeface="Consolas"/>
              </a:rPr>
              <a:t>TLS</a:t>
            </a:r>
          </a:p>
        </p:txBody>
      </p:sp>
      <p:sp>
        <p:nvSpPr>
          <p:cNvPr id="42" name="TextBox 41"/>
          <p:cNvSpPr txBox="1"/>
          <p:nvPr/>
        </p:nvSpPr>
        <p:spPr>
          <a:xfrm>
            <a:off x="8485632" y="1792224"/>
            <a:ext cx="832104" cy="365760"/>
          </a:xfrm>
          <a:prstGeom prst="rect">
            <a:avLst/>
          </a:prstGeom>
          <a:noFill/>
        </p:spPr>
        <p:txBody>
          <a:bodyPr wrap="square" lIns="0" tIns="0" rIns="0" bIns="0" anchor="t">
            <a:spAutoFit/>
          </a:bodyPr>
          <a:lstStyle/>
          <a:p>
            <a:pPr algn="ctr">
              <a:lnSpc>
                <a:spcPct val="120000"/>
              </a:lnSpc>
              <a:spcAft>
                <a:spcPts val="0"/>
              </a:spcAft>
            </a:pPr>
            <a:r>
              <a:rPr sz="750" b="0" i="0">
                <a:solidFill>
                  <a:srgbClr val="5A6878"/>
                </a:solidFill>
                <a:latin typeface="Consolas"/>
              </a:rPr>
              <a:t>MQTT</a:t>
            </a:r>
          </a:p>
          <a:p>
            <a:pPr algn="ctr">
              <a:lnSpc>
                <a:spcPct val="120000"/>
              </a:lnSpc>
              <a:spcAft>
                <a:spcPts val="0"/>
              </a:spcAft>
            </a:pPr>
            <a:r>
              <a:rPr sz="750" b="0" i="0">
                <a:solidFill>
                  <a:srgbClr val="5A6878"/>
                </a:solidFill>
                <a:latin typeface="Consolas"/>
              </a:rPr>
              <a:t>sub</a:t>
            </a:r>
          </a:p>
        </p:txBody>
      </p:sp>
      <p:sp>
        <p:nvSpPr>
          <p:cNvPr id="43" name="Rectangle 42"/>
          <p:cNvSpPr/>
          <p:nvPr/>
        </p:nvSpPr>
        <p:spPr>
          <a:xfrm>
            <a:off x="640080" y="3218688"/>
            <a:ext cx="10908792" cy="9525"/>
          </a:xfrm>
          <a:prstGeom prst="rect">
            <a:avLst/>
          </a:prstGeom>
          <a:solidFill>
            <a:srgbClr val="2C364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4" name="TextBox 43"/>
          <p:cNvSpPr txBox="1"/>
          <p:nvPr/>
        </p:nvSpPr>
        <p:spPr>
          <a:xfrm>
            <a:off x="640080" y="3493008"/>
            <a:ext cx="2651760" cy="457200"/>
          </a:xfrm>
          <a:prstGeom prst="rect">
            <a:avLst/>
          </a:prstGeom>
          <a:noFill/>
        </p:spPr>
        <p:txBody>
          <a:bodyPr wrap="square" lIns="0" tIns="0" rIns="0" bIns="0" anchor="t">
            <a:spAutoFit/>
          </a:bodyPr>
          <a:lstStyle/>
          <a:p>
            <a:pPr algn="l">
              <a:lnSpc>
                <a:spcPct val="100000"/>
              </a:lnSpc>
              <a:spcAft>
                <a:spcPts val="0"/>
              </a:spcAft>
            </a:pPr>
            <a:r>
              <a:rPr sz="3000" b="0" i="0">
                <a:solidFill>
                  <a:srgbClr val="63D2E8"/>
                </a:solidFill>
                <a:latin typeface="Consolas"/>
              </a:rPr>
              <a:t>22 / 22</a:t>
            </a:r>
          </a:p>
        </p:txBody>
      </p:sp>
      <p:sp>
        <p:nvSpPr>
          <p:cNvPr id="45" name="TextBox 44"/>
          <p:cNvSpPr txBox="1"/>
          <p:nvPr/>
        </p:nvSpPr>
        <p:spPr>
          <a:xfrm>
            <a:off x="640080" y="3881628"/>
            <a:ext cx="2651760" cy="219456"/>
          </a:xfrm>
          <a:prstGeom prst="rect">
            <a:avLst/>
          </a:prstGeom>
          <a:noFill/>
        </p:spPr>
        <p:txBody>
          <a:bodyPr wrap="square" lIns="0" tIns="0" rIns="0" bIns="0" anchor="t">
            <a:spAutoFit/>
          </a:bodyPr>
          <a:lstStyle/>
          <a:p>
            <a:pPr algn="l">
              <a:lnSpc>
                <a:spcPct val="100000"/>
              </a:lnSpc>
              <a:spcAft>
                <a:spcPts val="0"/>
              </a:spcAft>
            </a:pPr>
            <a:r>
              <a:rPr sz="850" b="0" i="0">
                <a:solidFill>
                  <a:srgbClr val="8494A6"/>
                </a:solidFill>
                <a:latin typeface="Bahnschrift SemiBold"/>
              </a:rPr>
              <a:t>REGISTERS PER CYCLE</a:t>
            </a:r>
          </a:p>
        </p:txBody>
      </p:sp>
      <p:sp>
        <p:nvSpPr>
          <p:cNvPr id="46" name="TextBox 45"/>
          <p:cNvSpPr txBox="1"/>
          <p:nvPr/>
        </p:nvSpPr>
        <p:spPr>
          <a:xfrm>
            <a:off x="640080" y="4064508"/>
            <a:ext cx="2651760" cy="219456"/>
          </a:xfrm>
          <a:prstGeom prst="rect">
            <a:avLst/>
          </a:prstGeom>
          <a:noFill/>
        </p:spPr>
        <p:txBody>
          <a:bodyPr wrap="square" lIns="0" tIns="0" rIns="0" bIns="0" anchor="t">
            <a:spAutoFit/>
          </a:bodyPr>
          <a:lstStyle/>
          <a:p>
            <a:pPr algn="l">
              <a:lnSpc>
                <a:spcPct val="100000"/>
              </a:lnSpc>
              <a:spcAft>
                <a:spcPts val="0"/>
              </a:spcAft>
            </a:pPr>
            <a:r>
              <a:rPr sz="850" b="0" i="0">
                <a:solidFill>
                  <a:srgbClr val="5A6878"/>
                </a:solidFill>
                <a:latin typeface="Consolas"/>
              </a:rPr>
              <a:t>15 consecutive cycles</a:t>
            </a:r>
          </a:p>
        </p:txBody>
      </p:sp>
      <p:sp>
        <p:nvSpPr>
          <p:cNvPr id="47" name="TextBox 46"/>
          <p:cNvSpPr txBox="1"/>
          <p:nvPr/>
        </p:nvSpPr>
        <p:spPr>
          <a:xfrm>
            <a:off x="3401568" y="3493008"/>
            <a:ext cx="2651760" cy="457200"/>
          </a:xfrm>
          <a:prstGeom prst="rect">
            <a:avLst/>
          </a:prstGeom>
          <a:noFill/>
        </p:spPr>
        <p:txBody>
          <a:bodyPr wrap="square" lIns="0" tIns="0" rIns="0" bIns="0" anchor="t">
            <a:spAutoFit/>
          </a:bodyPr>
          <a:lstStyle/>
          <a:p>
            <a:pPr algn="l">
              <a:lnSpc>
                <a:spcPct val="100000"/>
              </a:lnSpc>
              <a:spcAft>
                <a:spcPts val="0"/>
              </a:spcAft>
            </a:pPr>
            <a:r>
              <a:rPr sz="3000" b="0" i="0">
                <a:solidFill>
                  <a:srgbClr val="63D2E8"/>
                </a:solidFill>
                <a:latin typeface="Consolas"/>
              </a:rPr>
              <a:t>5 s</a:t>
            </a:r>
          </a:p>
        </p:txBody>
      </p:sp>
      <p:sp>
        <p:nvSpPr>
          <p:cNvPr id="48" name="TextBox 47"/>
          <p:cNvSpPr txBox="1"/>
          <p:nvPr/>
        </p:nvSpPr>
        <p:spPr>
          <a:xfrm>
            <a:off x="3401568" y="3881628"/>
            <a:ext cx="2651760" cy="219456"/>
          </a:xfrm>
          <a:prstGeom prst="rect">
            <a:avLst/>
          </a:prstGeom>
          <a:noFill/>
        </p:spPr>
        <p:txBody>
          <a:bodyPr wrap="square" lIns="0" tIns="0" rIns="0" bIns="0" anchor="t">
            <a:spAutoFit/>
          </a:bodyPr>
          <a:lstStyle/>
          <a:p>
            <a:pPr algn="l">
              <a:lnSpc>
                <a:spcPct val="100000"/>
              </a:lnSpc>
              <a:spcAft>
                <a:spcPts val="0"/>
              </a:spcAft>
            </a:pPr>
            <a:r>
              <a:rPr sz="850" b="0" i="0">
                <a:solidFill>
                  <a:srgbClr val="8494A6"/>
                </a:solidFill>
                <a:latin typeface="Bahnschrift SemiBold"/>
              </a:rPr>
              <a:t>REPORT INTERVAL</a:t>
            </a:r>
          </a:p>
        </p:txBody>
      </p:sp>
      <p:sp>
        <p:nvSpPr>
          <p:cNvPr id="49" name="TextBox 48"/>
          <p:cNvSpPr txBox="1"/>
          <p:nvPr/>
        </p:nvSpPr>
        <p:spPr>
          <a:xfrm>
            <a:off x="3401568" y="4064508"/>
            <a:ext cx="2651760" cy="219456"/>
          </a:xfrm>
          <a:prstGeom prst="rect">
            <a:avLst/>
          </a:prstGeom>
          <a:noFill/>
        </p:spPr>
        <p:txBody>
          <a:bodyPr wrap="square" lIns="0" tIns="0" rIns="0" bIns="0" anchor="t">
            <a:spAutoFit/>
          </a:bodyPr>
          <a:lstStyle/>
          <a:p>
            <a:pPr algn="l">
              <a:lnSpc>
                <a:spcPct val="100000"/>
              </a:lnSpc>
              <a:spcAft>
                <a:spcPts val="0"/>
              </a:spcAft>
            </a:pPr>
            <a:r>
              <a:rPr sz="850" b="0" i="0">
                <a:solidFill>
                  <a:srgbClr val="5A6878"/>
                </a:solidFill>
                <a:latin typeface="Consolas"/>
              </a:rPr>
              <a:t>fixed read budget</a:t>
            </a:r>
          </a:p>
        </p:txBody>
      </p:sp>
      <p:sp>
        <p:nvSpPr>
          <p:cNvPr id="50" name="Rectangle 49"/>
          <p:cNvSpPr/>
          <p:nvPr/>
        </p:nvSpPr>
        <p:spPr>
          <a:xfrm>
            <a:off x="3182111" y="3529584"/>
            <a:ext cx="9525" cy="896112"/>
          </a:xfrm>
          <a:prstGeom prst="rect">
            <a:avLst/>
          </a:prstGeom>
          <a:solidFill>
            <a:srgbClr val="2C364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1" name="TextBox 50"/>
          <p:cNvSpPr txBox="1"/>
          <p:nvPr/>
        </p:nvSpPr>
        <p:spPr>
          <a:xfrm>
            <a:off x="6163056" y="3493008"/>
            <a:ext cx="2651760" cy="457200"/>
          </a:xfrm>
          <a:prstGeom prst="rect">
            <a:avLst/>
          </a:prstGeom>
          <a:noFill/>
        </p:spPr>
        <p:txBody>
          <a:bodyPr wrap="square" lIns="0" tIns="0" rIns="0" bIns="0" anchor="t">
            <a:spAutoFit/>
          </a:bodyPr>
          <a:lstStyle/>
          <a:p>
            <a:pPr algn="l">
              <a:lnSpc>
                <a:spcPct val="100000"/>
              </a:lnSpc>
              <a:spcAft>
                <a:spcPts val="0"/>
              </a:spcAft>
            </a:pPr>
            <a:r>
              <a:rPr sz="3000" b="0" i="0">
                <a:solidFill>
                  <a:srgbClr val="63D2E8"/>
                </a:solidFill>
                <a:latin typeface="Consolas"/>
              </a:rPr>
              <a:t>TLS 1.3</a:t>
            </a:r>
          </a:p>
        </p:txBody>
      </p:sp>
      <p:sp>
        <p:nvSpPr>
          <p:cNvPr id="52" name="TextBox 51"/>
          <p:cNvSpPr txBox="1"/>
          <p:nvPr/>
        </p:nvSpPr>
        <p:spPr>
          <a:xfrm>
            <a:off x="6163056" y="3881628"/>
            <a:ext cx="2651760" cy="219456"/>
          </a:xfrm>
          <a:prstGeom prst="rect">
            <a:avLst/>
          </a:prstGeom>
          <a:noFill/>
        </p:spPr>
        <p:txBody>
          <a:bodyPr wrap="square" lIns="0" tIns="0" rIns="0" bIns="0" anchor="t">
            <a:spAutoFit/>
          </a:bodyPr>
          <a:lstStyle/>
          <a:p>
            <a:pPr algn="l">
              <a:lnSpc>
                <a:spcPct val="100000"/>
              </a:lnSpc>
              <a:spcAft>
                <a:spcPts val="0"/>
              </a:spcAft>
            </a:pPr>
            <a:r>
              <a:rPr sz="850" b="0" i="0">
                <a:solidFill>
                  <a:srgbClr val="8494A6"/>
                </a:solidFill>
                <a:latin typeface="Bahnschrift SemiBold"/>
              </a:rPr>
              <a:t>TO THE BROKER</a:t>
            </a:r>
          </a:p>
        </p:txBody>
      </p:sp>
      <p:sp>
        <p:nvSpPr>
          <p:cNvPr id="53" name="TextBox 52"/>
          <p:cNvSpPr txBox="1"/>
          <p:nvPr/>
        </p:nvSpPr>
        <p:spPr>
          <a:xfrm>
            <a:off x="6163056" y="4064508"/>
            <a:ext cx="2651760" cy="219456"/>
          </a:xfrm>
          <a:prstGeom prst="rect">
            <a:avLst/>
          </a:prstGeom>
          <a:noFill/>
        </p:spPr>
        <p:txBody>
          <a:bodyPr wrap="square" lIns="0" tIns="0" rIns="0" bIns="0" anchor="t">
            <a:spAutoFit/>
          </a:bodyPr>
          <a:lstStyle/>
          <a:p>
            <a:pPr algn="l">
              <a:lnSpc>
                <a:spcPct val="100000"/>
              </a:lnSpc>
              <a:spcAft>
                <a:spcPts val="0"/>
              </a:spcAft>
            </a:pPr>
            <a:r>
              <a:rPr sz="850" b="0" i="0">
                <a:solidFill>
                  <a:srgbClr val="5A6878"/>
                </a:solidFill>
                <a:latin typeface="Consolas"/>
              </a:rPr>
              <a:t>DigiCert G2 verified</a:t>
            </a:r>
          </a:p>
        </p:txBody>
      </p:sp>
      <p:sp>
        <p:nvSpPr>
          <p:cNvPr id="54" name="Rectangle 53"/>
          <p:cNvSpPr/>
          <p:nvPr/>
        </p:nvSpPr>
        <p:spPr>
          <a:xfrm>
            <a:off x="5943600" y="3529584"/>
            <a:ext cx="9525" cy="896112"/>
          </a:xfrm>
          <a:prstGeom prst="rect">
            <a:avLst/>
          </a:prstGeom>
          <a:solidFill>
            <a:srgbClr val="2C364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5" name="TextBox 54"/>
          <p:cNvSpPr txBox="1"/>
          <p:nvPr/>
        </p:nvSpPr>
        <p:spPr>
          <a:xfrm>
            <a:off x="8924544" y="3493008"/>
            <a:ext cx="2651760" cy="457200"/>
          </a:xfrm>
          <a:prstGeom prst="rect">
            <a:avLst/>
          </a:prstGeom>
          <a:noFill/>
        </p:spPr>
        <p:txBody>
          <a:bodyPr wrap="square" lIns="0" tIns="0" rIns="0" bIns="0" anchor="t">
            <a:spAutoFit/>
          </a:bodyPr>
          <a:lstStyle/>
          <a:p>
            <a:pPr algn="l">
              <a:lnSpc>
                <a:spcPct val="100000"/>
              </a:lnSpc>
              <a:spcAft>
                <a:spcPts val="0"/>
              </a:spcAft>
            </a:pPr>
            <a:r>
              <a:rPr sz="3000" b="0" i="0">
                <a:solidFill>
                  <a:srgbClr val="C89A5B"/>
                </a:solidFill>
                <a:latin typeface="Consolas"/>
              </a:rPr>
              <a:t>97.65 %</a:t>
            </a:r>
          </a:p>
        </p:txBody>
      </p:sp>
      <p:sp>
        <p:nvSpPr>
          <p:cNvPr id="56" name="TextBox 55"/>
          <p:cNvSpPr txBox="1"/>
          <p:nvPr/>
        </p:nvSpPr>
        <p:spPr>
          <a:xfrm>
            <a:off x="8924544" y="3881628"/>
            <a:ext cx="2651760" cy="219456"/>
          </a:xfrm>
          <a:prstGeom prst="rect">
            <a:avLst/>
          </a:prstGeom>
          <a:noFill/>
        </p:spPr>
        <p:txBody>
          <a:bodyPr wrap="square" lIns="0" tIns="0" rIns="0" bIns="0" anchor="t">
            <a:spAutoFit/>
          </a:bodyPr>
          <a:lstStyle/>
          <a:p>
            <a:pPr algn="l">
              <a:lnSpc>
                <a:spcPct val="100000"/>
              </a:lnSpc>
              <a:spcAft>
                <a:spcPts val="0"/>
              </a:spcAft>
            </a:pPr>
            <a:r>
              <a:rPr sz="850" b="0" i="0">
                <a:solidFill>
                  <a:srgbClr val="8494A6"/>
                </a:solidFill>
                <a:latin typeface="Bahnschrift SemiBold"/>
              </a:rPr>
              <a:t>MNIST TEST ACCURACY</a:t>
            </a:r>
          </a:p>
        </p:txBody>
      </p:sp>
      <p:sp>
        <p:nvSpPr>
          <p:cNvPr id="57" name="TextBox 56"/>
          <p:cNvSpPr txBox="1"/>
          <p:nvPr/>
        </p:nvSpPr>
        <p:spPr>
          <a:xfrm>
            <a:off x="8924544" y="4064508"/>
            <a:ext cx="2651760" cy="219456"/>
          </a:xfrm>
          <a:prstGeom prst="rect">
            <a:avLst/>
          </a:prstGeom>
          <a:noFill/>
        </p:spPr>
        <p:txBody>
          <a:bodyPr wrap="square" lIns="0" tIns="0" rIns="0" bIns="0" anchor="t">
            <a:spAutoFit/>
          </a:bodyPr>
          <a:lstStyle/>
          <a:p>
            <a:pPr algn="l">
              <a:lnSpc>
                <a:spcPct val="100000"/>
              </a:lnSpc>
              <a:spcAft>
                <a:spcPts val="0"/>
              </a:spcAft>
            </a:pPr>
            <a:r>
              <a:rPr sz="850" b="0" i="0">
                <a:solidFill>
                  <a:srgbClr val="5A6878"/>
                </a:solidFill>
                <a:latin typeface="Consolas"/>
              </a:rPr>
              <a:t>784-128-10, from scratch</a:t>
            </a:r>
          </a:p>
        </p:txBody>
      </p:sp>
      <p:sp>
        <p:nvSpPr>
          <p:cNvPr id="58" name="Rectangle 57"/>
          <p:cNvSpPr/>
          <p:nvPr/>
        </p:nvSpPr>
        <p:spPr>
          <a:xfrm>
            <a:off x="8705088" y="3529584"/>
            <a:ext cx="9525" cy="896112"/>
          </a:xfrm>
          <a:prstGeom prst="rect">
            <a:avLst/>
          </a:prstGeom>
          <a:solidFill>
            <a:srgbClr val="2C364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9" name="Rectangle 58"/>
          <p:cNvSpPr/>
          <p:nvPr/>
        </p:nvSpPr>
        <p:spPr>
          <a:xfrm>
            <a:off x="640080" y="4846320"/>
            <a:ext cx="10908792" cy="9525"/>
          </a:xfrm>
          <a:prstGeom prst="rect">
            <a:avLst/>
          </a:prstGeom>
          <a:solidFill>
            <a:srgbClr val="2C364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0" name="TextBox 59"/>
          <p:cNvSpPr txBox="1"/>
          <p:nvPr/>
        </p:nvSpPr>
        <p:spPr>
          <a:xfrm>
            <a:off x="640080" y="5047488"/>
            <a:ext cx="10908792" cy="1188720"/>
          </a:xfrm>
          <a:prstGeom prst="rect">
            <a:avLst/>
          </a:prstGeom>
          <a:noFill/>
        </p:spPr>
        <p:txBody>
          <a:bodyPr wrap="square" lIns="0" tIns="0" rIns="0" bIns="0">
            <a:spAutoFit/>
          </a:bodyPr>
          <a:lstStyle/>
          <a:p>
            <a:pPr algn="l">
              <a:lnSpc>
                <a:spcPct val="122000"/>
              </a:lnSpc>
              <a:spcAft>
                <a:spcPts val="800"/>
              </a:spcAft>
            </a:pPr>
            <a:r>
              <a:rPr sz="1200" b="1">
                <a:solidFill>
                  <a:srgbClr val="63D2E8"/>
                </a:solidFill>
                <a:latin typeface="Consolas"/>
              </a:rPr>
              <a:t>— </a:t>
            </a:r>
            <a:r>
              <a:rPr sz="1200" b="1">
                <a:solidFill>
                  <a:srgbClr val="E6EDF3"/>
                </a:solidFill>
                <a:latin typeface="Segoe UI"/>
              </a:rPr>
              <a:t>Cross-checked, not self-reported.</a:t>
            </a:r>
            <a:r>
              <a:rPr sz="1200" b="0">
                <a:solidFill>
                  <a:srgbClr val="8494A6"/>
                </a:solidFill>
                <a:latin typeface="Segoe UI"/>
              </a:rPr>
              <a:t>  A PC-side Modbus client read the same value the gateway published, in the same second.</a:t>
            </a:r>
          </a:p>
          <a:p>
            <a:pPr algn="l">
              <a:lnSpc>
                <a:spcPct val="122000"/>
              </a:lnSpc>
              <a:spcAft>
                <a:spcPts val="800"/>
              </a:spcAft>
            </a:pPr>
            <a:r>
              <a:rPr sz="1200" b="1">
                <a:solidFill>
                  <a:srgbClr val="63D2E8"/>
                </a:solidFill>
                <a:latin typeface="Consolas"/>
              </a:rPr>
              <a:t>— </a:t>
            </a:r>
            <a:r>
              <a:rPr sz="1200" b="1">
                <a:solidFill>
                  <a:srgbClr val="E6EDF3"/>
                </a:solidFill>
                <a:latin typeface="Segoe UI"/>
              </a:rPr>
              <a:t>The meter cannot move.</a:t>
            </a:r>
            <a:r>
              <a:rPr sz="1200" b="0">
                <a:solidFill>
                  <a:srgbClr val="8494A6"/>
                </a:solidFill>
                <a:latin typeface="Segoe UI"/>
              </a:rPr>
              <a:t>  Its address is a DHCP reservation on MAC 00-00-36-7F-04-55, because CFG_METER_HOST is a compile-time constant.</a:t>
            </a:r>
          </a:p>
        </p:txBody>
      </p:sp>
      <p:sp>
        <p:nvSpPr>
          <p:cNvPr id="61" name="Rectangle 60"/>
          <p:cNvSpPr/>
          <p:nvPr/>
        </p:nvSpPr>
        <p:spPr>
          <a:xfrm>
            <a:off x="640080" y="6382512"/>
            <a:ext cx="10908792" cy="9525"/>
          </a:xfrm>
          <a:prstGeom prst="rect">
            <a:avLst/>
          </a:prstGeom>
          <a:solidFill>
            <a:srgbClr val="2C364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2" name="TextBox 61"/>
          <p:cNvSpPr txBox="1"/>
          <p:nvPr/>
        </p:nvSpPr>
        <p:spPr>
          <a:xfrm>
            <a:off x="640080" y="6492240"/>
            <a:ext cx="7315200" cy="237744"/>
          </a:xfrm>
          <a:prstGeom prst="rect">
            <a:avLst/>
          </a:prstGeom>
          <a:noFill/>
        </p:spPr>
        <p:txBody>
          <a:bodyPr wrap="square" lIns="0" tIns="0" rIns="0" bIns="0" anchor="t">
            <a:spAutoFit/>
          </a:bodyPr>
          <a:lstStyle/>
          <a:p>
            <a:pPr algn="l">
              <a:lnSpc>
                <a:spcPct val="112000"/>
              </a:lnSpc>
              <a:spcAft>
                <a:spcPts val="0"/>
              </a:spcAft>
            </a:pPr>
            <a:r>
              <a:rPr sz="850" b="0" i="0">
                <a:solidFill>
                  <a:srgbClr val="5A6878"/>
                </a:solidFill>
                <a:latin typeface="Consolas"/>
              </a:rPr>
              <a:t>OSOS · DKM-440 remote meter reading</a:t>
            </a:r>
          </a:p>
        </p:txBody>
      </p:sp>
      <p:sp>
        <p:nvSpPr>
          <p:cNvPr id="63" name="TextBox 62"/>
          <p:cNvSpPr txBox="1"/>
          <p:nvPr/>
        </p:nvSpPr>
        <p:spPr>
          <a:xfrm>
            <a:off x="10177272" y="6492240"/>
            <a:ext cx="1371600" cy="237744"/>
          </a:xfrm>
          <a:prstGeom prst="rect">
            <a:avLst/>
          </a:prstGeom>
          <a:noFill/>
        </p:spPr>
        <p:txBody>
          <a:bodyPr wrap="square" lIns="0" tIns="0" rIns="0" bIns="0" anchor="t">
            <a:spAutoFit/>
          </a:bodyPr>
          <a:lstStyle/>
          <a:p>
            <a:pPr algn="r">
              <a:lnSpc>
                <a:spcPct val="112000"/>
              </a:lnSpc>
              <a:spcAft>
                <a:spcPts val="0"/>
              </a:spcAft>
            </a:pPr>
            <a:r>
              <a:rPr sz="850" b="0" i="0">
                <a:solidFill>
                  <a:srgbClr val="5A6878"/>
                </a:solidFill>
                <a:latin typeface="Consolas"/>
              </a:rPr>
              <a:t>01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D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274320"/>
            <a:ext cx="5852160" cy="219456"/>
          </a:xfrm>
          <a:prstGeom prst="rect">
            <a:avLst/>
          </a:prstGeom>
          <a:noFill/>
        </p:spPr>
        <p:txBody>
          <a:bodyPr wrap="square" lIns="0" tIns="0" rIns="0" bIns="0" anchor="t">
            <a:spAutoFit/>
          </a:bodyPr>
          <a:lstStyle/>
          <a:p>
            <a:pPr algn="l">
              <a:lnSpc>
                <a:spcPct val="100000"/>
              </a:lnSpc>
              <a:spcAft>
                <a:spcPts val="0"/>
              </a:spcAft>
            </a:pPr>
            <a:r>
              <a:rPr sz="900" b="0" i="0">
                <a:solidFill>
                  <a:srgbClr val="63D2E8"/>
                </a:solidFill>
                <a:latin typeface="Consolas"/>
              </a:rPr>
              <a:t>PHOTOGRAPHED 2026-07-28</a:t>
            </a:r>
          </a:p>
        </p:txBody>
      </p:sp>
      <p:sp>
        <p:nvSpPr>
          <p:cNvPr id="4" name="TextBox 3"/>
          <p:cNvSpPr txBox="1"/>
          <p:nvPr/>
        </p:nvSpPr>
        <p:spPr>
          <a:xfrm>
            <a:off x="640080" y="493776"/>
            <a:ext cx="5870448" cy="640080"/>
          </a:xfrm>
          <a:prstGeom prst="rect">
            <a:avLst/>
          </a:prstGeom>
          <a:noFill/>
        </p:spPr>
        <p:txBody>
          <a:bodyPr wrap="square" lIns="0" tIns="0" rIns="0" bIns="0" anchor="b">
            <a:spAutoFit/>
          </a:bodyPr>
          <a:lstStyle/>
          <a:p>
            <a:pPr algn="l">
              <a:lnSpc>
                <a:spcPct val="100000"/>
              </a:lnSpc>
              <a:spcAft>
                <a:spcPts val="0"/>
              </a:spcAft>
            </a:pPr>
            <a:r>
              <a:rPr sz="2700" b="0" i="0">
                <a:solidFill>
                  <a:srgbClr val="E6EDF3"/>
                </a:solidFill>
                <a:latin typeface="Bahnschrift SemiBold"/>
              </a:rPr>
              <a:t>The hardware</a:t>
            </a:r>
          </a:p>
        </p:txBody>
      </p:sp>
      <p:sp>
        <p:nvSpPr>
          <p:cNvPr id="5" name="Rectangle 4"/>
          <p:cNvSpPr/>
          <p:nvPr/>
        </p:nvSpPr>
        <p:spPr>
          <a:xfrm>
            <a:off x="6726783" y="583844"/>
            <a:ext cx="1083106" cy="12700"/>
          </a:xfrm>
          <a:prstGeom prst="rect">
            <a:avLst/>
          </a:prstGeom>
          <a:solidFill>
            <a:srgbClr val="2E7D8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Rectangle 5"/>
          <p:cNvSpPr/>
          <p:nvPr/>
        </p:nvSpPr>
        <p:spPr>
          <a:xfrm>
            <a:off x="6617970" y="548640"/>
            <a:ext cx="77724" cy="77724"/>
          </a:xfrm>
          <a:prstGeom prst="rect">
            <a:avLst/>
          </a:prstGeom>
          <a:solidFill>
            <a:srgbClr val="63D2E8"/>
          </a:solidFill>
          <a:ln w="12700">
            <a:solidFill>
              <a:srgbClr val="63D2E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6045327" y="694944"/>
            <a:ext cx="1223010" cy="201168"/>
          </a:xfrm>
          <a:prstGeom prst="rect">
            <a:avLst/>
          </a:prstGeom>
          <a:noFill/>
        </p:spPr>
        <p:txBody>
          <a:bodyPr wrap="square" lIns="0" tIns="0" rIns="0" bIns="0" anchor="t">
            <a:spAutoFit/>
          </a:bodyPr>
          <a:lstStyle/>
          <a:p>
            <a:pPr algn="ctr">
              <a:lnSpc>
                <a:spcPct val="100000"/>
              </a:lnSpc>
              <a:spcAft>
                <a:spcPts val="0"/>
              </a:spcAft>
            </a:pPr>
            <a:r>
              <a:rPr sz="750" b="0" i="0">
                <a:solidFill>
                  <a:srgbClr val="63D2E8"/>
                </a:solidFill>
                <a:latin typeface="Bahnschrift SemiBold"/>
              </a:rPr>
              <a:t>METER</a:t>
            </a:r>
          </a:p>
        </p:txBody>
      </p:sp>
      <p:sp>
        <p:nvSpPr>
          <p:cNvPr id="8" name="Rectangle 7"/>
          <p:cNvSpPr/>
          <p:nvPr/>
        </p:nvSpPr>
        <p:spPr>
          <a:xfrm>
            <a:off x="7949793" y="583844"/>
            <a:ext cx="1083106" cy="12700"/>
          </a:xfrm>
          <a:prstGeom prst="rect">
            <a:avLst/>
          </a:prstGeom>
          <a:solidFill>
            <a:srgbClr val="2C364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Rectangle 8"/>
          <p:cNvSpPr/>
          <p:nvPr/>
        </p:nvSpPr>
        <p:spPr>
          <a:xfrm>
            <a:off x="7840979" y="548640"/>
            <a:ext cx="77724" cy="77724"/>
          </a:xfrm>
          <a:prstGeom prst="rect">
            <a:avLst/>
          </a:prstGeom>
          <a:solidFill>
            <a:srgbClr val="63D2E8"/>
          </a:solidFill>
          <a:ln w="12700">
            <a:solidFill>
              <a:srgbClr val="63D2E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TextBox 9"/>
          <p:cNvSpPr txBox="1"/>
          <p:nvPr/>
        </p:nvSpPr>
        <p:spPr>
          <a:xfrm>
            <a:off x="7268337" y="694944"/>
            <a:ext cx="1223010" cy="201168"/>
          </a:xfrm>
          <a:prstGeom prst="rect">
            <a:avLst/>
          </a:prstGeom>
          <a:noFill/>
        </p:spPr>
        <p:txBody>
          <a:bodyPr wrap="square" lIns="0" tIns="0" rIns="0" bIns="0" anchor="t">
            <a:spAutoFit/>
          </a:bodyPr>
          <a:lstStyle/>
          <a:p>
            <a:pPr algn="ctr">
              <a:lnSpc>
                <a:spcPct val="100000"/>
              </a:lnSpc>
              <a:spcAft>
                <a:spcPts val="0"/>
              </a:spcAft>
            </a:pPr>
            <a:r>
              <a:rPr sz="750" b="0" i="0">
                <a:solidFill>
                  <a:srgbClr val="63D2E8"/>
                </a:solidFill>
                <a:latin typeface="Bahnschrift SemiBold"/>
              </a:rPr>
              <a:t>GATEWAY</a:t>
            </a:r>
          </a:p>
        </p:txBody>
      </p:sp>
      <p:sp>
        <p:nvSpPr>
          <p:cNvPr id="11" name="Rectangle 10"/>
          <p:cNvSpPr/>
          <p:nvPr/>
        </p:nvSpPr>
        <p:spPr>
          <a:xfrm>
            <a:off x="9172803" y="583844"/>
            <a:ext cx="1083106" cy="12700"/>
          </a:xfrm>
          <a:prstGeom prst="rect">
            <a:avLst/>
          </a:prstGeom>
          <a:solidFill>
            <a:srgbClr val="2C364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Rectangle 11"/>
          <p:cNvSpPr/>
          <p:nvPr/>
        </p:nvSpPr>
        <p:spPr>
          <a:xfrm>
            <a:off x="9063990" y="548640"/>
            <a:ext cx="77724" cy="77724"/>
          </a:xfrm>
          <a:prstGeom prst="rect">
            <a:avLst/>
          </a:prstGeom>
          <a:solidFill>
            <a:srgbClr val="0D1117"/>
          </a:solidFill>
          <a:ln w="12700">
            <a:solidFill>
              <a:srgbClr val="3D4A5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8491347" y="694944"/>
            <a:ext cx="1223010" cy="201168"/>
          </a:xfrm>
          <a:prstGeom prst="rect">
            <a:avLst/>
          </a:prstGeom>
          <a:noFill/>
        </p:spPr>
        <p:txBody>
          <a:bodyPr wrap="square" lIns="0" tIns="0" rIns="0" bIns="0" anchor="t">
            <a:spAutoFit/>
          </a:bodyPr>
          <a:lstStyle/>
          <a:p>
            <a:pPr algn="ctr">
              <a:lnSpc>
                <a:spcPct val="100000"/>
              </a:lnSpc>
              <a:spcAft>
                <a:spcPts val="0"/>
              </a:spcAft>
            </a:pPr>
            <a:r>
              <a:rPr sz="750" b="0" i="0">
                <a:solidFill>
                  <a:srgbClr val="5A6878"/>
                </a:solidFill>
                <a:latin typeface="Bahnschrift SemiBold"/>
              </a:rPr>
              <a:t>BROKER</a:t>
            </a:r>
          </a:p>
        </p:txBody>
      </p:sp>
      <p:sp>
        <p:nvSpPr>
          <p:cNvPr id="14" name="Rectangle 13"/>
          <p:cNvSpPr/>
          <p:nvPr/>
        </p:nvSpPr>
        <p:spPr>
          <a:xfrm>
            <a:off x="10395813" y="583844"/>
            <a:ext cx="1083106" cy="12700"/>
          </a:xfrm>
          <a:prstGeom prst="rect">
            <a:avLst/>
          </a:prstGeom>
          <a:solidFill>
            <a:srgbClr val="2C364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Rectangle 14"/>
          <p:cNvSpPr/>
          <p:nvPr/>
        </p:nvSpPr>
        <p:spPr>
          <a:xfrm>
            <a:off x="10287000" y="548640"/>
            <a:ext cx="77724" cy="77724"/>
          </a:xfrm>
          <a:prstGeom prst="rect">
            <a:avLst/>
          </a:prstGeom>
          <a:solidFill>
            <a:srgbClr val="0D1117"/>
          </a:solidFill>
          <a:ln w="12700">
            <a:solidFill>
              <a:srgbClr val="3D4A5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TextBox 15"/>
          <p:cNvSpPr txBox="1"/>
          <p:nvPr/>
        </p:nvSpPr>
        <p:spPr>
          <a:xfrm>
            <a:off x="9714357" y="694944"/>
            <a:ext cx="1223010" cy="201168"/>
          </a:xfrm>
          <a:prstGeom prst="rect">
            <a:avLst/>
          </a:prstGeom>
          <a:noFill/>
        </p:spPr>
        <p:txBody>
          <a:bodyPr wrap="square" lIns="0" tIns="0" rIns="0" bIns="0" anchor="t">
            <a:spAutoFit/>
          </a:bodyPr>
          <a:lstStyle/>
          <a:p>
            <a:pPr algn="ctr">
              <a:lnSpc>
                <a:spcPct val="100000"/>
              </a:lnSpc>
              <a:spcAft>
                <a:spcPts val="0"/>
              </a:spcAft>
            </a:pPr>
            <a:r>
              <a:rPr sz="750" b="0" i="0">
                <a:solidFill>
                  <a:srgbClr val="5A6878"/>
                </a:solidFill>
                <a:latin typeface="Bahnschrift SemiBold"/>
              </a:rPr>
              <a:t>PHONE</a:t>
            </a:r>
          </a:p>
        </p:txBody>
      </p:sp>
      <p:sp>
        <p:nvSpPr>
          <p:cNvPr id="17" name="Rectangle 16"/>
          <p:cNvSpPr/>
          <p:nvPr/>
        </p:nvSpPr>
        <p:spPr>
          <a:xfrm>
            <a:off x="11510009" y="548640"/>
            <a:ext cx="77724" cy="77724"/>
          </a:xfrm>
          <a:prstGeom prst="rect">
            <a:avLst/>
          </a:prstGeom>
          <a:solidFill>
            <a:srgbClr val="0D1117"/>
          </a:solidFill>
          <a:ln w="12700">
            <a:solidFill>
              <a:srgbClr val="3D4A5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TextBox 17"/>
          <p:cNvSpPr txBox="1"/>
          <p:nvPr/>
        </p:nvSpPr>
        <p:spPr>
          <a:xfrm>
            <a:off x="10937367" y="694944"/>
            <a:ext cx="1223010" cy="201168"/>
          </a:xfrm>
          <a:prstGeom prst="rect">
            <a:avLst/>
          </a:prstGeom>
          <a:noFill/>
        </p:spPr>
        <p:txBody>
          <a:bodyPr wrap="square" lIns="0" tIns="0" rIns="0" bIns="0" anchor="t">
            <a:spAutoFit/>
          </a:bodyPr>
          <a:lstStyle/>
          <a:p>
            <a:pPr algn="ctr">
              <a:lnSpc>
                <a:spcPct val="100000"/>
              </a:lnSpc>
              <a:spcAft>
                <a:spcPts val="0"/>
              </a:spcAft>
            </a:pPr>
            <a:r>
              <a:rPr sz="750" b="0" i="0">
                <a:solidFill>
                  <a:srgbClr val="5A6878"/>
                </a:solidFill>
                <a:latin typeface="Bahnschrift SemiBold"/>
              </a:rPr>
              <a:t>NET</a:t>
            </a:r>
          </a:p>
        </p:txBody>
      </p:sp>
      <p:sp>
        <p:nvSpPr>
          <p:cNvPr id="19" name="Rectangle 18"/>
          <p:cNvSpPr/>
          <p:nvPr/>
        </p:nvSpPr>
        <p:spPr>
          <a:xfrm>
            <a:off x="640080" y="1225296"/>
            <a:ext cx="10908792" cy="9525"/>
          </a:xfrm>
          <a:prstGeom prst="rect">
            <a:avLst/>
          </a:prstGeom>
          <a:solidFill>
            <a:srgbClr val="2C364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Rectangle 19"/>
          <p:cNvSpPr/>
          <p:nvPr/>
        </p:nvSpPr>
        <p:spPr>
          <a:xfrm>
            <a:off x="640080" y="1220724"/>
            <a:ext cx="566928" cy="25400"/>
          </a:xfrm>
          <a:prstGeom prst="rect">
            <a:avLst/>
          </a:prstGeom>
          <a:solidFill>
            <a:srgbClr val="63D2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1" name="Rectangle 20"/>
          <p:cNvSpPr/>
          <p:nvPr/>
        </p:nvSpPr>
        <p:spPr>
          <a:xfrm>
            <a:off x="598931" y="1586484"/>
            <a:ext cx="2312868" cy="2962656"/>
          </a:xfrm>
          <a:prstGeom prst="rect">
            <a:avLst/>
          </a:prstGeom>
          <a:solidFill>
            <a:srgbClr val="161C24"/>
          </a:solidFill>
          <a:ln w="12700">
            <a:solidFill>
              <a:srgbClr val="2C364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pic>
        <p:nvPicPr>
          <p:cNvPr id="22" name="Picture 21" descr="dkm440-front.jpg"/>
          <p:cNvPicPr>
            <a:picLocks noChangeAspect="1"/>
          </p:cNvPicPr>
          <p:nvPr/>
        </p:nvPicPr>
        <p:blipFill>
          <a:blip r:embed="rId2"/>
          <a:stretch>
            <a:fillRect/>
          </a:stretch>
        </p:blipFill>
        <p:spPr>
          <a:xfrm>
            <a:off x="640080" y="1627632"/>
            <a:ext cx="2230573" cy="2880360"/>
          </a:xfrm>
          <a:prstGeom prst="rect">
            <a:avLst/>
          </a:prstGeom>
        </p:spPr>
      </p:pic>
      <p:sp>
        <p:nvSpPr>
          <p:cNvPr id="23" name="TextBox 22"/>
          <p:cNvSpPr txBox="1"/>
          <p:nvPr/>
        </p:nvSpPr>
        <p:spPr>
          <a:xfrm>
            <a:off x="598931" y="4636007"/>
            <a:ext cx="2596332" cy="457200"/>
          </a:xfrm>
          <a:prstGeom prst="rect">
            <a:avLst/>
          </a:prstGeom>
          <a:noFill/>
        </p:spPr>
        <p:txBody>
          <a:bodyPr wrap="square" lIns="0" tIns="0" rIns="0" bIns="0" anchor="t">
            <a:spAutoFit/>
          </a:bodyPr>
          <a:lstStyle/>
          <a:p>
            <a:pPr algn="l">
              <a:lnSpc>
                <a:spcPct val="125000"/>
              </a:lnSpc>
              <a:spcAft>
                <a:spcPts val="0"/>
              </a:spcAft>
            </a:pPr>
            <a:r>
              <a:rPr sz="850" b="0" i="0">
                <a:solidFill>
                  <a:srgbClr val="5A6878"/>
                </a:solidFill>
                <a:latin typeface="Consolas"/>
              </a:rPr>
              <a:t>DATAKOM DKM-440 · Ver 10.1</a:t>
            </a:r>
          </a:p>
          <a:p>
            <a:pPr algn="l">
              <a:lnSpc>
                <a:spcPct val="125000"/>
              </a:lnSpc>
              <a:spcAft>
                <a:spcPts val="0"/>
              </a:spcAft>
            </a:pPr>
            <a:r>
              <a:rPr sz="850" b="0" i="0">
                <a:solidFill>
                  <a:srgbClr val="5A6878"/>
                </a:solidFill>
                <a:latin typeface="Consolas"/>
              </a:rPr>
              <a:t>RJ45 top edge — Modbus TCP :502</a:t>
            </a:r>
          </a:p>
        </p:txBody>
      </p:sp>
      <p:sp>
        <p:nvSpPr>
          <p:cNvPr id="24" name="Rectangle 23"/>
          <p:cNvSpPr/>
          <p:nvPr/>
        </p:nvSpPr>
        <p:spPr>
          <a:xfrm>
            <a:off x="3195264" y="1586484"/>
            <a:ext cx="2582177" cy="2962656"/>
          </a:xfrm>
          <a:prstGeom prst="rect">
            <a:avLst/>
          </a:prstGeom>
          <a:solidFill>
            <a:srgbClr val="161C24"/>
          </a:solidFill>
          <a:ln w="12700">
            <a:solidFill>
              <a:srgbClr val="2C364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pic>
        <p:nvPicPr>
          <p:cNvPr id="25" name="Picture 24" descr="bench-psu.jpg"/>
          <p:cNvPicPr>
            <a:picLocks noChangeAspect="1"/>
          </p:cNvPicPr>
          <p:nvPr/>
        </p:nvPicPr>
        <p:blipFill>
          <a:blip r:embed="rId3"/>
          <a:stretch>
            <a:fillRect/>
          </a:stretch>
        </p:blipFill>
        <p:spPr>
          <a:xfrm>
            <a:off x="3236412" y="1627632"/>
            <a:ext cx="2499882" cy="2880360"/>
          </a:xfrm>
          <a:prstGeom prst="rect">
            <a:avLst/>
          </a:prstGeom>
        </p:spPr>
      </p:pic>
      <p:sp>
        <p:nvSpPr>
          <p:cNvPr id="26" name="TextBox 25"/>
          <p:cNvSpPr txBox="1"/>
          <p:nvPr/>
        </p:nvSpPr>
        <p:spPr>
          <a:xfrm>
            <a:off x="3195264" y="4636007"/>
            <a:ext cx="2865641" cy="457200"/>
          </a:xfrm>
          <a:prstGeom prst="rect">
            <a:avLst/>
          </a:prstGeom>
          <a:noFill/>
        </p:spPr>
        <p:txBody>
          <a:bodyPr wrap="square" lIns="0" tIns="0" rIns="0" bIns="0" anchor="t">
            <a:spAutoFit/>
          </a:bodyPr>
          <a:lstStyle/>
          <a:p>
            <a:pPr algn="l">
              <a:lnSpc>
                <a:spcPct val="125000"/>
              </a:lnSpc>
              <a:spcAft>
                <a:spcPts val="0"/>
              </a:spcAft>
            </a:pPr>
            <a:r>
              <a:rPr sz="850" b="0" i="0">
                <a:solidFill>
                  <a:srgbClr val="5A6878"/>
                </a:solidFill>
                <a:latin typeface="Consolas"/>
              </a:rPr>
              <a:t>CLASS 305D · 23.35 V @ 0.157 A</a:t>
            </a:r>
          </a:p>
          <a:p>
            <a:pPr algn="l">
              <a:lnSpc>
                <a:spcPct val="125000"/>
              </a:lnSpc>
              <a:spcAft>
                <a:spcPts val="0"/>
              </a:spcAft>
            </a:pPr>
            <a:r>
              <a:rPr sz="850" b="0" i="0">
                <a:solidFill>
                  <a:srgbClr val="5A6878"/>
                </a:solidFill>
                <a:latin typeface="Consolas"/>
              </a:rPr>
              <a:t>variable — the dial is not a constant</a:t>
            </a:r>
          </a:p>
        </p:txBody>
      </p:sp>
      <p:sp>
        <p:nvSpPr>
          <p:cNvPr id="27" name="Rectangle 26"/>
          <p:cNvSpPr/>
          <p:nvPr/>
        </p:nvSpPr>
        <p:spPr>
          <a:xfrm>
            <a:off x="6060906" y="1586484"/>
            <a:ext cx="2410165" cy="2962656"/>
          </a:xfrm>
          <a:prstGeom prst="rect">
            <a:avLst/>
          </a:prstGeom>
          <a:solidFill>
            <a:srgbClr val="161C24"/>
          </a:solidFill>
          <a:ln w="12700">
            <a:solidFill>
              <a:srgbClr val="2C364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pic>
        <p:nvPicPr>
          <p:cNvPr id="28" name="Picture 27" descr="esp8266-nodemcu.jpg"/>
          <p:cNvPicPr>
            <a:picLocks noChangeAspect="1"/>
          </p:cNvPicPr>
          <p:nvPr/>
        </p:nvPicPr>
        <p:blipFill>
          <a:blip r:embed="rId4"/>
          <a:stretch>
            <a:fillRect/>
          </a:stretch>
        </p:blipFill>
        <p:spPr>
          <a:xfrm>
            <a:off x="6102054" y="1627632"/>
            <a:ext cx="2327870" cy="2880360"/>
          </a:xfrm>
          <a:prstGeom prst="rect">
            <a:avLst/>
          </a:prstGeom>
        </p:spPr>
      </p:pic>
      <p:sp>
        <p:nvSpPr>
          <p:cNvPr id="29" name="TextBox 28"/>
          <p:cNvSpPr txBox="1"/>
          <p:nvPr/>
        </p:nvSpPr>
        <p:spPr>
          <a:xfrm>
            <a:off x="6060906" y="4636007"/>
            <a:ext cx="2693629" cy="457200"/>
          </a:xfrm>
          <a:prstGeom prst="rect">
            <a:avLst/>
          </a:prstGeom>
          <a:noFill/>
        </p:spPr>
        <p:txBody>
          <a:bodyPr wrap="square" lIns="0" tIns="0" rIns="0" bIns="0" anchor="t">
            <a:spAutoFit/>
          </a:bodyPr>
          <a:lstStyle/>
          <a:p>
            <a:pPr algn="l">
              <a:lnSpc>
                <a:spcPct val="125000"/>
              </a:lnSpc>
              <a:spcAft>
                <a:spcPts val="0"/>
              </a:spcAft>
            </a:pPr>
            <a:r>
              <a:rPr sz="850" b="0" i="0">
                <a:solidFill>
                  <a:srgbClr val="5A6878"/>
                </a:solidFill>
                <a:latin typeface="Consolas"/>
              </a:rPr>
              <a:t>Ai-Thinker ESP-8266MOD · COM11</a:t>
            </a:r>
          </a:p>
          <a:p>
            <a:pPr algn="l">
              <a:lnSpc>
                <a:spcPct val="125000"/>
              </a:lnSpc>
              <a:spcAft>
                <a:spcPts val="0"/>
              </a:spcAft>
            </a:pPr>
            <a:r>
              <a:rPr sz="850" b="0" i="0">
                <a:solidFill>
                  <a:srgbClr val="5A6878"/>
                </a:solidFill>
                <a:latin typeface="Consolas"/>
              </a:rPr>
              <a:t>802.11 b/g/n — the WAN bridge</a:t>
            </a:r>
          </a:p>
        </p:txBody>
      </p:sp>
      <p:sp>
        <p:nvSpPr>
          <p:cNvPr id="30" name="Rectangle 29"/>
          <p:cNvSpPr/>
          <p:nvPr/>
        </p:nvSpPr>
        <p:spPr>
          <a:xfrm>
            <a:off x="8732520" y="1591056"/>
            <a:ext cx="2816352" cy="3621024"/>
          </a:xfrm>
          <a:prstGeom prst="rect">
            <a:avLst/>
          </a:prstGeom>
          <a:solidFill>
            <a:srgbClr val="161C24"/>
          </a:solidFill>
          <a:ln w="12700">
            <a:solidFill>
              <a:srgbClr val="2C364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1" name="TextBox 30"/>
          <p:cNvSpPr txBox="1"/>
          <p:nvPr/>
        </p:nvSpPr>
        <p:spPr>
          <a:xfrm>
            <a:off x="8951976" y="1792224"/>
            <a:ext cx="2377440" cy="237744"/>
          </a:xfrm>
          <a:prstGeom prst="rect">
            <a:avLst/>
          </a:prstGeom>
          <a:noFill/>
        </p:spPr>
        <p:txBody>
          <a:bodyPr wrap="square" lIns="0" tIns="0" rIns="0" bIns="0" anchor="t">
            <a:spAutoFit/>
          </a:bodyPr>
          <a:lstStyle/>
          <a:p>
            <a:pPr algn="l">
              <a:lnSpc>
                <a:spcPct val="112000"/>
              </a:lnSpc>
              <a:spcAft>
                <a:spcPts val="0"/>
              </a:spcAft>
            </a:pPr>
            <a:r>
              <a:rPr sz="900" b="0" i="0">
                <a:solidFill>
                  <a:srgbClr val="63D2E8"/>
                </a:solidFill>
                <a:latin typeface="Bahnschrift SemiBold"/>
              </a:rPr>
              <a:t>THE SUBNET</a:t>
            </a:r>
          </a:p>
        </p:txBody>
      </p:sp>
      <p:sp>
        <p:nvSpPr>
          <p:cNvPr id="32" name="Rectangle 31"/>
          <p:cNvSpPr/>
          <p:nvPr/>
        </p:nvSpPr>
        <p:spPr>
          <a:xfrm>
            <a:off x="8951976" y="2066543"/>
            <a:ext cx="2377440" cy="9525"/>
          </a:xfrm>
          <a:prstGeom prst="rect">
            <a:avLst/>
          </a:prstGeom>
          <a:solidFill>
            <a:srgbClr val="3D4A5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3" name="TextBox 32"/>
          <p:cNvSpPr txBox="1"/>
          <p:nvPr/>
        </p:nvSpPr>
        <p:spPr>
          <a:xfrm>
            <a:off x="8951976" y="2231136"/>
            <a:ext cx="1051560" cy="219456"/>
          </a:xfrm>
          <a:prstGeom prst="rect">
            <a:avLst/>
          </a:prstGeom>
          <a:noFill/>
        </p:spPr>
        <p:txBody>
          <a:bodyPr wrap="square" lIns="0" tIns="0" rIns="0" bIns="0" anchor="t">
            <a:spAutoFit/>
          </a:bodyPr>
          <a:lstStyle/>
          <a:p>
            <a:pPr algn="l">
              <a:lnSpc>
                <a:spcPct val="112000"/>
              </a:lnSpc>
              <a:spcAft>
                <a:spcPts val="0"/>
              </a:spcAft>
            </a:pPr>
            <a:r>
              <a:rPr sz="1000" b="0" i="0">
                <a:solidFill>
                  <a:srgbClr val="8494A6"/>
                </a:solidFill>
                <a:latin typeface="Segoe UI"/>
              </a:rPr>
              <a:t>router</a:t>
            </a:r>
          </a:p>
        </p:txBody>
      </p:sp>
      <p:sp>
        <p:nvSpPr>
          <p:cNvPr id="34" name="TextBox 33"/>
          <p:cNvSpPr txBox="1"/>
          <p:nvPr/>
        </p:nvSpPr>
        <p:spPr>
          <a:xfrm>
            <a:off x="9966960" y="2231136"/>
            <a:ext cx="1463040" cy="219456"/>
          </a:xfrm>
          <a:prstGeom prst="rect">
            <a:avLst/>
          </a:prstGeom>
          <a:noFill/>
        </p:spPr>
        <p:txBody>
          <a:bodyPr wrap="square" lIns="0" tIns="0" rIns="0" bIns="0" anchor="t">
            <a:spAutoFit/>
          </a:bodyPr>
          <a:lstStyle/>
          <a:p>
            <a:pPr algn="l">
              <a:lnSpc>
                <a:spcPct val="112000"/>
              </a:lnSpc>
              <a:spcAft>
                <a:spcPts val="0"/>
              </a:spcAft>
            </a:pPr>
            <a:r>
              <a:rPr sz="1000" b="0" i="0">
                <a:solidFill>
                  <a:srgbClr val="E6EDF3"/>
                </a:solidFill>
                <a:latin typeface="Consolas"/>
              </a:rPr>
              <a:t>192.169.10.1</a:t>
            </a:r>
          </a:p>
        </p:txBody>
      </p:sp>
      <p:sp>
        <p:nvSpPr>
          <p:cNvPr id="35" name="TextBox 34"/>
          <p:cNvSpPr txBox="1"/>
          <p:nvPr/>
        </p:nvSpPr>
        <p:spPr>
          <a:xfrm>
            <a:off x="8951976" y="2542032"/>
            <a:ext cx="1051560" cy="219456"/>
          </a:xfrm>
          <a:prstGeom prst="rect">
            <a:avLst/>
          </a:prstGeom>
          <a:noFill/>
        </p:spPr>
        <p:txBody>
          <a:bodyPr wrap="square" lIns="0" tIns="0" rIns="0" bIns="0" anchor="t">
            <a:spAutoFit/>
          </a:bodyPr>
          <a:lstStyle/>
          <a:p>
            <a:pPr algn="l">
              <a:lnSpc>
                <a:spcPct val="112000"/>
              </a:lnSpc>
              <a:spcAft>
                <a:spcPts val="0"/>
              </a:spcAft>
            </a:pPr>
            <a:r>
              <a:rPr sz="1000" b="0" i="0">
                <a:solidFill>
                  <a:srgbClr val="8494A6"/>
                </a:solidFill>
                <a:latin typeface="Segoe UI"/>
              </a:rPr>
              <a:t>bench PC</a:t>
            </a:r>
          </a:p>
        </p:txBody>
      </p:sp>
      <p:sp>
        <p:nvSpPr>
          <p:cNvPr id="36" name="TextBox 35"/>
          <p:cNvSpPr txBox="1"/>
          <p:nvPr/>
        </p:nvSpPr>
        <p:spPr>
          <a:xfrm>
            <a:off x="9966960" y="2542032"/>
            <a:ext cx="1463040" cy="219456"/>
          </a:xfrm>
          <a:prstGeom prst="rect">
            <a:avLst/>
          </a:prstGeom>
          <a:noFill/>
        </p:spPr>
        <p:txBody>
          <a:bodyPr wrap="square" lIns="0" tIns="0" rIns="0" bIns="0" anchor="t">
            <a:spAutoFit/>
          </a:bodyPr>
          <a:lstStyle/>
          <a:p>
            <a:pPr algn="l">
              <a:lnSpc>
                <a:spcPct val="112000"/>
              </a:lnSpc>
              <a:spcAft>
                <a:spcPts val="0"/>
              </a:spcAft>
            </a:pPr>
            <a:r>
              <a:rPr sz="1000" b="0" i="0">
                <a:solidFill>
                  <a:srgbClr val="E6EDF3"/>
                </a:solidFill>
                <a:latin typeface="Consolas"/>
              </a:rPr>
              <a:t>.72  DHCP</a:t>
            </a:r>
          </a:p>
        </p:txBody>
      </p:sp>
      <p:sp>
        <p:nvSpPr>
          <p:cNvPr id="37" name="TextBox 36"/>
          <p:cNvSpPr txBox="1"/>
          <p:nvPr/>
        </p:nvSpPr>
        <p:spPr>
          <a:xfrm>
            <a:off x="8951976" y="2852927"/>
            <a:ext cx="1051560" cy="219456"/>
          </a:xfrm>
          <a:prstGeom prst="rect">
            <a:avLst/>
          </a:prstGeom>
          <a:noFill/>
        </p:spPr>
        <p:txBody>
          <a:bodyPr wrap="square" lIns="0" tIns="0" rIns="0" bIns="0" anchor="t">
            <a:spAutoFit/>
          </a:bodyPr>
          <a:lstStyle/>
          <a:p>
            <a:pPr algn="l">
              <a:lnSpc>
                <a:spcPct val="112000"/>
              </a:lnSpc>
              <a:spcAft>
                <a:spcPts val="0"/>
              </a:spcAft>
            </a:pPr>
            <a:r>
              <a:rPr sz="1000" b="0" i="0">
                <a:solidFill>
                  <a:srgbClr val="8494A6"/>
                </a:solidFill>
                <a:latin typeface="Segoe UI"/>
              </a:rPr>
              <a:t>DKM-440</a:t>
            </a:r>
          </a:p>
        </p:txBody>
      </p:sp>
      <p:sp>
        <p:nvSpPr>
          <p:cNvPr id="38" name="TextBox 37"/>
          <p:cNvSpPr txBox="1"/>
          <p:nvPr/>
        </p:nvSpPr>
        <p:spPr>
          <a:xfrm>
            <a:off x="9966960" y="2852927"/>
            <a:ext cx="1463040" cy="219456"/>
          </a:xfrm>
          <a:prstGeom prst="rect">
            <a:avLst/>
          </a:prstGeom>
          <a:noFill/>
        </p:spPr>
        <p:txBody>
          <a:bodyPr wrap="square" lIns="0" tIns="0" rIns="0" bIns="0" anchor="t">
            <a:spAutoFit/>
          </a:bodyPr>
          <a:lstStyle/>
          <a:p>
            <a:pPr algn="l">
              <a:lnSpc>
                <a:spcPct val="112000"/>
              </a:lnSpc>
              <a:spcAft>
                <a:spcPts val="0"/>
              </a:spcAft>
            </a:pPr>
            <a:r>
              <a:rPr sz="1000" b="0" i="0">
                <a:solidFill>
                  <a:srgbClr val="E6EDF3"/>
                </a:solidFill>
                <a:latin typeface="Consolas"/>
              </a:rPr>
              <a:t>.74  reserved</a:t>
            </a:r>
          </a:p>
        </p:txBody>
      </p:sp>
      <p:sp>
        <p:nvSpPr>
          <p:cNvPr id="39" name="TextBox 38"/>
          <p:cNvSpPr txBox="1"/>
          <p:nvPr/>
        </p:nvSpPr>
        <p:spPr>
          <a:xfrm>
            <a:off x="8951976" y="3163823"/>
            <a:ext cx="1051560" cy="219456"/>
          </a:xfrm>
          <a:prstGeom prst="rect">
            <a:avLst/>
          </a:prstGeom>
          <a:noFill/>
        </p:spPr>
        <p:txBody>
          <a:bodyPr wrap="square" lIns="0" tIns="0" rIns="0" bIns="0" anchor="t">
            <a:spAutoFit/>
          </a:bodyPr>
          <a:lstStyle/>
          <a:p>
            <a:pPr algn="l">
              <a:lnSpc>
                <a:spcPct val="112000"/>
              </a:lnSpc>
              <a:spcAft>
                <a:spcPts val="0"/>
              </a:spcAft>
            </a:pPr>
            <a:r>
              <a:rPr sz="1000" b="0" i="0">
                <a:solidFill>
                  <a:srgbClr val="8494A6"/>
                </a:solidFill>
                <a:latin typeface="Segoe UI"/>
              </a:rPr>
              <a:t>ESP8266</a:t>
            </a:r>
          </a:p>
        </p:txBody>
      </p:sp>
      <p:sp>
        <p:nvSpPr>
          <p:cNvPr id="40" name="TextBox 39"/>
          <p:cNvSpPr txBox="1"/>
          <p:nvPr/>
        </p:nvSpPr>
        <p:spPr>
          <a:xfrm>
            <a:off x="9966960" y="3163823"/>
            <a:ext cx="1463040" cy="219456"/>
          </a:xfrm>
          <a:prstGeom prst="rect">
            <a:avLst/>
          </a:prstGeom>
          <a:noFill/>
        </p:spPr>
        <p:txBody>
          <a:bodyPr wrap="square" lIns="0" tIns="0" rIns="0" bIns="0" anchor="t">
            <a:spAutoFit/>
          </a:bodyPr>
          <a:lstStyle/>
          <a:p>
            <a:pPr algn="l">
              <a:lnSpc>
                <a:spcPct val="112000"/>
              </a:lnSpc>
              <a:spcAft>
                <a:spcPts val="0"/>
              </a:spcAft>
            </a:pPr>
            <a:r>
              <a:rPr sz="1000" b="0" i="0">
                <a:solidFill>
                  <a:srgbClr val="E6EDF3"/>
                </a:solidFill>
                <a:latin typeface="Consolas"/>
              </a:rPr>
              <a:t>.75  DHCP</a:t>
            </a:r>
          </a:p>
        </p:txBody>
      </p:sp>
      <p:sp>
        <p:nvSpPr>
          <p:cNvPr id="41" name="Rectangle 40"/>
          <p:cNvSpPr/>
          <p:nvPr/>
        </p:nvSpPr>
        <p:spPr>
          <a:xfrm>
            <a:off x="8951976" y="3511295"/>
            <a:ext cx="2377440" cy="9525"/>
          </a:xfrm>
          <a:prstGeom prst="rect">
            <a:avLst/>
          </a:prstGeom>
          <a:solidFill>
            <a:srgbClr val="2C364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2" name="TextBox 41"/>
          <p:cNvSpPr txBox="1"/>
          <p:nvPr/>
        </p:nvSpPr>
        <p:spPr>
          <a:xfrm>
            <a:off x="8951976" y="3675887"/>
            <a:ext cx="2377440" cy="219456"/>
          </a:xfrm>
          <a:prstGeom prst="rect">
            <a:avLst/>
          </a:prstGeom>
          <a:noFill/>
        </p:spPr>
        <p:txBody>
          <a:bodyPr wrap="square" lIns="0" tIns="0" rIns="0" bIns="0" anchor="t">
            <a:spAutoFit/>
          </a:bodyPr>
          <a:lstStyle/>
          <a:p>
            <a:pPr algn="l">
              <a:lnSpc>
                <a:spcPct val="112000"/>
              </a:lnSpc>
              <a:spcAft>
                <a:spcPts val="0"/>
              </a:spcAft>
            </a:pPr>
            <a:r>
              <a:rPr sz="950" b="0" i="0">
                <a:solidFill>
                  <a:srgbClr val="8494A6"/>
                </a:solidFill>
                <a:latin typeface="Consolas"/>
              </a:rPr>
              <a:t>SSID IKOM_Bilisim</a:t>
            </a:r>
          </a:p>
        </p:txBody>
      </p:sp>
      <p:sp>
        <p:nvSpPr>
          <p:cNvPr id="43" name="TextBox 42"/>
          <p:cNvSpPr txBox="1"/>
          <p:nvPr/>
        </p:nvSpPr>
        <p:spPr>
          <a:xfrm>
            <a:off x="8951976" y="3913631"/>
            <a:ext cx="2377440" cy="219456"/>
          </a:xfrm>
          <a:prstGeom prst="rect">
            <a:avLst/>
          </a:prstGeom>
          <a:noFill/>
        </p:spPr>
        <p:txBody>
          <a:bodyPr wrap="square" lIns="0" tIns="0" rIns="0" bIns="0" anchor="t">
            <a:spAutoFit/>
          </a:bodyPr>
          <a:lstStyle/>
          <a:p>
            <a:pPr algn="l">
              <a:lnSpc>
                <a:spcPct val="112000"/>
              </a:lnSpc>
              <a:spcAft>
                <a:spcPts val="0"/>
              </a:spcAft>
            </a:pPr>
            <a:r>
              <a:rPr sz="950" b="0" i="0">
                <a:solidFill>
                  <a:srgbClr val="8494A6"/>
                </a:solidFill>
                <a:latin typeface="Consolas"/>
              </a:rPr>
              <a:t>RSSI −46 dBm</a:t>
            </a:r>
          </a:p>
        </p:txBody>
      </p:sp>
      <p:sp>
        <p:nvSpPr>
          <p:cNvPr id="44" name="TextBox 43"/>
          <p:cNvSpPr txBox="1"/>
          <p:nvPr/>
        </p:nvSpPr>
        <p:spPr>
          <a:xfrm>
            <a:off x="8951976" y="4261103"/>
            <a:ext cx="2377440" cy="746836"/>
          </a:xfrm>
          <a:prstGeom prst="rect">
            <a:avLst/>
          </a:prstGeom>
          <a:noFill/>
        </p:spPr>
        <p:txBody>
          <a:bodyPr wrap="square" lIns="0" tIns="0" rIns="0" bIns="0" anchor="t">
            <a:spAutoFit/>
          </a:bodyPr>
          <a:lstStyle/>
          <a:p>
            <a:pPr algn="l">
              <a:lnSpc>
                <a:spcPct val="135000"/>
              </a:lnSpc>
              <a:spcAft>
                <a:spcPts val="0"/>
              </a:spcAft>
            </a:pPr>
            <a:r>
              <a:rPr sz="900" b="0" i="0">
                <a:solidFill>
                  <a:srgbClr val="5A6878"/>
                </a:solidFill>
                <a:latin typeface="Segoe UI"/>
              </a:rPr>
              <a:t>192.169.x.x is not private address space — 192.168 was meant. It only shadows real hosts inside that block, so it stays. Recorded so nobody rediscovers it.</a:t>
            </a:r>
          </a:p>
        </p:txBody>
      </p:sp>
      <p:sp>
        <p:nvSpPr>
          <p:cNvPr id="45" name="Rectangle 44"/>
          <p:cNvSpPr/>
          <p:nvPr/>
        </p:nvSpPr>
        <p:spPr>
          <a:xfrm>
            <a:off x="640080" y="5230368"/>
            <a:ext cx="7818120" cy="9525"/>
          </a:xfrm>
          <a:prstGeom prst="rect">
            <a:avLst/>
          </a:prstGeom>
          <a:solidFill>
            <a:srgbClr val="2C364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6" name="TextBox 45"/>
          <p:cNvSpPr txBox="1"/>
          <p:nvPr/>
        </p:nvSpPr>
        <p:spPr>
          <a:xfrm>
            <a:off x="640080" y="5413248"/>
            <a:ext cx="7818120" cy="914400"/>
          </a:xfrm>
          <a:prstGeom prst="rect">
            <a:avLst/>
          </a:prstGeom>
          <a:noFill/>
        </p:spPr>
        <p:txBody>
          <a:bodyPr wrap="square" lIns="0" tIns="0" rIns="0" bIns="0">
            <a:spAutoFit/>
          </a:bodyPr>
          <a:lstStyle/>
          <a:p>
            <a:pPr algn="l">
              <a:lnSpc>
                <a:spcPct val="135000"/>
              </a:lnSpc>
              <a:spcAft>
                <a:spcPts val="600"/>
              </a:spcAft>
            </a:pPr>
            <a:r>
              <a:rPr sz="1200" b="1">
                <a:solidFill>
                  <a:srgbClr val="E6EDF3"/>
                </a:solidFill>
                <a:latin typeface="Segoe UI"/>
              </a:rPr>
              <a:t>The meter is LAN-only and has no business on the internet.  </a:t>
            </a:r>
            <a:r>
              <a:rPr sz="1200" b="0">
                <a:solidFill>
                  <a:srgbClr val="8494A6"/>
                </a:solidFill>
                <a:latin typeface="Segoe UI"/>
              </a:rPr>
              <a:t>The ESP8266 is the one controlled egress point: it translates registers into JSON and speaks outward to a broker, so nothing on the internet ever addresses the meter.</a:t>
            </a:r>
          </a:p>
        </p:txBody>
      </p:sp>
      <p:sp>
        <p:nvSpPr>
          <p:cNvPr id="47" name="Rectangle 46"/>
          <p:cNvSpPr/>
          <p:nvPr/>
        </p:nvSpPr>
        <p:spPr>
          <a:xfrm>
            <a:off x="640080" y="6382512"/>
            <a:ext cx="10908792" cy="9525"/>
          </a:xfrm>
          <a:prstGeom prst="rect">
            <a:avLst/>
          </a:prstGeom>
          <a:solidFill>
            <a:srgbClr val="2C364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8" name="TextBox 47"/>
          <p:cNvSpPr txBox="1"/>
          <p:nvPr/>
        </p:nvSpPr>
        <p:spPr>
          <a:xfrm>
            <a:off x="640080" y="6492240"/>
            <a:ext cx="7315200" cy="237744"/>
          </a:xfrm>
          <a:prstGeom prst="rect">
            <a:avLst/>
          </a:prstGeom>
          <a:noFill/>
        </p:spPr>
        <p:txBody>
          <a:bodyPr wrap="square" lIns="0" tIns="0" rIns="0" bIns="0" anchor="t">
            <a:spAutoFit/>
          </a:bodyPr>
          <a:lstStyle/>
          <a:p>
            <a:pPr algn="l">
              <a:lnSpc>
                <a:spcPct val="112000"/>
              </a:lnSpc>
              <a:spcAft>
                <a:spcPts val="0"/>
              </a:spcAft>
            </a:pPr>
            <a:r>
              <a:rPr sz="850" b="0" i="0">
                <a:solidFill>
                  <a:srgbClr val="5A6878"/>
                </a:solidFill>
                <a:latin typeface="Consolas"/>
              </a:rPr>
              <a:t>OSOS · DKM-440 remote meter reading</a:t>
            </a:r>
          </a:p>
        </p:txBody>
      </p:sp>
      <p:sp>
        <p:nvSpPr>
          <p:cNvPr id="49" name="TextBox 48"/>
          <p:cNvSpPr txBox="1"/>
          <p:nvPr/>
        </p:nvSpPr>
        <p:spPr>
          <a:xfrm>
            <a:off x="10177272" y="6492240"/>
            <a:ext cx="1371600" cy="237744"/>
          </a:xfrm>
          <a:prstGeom prst="rect">
            <a:avLst/>
          </a:prstGeom>
          <a:noFill/>
        </p:spPr>
        <p:txBody>
          <a:bodyPr wrap="square" lIns="0" tIns="0" rIns="0" bIns="0" anchor="t">
            <a:spAutoFit/>
          </a:bodyPr>
          <a:lstStyle/>
          <a:p>
            <a:pPr algn="r">
              <a:lnSpc>
                <a:spcPct val="112000"/>
              </a:lnSpc>
              <a:spcAft>
                <a:spcPts val="0"/>
              </a:spcAft>
            </a:pPr>
            <a:r>
              <a:rPr sz="850" b="0" i="0">
                <a:solidFill>
                  <a:srgbClr val="5A6878"/>
                </a:solidFill>
                <a:latin typeface="Consolas"/>
              </a:rPr>
              <a:t>02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D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274320"/>
            <a:ext cx="5852160" cy="219456"/>
          </a:xfrm>
          <a:prstGeom prst="rect">
            <a:avLst/>
          </a:prstGeom>
          <a:noFill/>
        </p:spPr>
        <p:txBody>
          <a:bodyPr wrap="square" lIns="0" tIns="0" rIns="0" bIns="0" anchor="t">
            <a:spAutoFit/>
          </a:bodyPr>
          <a:lstStyle/>
          <a:p>
            <a:pPr algn="l">
              <a:lnSpc>
                <a:spcPct val="100000"/>
              </a:lnSpc>
              <a:spcAft>
                <a:spcPts val="0"/>
              </a:spcAft>
            </a:pPr>
            <a:r>
              <a:rPr sz="900" b="0" i="0">
                <a:solidFill>
                  <a:srgbClr val="63D2E8"/>
                </a:solidFill>
                <a:latin typeface="Consolas"/>
              </a:rPr>
              <a:t>TWO ALARM LAMPS LIT, AND ONE NUMBER THAT KEEPS MOVING</a:t>
            </a:r>
          </a:p>
        </p:txBody>
      </p:sp>
      <p:sp>
        <p:nvSpPr>
          <p:cNvPr id="4" name="TextBox 3"/>
          <p:cNvSpPr txBox="1"/>
          <p:nvPr/>
        </p:nvSpPr>
        <p:spPr>
          <a:xfrm>
            <a:off x="640080" y="493776"/>
            <a:ext cx="5870448" cy="640080"/>
          </a:xfrm>
          <a:prstGeom prst="rect">
            <a:avLst/>
          </a:prstGeom>
          <a:noFill/>
        </p:spPr>
        <p:txBody>
          <a:bodyPr wrap="square" lIns="0" tIns="0" rIns="0" bIns="0" anchor="b">
            <a:spAutoFit/>
          </a:bodyPr>
          <a:lstStyle/>
          <a:p>
            <a:pPr algn="l">
              <a:lnSpc>
                <a:spcPct val="100000"/>
              </a:lnSpc>
              <a:spcAft>
                <a:spcPts val="0"/>
              </a:spcAft>
            </a:pPr>
            <a:r>
              <a:rPr sz="2700" b="0" i="0">
                <a:solidFill>
                  <a:srgbClr val="E6EDF3"/>
                </a:solidFill>
                <a:latin typeface="Bahnschrift SemiBold"/>
              </a:rPr>
              <a:t>Reading the panel honestly</a:t>
            </a:r>
          </a:p>
        </p:txBody>
      </p:sp>
      <p:sp>
        <p:nvSpPr>
          <p:cNvPr id="5" name="Rectangle 4"/>
          <p:cNvSpPr/>
          <p:nvPr/>
        </p:nvSpPr>
        <p:spPr>
          <a:xfrm>
            <a:off x="6726783" y="583844"/>
            <a:ext cx="1083106" cy="12700"/>
          </a:xfrm>
          <a:prstGeom prst="rect">
            <a:avLst/>
          </a:prstGeom>
          <a:solidFill>
            <a:srgbClr val="2C364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Rectangle 5"/>
          <p:cNvSpPr/>
          <p:nvPr/>
        </p:nvSpPr>
        <p:spPr>
          <a:xfrm>
            <a:off x="6617970" y="548640"/>
            <a:ext cx="77724" cy="77724"/>
          </a:xfrm>
          <a:prstGeom prst="rect">
            <a:avLst/>
          </a:prstGeom>
          <a:solidFill>
            <a:srgbClr val="63D2E8"/>
          </a:solidFill>
          <a:ln w="12700">
            <a:solidFill>
              <a:srgbClr val="63D2E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6045327" y="694944"/>
            <a:ext cx="1223010" cy="201168"/>
          </a:xfrm>
          <a:prstGeom prst="rect">
            <a:avLst/>
          </a:prstGeom>
          <a:noFill/>
        </p:spPr>
        <p:txBody>
          <a:bodyPr wrap="square" lIns="0" tIns="0" rIns="0" bIns="0" anchor="t">
            <a:spAutoFit/>
          </a:bodyPr>
          <a:lstStyle/>
          <a:p>
            <a:pPr algn="ctr">
              <a:lnSpc>
                <a:spcPct val="100000"/>
              </a:lnSpc>
              <a:spcAft>
                <a:spcPts val="0"/>
              </a:spcAft>
            </a:pPr>
            <a:r>
              <a:rPr sz="750" b="0" i="0">
                <a:solidFill>
                  <a:srgbClr val="63D2E8"/>
                </a:solidFill>
                <a:latin typeface="Bahnschrift SemiBold"/>
              </a:rPr>
              <a:t>METER</a:t>
            </a:r>
          </a:p>
        </p:txBody>
      </p:sp>
      <p:sp>
        <p:nvSpPr>
          <p:cNvPr id="8" name="Rectangle 7"/>
          <p:cNvSpPr/>
          <p:nvPr/>
        </p:nvSpPr>
        <p:spPr>
          <a:xfrm>
            <a:off x="7949793" y="583844"/>
            <a:ext cx="1083106" cy="12700"/>
          </a:xfrm>
          <a:prstGeom prst="rect">
            <a:avLst/>
          </a:prstGeom>
          <a:solidFill>
            <a:srgbClr val="2C364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Rectangle 8"/>
          <p:cNvSpPr/>
          <p:nvPr/>
        </p:nvSpPr>
        <p:spPr>
          <a:xfrm>
            <a:off x="7840979" y="548640"/>
            <a:ext cx="77724" cy="77724"/>
          </a:xfrm>
          <a:prstGeom prst="rect">
            <a:avLst/>
          </a:prstGeom>
          <a:solidFill>
            <a:srgbClr val="0D1117"/>
          </a:solidFill>
          <a:ln w="12700">
            <a:solidFill>
              <a:srgbClr val="3D4A5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TextBox 9"/>
          <p:cNvSpPr txBox="1"/>
          <p:nvPr/>
        </p:nvSpPr>
        <p:spPr>
          <a:xfrm>
            <a:off x="7268337" y="694944"/>
            <a:ext cx="1223010" cy="201168"/>
          </a:xfrm>
          <a:prstGeom prst="rect">
            <a:avLst/>
          </a:prstGeom>
          <a:noFill/>
        </p:spPr>
        <p:txBody>
          <a:bodyPr wrap="square" lIns="0" tIns="0" rIns="0" bIns="0" anchor="t">
            <a:spAutoFit/>
          </a:bodyPr>
          <a:lstStyle/>
          <a:p>
            <a:pPr algn="ctr">
              <a:lnSpc>
                <a:spcPct val="100000"/>
              </a:lnSpc>
              <a:spcAft>
                <a:spcPts val="0"/>
              </a:spcAft>
            </a:pPr>
            <a:r>
              <a:rPr sz="750" b="0" i="0">
                <a:solidFill>
                  <a:srgbClr val="5A6878"/>
                </a:solidFill>
                <a:latin typeface="Bahnschrift SemiBold"/>
              </a:rPr>
              <a:t>GATEWAY</a:t>
            </a:r>
          </a:p>
        </p:txBody>
      </p:sp>
      <p:sp>
        <p:nvSpPr>
          <p:cNvPr id="11" name="Rectangle 10"/>
          <p:cNvSpPr/>
          <p:nvPr/>
        </p:nvSpPr>
        <p:spPr>
          <a:xfrm>
            <a:off x="9172803" y="583844"/>
            <a:ext cx="1083106" cy="12700"/>
          </a:xfrm>
          <a:prstGeom prst="rect">
            <a:avLst/>
          </a:prstGeom>
          <a:solidFill>
            <a:srgbClr val="2C364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Rectangle 11"/>
          <p:cNvSpPr/>
          <p:nvPr/>
        </p:nvSpPr>
        <p:spPr>
          <a:xfrm>
            <a:off x="9063990" y="548640"/>
            <a:ext cx="77724" cy="77724"/>
          </a:xfrm>
          <a:prstGeom prst="rect">
            <a:avLst/>
          </a:prstGeom>
          <a:solidFill>
            <a:srgbClr val="0D1117"/>
          </a:solidFill>
          <a:ln w="12700">
            <a:solidFill>
              <a:srgbClr val="3D4A5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8491347" y="694944"/>
            <a:ext cx="1223010" cy="201168"/>
          </a:xfrm>
          <a:prstGeom prst="rect">
            <a:avLst/>
          </a:prstGeom>
          <a:noFill/>
        </p:spPr>
        <p:txBody>
          <a:bodyPr wrap="square" lIns="0" tIns="0" rIns="0" bIns="0" anchor="t">
            <a:spAutoFit/>
          </a:bodyPr>
          <a:lstStyle/>
          <a:p>
            <a:pPr algn="ctr">
              <a:lnSpc>
                <a:spcPct val="100000"/>
              </a:lnSpc>
              <a:spcAft>
                <a:spcPts val="0"/>
              </a:spcAft>
            </a:pPr>
            <a:r>
              <a:rPr sz="750" b="0" i="0">
                <a:solidFill>
                  <a:srgbClr val="5A6878"/>
                </a:solidFill>
                <a:latin typeface="Bahnschrift SemiBold"/>
              </a:rPr>
              <a:t>BROKER</a:t>
            </a:r>
          </a:p>
        </p:txBody>
      </p:sp>
      <p:sp>
        <p:nvSpPr>
          <p:cNvPr id="14" name="Rectangle 13"/>
          <p:cNvSpPr/>
          <p:nvPr/>
        </p:nvSpPr>
        <p:spPr>
          <a:xfrm>
            <a:off x="10395813" y="583844"/>
            <a:ext cx="1083106" cy="12700"/>
          </a:xfrm>
          <a:prstGeom prst="rect">
            <a:avLst/>
          </a:prstGeom>
          <a:solidFill>
            <a:srgbClr val="2C364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Rectangle 14"/>
          <p:cNvSpPr/>
          <p:nvPr/>
        </p:nvSpPr>
        <p:spPr>
          <a:xfrm>
            <a:off x="10287000" y="548640"/>
            <a:ext cx="77724" cy="77724"/>
          </a:xfrm>
          <a:prstGeom prst="rect">
            <a:avLst/>
          </a:prstGeom>
          <a:solidFill>
            <a:srgbClr val="0D1117"/>
          </a:solidFill>
          <a:ln w="12700">
            <a:solidFill>
              <a:srgbClr val="3D4A5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TextBox 15"/>
          <p:cNvSpPr txBox="1"/>
          <p:nvPr/>
        </p:nvSpPr>
        <p:spPr>
          <a:xfrm>
            <a:off x="9714357" y="694944"/>
            <a:ext cx="1223010" cy="201168"/>
          </a:xfrm>
          <a:prstGeom prst="rect">
            <a:avLst/>
          </a:prstGeom>
          <a:noFill/>
        </p:spPr>
        <p:txBody>
          <a:bodyPr wrap="square" lIns="0" tIns="0" rIns="0" bIns="0" anchor="t">
            <a:spAutoFit/>
          </a:bodyPr>
          <a:lstStyle/>
          <a:p>
            <a:pPr algn="ctr">
              <a:lnSpc>
                <a:spcPct val="100000"/>
              </a:lnSpc>
              <a:spcAft>
                <a:spcPts val="0"/>
              </a:spcAft>
            </a:pPr>
            <a:r>
              <a:rPr sz="750" b="0" i="0">
                <a:solidFill>
                  <a:srgbClr val="5A6878"/>
                </a:solidFill>
                <a:latin typeface="Bahnschrift SemiBold"/>
              </a:rPr>
              <a:t>PHONE</a:t>
            </a:r>
          </a:p>
        </p:txBody>
      </p:sp>
      <p:sp>
        <p:nvSpPr>
          <p:cNvPr id="17" name="Rectangle 16"/>
          <p:cNvSpPr/>
          <p:nvPr/>
        </p:nvSpPr>
        <p:spPr>
          <a:xfrm>
            <a:off x="11510009" y="548640"/>
            <a:ext cx="77724" cy="77724"/>
          </a:xfrm>
          <a:prstGeom prst="rect">
            <a:avLst/>
          </a:prstGeom>
          <a:solidFill>
            <a:srgbClr val="0D1117"/>
          </a:solidFill>
          <a:ln w="12700">
            <a:solidFill>
              <a:srgbClr val="3D4A5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TextBox 17"/>
          <p:cNvSpPr txBox="1"/>
          <p:nvPr/>
        </p:nvSpPr>
        <p:spPr>
          <a:xfrm>
            <a:off x="10937367" y="694944"/>
            <a:ext cx="1223010" cy="201168"/>
          </a:xfrm>
          <a:prstGeom prst="rect">
            <a:avLst/>
          </a:prstGeom>
          <a:noFill/>
        </p:spPr>
        <p:txBody>
          <a:bodyPr wrap="square" lIns="0" tIns="0" rIns="0" bIns="0" anchor="t">
            <a:spAutoFit/>
          </a:bodyPr>
          <a:lstStyle/>
          <a:p>
            <a:pPr algn="ctr">
              <a:lnSpc>
                <a:spcPct val="100000"/>
              </a:lnSpc>
              <a:spcAft>
                <a:spcPts val="0"/>
              </a:spcAft>
            </a:pPr>
            <a:r>
              <a:rPr sz="750" b="0" i="0">
                <a:solidFill>
                  <a:srgbClr val="5A6878"/>
                </a:solidFill>
                <a:latin typeface="Bahnschrift SemiBold"/>
              </a:rPr>
              <a:t>NET</a:t>
            </a:r>
          </a:p>
        </p:txBody>
      </p:sp>
      <p:sp>
        <p:nvSpPr>
          <p:cNvPr id="19" name="Rectangle 18"/>
          <p:cNvSpPr/>
          <p:nvPr/>
        </p:nvSpPr>
        <p:spPr>
          <a:xfrm>
            <a:off x="640080" y="1225296"/>
            <a:ext cx="10908792" cy="9525"/>
          </a:xfrm>
          <a:prstGeom prst="rect">
            <a:avLst/>
          </a:prstGeom>
          <a:solidFill>
            <a:srgbClr val="2C364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Rectangle 19"/>
          <p:cNvSpPr/>
          <p:nvPr/>
        </p:nvSpPr>
        <p:spPr>
          <a:xfrm>
            <a:off x="640080" y="1220724"/>
            <a:ext cx="566928" cy="25400"/>
          </a:xfrm>
          <a:prstGeom prst="rect">
            <a:avLst/>
          </a:prstGeom>
          <a:solidFill>
            <a:srgbClr val="63D2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1" name="Rectangle 20"/>
          <p:cNvSpPr/>
          <p:nvPr/>
        </p:nvSpPr>
        <p:spPr>
          <a:xfrm>
            <a:off x="598931" y="1586484"/>
            <a:ext cx="3225371" cy="1545336"/>
          </a:xfrm>
          <a:prstGeom prst="rect">
            <a:avLst/>
          </a:prstGeom>
          <a:solidFill>
            <a:srgbClr val="161C24"/>
          </a:solidFill>
          <a:ln w="12700">
            <a:solidFill>
              <a:srgbClr val="2C364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pic>
        <p:nvPicPr>
          <p:cNvPr id="22" name="Picture 21" descr="_crop_dkm440-front.jpg"/>
          <p:cNvPicPr>
            <a:picLocks noChangeAspect="1"/>
          </p:cNvPicPr>
          <p:nvPr/>
        </p:nvPicPr>
        <p:blipFill>
          <a:blip r:embed="rId2"/>
          <a:stretch>
            <a:fillRect/>
          </a:stretch>
        </p:blipFill>
        <p:spPr>
          <a:xfrm>
            <a:off x="640080" y="1627632"/>
            <a:ext cx="3143075" cy="1463040"/>
          </a:xfrm>
          <a:prstGeom prst="rect">
            <a:avLst/>
          </a:prstGeom>
        </p:spPr>
      </p:pic>
      <p:sp>
        <p:nvSpPr>
          <p:cNvPr id="23" name="TextBox 22"/>
          <p:cNvSpPr txBox="1"/>
          <p:nvPr/>
        </p:nvSpPr>
        <p:spPr>
          <a:xfrm>
            <a:off x="598931" y="3218688"/>
            <a:ext cx="3508835" cy="457200"/>
          </a:xfrm>
          <a:prstGeom prst="rect">
            <a:avLst/>
          </a:prstGeom>
          <a:noFill/>
        </p:spPr>
        <p:txBody>
          <a:bodyPr wrap="square" lIns="0" tIns="0" rIns="0" bIns="0" anchor="t">
            <a:spAutoFit/>
          </a:bodyPr>
          <a:lstStyle/>
          <a:p>
            <a:pPr algn="l">
              <a:lnSpc>
                <a:spcPct val="125000"/>
              </a:lnSpc>
              <a:spcAft>
                <a:spcPts val="0"/>
              </a:spcAft>
            </a:pPr>
            <a:r>
              <a:rPr sz="850" b="0" i="0">
                <a:solidFill>
                  <a:srgbClr val="5A6878"/>
                </a:solidFill>
                <a:latin typeface="Consolas"/>
              </a:rPr>
              <a:t>the status LEDs, bottom edge of the panel</a:t>
            </a:r>
          </a:p>
        </p:txBody>
      </p:sp>
      <p:sp>
        <p:nvSpPr>
          <p:cNvPr id="24" name="TextBox 23"/>
          <p:cNvSpPr txBox="1"/>
          <p:nvPr/>
        </p:nvSpPr>
        <p:spPr>
          <a:xfrm>
            <a:off x="4480560" y="1481328"/>
            <a:ext cx="7068312" cy="274320"/>
          </a:xfrm>
          <a:prstGeom prst="rect">
            <a:avLst/>
          </a:prstGeom>
          <a:noFill/>
        </p:spPr>
        <p:txBody>
          <a:bodyPr wrap="square" lIns="0" tIns="0" rIns="0" bIns="0" anchor="t">
            <a:spAutoFit/>
          </a:bodyPr>
          <a:lstStyle/>
          <a:p>
            <a:pPr algn="l">
              <a:lnSpc>
                <a:spcPct val="112000"/>
              </a:lnSpc>
              <a:spcAft>
                <a:spcPts val="0"/>
              </a:spcAft>
            </a:pPr>
            <a:r>
              <a:rPr sz="900" b="0" i="0">
                <a:solidFill>
                  <a:srgbClr val="63D2E8"/>
                </a:solidFill>
                <a:latin typeface="Bahnschrift SemiBold"/>
              </a:rPr>
              <a:t>THE FOUR LAMPS</a:t>
            </a:r>
          </a:p>
        </p:txBody>
      </p:sp>
      <p:sp>
        <p:nvSpPr>
          <p:cNvPr id="25" name="Rectangle 24"/>
          <p:cNvSpPr/>
          <p:nvPr/>
        </p:nvSpPr>
        <p:spPr>
          <a:xfrm>
            <a:off x="4480560" y="1737360"/>
            <a:ext cx="7068312" cy="9525"/>
          </a:xfrm>
          <a:prstGeom prst="rect">
            <a:avLst/>
          </a:prstGeom>
          <a:solidFill>
            <a:srgbClr val="3D4A5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6" name="Rounded Rectangle 25"/>
          <p:cNvSpPr/>
          <p:nvPr/>
        </p:nvSpPr>
        <p:spPr>
          <a:xfrm>
            <a:off x="4480560" y="1988820"/>
            <a:ext cx="100584" cy="100584"/>
          </a:xfrm>
          <a:prstGeom prst="roundRect">
            <a:avLst>
              <a:gd name="adj" fmla="val 50000"/>
            </a:avLst>
          </a:prstGeom>
          <a:noFill/>
          <a:ln w="12700">
            <a:solidFill>
              <a:srgbClr val="5A687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7" name="TextBox 26"/>
          <p:cNvSpPr txBox="1"/>
          <p:nvPr/>
        </p:nvSpPr>
        <p:spPr>
          <a:xfrm>
            <a:off x="4718304" y="1920240"/>
            <a:ext cx="1143000" cy="237744"/>
          </a:xfrm>
          <a:prstGeom prst="rect">
            <a:avLst/>
          </a:prstGeom>
          <a:noFill/>
        </p:spPr>
        <p:txBody>
          <a:bodyPr wrap="square" lIns="0" tIns="0" rIns="0" bIns="0" anchor="t">
            <a:spAutoFit/>
          </a:bodyPr>
          <a:lstStyle/>
          <a:p>
            <a:pPr algn="l">
              <a:lnSpc>
                <a:spcPct val="112000"/>
              </a:lnSpc>
              <a:spcAft>
                <a:spcPts val="0"/>
              </a:spcAft>
            </a:pPr>
            <a:r>
              <a:rPr sz="1100" b="0" i="0">
                <a:solidFill>
                  <a:srgbClr val="E6EDF3"/>
                </a:solidFill>
                <a:latin typeface="Consolas"/>
              </a:rPr>
              <a:t>ENERJİ</a:t>
            </a:r>
          </a:p>
        </p:txBody>
      </p:sp>
      <p:sp>
        <p:nvSpPr>
          <p:cNvPr id="28" name="TextBox 27"/>
          <p:cNvSpPr txBox="1"/>
          <p:nvPr/>
        </p:nvSpPr>
        <p:spPr>
          <a:xfrm>
            <a:off x="5943600" y="1920240"/>
            <a:ext cx="731520" cy="237744"/>
          </a:xfrm>
          <a:prstGeom prst="rect">
            <a:avLst/>
          </a:prstGeom>
          <a:noFill/>
        </p:spPr>
        <p:txBody>
          <a:bodyPr wrap="square" lIns="0" tIns="0" rIns="0" bIns="0" anchor="t">
            <a:spAutoFit/>
          </a:bodyPr>
          <a:lstStyle/>
          <a:p>
            <a:pPr algn="l">
              <a:lnSpc>
                <a:spcPct val="112000"/>
              </a:lnSpc>
              <a:spcAft>
                <a:spcPts val="0"/>
              </a:spcAft>
            </a:pPr>
            <a:r>
              <a:rPr sz="1000" b="0" i="0">
                <a:solidFill>
                  <a:srgbClr val="5A6878"/>
                </a:solidFill>
                <a:latin typeface="Bahnschrift SemiBold"/>
              </a:rPr>
              <a:t>off</a:t>
            </a:r>
          </a:p>
        </p:txBody>
      </p:sp>
      <p:sp>
        <p:nvSpPr>
          <p:cNvPr id="29" name="TextBox 28"/>
          <p:cNvSpPr txBox="1"/>
          <p:nvPr/>
        </p:nvSpPr>
        <p:spPr>
          <a:xfrm>
            <a:off x="6766560" y="1920240"/>
            <a:ext cx="4782312" cy="237744"/>
          </a:xfrm>
          <a:prstGeom prst="rect">
            <a:avLst/>
          </a:prstGeom>
          <a:noFill/>
        </p:spPr>
        <p:txBody>
          <a:bodyPr wrap="square" lIns="0" tIns="0" rIns="0" bIns="0" anchor="t">
            <a:spAutoFit/>
          </a:bodyPr>
          <a:lstStyle/>
          <a:p>
            <a:pPr algn="l">
              <a:lnSpc>
                <a:spcPct val="112000"/>
              </a:lnSpc>
              <a:spcAft>
                <a:spcPts val="0"/>
              </a:spcAft>
            </a:pPr>
            <a:r>
              <a:rPr sz="1100" b="0" i="0">
                <a:solidFill>
                  <a:srgbClr val="8494A6"/>
                </a:solidFill>
                <a:latin typeface="Segoe UI"/>
              </a:rPr>
              <a:t>energy accumulation</a:t>
            </a:r>
          </a:p>
        </p:txBody>
      </p:sp>
      <p:sp>
        <p:nvSpPr>
          <p:cNvPr id="30" name="Rounded Rectangle 29"/>
          <p:cNvSpPr/>
          <p:nvPr/>
        </p:nvSpPr>
        <p:spPr>
          <a:xfrm>
            <a:off x="4480560" y="2354580"/>
            <a:ext cx="100584" cy="100584"/>
          </a:xfrm>
          <a:prstGeom prst="roundRect">
            <a:avLst>
              <a:gd name="adj" fmla="val 50000"/>
            </a:avLst>
          </a:prstGeom>
          <a:noFill/>
          <a:ln w="12700">
            <a:solidFill>
              <a:srgbClr val="5A687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1" name="TextBox 30"/>
          <p:cNvSpPr txBox="1"/>
          <p:nvPr/>
        </p:nvSpPr>
        <p:spPr>
          <a:xfrm>
            <a:off x="4718304" y="2286000"/>
            <a:ext cx="1143000" cy="237744"/>
          </a:xfrm>
          <a:prstGeom prst="rect">
            <a:avLst/>
          </a:prstGeom>
          <a:noFill/>
        </p:spPr>
        <p:txBody>
          <a:bodyPr wrap="square" lIns="0" tIns="0" rIns="0" bIns="0" anchor="t">
            <a:spAutoFit/>
          </a:bodyPr>
          <a:lstStyle/>
          <a:p>
            <a:pPr algn="l">
              <a:lnSpc>
                <a:spcPct val="112000"/>
              </a:lnSpc>
              <a:spcAft>
                <a:spcPts val="0"/>
              </a:spcAft>
            </a:pPr>
            <a:r>
              <a:rPr sz="1100" b="0" i="0">
                <a:solidFill>
                  <a:srgbClr val="E6EDF3"/>
                </a:solidFill>
                <a:latin typeface="Consolas"/>
              </a:rPr>
              <a:t>HABERL.</a:t>
            </a:r>
          </a:p>
        </p:txBody>
      </p:sp>
      <p:sp>
        <p:nvSpPr>
          <p:cNvPr id="32" name="TextBox 31"/>
          <p:cNvSpPr txBox="1"/>
          <p:nvPr/>
        </p:nvSpPr>
        <p:spPr>
          <a:xfrm>
            <a:off x="5943600" y="2286000"/>
            <a:ext cx="731520" cy="237744"/>
          </a:xfrm>
          <a:prstGeom prst="rect">
            <a:avLst/>
          </a:prstGeom>
          <a:noFill/>
        </p:spPr>
        <p:txBody>
          <a:bodyPr wrap="square" lIns="0" tIns="0" rIns="0" bIns="0" anchor="t">
            <a:spAutoFit/>
          </a:bodyPr>
          <a:lstStyle/>
          <a:p>
            <a:pPr algn="l">
              <a:lnSpc>
                <a:spcPct val="112000"/>
              </a:lnSpc>
              <a:spcAft>
                <a:spcPts val="0"/>
              </a:spcAft>
            </a:pPr>
            <a:r>
              <a:rPr sz="1000" b="0" i="0">
                <a:solidFill>
                  <a:srgbClr val="5A6878"/>
                </a:solidFill>
                <a:latin typeface="Bahnschrift SemiBold"/>
              </a:rPr>
              <a:t>off</a:t>
            </a:r>
          </a:p>
        </p:txBody>
      </p:sp>
      <p:sp>
        <p:nvSpPr>
          <p:cNvPr id="33" name="TextBox 32"/>
          <p:cNvSpPr txBox="1"/>
          <p:nvPr/>
        </p:nvSpPr>
        <p:spPr>
          <a:xfrm>
            <a:off x="6766560" y="2286000"/>
            <a:ext cx="4782312" cy="237744"/>
          </a:xfrm>
          <a:prstGeom prst="rect">
            <a:avLst/>
          </a:prstGeom>
          <a:noFill/>
        </p:spPr>
        <p:txBody>
          <a:bodyPr wrap="square" lIns="0" tIns="0" rIns="0" bIns="0" anchor="t">
            <a:spAutoFit/>
          </a:bodyPr>
          <a:lstStyle/>
          <a:p>
            <a:pPr algn="l">
              <a:lnSpc>
                <a:spcPct val="112000"/>
              </a:lnSpc>
              <a:spcAft>
                <a:spcPts val="0"/>
              </a:spcAft>
            </a:pPr>
            <a:r>
              <a:rPr sz="1100" b="0" i="0">
                <a:solidFill>
                  <a:srgbClr val="8494A6"/>
                </a:solidFill>
                <a:latin typeface="Segoe UI"/>
              </a:rPr>
              <a:t>communications</a:t>
            </a:r>
          </a:p>
        </p:txBody>
      </p:sp>
      <p:sp>
        <p:nvSpPr>
          <p:cNvPr id="34" name="Rounded Rectangle 33"/>
          <p:cNvSpPr/>
          <p:nvPr/>
        </p:nvSpPr>
        <p:spPr>
          <a:xfrm>
            <a:off x="4480560" y="2720340"/>
            <a:ext cx="100584" cy="100584"/>
          </a:xfrm>
          <a:prstGeom prst="roundRect">
            <a:avLst>
              <a:gd name="adj" fmla="val 50000"/>
            </a:avLst>
          </a:prstGeom>
          <a:solidFill>
            <a:srgbClr val="FF4438"/>
          </a:solidFill>
          <a:ln w="12700">
            <a:solidFill>
              <a:srgbClr val="FF443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5" name="TextBox 34"/>
          <p:cNvSpPr txBox="1"/>
          <p:nvPr/>
        </p:nvSpPr>
        <p:spPr>
          <a:xfrm>
            <a:off x="4718304" y="2651760"/>
            <a:ext cx="1143000" cy="237744"/>
          </a:xfrm>
          <a:prstGeom prst="rect">
            <a:avLst/>
          </a:prstGeom>
          <a:noFill/>
        </p:spPr>
        <p:txBody>
          <a:bodyPr wrap="square" lIns="0" tIns="0" rIns="0" bIns="0" anchor="t">
            <a:spAutoFit/>
          </a:bodyPr>
          <a:lstStyle/>
          <a:p>
            <a:pPr algn="l">
              <a:lnSpc>
                <a:spcPct val="112000"/>
              </a:lnSpc>
              <a:spcAft>
                <a:spcPts val="0"/>
              </a:spcAft>
            </a:pPr>
            <a:r>
              <a:rPr sz="1100" b="0" i="0">
                <a:solidFill>
                  <a:srgbClr val="E6EDF3"/>
                </a:solidFill>
                <a:latin typeface="Consolas"/>
              </a:rPr>
              <a:t>ALARM</a:t>
            </a:r>
          </a:p>
        </p:txBody>
      </p:sp>
      <p:sp>
        <p:nvSpPr>
          <p:cNvPr id="36" name="TextBox 35"/>
          <p:cNvSpPr txBox="1"/>
          <p:nvPr/>
        </p:nvSpPr>
        <p:spPr>
          <a:xfrm>
            <a:off x="5943600" y="2651760"/>
            <a:ext cx="731520" cy="237744"/>
          </a:xfrm>
          <a:prstGeom prst="rect">
            <a:avLst/>
          </a:prstGeom>
          <a:noFill/>
        </p:spPr>
        <p:txBody>
          <a:bodyPr wrap="square" lIns="0" tIns="0" rIns="0" bIns="0" anchor="t">
            <a:spAutoFit/>
          </a:bodyPr>
          <a:lstStyle/>
          <a:p>
            <a:pPr algn="l">
              <a:lnSpc>
                <a:spcPct val="112000"/>
              </a:lnSpc>
              <a:spcAft>
                <a:spcPts val="0"/>
              </a:spcAft>
            </a:pPr>
            <a:r>
              <a:rPr sz="1000" b="0" i="0">
                <a:solidFill>
                  <a:srgbClr val="FF4438"/>
                </a:solidFill>
                <a:latin typeface="Bahnschrift SemiBold"/>
              </a:rPr>
              <a:t>LIT</a:t>
            </a:r>
          </a:p>
        </p:txBody>
      </p:sp>
      <p:sp>
        <p:nvSpPr>
          <p:cNvPr id="37" name="TextBox 36"/>
          <p:cNvSpPr txBox="1"/>
          <p:nvPr/>
        </p:nvSpPr>
        <p:spPr>
          <a:xfrm>
            <a:off x="6766560" y="2651760"/>
            <a:ext cx="4782312" cy="237744"/>
          </a:xfrm>
          <a:prstGeom prst="rect">
            <a:avLst/>
          </a:prstGeom>
          <a:noFill/>
        </p:spPr>
        <p:txBody>
          <a:bodyPr wrap="square" lIns="0" tIns="0" rIns="0" bIns="0" anchor="t">
            <a:spAutoFit/>
          </a:bodyPr>
          <a:lstStyle/>
          <a:p>
            <a:pPr algn="l">
              <a:lnSpc>
                <a:spcPct val="112000"/>
              </a:lnSpc>
              <a:spcAft>
                <a:spcPts val="0"/>
              </a:spcAft>
            </a:pPr>
            <a:r>
              <a:rPr sz="1100" b="0" i="0">
                <a:solidFill>
                  <a:srgbClr val="8494A6"/>
                </a:solidFill>
                <a:latin typeface="Segoe UI"/>
              </a:rPr>
              <a:t>an AC meter with no AC connected</a:t>
            </a:r>
          </a:p>
        </p:txBody>
      </p:sp>
      <p:sp>
        <p:nvSpPr>
          <p:cNvPr id="38" name="Rounded Rectangle 37"/>
          <p:cNvSpPr/>
          <p:nvPr/>
        </p:nvSpPr>
        <p:spPr>
          <a:xfrm>
            <a:off x="4480560" y="3086100"/>
            <a:ext cx="100584" cy="100584"/>
          </a:xfrm>
          <a:prstGeom prst="roundRect">
            <a:avLst>
              <a:gd name="adj" fmla="val 50000"/>
            </a:avLst>
          </a:prstGeom>
          <a:solidFill>
            <a:srgbClr val="FFA928"/>
          </a:solidFill>
          <a:ln w="12700">
            <a:solidFill>
              <a:srgbClr val="FFA92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9" name="TextBox 38"/>
          <p:cNvSpPr txBox="1"/>
          <p:nvPr/>
        </p:nvSpPr>
        <p:spPr>
          <a:xfrm>
            <a:off x="4718304" y="3017520"/>
            <a:ext cx="1143000" cy="237744"/>
          </a:xfrm>
          <a:prstGeom prst="rect">
            <a:avLst/>
          </a:prstGeom>
          <a:noFill/>
        </p:spPr>
        <p:txBody>
          <a:bodyPr wrap="square" lIns="0" tIns="0" rIns="0" bIns="0" anchor="t">
            <a:spAutoFit/>
          </a:bodyPr>
          <a:lstStyle/>
          <a:p>
            <a:pPr algn="l">
              <a:lnSpc>
                <a:spcPct val="112000"/>
              </a:lnSpc>
              <a:spcAft>
                <a:spcPts val="0"/>
              </a:spcAft>
            </a:pPr>
            <a:r>
              <a:rPr sz="1100" b="0" i="0">
                <a:solidFill>
                  <a:srgbClr val="E6EDF3"/>
                </a:solidFill>
                <a:latin typeface="Consolas"/>
              </a:rPr>
              <a:t>UYARI</a:t>
            </a:r>
          </a:p>
        </p:txBody>
      </p:sp>
      <p:sp>
        <p:nvSpPr>
          <p:cNvPr id="40" name="TextBox 39"/>
          <p:cNvSpPr txBox="1"/>
          <p:nvPr/>
        </p:nvSpPr>
        <p:spPr>
          <a:xfrm>
            <a:off x="5943600" y="3017520"/>
            <a:ext cx="731520" cy="237744"/>
          </a:xfrm>
          <a:prstGeom prst="rect">
            <a:avLst/>
          </a:prstGeom>
          <a:noFill/>
        </p:spPr>
        <p:txBody>
          <a:bodyPr wrap="square" lIns="0" tIns="0" rIns="0" bIns="0" anchor="t">
            <a:spAutoFit/>
          </a:bodyPr>
          <a:lstStyle/>
          <a:p>
            <a:pPr algn="l">
              <a:lnSpc>
                <a:spcPct val="112000"/>
              </a:lnSpc>
              <a:spcAft>
                <a:spcPts val="0"/>
              </a:spcAft>
            </a:pPr>
            <a:r>
              <a:rPr sz="1000" b="0" i="0">
                <a:solidFill>
                  <a:srgbClr val="FFA928"/>
                </a:solidFill>
                <a:latin typeface="Bahnschrift SemiBold"/>
              </a:rPr>
              <a:t>LIT</a:t>
            </a:r>
          </a:p>
        </p:txBody>
      </p:sp>
      <p:sp>
        <p:nvSpPr>
          <p:cNvPr id="41" name="TextBox 40"/>
          <p:cNvSpPr txBox="1"/>
          <p:nvPr/>
        </p:nvSpPr>
        <p:spPr>
          <a:xfrm>
            <a:off x="6766560" y="3017520"/>
            <a:ext cx="4782312" cy="237744"/>
          </a:xfrm>
          <a:prstGeom prst="rect">
            <a:avLst/>
          </a:prstGeom>
          <a:noFill/>
        </p:spPr>
        <p:txBody>
          <a:bodyPr wrap="square" lIns="0" tIns="0" rIns="0" bIns="0" anchor="t">
            <a:spAutoFit/>
          </a:bodyPr>
          <a:lstStyle/>
          <a:p>
            <a:pPr algn="l">
              <a:lnSpc>
                <a:spcPct val="112000"/>
              </a:lnSpc>
              <a:spcAft>
                <a:spcPts val="0"/>
              </a:spcAft>
            </a:pPr>
            <a:r>
              <a:rPr sz="1100" b="0" i="0">
                <a:solidFill>
                  <a:srgbClr val="8494A6"/>
                </a:solidFill>
                <a:latin typeface="Segoe UI"/>
              </a:rPr>
              <a:t>warning — absent phases</a:t>
            </a:r>
          </a:p>
        </p:txBody>
      </p:sp>
      <p:sp>
        <p:nvSpPr>
          <p:cNvPr id="42" name="Rectangle 41"/>
          <p:cNvSpPr/>
          <p:nvPr/>
        </p:nvSpPr>
        <p:spPr>
          <a:xfrm>
            <a:off x="640080" y="3566160"/>
            <a:ext cx="5349240" cy="1166241"/>
          </a:xfrm>
          <a:prstGeom prst="rect">
            <a:avLst/>
          </a:prstGeom>
          <a:solidFill>
            <a:srgbClr val="0A0E13"/>
          </a:solidFill>
          <a:ln w="12700">
            <a:solidFill>
              <a:srgbClr val="2C364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3" name="Rectangle 42"/>
          <p:cNvSpPr/>
          <p:nvPr/>
        </p:nvSpPr>
        <p:spPr>
          <a:xfrm>
            <a:off x="640080" y="3566160"/>
            <a:ext cx="25400" cy="1166241"/>
          </a:xfrm>
          <a:prstGeom prst="rect">
            <a:avLst/>
          </a:prstGeom>
          <a:solidFill>
            <a:srgbClr val="63D2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4" name="TextBox 43"/>
          <p:cNvSpPr txBox="1"/>
          <p:nvPr/>
        </p:nvSpPr>
        <p:spPr>
          <a:xfrm>
            <a:off x="841247" y="3694176"/>
            <a:ext cx="4946903" cy="201168"/>
          </a:xfrm>
          <a:prstGeom prst="rect">
            <a:avLst/>
          </a:prstGeom>
          <a:noFill/>
        </p:spPr>
        <p:txBody>
          <a:bodyPr wrap="square" lIns="0" tIns="0" rIns="0" bIns="0" anchor="t">
            <a:spAutoFit/>
          </a:bodyPr>
          <a:lstStyle/>
          <a:p>
            <a:pPr algn="l">
              <a:lnSpc>
                <a:spcPct val="100000"/>
              </a:lnSpc>
              <a:spcAft>
                <a:spcPts val="0"/>
              </a:spcAft>
            </a:pPr>
            <a:r>
              <a:rPr sz="850" b="0" i="0">
                <a:solidFill>
                  <a:srgbClr val="63D2E8"/>
                </a:solidFill>
                <a:latin typeface="Bahnschrift SemiBold"/>
              </a:rPr>
              <a:t>EVERY AC REGISTER READS ZERO — CORRECTLY</a:t>
            </a:r>
          </a:p>
        </p:txBody>
      </p:sp>
      <p:sp>
        <p:nvSpPr>
          <p:cNvPr id="45" name="TextBox 44"/>
          <p:cNvSpPr txBox="1"/>
          <p:nvPr/>
        </p:nvSpPr>
        <p:spPr>
          <a:xfrm>
            <a:off x="841247" y="3968496"/>
            <a:ext cx="4946903" cy="654177"/>
          </a:xfrm>
          <a:prstGeom prst="rect">
            <a:avLst/>
          </a:prstGeom>
          <a:noFill/>
        </p:spPr>
        <p:txBody>
          <a:bodyPr wrap="square" lIns="0" tIns="0" rIns="0" bIns="0">
            <a:spAutoFit/>
          </a:bodyPr>
          <a:lstStyle/>
          <a:p>
            <a:pPr algn="l">
              <a:lnSpc>
                <a:spcPct val="130000"/>
              </a:lnSpc>
              <a:spcAft>
                <a:spcPts val="0"/>
              </a:spcAft>
            </a:pPr>
            <a:r>
              <a:rPr sz="1000" b="0">
                <a:solidFill>
                  <a:srgbClr val="63D2E8"/>
                </a:solidFill>
                <a:latin typeface="Consolas"/>
              </a:rPr>
              <a:t>MainBus_Voltage_L1  100  = 0.000</a:t>
            </a:r>
          </a:p>
          <a:p>
            <a:pPr algn="l">
              <a:lnSpc>
                <a:spcPct val="130000"/>
              </a:lnSpc>
              <a:spcAft>
                <a:spcPts val="0"/>
              </a:spcAft>
            </a:pPr>
            <a:r>
              <a:rPr sz="1000" b="0">
                <a:solidFill>
                  <a:srgbClr val="63D2E8"/>
                </a:solidFill>
                <a:latin typeface="Consolas"/>
              </a:rPr>
              <a:t>MainBus_Current_L1  180  = 0.000</a:t>
            </a:r>
          </a:p>
          <a:p>
            <a:pPr algn="l">
              <a:lnSpc>
                <a:spcPct val="130000"/>
              </a:lnSpc>
              <a:spcAft>
                <a:spcPts val="0"/>
              </a:spcAft>
            </a:pPr>
            <a:r>
              <a:rPr sz="1000" b="0">
                <a:solidFill>
                  <a:srgbClr val="63D2E8"/>
                </a:solidFill>
                <a:latin typeface="Consolas"/>
              </a:rPr>
              <a:t>MainBus_Freq_L1     266  = 0.000</a:t>
            </a:r>
          </a:p>
        </p:txBody>
      </p:sp>
      <p:sp>
        <p:nvSpPr>
          <p:cNvPr id="46" name="Rectangle 45"/>
          <p:cNvSpPr/>
          <p:nvPr/>
        </p:nvSpPr>
        <p:spPr>
          <a:xfrm>
            <a:off x="6199632" y="3566160"/>
            <a:ext cx="5349240" cy="2048256"/>
          </a:xfrm>
          <a:prstGeom prst="rect">
            <a:avLst/>
          </a:prstGeom>
          <a:solidFill>
            <a:srgbClr val="161C24"/>
          </a:solidFill>
          <a:ln w="12700">
            <a:solidFill>
              <a:srgbClr val="2C364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7" name="Rectangle 46"/>
          <p:cNvSpPr/>
          <p:nvPr/>
        </p:nvSpPr>
        <p:spPr>
          <a:xfrm>
            <a:off x="6199632" y="3566160"/>
            <a:ext cx="5349240" cy="31750"/>
          </a:xfrm>
          <a:prstGeom prst="rect">
            <a:avLst/>
          </a:prstGeom>
          <a:solidFill>
            <a:srgbClr val="FFA92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8" name="TextBox 47"/>
          <p:cNvSpPr txBox="1"/>
          <p:nvPr/>
        </p:nvSpPr>
        <p:spPr>
          <a:xfrm>
            <a:off x="6419088" y="3767328"/>
            <a:ext cx="4937760" cy="274320"/>
          </a:xfrm>
          <a:prstGeom prst="rect">
            <a:avLst/>
          </a:prstGeom>
          <a:noFill/>
        </p:spPr>
        <p:txBody>
          <a:bodyPr wrap="square" lIns="0" tIns="0" rIns="0" bIns="0" anchor="t">
            <a:spAutoFit/>
          </a:bodyPr>
          <a:lstStyle/>
          <a:p>
            <a:pPr algn="l">
              <a:lnSpc>
                <a:spcPct val="112000"/>
              </a:lnSpc>
              <a:spcAft>
                <a:spcPts val="0"/>
              </a:spcAft>
            </a:pPr>
            <a:r>
              <a:rPr sz="1600" b="0" i="0">
                <a:solidFill>
                  <a:srgbClr val="FFA928"/>
                </a:solidFill>
                <a:latin typeface="Consolas"/>
              </a:rPr>
              <a:t>0.000 is not null</a:t>
            </a:r>
          </a:p>
        </p:txBody>
      </p:sp>
      <p:sp>
        <p:nvSpPr>
          <p:cNvPr id="49" name="TextBox 48"/>
          <p:cNvSpPr txBox="1"/>
          <p:nvPr/>
        </p:nvSpPr>
        <p:spPr>
          <a:xfrm>
            <a:off x="6419088" y="4114800"/>
            <a:ext cx="4910328" cy="1336006"/>
          </a:xfrm>
          <a:prstGeom prst="rect">
            <a:avLst/>
          </a:prstGeom>
          <a:noFill/>
        </p:spPr>
        <p:txBody>
          <a:bodyPr wrap="square" lIns="0" tIns="0" rIns="0" bIns="0" anchor="t">
            <a:spAutoFit/>
          </a:bodyPr>
          <a:lstStyle/>
          <a:p>
            <a:pPr algn="l">
              <a:lnSpc>
                <a:spcPct val="138000"/>
              </a:lnSpc>
              <a:spcAft>
                <a:spcPts val="0"/>
              </a:spcAft>
            </a:pPr>
            <a:r>
              <a:rPr sz="1050" b="0" i="0">
                <a:solidFill>
                  <a:srgbClr val="8494A6"/>
                </a:solidFill>
                <a:latin typeface="Segoe UI"/>
              </a:rPr>
              <a:t>A zero means read correctly, genuinely zero. A null means the register could not be read at all. The gateway publishes the key either way — requirement FW-12 — so the two never merge.</a:t>
            </a:r>
          </a:p>
          <a:p>
            <a:pPr algn="l">
              <a:lnSpc>
                <a:spcPct val="138000"/>
              </a:lnSpc>
              <a:spcAft>
                <a:spcPts val="0"/>
              </a:spcAft>
            </a:pPr>
            <a:r>
              <a:rPr sz="1050" b="0" i="0">
                <a:solidFill>
                  <a:srgbClr val="8494A6"/>
                </a:solidFill>
                <a:latin typeface="Segoe UI"/>
              </a:rPr>
              <a:t>It matters because this is a True-RMS AC analyser with nothing on its voltage or current inputs. The lamps are not a fault; they are the device correctly complaining about absent phases.</a:t>
            </a:r>
          </a:p>
        </p:txBody>
      </p:sp>
      <p:sp>
        <p:nvSpPr>
          <p:cNvPr id="50" name="TextBox 49"/>
          <p:cNvSpPr txBox="1"/>
          <p:nvPr/>
        </p:nvSpPr>
        <p:spPr>
          <a:xfrm>
            <a:off x="640080" y="4901184"/>
            <a:ext cx="5349240" cy="237744"/>
          </a:xfrm>
          <a:prstGeom prst="rect">
            <a:avLst/>
          </a:prstGeom>
          <a:noFill/>
        </p:spPr>
        <p:txBody>
          <a:bodyPr wrap="square" lIns="0" tIns="0" rIns="0" bIns="0" anchor="t">
            <a:spAutoFit/>
          </a:bodyPr>
          <a:lstStyle/>
          <a:p>
            <a:pPr algn="l">
              <a:lnSpc>
                <a:spcPct val="112000"/>
              </a:lnSpc>
              <a:spcAft>
                <a:spcPts val="0"/>
              </a:spcAft>
            </a:pPr>
            <a:r>
              <a:rPr sz="900" b="0" i="0">
                <a:solidFill>
                  <a:srgbClr val="FFA928"/>
                </a:solidFill>
                <a:latin typeface="Bahnschrift SemiBold"/>
              </a:rPr>
              <a:t>SUPPLY_VOLTAGE · REGISTER 40260</a:t>
            </a:r>
          </a:p>
        </p:txBody>
      </p:sp>
      <p:sp>
        <p:nvSpPr>
          <p:cNvPr id="51" name="Rectangle 50"/>
          <p:cNvSpPr/>
          <p:nvPr/>
        </p:nvSpPr>
        <p:spPr>
          <a:xfrm>
            <a:off x="640080" y="5157216"/>
            <a:ext cx="5349240" cy="9525"/>
          </a:xfrm>
          <a:prstGeom prst="rect">
            <a:avLst/>
          </a:prstGeom>
          <a:solidFill>
            <a:srgbClr val="3D4A5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2" name="TextBox 51"/>
          <p:cNvSpPr txBox="1"/>
          <p:nvPr/>
        </p:nvSpPr>
        <p:spPr>
          <a:xfrm>
            <a:off x="640080" y="5266944"/>
            <a:ext cx="1737360" cy="274320"/>
          </a:xfrm>
          <a:prstGeom prst="rect">
            <a:avLst/>
          </a:prstGeom>
          <a:noFill/>
        </p:spPr>
        <p:txBody>
          <a:bodyPr wrap="square" lIns="0" tIns="0" rIns="0" bIns="0" anchor="t">
            <a:spAutoFit/>
          </a:bodyPr>
          <a:lstStyle/>
          <a:p>
            <a:pPr algn="l">
              <a:lnSpc>
                <a:spcPct val="112000"/>
              </a:lnSpc>
              <a:spcAft>
                <a:spcPts val="0"/>
              </a:spcAft>
            </a:pPr>
            <a:r>
              <a:rPr sz="1500" b="0" i="0">
                <a:solidFill>
                  <a:srgbClr val="8494A6"/>
                </a:solidFill>
                <a:latin typeface="Consolas"/>
              </a:rPr>
              <a:t>26.5 V</a:t>
            </a:r>
          </a:p>
        </p:txBody>
      </p:sp>
      <p:sp>
        <p:nvSpPr>
          <p:cNvPr id="53" name="TextBox 52"/>
          <p:cNvSpPr txBox="1"/>
          <p:nvPr/>
        </p:nvSpPr>
        <p:spPr>
          <a:xfrm>
            <a:off x="640080" y="5541264"/>
            <a:ext cx="1737360" cy="219456"/>
          </a:xfrm>
          <a:prstGeom prst="rect">
            <a:avLst/>
          </a:prstGeom>
          <a:noFill/>
        </p:spPr>
        <p:txBody>
          <a:bodyPr wrap="square" lIns="0" tIns="0" rIns="0" bIns="0" anchor="t">
            <a:spAutoFit/>
          </a:bodyPr>
          <a:lstStyle/>
          <a:p>
            <a:pPr algn="l">
              <a:lnSpc>
                <a:spcPct val="112000"/>
              </a:lnSpc>
              <a:spcAft>
                <a:spcPts val="0"/>
              </a:spcAft>
            </a:pPr>
            <a:r>
              <a:rPr sz="850" b="0" i="0">
                <a:solidFill>
                  <a:srgbClr val="5A6878"/>
                </a:solidFill>
                <a:latin typeface="Consolas"/>
              </a:rPr>
              <a:t>2026-07-23</a:t>
            </a:r>
          </a:p>
        </p:txBody>
      </p:sp>
      <p:sp>
        <p:nvSpPr>
          <p:cNvPr id="54" name="TextBox 53"/>
          <p:cNvSpPr txBox="1"/>
          <p:nvPr/>
        </p:nvSpPr>
        <p:spPr>
          <a:xfrm>
            <a:off x="2441448" y="5266944"/>
            <a:ext cx="1737360" cy="274320"/>
          </a:xfrm>
          <a:prstGeom prst="rect">
            <a:avLst/>
          </a:prstGeom>
          <a:noFill/>
        </p:spPr>
        <p:txBody>
          <a:bodyPr wrap="square" lIns="0" tIns="0" rIns="0" bIns="0" anchor="t">
            <a:spAutoFit/>
          </a:bodyPr>
          <a:lstStyle/>
          <a:p>
            <a:pPr algn="l">
              <a:lnSpc>
                <a:spcPct val="112000"/>
              </a:lnSpc>
              <a:spcAft>
                <a:spcPts val="0"/>
              </a:spcAft>
            </a:pPr>
            <a:r>
              <a:rPr sz="1500" b="0" i="0">
                <a:solidFill>
                  <a:srgbClr val="8494A6"/>
                </a:solidFill>
                <a:latin typeface="Consolas"/>
              </a:rPr>
              <a:t>13.2 V</a:t>
            </a:r>
          </a:p>
        </p:txBody>
      </p:sp>
      <p:sp>
        <p:nvSpPr>
          <p:cNvPr id="55" name="TextBox 54"/>
          <p:cNvSpPr txBox="1"/>
          <p:nvPr/>
        </p:nvSpPr>
        <p:spPr>
          <a:xfrm>
            <a:off x="2441448" y="5541264"/>
            <a:ext cx="1737360" cy="219456"/>
          </a:xfrm>
          <a:prstGeom prst="rect">
            <a:avLst/>
          </a:prstGeom>
          <a:noFill/>
        </p:spPr>
        <p:txBody>
          <a:bodyPr wrap="square" lIns="0" tIns="0" rIns="0" bIns="0" anchor="t">
            <a:spAutoFit/>
          </a:bodyPr>
          <a:lstStyle/>
          <a:p>
            <a:pPr algn="l">
              <a:lnSpc>
                <a:spcPct val="112000"/>
              </a:lnSpc>
              <a:spcAft>
                <a:spcPts val="0"/>
              </a:spcAft>
            </a:pPr>
            <a:r>
              <a:rPr sz="850" b="0" i="0">
                <a:solidFill>
                  <a:srgbClr val="5A6878"/>
                </a:solidFill>
                <a:latin typeface="Consolas"/>
              </a:rPr>
              <a:t>07-28 · gw + PC</a:t>
            </a:r>
          </a:p>
        </p:txBody>
      </p:sp>
      <p:sp>
        <p:nvSpPr>
          <p:cNvPr id="56" name="TextBox 55"/>
          <p:cNvSpPr txBox="1"/>
          <p:nvPr/>
        </p:nvSpPr>
        <p:spPr>
          <a:xfrm>
            <a:off x="4242816" y="5266944"/>
            <a:ext cx="1737360" cy="274320"/>
          </a:xfrm>
          <a:prstGeom prst="rect">
            <a:avLst/>
          </a:prstGeom>
          <a:noFill/>
        </p:spPr>
        <p:txBody>
          <a:bodyPr wrap="square" lIns="0" tIns="0" rIns="0" bIns="0" anchor="t">
            <a:spAutoFit/>
          </a:bodyPr>
          <a:lstStyle/>
          <a:p>
            <a:pPr algn="l">
              <a:lnSpc>
                <a:spcPct val="112000"/>
              </a:lnSpc>
              <a:spcAft>
                <a:spcPts val="0"/>
              </a:spcAft>
            </a:pPr>
            <a:r>
              <a:rPr sz="1500" b="0" i="0">
                <a:solidFill>
                  <a:srgbClr val="63D2E8"/>
                </a:solidFill>
                <a:latin typeface="Consolas"/>
              </a:rPr>
              <a:t>23.35 V</a:t>
            </a:r>
          </a:p>
        </p:txBody>
      </p:sp>
      <p:sp>
        <p:nvSpPr>
          <p:cNvPr id="57" name="TextBox 56"/>
          <p:cNvSpPr txBox="1"/>
          <p:nvPr/>
        </p:nvSpPr>
        <p:spPr>
          <a:xfrm>
            <a:off x="4242816" y="5541264"/>
            <a:ext cx="1737360" cy="219456"/>
          </a:xfrm>
          <a:prstGeom prst="rect">
            <a:avLst/>
          </a:prstGeom>
          <a:noFill/>
        </p:spPr>
        <p:txBody>
          <a:bodyPr wrap="square" lIns="0" tIns="0" rIns="0" bIns="0" anchor="t">
            <a:spAutoFit/>
          </a:bodyPr>
          <a:lstStyle/>
          <a:p>
            <a:pPr algn="l">
              <a:lnSpc>
                <a:spcPct val="112000"/>
              </a:lnSpc>
              <a:spcAft>
                <a:spcPts val="0"/>
              </a:spcAft>
            </a:pPr>
            <a:r>
              <a:rPr sz="850" b="0" i="0">
                <a:solidFill>
                  <a:srgbClr val="5A6878"/>
                </a:solidFill>
                <a:latin typeface="Consolas"/>
              </a:rPr>
              <a:t>07-28 · dial</a:t>
            </a:r>
          </a:p>
        </p:txBody>
      </p:sp>
      <p:sp>
        <p:nvSpPr>
          <p:cNvPr id="58" name="TextBox 57"/>
          <p:cNvSpPr txBox="1"/>
          <p:nvPr/>
        </p:nvSpPr>
        <p:spPr>
          <a:xfrm>
            <a:off x="640080" y="5815584"/>
            <a:ext cx="5349240" cy="411835"/>
          </a:xfrm>
          <a:prstGeom prst="rect">
            <a:avLst/>
          </a:prstGeom>
          <a:noFill/>
        </p:spPr>
        <p:txBody>
          <a:bodyPr wrap="square" lIns="0" tIns="0" rIns="0" bIns="0" anchor="t">
            <a:spAutoFit/>
          </a:bodyPr>
          <a:lstStyle/>
          <a:p>
            <a:pPr algn="l">
              <a:lnSpc>
                <a:spcPct val="134000"/>
              </a:lnSpc>
              <a:spcAft>
                <a:spcPts val="0"/>
              </a:spcAft>
            </a:pPr>
            <a:r>
              <a:rPr sz="1000" b="0" i="0">
                <a:solidFill>
                  <a:srgbClr val="8494A6"/>
                </a:solidFill>
                <a:latin typeface="Segoe UI"/>
              </a:rPr>
              <a:t>All three correct when recorded: a live readback of the bench dial, not a property of the meter — a staleness canary, never a reference.</a:t>
            </a:r>
          </a:p>
        </p:txBody>
      </p:sp>
      <p:sp>
        <p:nvSpPr>
          <p:cNvPr id="59" name="TextBox 58"/>
          <p:cNvSpPr txBox="1"/>
          <p:nvPr/>
        </p:nvSpPr>
        <p:spPr>
          <a:xfrm>
            <a:off x="6199632" y="5724144"/>
            <a:ext cx="5349240" cy="548640"/>
          </a:xfrm>
          <a:prstGeom prst="rect">
            <a:avLst/>
          </a:prstGeom>
          <a:noFill/>
        </p:spPr>
        <p:txBody>
          <a:bodyPr wrap="square" lIns="0" tIns="0" rIns="0" bIns="0">
            <a:spAutoFit/>
          </a:bodyPr>
          <a:lstStyle/>
          <a:p>
            <a:pPr algn="l">
              <a:lnSpc>
                <a:spcPct val="132000"/>
              </a:lnSpc>
              <a:spcAft>
                <a:spcPts val="600"/>
              </a:spcAft>
            </a:pPr>
            <a:r>
              <a:rPr sz="1000" b="1">
                <a:solidFill>
                  <a:srgbClr val="FF4438"/>
                </a:solidFill>
                <a:latin typeface="Consolas"/>
              </a:rPr>
              <a:t>OPEN · </a:t>
            </a:r>
            <a:r>
              <a:rPr sz="1000" b="0">
                <a:solidFill>
                  <a:srgbClr val="8494A6"/>
                </a:solidFill>
                <a:latin typeface="Segoe UI"/>
              </a:rPr>
              <a:t>the app reads ≈2 % above the supply's own display, always the same way. Cable loss has the wrong sign; one DMM across the meter's own terminals settles it.</a:t>
            </a:r>
          </a:p>
        </p:txBody>
      </p:sp>
      <p:sp>
        <p:nvSpPr>
          <p:cNvPr id="60" name="Rectangle 59"/>
          <p:cNvSpPr/>
          <p:nvPr/>
        </p:nvSpPr>
        <p:spPr>
          <a:xfrm>
            <a:off x="640080" y="6382512"/>
            <a:ext cx="10908792" cy="9525"/>
          </a:xfrm>
          <a:prstGeom prst="rect">
            <a:avLst/>
          </a:prstGeom>
          <a:solidFill>
            <a:srgbClr val="2C364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1" name="TextBox 60"/>
          <p:cNvSpPr txBox="1"/>
          <p:nvPr/>
        </p:nvSpPr>
        <p:spPr>
          <a:xfrm>
            <a:off x="640080" y="6492240"/>
            <a:ext cx="7315200" cy="237744"/>
          </a:xfrm>
          <a:prstGeom prst="rect">
            <a:avLst/>
          </a:prstGeom>
          <a:noFill/>
        </p:spPr>
        <p:txBody>
          <a:bodyPr wrap="square" lIns="0" tIns="0" rIns="0" bIns="0" anchor="t">
            <a:spAutoFit/>
          </a:bodyPr>
          <a:lstStyle/>
          <a:p>
            <a:pPr algn="l">
              <a:lnSpc>
                <a:spcPct val="112000"/>
              </a:lnSpc>
              <a:spcAft>
                <a:spcPts val="0"/>
              </a:spcAft>
            </a:pPr>
            <a:r>
              <a:rPr sz="850" b="0" i="0">
                <a:solidFill>
                  <a:srgbClr val="5A6878"/>
                </a:solidFill>
                <a:latin typeface="Consolas"/>
              </a:rPr>
              <a:t>OSOS · DKM-440 remote meter reading</a:t>
            </a:r>
          </a:p>
        </p:txBody>
      </p:sp>
      <p:sp>
        <p:nvSpPr>
          <p:cNvPr id="62" name="TextBox 61"/>
          <p:cNvSpPr txBox="1"/>
          <p:nvPr/>
        </p:nvSpPr>
        <p:spPr>
          <a:xfrm>
            <a:off x="10177272" y="6492240"/>
            <a:ext cx="1371600" cy="237744"/>
          </a:xfrm>
          <a:prstGeom prst="rect">
            <a:avLst/>
          </a:prstGeom>
          <a:noFill/>
        </p:spPr>
        <p:txBody>
          <a:bodyPr wrap="square" lIns="0" tIns="0" rIns="0" bIns="0" anchor="t">
            <a:spAutoFit/>
          </a:bodyPr>
          <a:lstStyle/>
          <a:p>
            <a:pPr algn="r">
              <a:lnSpc>
                <a:spcPct val="112000"/>
              </a:lnSpc>
              <a:spcAft>
                <a:spcPts val="0"/>
              </a:spcAft>
            </a:pPr>
            <a:r>
              <a:rPr sz="850" b="0" i="0">
                <a:solidFill>
                  <a:srgbClr val="5A6878"/>
                </a:solidFill>
                <a:latin typeface="Consolas"/>
              </a:rPr>
              <a:t>03</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D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274320"/>
            <a:ext cx="5852160" cy="219456"/>
          </a:xfrm>
          <a:prstGeom prst="rect">
            <a:avLst/>
          </a:prstGeom>
          <a:noFill/>
        </p:spPr>
        <p:txBody>
          <a:bodyPr wrap="square" lIns="0" tIns="0" rIns="0" bIns="0" anchor="t">
            <a:spAutoFit/>
          </a:bodyPr>
          <a:lstStyle/>
          <a:p>
            <a:pPr algn="l">
              <a:lnSpc>
                <a:spcPct val="100000"/>
              </a:lnSpc>
              <a:spcAft>
                <a:spcPts val="0"/>
              </a:spcAft>
            </a:pPr>
            <a:r>
              <a:rPr sz="900" b="0" i="0">
                <a:solidFill>
                  <a:srgbClr val="63D2E8"/>
                </a:solidFill>
                <a:latin typeface="Consolas"/>
              </a:rPr>
              <a:t>TWO HOPS, SEVEN LAYERS, ONE PAYLOAD</a:t>
            </a:r>
          </a:p>
        </p:txBody>
      </p:sp>
      <p:sp>
        <p:nvSpPr>
          <p:cNvPr id="4" name="TextBox 3"/>
          <p:cNvSpPr txBox="1"/>
          <p:nvPr/>
        </p:nvSpPr>
        <p:spPr>
          <a:xfrm>
            <a:off x="640080" y="493776"/>
            <a:ext cx="5870448" cy="640080"/>
          </a:xfrm>
          <a:prstGeom prst="rect">
            <a:avLst/>
          </a:prstGeom>
          <a:noFill/>
        </p:spPr>
        <p:txBody>
          <a:bodyPr wrap="square" lIns="0" tIns="0" rIns="0" bIns="0" anchor="b">
            <a:spAutoFit/>
          </a:bodyPr>
          <a:lstStyle/>
          <a:p>
            <a:pPr algn="l">
              <a:lnSpc>
                <a:spcPct val="100000"/>
              </a:lnSpc>
              <a:spcAft>
                <a:spcPts val="0"/>
              </a:spcAft>
            </a:pPr>
            <a:r>
              <a:rPr sz="2650" b="0" i="0">
                <a:solidFill>
                  <a:srgbClr val="E6EDF3"/>
                </a:solidFill>
                <a:latin typeface="Bahnschrift SemiBold"/>
              </a:rPr>
              <a:t>The whole system, on the OSI model</a:t>
            </a:r>
          </a:p>
        </p:txBody>
      </p:sp>
      <p:sp>
        <p:nvSpPr>
          <p:cNvPr id="5" name="Rectangle 4"/>
          <p:cNvSpPr/>
          <p:nvPr/>
        </p:nvSpPr>
        <p:spPr>
          <a:xfrm>
            <a:off x="6726783" y="583844"/>
            <a:ext cx="1083106" cy="12700"/>
          </a:xfrm>
          <a:prstGeom prst="rect">
            <a:avLst/>
          </a:prstGeom>
          <a:solidFill>
            <a:srgbClr val="2E7D8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Rectangle 5"/>
          <p:cNvSpPr/>
          <p:nvPr/>
        </p:nvSpPr>
        <p:spPr>
          <a:xfrm>
            <a:off x="6617970" y="548640"/>
            <a:ext cx="77724" cy="77724"/>
          </a:xfrm>
          <a:prstGeom prst="rect">
            <a:avLst/>
          </a:prstGeom>
          <a:solidFill>
            <a:srgbClr val="63D2E8"/>
          </a:solidFill>
          <a:ln w="12700">
            <a:solidFill>
              <a:srgbClr val="63D2E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6045327" y="694944"/>
            <a:ext cx="1223010" cy="201168"/>
          </a:xfrm>
          <a:prstGeom prst="rect">
            <a:avLst/>
          </a:prstGeom>
          <a:noFill/>
        </p:spPr>
        <p:txBody>
          <a:bodyPr wrap="square" lIns="0" tIns="0" rIns="0" bIns="0" anchor="t">
            <a:spAutoFit/>
          </a:bodyPr>
          <a:lstStyle/>
          <a:p>
            <a:pPr algn="ctr">
              <a:lnSpc>
                <a:spcPct val="100000"/>
              </a:lnSpc>
              <a:spcAft>
                <a:spcPts val="0"/>
              </a:spcAft>
            </a:pPr>
            <a:r>
              <a:rPr sz="750" b="0" i="0">
                <a:solidFill>
                  <a:srgbClr val="63D2E8"/>
                </a:solidFill>
                <a:latin typeface="Bahnschrift SemiBold"/>
              </a:rPr>
              <a:t>METER</a:t>
            </a:r>
          </a:p>
        </p:txBody>
      </p:sp>
      <p:sp>
        <p:nvSpPr>
          <p:cNvPr id="8" name="Rectangle 7"/>
          <p:cNvSpPr/>
          <p:nvPr/>
        </p:nvSpPr>
        <p:spPr>
          <a:xfrm>
            <a:off x="7949793" y="583844"/>
            <a:ext cx="1083106" cy="12700"/>
          </a:xfrm>
          <a:prstGeom prst="rect">
            <a:avLst/>
          </a:prstGeom>
          <a:solidFill>
            <a:srgbClr val="2E7D8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Rectangle 8"/>
          <p:cNvSpPr/>
          <p:nvPr/>
        </p:nvSpPr>
        <p:spPr>
          <a:xfrm>
            <a:off x="7840979" y="548640"/>
            <a:ext cx="77724" cy="77724"/>
          </a:xfrm>
          <a:prstGeom prst="rect">
            <a:avLst/>
          </a:prstGeom>
          <a:solidFill>
            <a:srgbClr val="63D2E8"/>
          </a:solidFill>
          <a:ln w="12700">
            <a:solidFill>
              <a:srgbClr val="63D2E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TextBox 9"/>
          <p:cNvSpPr txBox="1"/>
          <p:nvPr/>
        </p:nvSpPr>
        <p:spPr>
          <a:xfrm>
            <a:off x="7268337" y="694944"/>
            <a:ext cx="1223010" cy="201168"/>
          </a:xfrm>
          <a:prstGeom prst="rect">
            <a:avLst/>
          </a:prstGeom>
          <a:noFill/>
        </p:spPr>
        <p:txBody>
          <a:bodyPr wrap="square" lIns="0" tIns="0" rIns="0" bIns="0" anchor="t">
            <a:spAutoFit/>
          </a:bodyPr>
          <a:lstStyle/>
          <a:p>
            <a:pPr algn="ctr">
              <a:lnSpc>
                <a:spcPct val="100000"/>
              </a:lnSpc>
              <a:spcAft>
                <a:spcPts val="0"/>
              </a:spcAft>
            </a:pPr>
            <a:r>
              <a:rPr sz="750" b="0" i="0">
                <a:solidFill>
                  <a:srgbClr val="63D2E8"/>
                </a:solidFill>
                <a:latin typeface="Bahnschrift SemiBold"/>
              </a:rPr>
              <a:t>GATEWAY</a:t>
            </a:r>
          </a:p>
        </p:txBody>
      </p:sp>
      <p:sp>
        <p:nvSpPr>
          <p:cNvPr id="11" name="Rectangle 10"/>
          <p:cNvSpPr/>
          <p:nvPr/>
        </p:nvSpPr>
        <p:spPr>
          <a:xfrm>
            <a:off x="9172803" y="583844"/>
            <a:ext cx="1083106" cy="12700"/>
          </a:xfrm>
          <a:prstGeom prst="rect">
            <a:avLst/>
          </a:prstGeom>
          <a:solidFill>
            <a:srgbClr val="2E7D8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Rectangle 11"/>
          <p:cNvSpPr/>
          <p:nvPr/>
        </p:nvSpPr>
        <p:spPr>
          <a:xfrm>
            <a:off x="9063990" y="548640"/>
            <a:ext cx="77724" cy="77724"/>
          </a:xfrm>
          <a:prstGeom prst="rect">
            <a:avLst/>
          </a:prstGeom>
          <a:solidFill>
            <a:srgbClr val="63D2E8"/>
          </a:solidFill>
          <a:ln w="12700">
            <a:solidFill>
              <a:srgbClr val="63D2E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8491347" y="694944"/>
            <a:ext cx="1223010" cy="201168"/>
          </a:xfrm>
          <a:prstGeom prst="rect">
            <a:avLst/>
          </a:prstGeom>
          <a:noFill/>
        </p:spPr>
        <p:txBody>
          <a:bodyPr wrap="square" lIns="0" tIns="0" rIns="0" bIns="0" anchor="t">
            <a:spAutoFit/>
          </a:bodyPr>
          <a:lstStyle/>
          <a:p>
            <a:pPr algn="ctr">
              <a:lnSpc>
                <a:spcPct val="100000"/>
              </a:lnSpc>
              <a:spcAft>
                <a:spcPts val="0"/>
              </a:spcAft>
            </a:pPr>
            <a:r>
              <a:rPr sz="750" b="0" i="0">
                <a:solidFill>
                  <a:srgbClr val="63D2E8"/>
                </a:solidFill>
                <a:latin typeface="Bahnschrift SemiBold"/>
              </a:rPr>
              <a:t>BROKER</a:t>
            </a:r>
          </a:p>
        </p:txBody>
      </p:sp>
      <p:sp>
        <p:nvSpPr>
          <p:cNvPr id="14" name="Rectangle 13"/>
          <p:cNvSpPr/>
          <p:nvPr/>
        </p:nvSpPr>
        <p:spPr>
          <a:xfrm>
            <a:off x="10395813" y="583844"/>
            <a:ext cx="1083106" cy="12700"/>
          </a:xfrm>
          <a:prstGeom prst="rect">
            <a:avLst/>
          </a:prstGeom>
          <a:solidFill>
            <a:srgbClr val="2C364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Rectangle 14"/>
          <p:cNvSpPr/>
          <p:nvPr/>
        </p:nvSpPr>
        <p:spPr>
          <a:xfrm>
            <a:off x="10287000" y="548640"/>
            <a:ext cx="77724" cy="77724"/>
          </a:xfrm>
          <a:prstGeom prst="rect">
            <a:avLst/>
          </a:prstGeom>
          <a:solidFill>
            <a:srgbClr val="63D2E8"/>
          </a:solidFill>
          <a:ln w="12700">
            <a:solidFill>
              <a:srgbClr val="63D2E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TextBox 15"/>
          <p:cNvSpPr txBox="1"/>
          <p:nvPr/>
        </p:nvSpPr>
        <p:spPr>
          <a:xfrm>
            <a:off x="9714357" y="694944"/>
            <a:ext cx="1223010" cy="201168"/>
          </a:xfrm>
          <a:prstGeom prst="rect">
            <a:avLst/>
          </a:prstGeom>
          <a:noFill/>
        </p:spPr>
        <p:txBody>
          <a:bodyPr wrap="square" lIns="0" tIns="0" rIns="0" bIns="0" anchor="t">
            <a:spAutoFit/>
          </a:bodyPr>
          <a:lstStyle/>
          <a:p>
            <a:pPr algn="ctr">
              <a:lnSpc>
                <a:spcPct val="100000"/>
              </a:lnSpc>
              <a:spcAft>
                <a:spcPts val="0"/>
              </a:spcAft>
            </a:pPr>
            <a:r>
              <a:rPr sz="750" b="0" i="0">
                <a:solidFill>
                  <a:srgbClr val="63D2E8"/>
                </a:solidFill>
                <a:latin typeface="Bahnschrift SemiBold"/>
              </a:rPr>
              <a:t>PHONE</a:t>
            </a:r>
          </a:p>
        </p:txBody>
      </p:sp>
      <p:sp>
        <p:nvSpPr>
          <p:cNvPr id="17" name="Rectangle 16"/>
          <p:cNvSpPr/>
          <p:nvPr/>
        </p:nvSpPr>
        <p:spPr>
          <a:xfrm>
            <a:off x="11510009" y="548640"/>
            <a:ext cx="77724" cy="77724"/>
          </a:xfrm>
          <a:prstGeom prst="rect">
            <a:avLst/>
          </a:prstGeom>
          <a:solidFill>
            <a:srgbClr val="0D1117"/>
          </a:solidFill>
          <a:ln w="12700">
            <a:solidFill>
              <a:srgbClr val="3D4A5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TextBox 17"/>
          <p:cNvSpPr txBox="1"/>
          <p:nvPr/>
        </p:nvSpPr>
        <p:spPr>
          <a:xfrm>
            <a:off x="10937367" y="694944"/>
            <a:ext cx="1223010" cy="201168"/>
          </a:xfrm>
          <a:prstGeom prst="rect">
            <a:avLst/>
          </a:prstGeom>
          <a:noFill/>
        </p:spPr>
        <p:txBody>
          <a:bodyPr wrap="square" lIns="0" tIns="0" rIns="0" bIns="0" anchor="t">
            <a:spAutoFit/>
          </a:bodyPr>
          <a:lstStyle/>
          <a:p>
            <a:pPr algn="ctr">
              <a:lnSpc>
                <a:spcPct val="100000"/>
              </a:lnSpc>
              <a:spcAft>
                <a:spcPts val="0"/>
              </a:spcAft>
            </a:pPr>
            <a:r>
              <a:rPr sz="750" b="0" i="0">
                <a:solidFill>
                  <a:srgbClr val="5A6878"/>
                </a:solidFill>
                <a:latin typeface="Bahnschrift SemiBold"/>
              </a:rPr>
              <a:t>NET</a:t>
            </a:r>
          </a:p>
        </p:txBody>
      </p:sp>
      <p:sp>
        <p:nvSpPr>
          <p:cNvPr id="19" name="Rectangle 18"/>
          <p:cNvSpPr/>
          <p:nvPr/>
        </p:nvSpPr>
        <p:spPr>
          <a:xfrm>
            <a:off x="640080" y="1225296"/>
            <a:ext cx="10908792" cy="9525"/>
          </a:xfrm>
          <a:prstGeom prst="rect">
            <a:avLst/>
          </a:prstGeom>
          <a:solidFill>
            <a:srgbClr val="2C364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Rectangle 19"/>
          <p:cNvSpPr/>
          <p:nvPr/>
        </p:nvSpPr>
        <p:spPr>
          <a:xfrm>
            <a:off x="640080" y="1220724"/>
            <a:ext cx="566928" cy="25400"/>
          </a:xfrm>
          <a:prstGeom prst="rect">
            <a:avLst/>
          </a:prstGeom>
          <a:solidFill>
            <a:srgbClr val="63D2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1" name="TextBox 20"/>
          <p:cNvSpPr txBox="1"/>
          <p:nvPr/>
        </p:nvSpPr>
        <p:spPr>
          <a:xfrm>
            <a:off x="1225296" y="1444752"/>
            <a:ext cx="1554480" cy="219456"/>
          </a:xfrm>
          <a:prstGeom prst="rect">
            <a:avLst/>
          </a:prstGeom>
          <a:noFill/>
        </p:spPr>
        <p:txBody>
          <a:bodyPr wrap="square" lIns="0" tIns="0" rIns="0" bIns="0" anchor="t">
            <a:spAutoFit/>
          </a:bodyPr>
          <a:lstStyle/>
          <a:p>
            <a:pPr algn="l">
              <a:lnSpc>
                <a:spcPct val="112000"/>
              </a:lnSpc>
              <a:spcAft>
                <a:spcPts val="0"/>
              </a:spcAft>
            </a:pPr>
            <a:r>
              <a:rPr sz="800" b="0" i="0">
                <a:solidFill>
                  <a:srgbClr val="63D2E8"/>
                </a:solidFill>
                <a:latin typeface="Bahnschrift SemiBold"/>
              </a:rPr>
              <a:t>LAYER</a:t>
            </a:r>
          </a:p>
        </p:txBody>
      </p:sp>
      <p:sp>
        <p:nvSpPr>
          <p:cNvPr id="22" name="TextBox 21"/>
          <p:cNvSpPr txBox="1"/>
          <p:nvPr/>
        </p:nvSpPr>
        <p:spPr>
          <a:xfrm>
            <a:off x="2834640" y="1444752"/>
            <a:ext cx="4297680" cy="219456"/>
          </a:xfrm>
          <a:prstGeom prst="rect">
            <a:avLst/>
          </a:prstGeom>
          <a:noFill/>
        </p:spPr>
        <p:txBody>
          <a:bodyPr wrap="square" lIns="0" tIns="0" rIns="0" bIns="0" anchor="t">
            <a:spAutoFit/>
          </a:bodyPr>
          <a:lstStyle/>
          <a:p>
            <a:pPr algn="l">
              <a:lnSpc>
                <a:spcPct val="112000"/>
              </a:lnSpc>
              <a:spcAft>
                <a:spcPts val="0"/>
              </a:spcAft>
            </a:pPr>
            <a:r>
              <a:rPr sz="800" b="0" i="0">
                <a:solidFill>
                  <a:srgbClr val="63D2E8"/>
                </a:solidFill>
                <a:latin typeface="Bahnschrift SemiBold"/>
              </a:rPr>
              <a:t>HOP 1   METER → GATEWAY</a:t>
            </a:r>
          </a:p>
        </p:txBody>
      </p:sp>
      <p:sp>
        <p:nvSpPr>
          <p:cNvPr id="23" name="TextBox 22"/>
          <p:cNvSpPr txBox="1"/>
          <p:nvPr/>
        </p:nvSpPr>
        <p:spPr>
          <a:xfrm>
            <a:off x="7223760" y="1444752"/>
            <a:ext cx="4325112" cy="219456"/>
          </a:xfrm>
          <a:prstGeom prst="rect">
            <a:avLst/>
          </a:prstGeom>
          <a:noFill/>
        </p:spPr>
        <p:txBody>
          <a:bodyPr wrap="square" lIns="0" tIns="0" rIns="0" bIns="0" anchor="t">
            <a:spAutoFit/>
          </a:bodyPr>
          <a:lstStyle/>
          <a:p>
            <a:pPr algn="l">
              <a:lnSpc>
                <a:spcPct val="112000"/>
              </a:lnSpc>
              <a:spcAft>
                <a:spcPts val="0"/>
              </a:spcAft>
            </a:pPr>
            <a:r>
              <a:rPr sz="800" b="0" i="0">
                <a:solidFill>
                  <a:srgbClr val="63D2E8"/>
                </a:solidFill>
                <a:latin typeface="Bahnschrift SemiBold"/>
              </a:rPr>
              <a:t>HOP 2   GATEWAY → BROKER → PHONE</a:t>
            </a:r>
          </a:p>
        </p:txBody>
      </p:sp>
      <p:sp>
        <p:nvSpPr>
          <p:cNvPr id="24" name="Rectangle 23"/>
          <p:cNvSpPr/>
          <p:nvPr/>
        </p:nvSpPr>
        <p:spPr>
          <a:xfrm>
            <a:off x="640080" y="1700784"/>
            <a:ext cx="10908792" cy="9525"/>
          </a:xfrm>
          <a:prstGeom prst="rect">
            <a:avLst/>
          </a:prstGeom>
          <a:solidFill>
            <a:srgbClr val="3D4A5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5" name="Rectangle 24"/>
          <p:cNvSpPr/>
          <p:nvPr/>
        </p:nvSpPr>
        <p:spPr>
          <a:xfrm>
            <a:off x="640080" y="1828800"/>
            <a:ext cx="10908792" cy="498348"/>
          </a:xfrm>
          <a:prstGeom prst="rect">
            <a:avLst/>
          </a:prstGeom>
          <a:solidFill>
            <a:srgbClr val="161C2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6" name="TextBox 25"/>
          <p:cNvSpPr txBox="1"/>
          <p:nvPr/>
        </p:nvSpPr>
        <p:spPr>
          <a:xfrm>
            <a:off x="731519" y="1947672"/>
            <a:ext cx="457200" cy="274320"/>
          </a:xfrm>
          <a:prstGeom prst="rect">
            <a:avLst/>
          </a:prstGeom>
          <a:noFill/>
        </p:spPr>
        <p:txBody>
          <a:bodyPr wrap="square" lIns="0" tIns="0" rIns="0" bIns="0" anchor="t">
            <a:spAutoFit/>
          </a:bodyPr>
          <a:lstStyle/>
          <a:p>
            <a:pPr algn="l">
              <a:lnSpc>
                <a:spcPct val="112000"/>
              </a:lnSpc>
              <a:spcAft>
                <a:spcPts val="0"/>
              </a:spcAft>
            </a:pPr>
            <a:r>
              <a:rPr sz="1500" b="0" i="0">
                <a:solidFill>
                  <a:srgbClr val="2E7D8E"/>
                </a:solidFill>
                <a:latin typeface="Consolas"/>
              </a:rPr>
              <a:t>7</a:t>
            </a:r>
          </a:p>
        </p:txBody>
      </p:sp>
      <p:sp>
        <p:nvSpPr>
          <p:cNvPr id="27" name="TextBox 26"/>
          <p:cNvSpPr txBox="1"/>
          <p:nvPr/>
        </p:nvSpPr>
        <p:spPr>
          <a:xfrm>
            <a:off x="1225296" y="1911095"/>
            <a:ext cx="1554480" cy="274320"/>
          </a:xfrm>
          <a:prstGeom prst="rect">
            <a:avLst/>
          </a:prstGeom>
          <a:noFill/>
        </p:spPr>
        <p:txBody>
          <a:bodyPr wrap="square" lIns="0" tIns="0" rIns="0" bIns="0" anchor="t">
            <a:spAutoFit/>
          </a:bodyPr>
          <a:lstStyle/>
          <a:p>
            <a:pPr algn="l">
              <a:lnSpc>
                <a:spcPct val="112000"/>
              </a:lnSpc>
              <a:spcAft>
                <a:spcPts val="0"/>
              </a:spcAft>
            </a:pPr>
            <a:r>
              <a:rPr sz="1250" b="0" i="0">
                <a:solidFill>
                  <a:srgbClr val="E6EDF3"/>
                </a:solidFill>
                <a:latin typeface="Bahnschrift SemiBold"/>
              </a:rPr>
              <a:t>Application</a:t>
            </a:r>
          </a:p>
        </p:txBody>
      </p:sp>
      <p:sp>
        <p:nvSpPr>
          <p:cNvPr id="28" name="TextBox 27"/>
          <p:cNvSpPr txBox="1"/>
          <p:nvPr/>
        </p:nvSpPr>
        <p:spPr>
          <a:xfrm>
            <a:off x="1225296" y="2121408"/>
            <a:ext cx="1554480" cy="182880"/>
          </a:xfrm>
          <a:prstGeom prst="rect">
            <a:avLst/>
          </a:prstGeom>
          <a:noFill/>
        </p:spPr>
        <p:txBody>
          <a:bodyPr wrap="square" lIns="0" tIns="0" rIns="0" bIns="0" anchor="t">
            <a:spAutoFit/>
          </a:bodyPr>
          <a:lstStyle/>
          <a:p>
            <a:pPr algn="l">
              <a:lnSpc>
                <a:spcPct val="112000"/>
              </a:lnSpc>
              <a:spcAft>
                <a:spcPts val="0"/>
              </a:spcAft>
            </a:pPr>
            <a:r>
              <a:rPr sz="800" b="0" i="0">
                <a:solidFill>
                  <a:srgbClr val="5A6878"/>
                </a:solidFill>
                <a:latin typeface="Consolas"/>
              </a:rPr>
              <a:t>L7</a:t>
            </a:r>
          </a:p>
        </p:txBody>
      </p:sp>
      <p:sp>
        <p:nvSpPr>
          <p:cNvPr id="29" name="TextBox 28"/>
          <p:cNvSpPr txBox="1"/>
          <p:nvPr/>
        </p:nvSpPr>
        <p:spPr>
          <a:xfrm>
            <a:off x="2834640" y="1975104"/>
            <a:ext cx="4251960" cy="274320"/>
          </a:xfrm>
          <a:prstGeom prst="rect">
            <a:avLst/>
          </a:prstGeom>
          <a:noFill/>
        </p:spPr>
        <p:txBody>
          <a:bodyPr wrap="square" lIns="0" tIns="0" rIns="0" bIns="0" anchor="t">
            <a:spAutoFit/>
          </a:bodyPr>
          <a:lstStyle/>
          <a:p>
            <a:pPr algn="l">
              <a:lnSpc>
                <a:spcPct val="112000"/>
              </a:lnSpc>
              <a:spcAft>
                <a:spcPts val="0"/>
              </a:spcAft>
            </a:pPr>
            <a:r>
              <a:rPr sz="1050" b="0" i="0">
                <a:solidFill>
                  <a:srgbClr val="8494A6"/>
                </a:solidFill>
                <a:latin typeface="Consolas"/>
              </a:rPr>
              <a:t>Modbus  FC03 read holding registers</a:t>
            </a:r>
          </a:p>
        </p:txBody>
      </p:sp>
      <p:sp>
        <p:nvSpPr>
          <p:cNvPr id="30" name="TextBox 29"/>
          <p:cNvSpPr txBox="1"/>
          <p:nvPr/>
        </p:nvSpPr>
        <p:spPr>
          <a:xfrm>
            <a:off x="7223760" y="1975104"/>
            <a:ext cx="4325112" cy="274320"/>
          </a:xfrm>
          <a:prstGeom prst="rect">
            <a:avLst/>
          </a:prstGeom>
          <a:noFill/>
        </p:spPr>
        <p:txBody>
          <a:bodyPr wrap="square" lIns="0" tIns="0" rIns="0" bIns="0" anchor="t">
            <a:spAutoFit/>
          </a:bodyPr>
          <a:lstStyle/>
          <a:p>
            <a:pPr algn="l">
              <a:lnSpc>
                <a:spcPct val="112000"/>
              </a:lnSpc>
              <a:spcAft>
                <a:spcPts val="0"/>
              </a:spcAft>
            </a:pPr>
            <a:r>
              <a:rPr sz="1050" b="0" i="0">
                <a:solidFill>
                  <a:srgbClr val="8494A6"/>
                </a:solidFill>
                <a:latin typeface="Consolas"/>
              </a:rPr>
              <a:t>MQTT 3.1.1  PUBLISH / SUBSCRIBE</a:t>
            </a:r>
          </a:p>
        </p:txBody>
      </p:sp>
      <p:sp>
        <p:nvSpPr>
          <p:cNvPr id="31" name="Rectangle 30"/>
          <p:cNvSpPr/>
          <p:nvPr/>
        </p:nvSpPr>
        <p:spPr>
          <a:xfrm>
            <a:off x="640080" y="2327148"/>
            <a:ext cx="10908792" cy="498348"/>
          </a:xfrm>
          <a:prstGeom prst="rect">
            <a:avLst/>
          </a:prstGeom>
          <a:solidFill>
            <a:srgbClr val="0D111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2" name="TextBox 31"/>
          <p:cNvSpPr txBox="1"/>
          <p:nvPr/>
        </p:nvSpPr>
        <p:spPr>
          <a:xfrm>
            <a:off x="731519" y="2446020"/>
            <a:ext cx="457200" cy="274320"/>
          </a:xfrm>
          <a:prstGeom prst="rect">
            <a:avLst/>
          </a:prstGeom>
          <a:noFill/>
        </p:spPr>
        <p:txBody>
          <a:bodyPr wrap="square" lIns="0" tIns="0" rIns="0" bIns="0" anchor="t">
            <a:spAutoFit/>
          </a:bodyPr>
          <a:lstStyle/>
          <a:p>
            <a:pPr algn="l">
              <a:lnSpc>
                <a:spcPct val="112000"/>
              </a:lnSpc>
              <a:spcAft>
                <a:spcPts val="0"/>
              </a:spcAft>
            </a:pPr>
            <a:r>
              <a:rPr sz="1500" b="0" i="0">
                <a:solidFill>
                  <a:srgbClr val="2E7D8E"/>
                </a:solidFill>
                <a:latin typeface="Consolas"/>
              </a:rPr>
              <a:t>6</a:t>
            </a:r>
          </a:p>
        </p:txBody>
      </p:sp>
      <p:sp>
        <p:nvSpPr>
          <p:cNvPr id="33" name="TextBox 32"/>
          <p:cNvSpPr txBox="1"/>
          <p:nvPr/>
        </p:nvSpPr>
        <p:spPr>
          <a:xfrm>
            <a:off x="1225296" y="2409444"/>
            <a:ext cx="1554480" cy="274320"/>
          </a:xfrm>
          <a:prstGeom prst="rect">
            <a:avLst/>
          </a:prstGeom>
          <a:noFill/>
        </p:spPr>
        <p:txBody>
          <a:bodyPr wrap="square" lIns="0" tIns="0" rIns="0" bIns="0" anchor="t">
            <a:spAutoFit/>
          </a:bodyPr>
          <a:lstStyle/>
          <a:p>
            <a:pPr algn="l">
              <a:lnSpc>
                <a:spcPct val="112000"/>
              </a:lnSpc>
              <a:spcAft>
                <a:spcPts val="0"/>
              </a:spcAft>
            </a:pPr>
            <a:r>
              <a:rPr sz="1250" b="0" i="0">
                <a:solidFill>
                  <a:srgbClr val="E6EDF3"/>
                </a:solidFill>
                <a:latin typeface="Bahnschrift SemiBold"/>
              </a:rPr>
              <a:t>Presentation</a:t>
            </a:r>
          </a:p>
        </p:txBody>
      </p:sp>
      <p:sp>
        <p:nvSpPr>
          <p:cNvPr id="34" name="TextBox 33"/>
          <p:cNvSpPr txBox="1"/>
          <p:nvPr/>
        </p:nvSpPr>
        <p:spPr>
          <a:xfrm>
            <a:off x="1225296" y="2619756"/>
            <a:ext cx="1554480" cy="182880"/>
          </a:xfrm>
          <a:prstGeom prst="rect">
            <a:avLst/>
          </a:prstGeom>
          <a:noFill/>
        </p:spPr>
        <p:txBody>
          <a:bodyPr wrap="square" lIns="0" tIns="0" rIns="0" bIns="0" anchor="t">
            <a:spAutoFit/>
          </a:bodyPr>
          <a:lstStyle/>
          <a:p>
            <a:pPr algn="l">
              <a:lnSpc>
                <a:spcPct val="112000"/>
              </a:lnSpc>
              <a:spcAft>
                <a:spcPts val="0"/>
              </a:spcAft>
            </a:pPr>
            <a:r>
              <a:rPr sz="800" b="0" i="0">
                <a:solidFill>
                  <a:srgbClr val="5A6878"/>
                </a:solidFill>
                <a:latin typeface="Consolas"/>
              </a:rPr>
              <a:t>L6</a:t>
            </a:r>
          </a:p>
        </p:txBody>
      </p:sp>
      <p:sp>
        <p:nvSpPr>
          <p:cNvPr id="35" name="TextBox 34"/>
          <p:cNvSpPr txBox="1"/>
          <p:nvPr/>
        </p:nvSpPr>
        <p:spPr>
          <a:xfrm>
            <a:off x="2834640" y="2473452"/>
            <a:ext cx="4251960" cy="274320"/>
          </a:xfrm>
          <a:prstGeom prst="rect">
            <a:avLst/>
          </a:prstGeom>
          <a:noFill/>
        </p:spPr>
        <p:txBody>
          <a:bodyPr wrap="square" lIns="0" tIns="0" rIns="0" bIns="0" anchor="t">
            <a:spAutoFit/>
          </a:bodyPr>
          <a:lstStyle/>
          <a:p>
            <a:pPr algn="l">
              <a:lnSpc>
                <a:spcPct val="112000"/>
              </a:lnSpc>
              <a:spcAft>
                <a:spcPts val="0"/>
              </a:spcAft>
            </a:pPr>
            <a:r>
              <a:rPr sz="1050" b="0" i="0">
                <a:solidFill>
                  <a:srgbClr val="8494A6"/>
                </a:solidFill>
                <a:latin typeface="Consolas"/>
              </a:rPr>
              <a:t>IEEE-754 float32, big-endian word order</a:t>
            </a:r>
          </a:p>
        </p:txBody>
      </p:sp>
      <p:sp>
        <p:nvSpPr>
          <p:cNvPr id="36" name="TextBox 35"/>
          <p:cNvSpPr txBox="1"/>
          <p:nvPr/>
        </p:nvSpPr>
        <p:spPr>
          <a:xfrm>
            <a:off x="7223760" y="2473452"/>
            <a:ext cx="4325112" cy="274320"/>
          </a:xfrm>
          <a:prstGeom prst="rect">
            <a:avLst/>
          </a:prstGeom>
          <a:noFill/>
        </p:spPr>
        <p:txBody>
          <a:bodyPr wrap="square" lIns="0" tIns="0" rIns="0" bIns="0" anchor="t">
            <a:spAutoFit/>
          </a:bodyPr>
          <a:lstStyle/>
          <a:p>
            <a:pPr algn="l">
              <a:lnSpc>
                <a:spcPct val="112000"/>
              </a:lnSpc>
              <a:spcAft>
                <a:spcPts val="0"/>
              </a:spcAft>
            </a:pPr>
            <a:r>
              <a:rPr sz="1050" b="0" i="0">
                <a:solidFill>
                  <a:srgbClr val="8494A6"/>
                </a:solidFill>
                <a:latin typeface="Consolas"/>
              </a:rPr>
              <a:t>JSON UTF-8   ·   weights as base64 LE float32</a:t>
            </a:r>
          </a:p>
        </p:txBody>
      </p:sp>
      <p:sp>
        <p:nvSpPr>
          <p:cNvPr id="37" name="Rectangle 36"/>
          <p:cNvSpPr/>
          <p:nvPr/>
        </p:nvSpPr>
        <p:spPr>
          <a:xfrm>
            <a:off x="640080" y="2825496"/>
            <a:ext cx="10908792" cy="498348"/>
          </a:xfrm>
          <a:prstGeom prst="rect">
            <a:avLst/>
          </a:prstGeom>
          <a:solidFill>
            <a:srgbClr val="161C2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8" name="TextBox 37"/>
          <p:cNvSpPr txBox="1"/>
          <p:nvPr/>
        </p:nvSpPr>
        <p:spPr>
          <a:xfrm>
            <a:off x="731519" y="2944368"/>
            <a:ext cx="457200" cy="274320"/>
          </a:xfrm>
          <a:prstGeom prst="rect">
            <a:avLst/>
          </a:prstGeom>
          <a:noFill/>
        </p:spPr>
        <p:txBody>
          <a:bodyPr wrap="square" lIns="0" tIns="0" rIns="0" bIns="0" anchor="t">
            <a:spAutoFit/>
          </a:bodyPr>
          <a:lstStyle/>
          <a:p>
            <a:pPr algn="l">
              <a:lnSpc>
                <a:spcPct val="112000"/>
              </a:lnSpc>
              <a:spcAft>
                <a:spcPts val="0"/>
              </a:spcAft>
            </a:pPr>
            <a:r>
              <a:rPr sz="1500" b="0" i="0">
                <a:solidFill>
                  <a:srgbClr val="2E7D8E"/>
                </a:solidFill>
                <a:latin typeface="Consolas"/>
              </a:rPr>
              <a:t>5</a:t>
            </a:r>
          </a:p>
        </p:txBody>
      </p:sp>
      <p:sp>
        <p:nvSpPr>
          <p:cNvPr id="39" name="TextBox 38"/>
          <p:cNvSpPr txBox="1"/>
          <p:nvPr/>
        </p:nvSpPr>
        <p:spPr>
          <a:xfrm>
            <a:off x="1225296" y="2907791"/>
            <a:ext cx="1554480" cy="274320"/>
          </a:xfrm>
          <a:prstGeom prst="rect">
            <a:avLst/>
          </a:prstGeom>
          <a:noFill/>
        </p:spPr>
        <p:txBody>
          <a:bodyPr wrap="square" lIns="0" tIns="0" rIns="0" bIns="0" anchor="t">
            <a:spAutoFit/>
          </a:bodyPr>
          <a:lstStyle/>
          <a:p>
            <a:pPr algn="l">
              <a:lnSpc>
                <a:spcPct val="112000"/>
              </a:lnSpc>
              <a:spcAft>
                <a:spcPts val="0"/>
              </a:spcAft>
            </a:pPr>
            <a:r>
              <a:rPr sz="1250" b="0" i="0">
                <a:solidFill>
                  <a:srgbClr val="E6EDF3"/>
                </a:solidFill>
                <a:latin typeface="Bahnschrift SemiBold"/>
              </a:rPr>
              <a:t>Session</a:t>
            </a:r>
          </a:p>
        </p:txBody>
      </p:sp>
      <p:sp>
        <p:nvSpPr>
          <p:cNvPr id="40" name="TextBox 39"/>
          <p:cNvSpPr txBox="1"/>
          <p:nvPr/>
        </p:nvSpPr>
        <p:spPr>
          <a:xfrm>
            <a:off x="1225296" y="3118103"/>
            <a:ext cx="1554480" cy="182880"/>
          </a:xfrm>
          <a:prstGeom prst="rect">
            <a:avLst/>
          </a:prstGeom>
          <a:noFill/>
        </p:spPr>
        <p:txBody>
          <a:bodyPr wrap="square" lIns="0" tIns="0" rIns="0" bIns="0" anchor="t">
            <a:spAutoFit/>
          </a:bodyPr>
          <a:lstStyle/>
          <a:p>
            <a:pPr algn="l">
              <a:lnSpc>
                <a:spcPct val="112000"/>
              </a:lnSpc>
              <a:spcAft>
                <a:spcPts val="0"/>
              </a:spcAft>
            </a:pPr>
            <a:r>
              <a:rPr sz="800" b="0" i="0">
                <a:solidFill>
                  <a:srgbClr val="5A6878"/>
                </a:solidFill>
                <a:latin typeface="Consolas"/>
              </a:rPr>
              <a:t>L5</a:t>
            </a:r>
          </a:p>
        </p:txBody>
      </p:sp>
      <p:sp>
        <p:nvSpPr>
          <p:cNvPr id="41" name="TextBox 40"/>
          <p:cNvSpPr txBox="1"/>
          <p:nvPr/>
        </p:nvSpPr>
        <p:spPr>
          <a:xfrm>
            <a:off x="2834640" y="2971800"/>
            <a:ext cx="4251960" cy="274320"/>
          </a:xfrm>
          <a:prstGeom prst="rect">
            <a:avLst/>
          </a:prstGeom>
          <a:noFill/>
        </p:spPr>
        <p:txBody>
          <a:bodyPr wrap="square" lIns="0" tIns="0" rIns="0" bIns="0" anchor="t">
            <a:spAutoFit/>
          </a:bodyPr>
          <a:lstStyle/>
          <a:p>
            <a:pPr algn="l">
              <a:lnSpc>
                <a:spcPct val="112000"/>
              </a:lnSpc>
              <a:spcAft>
                <a:spcPts val="0"/>
              </a:spcAft>
            </a:pPr>
            <a:r>
              <a:rPr sz="1050" b="0" i="0">
                <a:solidFill>
                  <a:srgbClr val="8494A6"/>
                </a:solidFill>
                <a:latin typeface="Consolas"/>
              </a:rPr>
              <a:t>MBAP transaction id pairs reply to request</a:t>
            </a:r>
          </a:p>
        </p:txBody>
      </p:sp>
      <p:sp>
        <p:nvSpPr>
          <p:cNvPr id="42" name="TextBox 41"/>
          <p:cNvSpPr txBox="1"/>
          <p:nvPr/>
        </p:nvSpPr>
        <p:spPr>
          <a:xfrm>
            <a:off x="7223760" y="2971800"/>
            <a:ext cx="4325112" cy="274320"/>
          </a:xfrm>
          <a:prstGeom prst="rect">
            <a:avLst/>
          </a:prstGeom>
          <a:noFill/>
        </p:spPr>
        <p:txBody>
          <a:bodyPr wrap="square" lIns="0" tIns="0" rIns="0" bIns="0" anchor="t">
            <a:spAutoFit/>
          </a:bodyPr>
          <a:lstStyle/>
          <a:p>
            <a:pPr algn="l">
              <a:lnSpc>
                <a:spcPct val="112000"/>
              </a:lnSpc>
              <a:spcAft>
                <a:spcPts val="0"/>
              </a:spcAft>
            </a:pPr>
            <a:r>
              <a:rPr sz="1050" b="0" i="0">
                <a:solidFill>
                  <a:srgbClr val="8494A6"/>
                </a:solidFill>
                <a:latin typeface="Consolas"/>
              </a:rPr>
              <a:t>MQTT session, keepalive, retained status + LWT</a:t>
            </a:r>
          </a:p>
        </p:txBody>
      </p:sp>
      <p:sp>
        <p:nvSpPr>
          <p:cNvPr id="43" name="Rectangle 42"/>
          <p:cNvSpPr/>
          <p:nvPr/>
        </p:nvSpPr>
        <p:spPr>
          <a:xfrm>
            <a:off x="640080" y="3323844"/>
            <a:ext cx="10908792" cy="498348"/>
          </a:xfrm>
          <a:prstGeom prst="rect">
            <a:avLst/>
          </a:prstGeom>
          <a:solidFill>
            <a:srgbClr val="0D111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4" name="TextBox 43"/>
          <p:cNvSpPr txBox="1"/>
          <p:nvPr/>
        </p:nvSpPr>
        <p:spPr>
          <a:xfrm>
            <a:off x="731519" y="3442715"/>
            <a:ext cx="457200" cy="274320"/>
          </a:xfrm>
          <a:prstGeom prst="rect">
            <a:avLst/>
          </a:prstGeom>
          <a:noFill/>
        </p:spPr>
        <p:txBody>
          <a:bodyPr wrap="square" lIns="0" tIns="0" rIns="0" bIns="0" anchor="t">
            <a:spAutoFit/>
          </a:bodyPr>
          <a:lstStyle/>
          <a:p>
            <a:pPr algn="l">
              <a:lnSpc>
                <a:spcPct val="112000"/>
              </a:lnSpc>
              <a:spcAft>
                <a:spcPts val="0"/>
              </a:spcAft>
            </a:pPr>
            <a:r>
              <a:rPr sz="1500" b="0" i="0">
                <a:solidFill>
                  <a:srgbClr val="2E7D8E"/>
                </a:solidFill>
                <a:latin typeface="Consolas"/>
              </a:rPr>
              <a:t>4</a:t>
            </a:r>
          </a:p>
        </p:txBody>
      </p:sp>
      <p:sp>
        <p:nvSpPr>
          <p:cNvPr id="45" name="TextBox 44"/>
          <p:cNvSpPr txBox="1"/>
          <p:nvPr/>
        </p:nvSpPr>
        <p:spPr>
          <a:xfrm>
            <a:off x="1225296" y="3406139"/>
            <a:ext cx="1554480" cy="274320"/>
          </a:xfrm>
          <a:prstGeom prst="rect">
            <a:avLst/>
          </a:prstGeom>
          <a:noFill/>
        </p:spPr>
        <p:txBody>
          <a:bodyPr wrap="square" lIns="0" tIns="0" rIns="0" bIns="0" anchor="t">
            <a:spAutoFit/>
          </a:bodyPr>
          <a:lstStyle/>
          <a:p>
            <a:pPr algn="l">
              <a:lnSpc>
                <a:spcPct val="112000"/>
              </a:lnSpc>
              <a:spcAft>
                <a:spcPts val="0"/>
              </a:spcAft>
            </a:pPr>
            <a:r>
              <a:rPr sz="1250" b="0" i="0">
                <a:solidFill>
                  <a:srgbClr val="E6EDF3"/>
                </a:solidFill>
                <a:latin typeface="Bahnschrift SemiBold"/>
              </a:rPr>
              <a:t>Transport</a:t>
            </a:r>
          </a:p>
        </p:txBody>
      </p:sp>
      <p:sp>
        <p:nvSpPr>
          <p:cNvPr id="46" name="TextBox 45"/>
          <p:cNvSpPr txBox="1"/>
          <p:nvPr/>
        </p:nvSpPr>
        <p:spPr>
          <a:xfrm>
            <a:off x="1225296" y="3616451"/>
            <a:ext cx="1554480" cy="182880"/>
          </a:xfrm>
          <a:prstGeom prst="rect">
            <a:avLst/>
          </a:prstGeom>
          <a:noFill/>
        </p:spPr>
        <p:txBody>
          <a:bodyPr wrap="square" lIns="0" tIns="0" rIns="0" bIns="0" anchor="t">
            <a:spAutoFit/>
          </a:bodyPr>
          <a:lstStyle/>
          <a:p>
            <a:pPr algn="l">
              <a:lnSpc>
                <a:spcPct val="112000"/>
              </a:lnSpc>
              <a:spcAft>
                <a:spcPts val="0"/>
              </a:spcAft>
            </a:pPr>
            <a:r>
              <a:rPr sz="800" b="0" i="0">
                <a:solidFill>
                  <a:srgbClr val="5A6878"/>
                </a:solidFill>
                <a:latin typeface="Consolas"/>
              </a:rPr>
              <a:t>L4</a:t>
            </a:r>
          </a:p>
        </p:txBody>
      </p:sp>
      <p:sp>
        <p:nvSpPr>
          <p:cNvPr id="47" name="TextBox 46"/>
          <p:cNvSpPr txBox="1"/>
          <p:nvPr/>
        </p:nvSpPr>
        <p:spPr>
          <a:xfrm>
            <a:off x="2834640" y="3470148"/>
            <a:ext cx="4251960" cy="274320"/>
          </a:xfrm>
          <a:prstGeom prst="rect">
            <a:avLst/>
          </a:prstGeom>
          <a:noFill/>
        </p:spPr>
        <p:txBody>
          <a:bodyPr wrap="square" lIns="0" tIns="0" rIns="0" bIns="0" anchor="t">
            <a:spAutoFit/>
          </a:bodyPr>
          <a:lstStyle/>
          <a:p>
            <a:pPr algn="l">
              <a:lnSpc>
                <a:spcPct val="112000"/>
              </a:lnSpc>
              <a:spcAft>
                <a:spcPts val="0"/>
              </a:spcAft>
            </a:pPr>
            <a:r>
              <a:rPr sz="1050" b="0" i="0">
                <a:solidFill>
                  <a:srgbClr val="8494A6"/>
                </a:solidFill>
                <a:latin typeface="Consolas"/>
              </a:rPr>
              <a:t>TCP port 502</a:t>
            </a:r>
          </a:p>
        </p:txBody>
      </p:sp>
      <p:sp>
        <p:nvSpPr>
          <p:cNvPr id="48" name="TextBox 47"/>
          <p:cNvSpPr txBox="1"/>
          <p:nvPr/>
        </p:nvSpPr>
        <p:spPr>
          <a:xfrm>
            <a:off x="7223760" y="3470148"/>
            <a:ext cx="4325112" cy="274320"/>
          </a:xfrm>
          <a:prstGeom prst="rect">
            <a:avLst/>
          </a:prstGeom>
          <a:noFill/>
        </p:spPr>
        <p:txBody>
          <a:bodyPr wrap="square" lIns="0" tIns="0" rIns="0" bIns="0" anchor="t">
            <a:spAutoFit/>
          </a:bodyPr>
          <a:lstStyle/>
          <a:p>
            <a:pPr algn="l">
              <a:lnSpc>
                <a:spcPct val="112000"/>
              </a:lnSpc>
              <a:spcAft>
                <a:spcPts val="0"/>
              </a:spcAft>
            </a:pPr>
            <a:r>
              <a:rPr sz="1050" b="0" i="0">
                <a:solidFill>
                  <a:srgbClr val="8494A6"/>
                </a:solidFill>
                <a:latin typeface="Consolas"/>
              </a:rPr>
              <a:t>TCP port 8883, wrapped in TLS 1.3</a:t>
            </a:r>
          </a:p>
        </p:txBody>
      </p:sp>
      <p:sp>
        <p:nvSpPr>
          <p:cNvPr id="49" name="Rectangle 48"/>
          <p:cNvSpPr/>
          <p:nvPr/>
        </p:nvSpPr>
        <p:spPr>
          <a:xfrm>
            <a:off x="640080" y="3822191"/>
            <a:ext cx="10908792" cy="498348"/>
          </a:xfrm>
          <a:prstGeom prst="rect">
            <a:avLst/>
          </a:prstGeom>
          <a:solidFill>
            <a:srgbClr val="161C2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0" name="TextBox 49"/>
          <p:cNvSpPr txBox="1"/>
          <p:nvPr/>
        </p:nvSpPr>
        <p:spPr>
          <a:xfrm>
            <a:off x="731519" y="3941063"/>
            <a:ext cx="457200" cy="274320"/>
          </a:xfrm>
          <a:prstGeom prst="rect">
            <a:avLst/>
          </a:prstGeom>
          <a:noFill/>
        </p:spPr>
        <p:txBody>
          <a:bodyPr wrap="square" lIns="0" tIns="0" rIns="0" bIns="0" anchor="t">
            <a:spAutoFit/>
          </a:bodyPr>
          <a:lstStyle/>
          <a:p>
            <a:pPr algn="l">
              <a:lnSpc>
                <a:spcPct val="112000"/>
              </a:lnSpc>
              <a:spcAft>
                <a:spcPts val="0"/>
              </a:spcAft>
            </a:pPr>
            <a:r>
              <a:rPr sz="1500" b="0" i="0">
                <a:solidFill>
                  <a:srgbClr val="2E7D8E"/>
                </a:solidFill>
                <a:latin typeface="Consolas"/>
              </a:rPr>
              <a:t>3</a:t>
            </a:r>
          </a:p>
        </p:txBody>
      </p:sp>
      <p:sp>
        <p:nvSpPr>
          <p:cNvPr id="51" name="TextBox 50"/>
          <p:cNvSpPr txBox="1"/>
          <p:nvPr/>
        </p:nvSpPr>
        <p:spPr>
          <a:xfrm>
            <a:off x="1225296" y="3904487"/>
            <a:ext cx="1554480" cy="274320"/>
          </a:xfrm>
          <a:prstGeom prst="rect">
            <a:avLst/>
          </a:prstGeom>
          <a:noFill/>
        </p:spPr>
        <p:txBody>
          <a:bodyPr wrap="square" lIns="0" tIns="0" rIns="0" bIns="0" anchor="t">
            <a:spAutoFit/>
          </a:bodyPr>
          <a:lstStyle/>
          <a:p>
            <a:pPr algn="l">
              <a:lnSpc>
                <a:spcPct val="112000"/>
              </a:lnSpc>
              <a:spcAft>
                <a:spcPts val="0"/>
              </a:spcAft>
            </a:pPr>
            <a:r>
              <a:rPr sz="1250" b="0" i="0">
                <a:solidFill>
                  <a:srgbClr val="E6EDF3"/>
                </a:solidFill>
                <a:latin typeface="Bahnschrift SemiBold"/>
              </a:rPr>
              <a:t>Network</a:t>
            </a:r>
          </a:p>
        </p:txBody>
      </p:sp>
      <p:sp>
        <p:nvSpPr>
          <p:cNvPr id="52" name="TextBox 51"/>
          <p:cNvSpPr txBox="1"/>
          <p:nvPr/>
        </p:nvSpPr>
        <p:spPr>
          <a:xfrm>
            <a:off x="1225296" y="4114800"/>
            <a:ext cx="1554480" cy="182880"/>
          </a:xfrm>
          <a:prstGeom prst="rect">
            <a:avLst/>
          </a:prstGeom>
          <a:noFill/>
        </p:spPr>
        <p:txBody>
          <a:bodyPr wrap="square" lIns="0" tIns="0" rIns="0" bIns="0" anchor="t">
            <a:spAutoFit/>
          </a:bodyPr>
          <a:lstStyle/>
          <a:p>
            <a:pPr algn="l">
              <a:lnSpc>
                <a:spcPct val="112000"/>
              </a:lnSpc>
              <a:spcAft>
                <a:spcPts val="0"/>
              </a:spcAft>
            </a:pPr>
            <a:r>
              <a:rPr sz="800" b="0" i="0">
                <a:solidFill>
                  <a:srgbClr val="5A6878"/>
                </a:solidFill>
                <a:latin typeface="Consolas"/>
              </a:rPr>
              <a:t>L3</a:t>
            </a:r>
          </a:p>
        </p:txBody>
      </p:sp>
      <p:sp>
        <p:nvSpPr>
          <p:cNvPr id="53" name="TextBox 52"/>
          <p:cNvSpPr txBox="1"/>
          <p:nvPr/>
        </p:nvSpPr>
        <p:spPr>
          <a:xfrm>
            <a:off x="2834640" y="3968496"/>
            <a:ext cx="4251960" cy="274320"/>
          </a:xfrm>
          <a:prstGeom prst="rect">
            <a:avLst/>
          </a:prstGeom>
          <a:noFill/>
        </p:spPr>
        <p:txBody>
          <a:bodyPr wrap="square" lIns="0" tIns="0" rIns="0" bIns="0" anchor="t">
            <a:spAutoFit/>
          </a:bodyPr>
          <a:lstStyle/>
          <a:p>
            <a:pPr algn="l">
              <a:lnSpc>
                <a:spcPct val="112000"/>
              </a:lnSpc>
              <a:spcAft>
                <a:spcPts val="0"/>
              </a:spcAft>
            </a:pPr>
            <a:r>
              <a:rPr sz="1050" b="0" i="0">
                <a:solidFill>
                  <a:srgbClr val="8494A6"/>
                </a:solidFill>
                <a:latin typeface="Consolas"/>
              </a:rPr>
              <a:t>IPv4  192.169.10.75 → 192.169.10.74</a:t>
            </a:r>
          </a:p>
        </p:txBody>
      </p:sp>
      <p:sp>
        <p:nvSpPr>
          <p:cNvPr id="54" name="TextBox 53"/>
          <p:cNvSpPr txBox="1"/>
          <p:nvPr/>
        </p:nvSpPr>
        <p:spPr>
          <a:xfrm>
            <a:off x="7223760" y="3968496"/>
            <a:ext cx="4325112" cy="274320"/>
          </a:xfrm>
          <a:prstGeom prst="rect">
            <a:avLst/>
          </a:prstGeom>
          <a:noFill/>
        </p:spPr>
        <p:txBody>
          <a:bodyPr wrap="square" lIns="0" tIns="0" rIns="0" bIns="0" anchor="t">
            <a:spAutoFit/>
          </a:bodyPr>
          <a:lstStyle/>
          <a:p>
            <a:pPr algn="l">
              <a:lnSpc>
                <a:spcPct val="112000"/>
              </a:lnSpc>
              <a:spcAft>
                <a:spcPts val="0"/>
              </a:spcAft>
            </a:pPr>
            <a:r>
              <a:rPr sz="1050" b="0" i="0">
                <a:solidFill>
                  <a:srgbClr val="8494A6"/>
                </a:solidFill>
                <a:latin typeface="Consolas"/>
              </a:rPr>
              <a:t>IPv4 → …ala.eu-central-1.emqxsl.com</a:t>
            </a:r>
          </a:p>
        </p:txBody>
      </p:sp>
      <p:sp>
        <p:nvSpPr>
          <p:cNvPr id="55" name="Rectangle 54"/>
          <p:cNvSpPr/>
          <p:nvPr/>
        </p:nvSpPr>
        <p:spPr>
          <a:xfrm>
            <a:off x="640080" y="4320540"/>
            <a:ext cx="10908792" cy="498348"/>
          </a:xfrm>
          <a:prstGeom prst="rect">
            <a:avLst/>
          </a:prstGeom>
          <a:solidFill>
            <a:srgbClr val="0D111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6" name="TextBox 55"/>
          <p:cNvSpPr txBox="1"/>
          <p:nvPr/>
        </p:nvSpPr>
        <p:spPr>
          <a:xfrm>
            <a:off x="731519" y="4439412"/>
            <a:ext cx="457200" cy="274320"/>
          </a:xfrm>
          <a:prstGeom prst="rect">
            <a:avLst/>
          </a:prstGeom>
          <a:noFill/>
        </p:spPr>
        <p:txBody>
          <a:bodyPr wrap="square" lIns="0" tIns="0" rIns="0" bIns="0" anchor="t">
            <a:spAutoFit/>
          </a:bodyPr>
          <a:lstStyle/>
          <a:p>
            <a:pPr algn="l">
              <a:lnSpc>
                <a:spcPct val="112000"/>
              </a:lnSpc>
              <a:spcAft>
                <a:spcPts val="0"/>
              </a:spcAft>
            </a:pPr>
            <a:r>
              <a:rPr sz="1500" b="0" i="0">
                <a:solidFill>
                  <a:srgbClr val="2E7D8E"/>
                </a:solidFill>
                <a:latin typeface="Consolas"/>
              </a:rPr>
              <a:t>2</a:t>
            </a:r>
          </a:p>
        </p:txBody>
      </p:sp>
      <p:sp>
        <p:nvSpPr>
          <p:cNvPr id="57" name="TextBox 56"/>
          <p:cNvSpPr txBox="1"/>
          <p:nvPr/>
        </p:nvSpPr>
        <p:spPr>
          <a:xfrm>
            <a:off x="1225296" y="4402836"/>
            <a:ext cx="1554480" cy="274320"/>
          </a:xfrm>
          <a:prstGeom prst="rect">
            <a:avLst/>
          </a:prstGeom>
          <a:noFill/>
        </p:spPr>
        <p:txBody>
          <a:bodyPr wrap="square" lIns="0" tIns="0" rIns="0" bIns="0" anchor="t">
            <a:spAutoFit/>
          </a:bodyPr>
          <a:lstStyle/>
          <a:p>
            <a:pPr algn="l">
              <a:lnSpc>
                <a:spcPct val="112000"/>
              </a:lnSpc>
              <a:spcAft>
                <a:spcPts val="0"/>
              </a:spcAft>
            </a:pPr>
            <a:r>
              <a:rPr sz="1250" b="0" i="0">
                <a:solidFill>
                  <a:srgbClr val="E6EDF3"/>
                </a:solidFill>
                <a:latin typeface="Bahnschrift SemiBold"/>
              </a:rPr>
              <a:t>Data link</a:t>
            </a:r>
          </a:p>
        </p:txBody>
      </p:sp>
      <p:sp>
        <p:nvSpPr>
          <p:cNvPr id="58" name="TextBox 57"/>
          <p:cNvSpPr txBox="1"/>
          <p:nvPr/>
        </p:nvSpPr>
        <p:spPr>
          <a:xfrm>
            <a:off x="1225296" y="4613148"/>
            <a:ext cx="1554480" cy="182880"/>
          </a:xfrm>
          <a:prstGeom prst="rect">
            <a:avLst/>
          </a:prstGeom>
          <a:noFill/>
        </p:spPr>
        <p:txBody>
          <a:bodyPr wrap="square" lIns="0" tIns="0" rIns="0" bIns="0" anchor="t">
            <a:spAutoFit/>
          </a:bodyPr>
          <a:lstStyle/>
          <a:p>
            <a:pPr algn="l">
              <a:lnSpc>
                <a:spcPct val="112000"/>
              </a:lnSpc>
              <a:spcAft>
                <a:spcPts val="0"/>
              </a:spcAft>
            </a:pPr>
            <a:r>
              <a:rPr sz="800" b="0" i="0">
                <a:solidFill>
                  <a:srgbClr val="5A6878"/>
                </a:solidFill>
                <a:latin typeface="Consolas"/>
              </a:rPr>
              <a:t>L2</a:t>
            </a:r>
          </a:p>
        </p:txBody>
      </p:sp>
      <p:sp>
        <p:nvSpPr>
          <p:cNvPr id="59" name="TextBox 58"/>
          <p:cNvSpPr txBox="1"/>
          <p:nvPr/>
        </p:nvSpPr>
        <p:spPr>
          <a:xfrm>
            <a:off x="2834640" y="4466844"/>
            <a:ext cx="4251960" cy="274320"/>
          </a:xfrm>
          <a:prstGeom prst="rect">
            <a:avLst/>
          </a:prstGeom>
          <a:noFill/>
        </p:spPr>
        <p:txBody>
          <a:bodyPr wrap="square" lIns="0" tIns="0" rIns="0" bIns="0" anchor="t">
            <a:spAutoFit/>
          </a:bodyPr>
          <a:lstStyle/>
          <a:p>
            <a:pPr algn="l">
              <a:lnSpc>
                <a:spcPct val="112000"/>
              </a:lnSpc>
              <a:spcAft>
                <a:spcPts val="0"/>
              </a:spcAft>
            </a:pPr>
            <a:r>
              <a:rPr sz="1050" b="0" i="0">
                <a:solidFill>
                  <a:srgbClr val="8494A6"/>
                </a:solidFill>
                <a:latin typeface="Consolas"/>
              </a:rPr>
              <a:t>Ethernet II   MAC 00-00-36-7F-04-55</a:t>
            </a:r>
          </a:p>
        </p:txBody>
      </p:sp>
      <p:sp>
        <p:nvSpPr>
          <p:cNvPr id="60" name="TextBox 59"/>
          <p:cNvSpPr txBox="1"/>
          <p:nvPr/>
        </p:nvSpPr>
        <p:spPr>
          <a:xfrm>
            <a:off x="7223760" y="4466844"/>
            <a:ext cx="4325112" cy="274320"/>
          </a:xfrm>
          <a:prstGeom prst="rect">
            <a:avLst/>
          </a:prstGeom>
          <a:noFill/>
        </p:spPr>
        <p:txBody>
          <a:bodyPr wrap="square" lIns="0" tIns="0" rIns="0" bIns="0" anchor="t">
            <a:spAutoFit/>
          </a:bodyPr>
          <a:lstStyle/>
          <a:p>
            <a:pPr algn="l">
              <a:lnSpc>
                <a:spcPct val="112000"/>
              </a:lnSpc>
              <a:spcAft>
                <a:spcPts val="0"/>
              </a:spcAft>
            </a:pPr>
            <a:r>
              <a:rPr sz="1050" b="0" i="0">
                <a:solidFill>
                  <a:srgbClr val="8494A6"/>
                </a:solidFill>
                <a:latin typeface="Consolas"/>
              </a:rPr>
              <a:t>802.11 b/g/n   CSMA/CA, SSID IKOM_Bilisim</a:t>
            </a:r>
          </a:p>
        </p:txBody>
      </p:sp>
      <p:sp>
        <p:nvSpPr>
          <p:cNvPr id="61" name="Rectangle 60"/>
          <p:cNvSpPr/>
          <p:nvPr/>
        </p:nvSpPr>
        <p:spPr>
          <a:xfrm>
            <a:off x="640080" y="4818888"/>
            <a:ext cx="10908792" cy="498348"/>
          </a:xfrm>
          <a:prstGeom prst="rect">
            <a:avLst/>
          </a:prstGeom>
          <a:solidFill>
            <a:srgbClr val="161C2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2" name="TextBox 61"/>
          <p:cNvSpPr txBox="1"/>
          <p:nvPr/>
        </p:nvSpPr>
        <p:spPr>
          <a:xfrm>
            <a:off x="731519" y="4937759"/>
            <a:ext cx="457200" cy="274320"/>
          </a:xfrm>
          <a:prstGeom prst="rect">
            <a:avLst/>
          </a:prstGeom>
          <a:noFill/>
        </p:spPr>
        <p:txBody>
          <a:bodyPr wrap="square" lIns="0" tIns="0" rIns="0" bIns="0" anchor="t">
            <a:spAutoFit/>
          </a:bodyPr>
          <a:lstStyle/>
          <a:p>
            <a:pPr algn="l">
              <a:lnSpc>
                <a:spcPct val="112000"/>
              </a:lnSpc>
              <a:spcAft>
                <a:spcPts val="0"/>
              </a:spcAft>
            </a:pPr>
            <a:r>
              <a:rPr sz="1500" b="0" i="0">
                <a:solidFill>
                  <a:srgbClr val="2E7D8E"/>
                </a:solidFill>
                <a:latin typeface="Consolas"/>
              </a:rPr>
              <a:t>1</a:t>
            </a:r>
          </a:p>
        </p:txBody>
      </p:sp>
      <p:sp>
        <p:nvSpPr>
          <p:cNvPr id="63" name="TextBox 62"/>
          <p:cNvSpPr txBox="1"/>
          <p:nvPr/>
        </p:nvSpPr>
        <p:spPr>
          <a:xfrm>
            <a:off x="1225296" y="4901183"/>
            <a:ext cx="1554480" cy="274320"/>
          </a:xfrm>
          <a:prstGeom prst="rect">
            <a:avLst/>
          </a:prstGeom>
          <a:noFill/>
        </p:spPr>
        <p:txBody>
          <a:bodyPr wrap="square" lIns="0" tIns="0" rIns="0" bIns="0" anchor="t">
            <a:spAutoFit/>
          </a:bodyPr>
          <a:lstStyle/>
          <a:p>
            <a:pPr algn="l">
              <a:lnSpc>
                <a:spcPct val="112000"/>
              </a:lnSpc>
              <a:spcAft>
                <a:spcPts val="0"/>
              </a:spcAft>
            </a:pPr>
            <a:r>
              <a:rPr sz="1250" b="0" i="0">
                <a:solidFill>
                  <a:srgbClr val="E6EDF3"/>
                </a:solidFill>
                <a:latin typeface="Bahnschrift SemiBold"/>
              </a:rPr>
              <a:t>Physical</a:t>
            </a:r>
          </a:p>
        </p:txBody>
      </p:sp>
      <p:sp>
        <p:nvSpPr>
          <p:cNvPr id="64" name="TextBox 63"/>
          <p:cNvSpPr txBox="1"/>
          <p:nvPr/>
        </p:nvSpPr>
        <p:spPr>
          <a:xfrm>
            <a:off x="1225296" y="5111496"/>
            <a:ext cx="1554480" cy="182880"/>
          </a:xfrm>
          <a:prstGeom prst="rect">
            <a:avLst/>
          </a:prstGeom>
          <a:noFill/>
        </p:spPr>
        <p:txBody>
          <a:bodyPr wrap="square" lIns="0" tIns="0" rIns="0" bIns="0" anchor="t">
            <a:spAutoFit/>
          </a:bodyPr>
          <a:lstStyle/>
          <a:p>
            <a:pPr algn="l">
              <a:lnSpc>
                <a:spcPct val="112000"/>
              </a:lnSpc>
              <a:spcAft>
                <a:spcPts val="0"/>
              </a:spcAft>
            </a:pPr>
            <a:r>
              <a:rPr sz="800" b="0" i="0">
                <a:solidFill>
                  <a:srgbClr val="5A6878"/>
                </a:solidFill>
                <a:latin typeface="Consolas"/>
              </a:rPr>
              <a:t>L1</a:t>
            </a:r>
          </a:p>
        </p:txBody>
      </p:sp>
      <p:sp>
        <p:nvSpPr>
          <p:cNvPr id="65" name="TextBox 64"/>
          <p:cNvSpPr txBox="1"/>
          <p:nvPr/>
        </p:nvSpPr>
        <p:spPr>
          <a:xfrm>
            <a:off x="2834640" y="4965192"/>
            <a:ext cx="4251960" cy="274320"/>
          </a:xfrm>
          <a:prstGeom prst="rect">
            <a:avLst/>
          </a:prstGeom>
          <a:noFill/>
        </p:spPr>
        <p:txBody>
          <a:bodyPr wrap="square" lIns="0" tIns="0" rIns="0" bIns="0" anchor="t">
            <a:spAutoFit/>
          </a:bodyPr>
          <a:lstStyle/>
          <a:p>
            <a:pPr algn="l">
              <a:lnSpc>
                <a:spcPct val="112000"/>
              </a:lnSpc>
              <a:spcAft>
                <a:spcPts val="0"/>
              </a:spcAft>
            </a:pPr>
            <a:r>
              <a:rPr sz="1050" b="0" i="0">
                <a:solidFill>
                  <a:srgbClr val="8494A6"/>
                </a:solidFill>
                <a:latin typeface="Consolas"/>
              </a:rPr>
              <a:t>Cat5e twisted pair, RJ45</a:t>
            </a:r>
          </a:p>
        </p:txBody>
      </p:sp>
      <p:sp>
        <p:nvSpPr>
          <p:cNvPr id="66" name="TextBox 65"/>
          <p:cNvSpPr txBox="1"/>
          <p:nvPr/>
        </p:nvSpPr>
        <p:spPr>
          <a:xfrm>
            <a:off x="7223760" y="4965192"/>
            <a:ext cx="4325112" cy="274320"/>
          </a:xfrm>
          <a:prstGeom prst="rect">
            <a:avLst/>
          </a:prstGeom>
          <a:noFill/>
        </p:spPr>
        <p:txBody>
          <a:bodyPr wrap="square" lIns="0" tIns="0" rIns="0" bIns="0" anchor="t">
            <a:spAutoFit/>
          </a:bodyPr>
          <a:lstStyle/>
          <a:p>
            <a:pPr algn="l">
              <a:lnSpc>
                <a:spcPct val="112000"/>
              </a:lnSpc>
              <a:spcAft>
                <a:spcPts val="0"/>
              </a:spcAft>
            </a:pPr>
            <a:r>
              <a:rPr sz="1050" b="0" i="0">
                <a:solidFill>
                  <a:srgbClr val="8494A6"/>
                </a:solidFill>
                <a:latin typeface="Consolas"/>
              </a:rPr>
              <a:t>2.4 GHz ISM   RSSI −46 dBm at the bench</a:t>
            </a:r>
          </a:p>
        </p:txBody>
      </p:sp>
      <p:sp>
        <p:nvSpPr>
          <p:cNvPr id="67" name="Rectangle 66"/>
          <p:cNvSpPr/>
          <p:nvPr/>
        </p:nvSpPr>
        <p:spPr>
          <a:xfrm>
            <a:off x="6967728" y="1828800"/>
            <a:ext cx="9525" cy="3488436"/>
          </a:xfrm>
          <a:prstGeom prst="rect">
            <a:avLst/>
          </a:prstGeom>
          <a:solidFill>
            <a:srgbClr val="3D4A5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8" name="Rectangle 67"/>
          <p:cNvSpPr/>
          <p:nvPr/>
        </p:nvSpPr>
        <p:spPr>
          <a:xfrm>
            <a:off x="640080" y="5394960"/>
            <a:ext cx="10908792" cy="9525"/>
          </a:xfrm>
          <a:prstGeom prst="rect">
            <a:avLst/>
          </a:prstGeom>
          <a:solidFill>
            <a:srgbClr val="2C364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9" name="TextBox 68"/>
          <p:cNvSpPr txBox="1"/>
          <p:nvPr/>
        </p:nvSpPr>
        <p:spPr>
          <a:xfrm>
            <a:off x="640080" y="5477256"/>
            <a:ext cx="5349240" cy="219456"/>
          </a:xfrm>
          <a:prstGeom prst="rect">
            <a:avLst/>
          </a:prstGeom>
          <a:noFill/>
        </p:spPr>
        <p:txBody>
          <a:bodyPr wrap="square" lIns="0" tIns="0" rIns="0" bIns="0" anchor="t">
            <a:spAutoFit/>
          </a:bodyPr>
          <a:lstStyle/>
          <a:p>
            <a:pPr algn="l">
              <a:lnSpc>
                <a:spcPct val="112000"/>
              </a:lnSpc>
              <a:spcAft>
                <a:spcPts val="0"/>
              </a:spcAft>
            </a:pPr>
            <a:r>
              <a:rPr sz="850" b="0" i="0">
                <a:solidFill>
                  <a:srgbClr val="63D2E8"/>
                </a:solidFill>
                <a:latin typeface="Bahnschrift SemiBold"/>
              </a:rPr>
              <a:t>HOP 1 — 67 BYTES TO CARRY 4</a:t>
            </a:r>
          </a:p>
        </p:txBody>
      </p:sp>
      <p:sp>
        <p:nvSpPr>
          <p:cNvPr id="70" name="TextBox 69"/>
          <p:cNvSpPr txBox="1"/>
          <p:nvPr/>
        </p:nvSpPr>
        <p:spPr>
          <a:xfrm>
            <a:off x="640080" y="5669280"/>
            <a:ext cx="5349240" cy="219456"/>
          </a:xfrm>
          <a:prstGeom prst="rect">
            <a:avLst/>
          </a:prstGeom>
          <a:noFill/>
        </p:spPr>
        <p:txBody>
          <a:bodyPr wrap="square" lIns="0" tIns="0" rIns="0" bIns="0" anchor="t">
            <a:spAutoFit/>
          </a:bodyPr>
          <a:lstStyle/>
          <a:p>
            <a:pPr algn="l">
              <a:lnSpc>
                <a:spcPct val="112000"/>
              </a:lnSpc>
              <a:spcAft>
                <a:spcPts val="0"/>
              </a:spcAft>
            </a:pPr>
            <a:r>
              <a:rPr sz="950" b="0" i="0">
                <a:solidFill>
                  <a:srgbClr val="8494A6"/>
                </a:solidFill>
                <a:latin typeface="Consolas"/>
              </a:rPr>
              <a:t>eth 14 · ip 20 · tcp 20 · mbap 7 · fc03 2 · float32 4</a:t>
            </a:r>
          </a:p>
        </p:txBody>
      </p:sp>
      <p:sp>
        <p:nvSpPr>
          <p:cNvPr id="71" name="TextBox 70"/>
          <p:cNvSpPr txBox="1"/>
          <p:nvPr/>
        </p:nvSpPr>
        <p:spPr>
          <a:xfrm>
            <a:off x="6199632" y="5477256"/>
            <a:ext cx="5349240" cy="219456"/>
          </a:xfrm>
          <a:prstGeom prst="rect">
            <a:avLst/>
          </a:prstGeom>
          <a:noFill/>
        </p:spPr>
        <p:txBody>
          <a:bodyPr wrap="square" lIns="0" tIns="0" rIns="0" bIns="0" anchor="t">
            <a:spAutoFit/>
          </a:bodyPr>
          <a:lstStyle/>
          <a:p>
            <a:pPr algn="l">
              <a:lnSpc>
                <a:spcPct val="112000"/>
              </a:lnSpc>
              <a:spcAft>
                <a:spcPts val="0"/>
              </a:spcAft>
            </a:pPr>
            <a:r>
              <a:rPr sz="850" b="0" i="0">
                <a:solidFill>
                  <a:srgbClr val="63D2E8"/>
                </a:solidFill>
                <a:latin typeface="Bahnschrift SemiBold"/>
              </a:rPr>
              <a:t>HOP 2 — ≈150 BYTES TO CARRY ONE VALUE</a:t>
            </a:r>
          </a:p>
        </p:txBody>
      </p:sp>
      <p:sp>
        <p:nvSpPr>
          <p:cNvPr id="72" name="TextBox 71"/>
          <p:cNvSpPr txBox="1"/>
          <p:nvPr/>
        </p:nvSpPr>
        <p:spPr>
          <a:xfrm>
            <a:off x="6199632" y="5669280"/>
            <a:ext cx="5349240" cy="219456"/>
          </a:xfrm>
          <a:prstGeom prst="rect">
            <a:avLst/>
          </a:prstGeom>
          <a:noFill/>
        </p:spPr>
        <p:txBody>
          <a:bodyPr wrap="square" lIns="0" tIns="0" rIns="0" bIns="0" anchor="t">
            <a:spAutoFit/>
          </a:bodyPr>
          <a:lstStyle/>
          <a:p>
            <a:pPr algn="l">
              <a:lnSpc>
                <a:spcPct val="112000"/>
              </a:lnSpc>
              <a:spcAft>
                <a:spcPts val="0"/>
              </a:spcAft>
            </a:pPr>
            <a:r>
              <a:rPr sz="950" b="0" i="0">
                <a:solidFill>
                  <a:srgbClr val="8494A6"/>
                </a:solidFill>
                <a:latin typeface="Consolas"/>
              </a:rPr>
              <a:t>802.11 34 · ip+tcp 40 · tls 22 · publish 28 · json 26</a:t>
            </a:r>
          </a:p>
        </p:txBody>
      </p:sp>
      <p:sp>
        <p:nvSpPr>
          <p:cNvPr id="73" name="TextBox 72"/>
          <p:cNvSpPr txBox="1"/>
          <p:nvPr/>
        </p:nvSpPr>
        <p:spPr>
          <a:xfrm>
            <a:off x="640080" y="5907024"/>
            <a:ext cx="10908792" cy="365760"/>
          </a:xfrm>
          <a:prstGeom prst="rect">
            <a:avLst/>
          </a:prstGeom>
          <a:noFill/>
        </p:spPr>
        <p:txBody>
          <a:bodyPr wrap="square" lIns="0" tIns="0" rIns="0" bIns="0">
            <a:spAutoFit/>
          </a:bodyPr>
          <a:lstStyle/>
          <a:p>
            <a:pPr algn="l">
              <a:lnSpc>
                <a:spcPct val="130000"/>
              </a:lnSpc>
              <a:spcAft>
                <a:spcPts val="600"/>
              </a:spcAft>
            </a:pPr>
            <a:r>
              <a:rPr sz="1050" b="1">
                <a:solidFill>
                  <a:srgbClr val="E6EDF3"/>
                </a:solidFill>
                <a:latin typeface="Segoe UI"/>
              </a:rPr>
              <a:t>Representation changes twice; the value never.  </a:t>
            </a:r>
            <a:r>
              <a:rPr sz="1050" b="0">
                <a:solidFill>
                  <a:srgbClr val="8494A6"/>
                </a:solidFill>
                <a:latin typeface="Segoe UI"/>
              </a:rPr>
              <a:t>float32 on the meter side, decimal text on the broker side — String(v, 3) is the only transformation in the chain, and nothing scales, offsets or corrects the reading anywhere.</a:t>
            </a:r>
          </a:p>
        </p:txBody>
      </p:sp>
      <p:sp>
        <p:nvSpPr>
          <p:cNvPr id="74" name="Rectangle 73"/>
          <p:cNvSpPr/>
          <p:nvPr/>
        </p:nvSpPr>
        <p:spPr>
          <a:xfrm>
            <a:off x="640080" y="6382512"/>
            <a:ext cx="10908792" cy="9525"/>
          </a:xfrm>
          <a:prstGeom prst="rect">
            <a:avLst/>
          </a:prstGeom>
          <a:solidFill>
            <a:srgbClr val="2C364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5" name="TextBox 74"/>
          <p:cNvSpPr txBox="1"/>
          <p:nvPr/>
        </p:nvSpPr>
        <p:spPr>
          <a:xfrm>
            <a:off x="640080" y="6492240"/>
            <a:ext cx="7315200" cy="237744"/>
          </a:xfrm>
          <a:prstGeom prst="rect">
            <a:avLst/>
          </a:prstGeom>
          <a:noFill/>
        </p:spPr>
        <p:txBody>
          <a:bodyPr wrap="square" lIns="0" tIns="0" rIns="0" bIns="0" anchor="t">
            <a:spAutoFit/>
          </a:bodyPr>
          <a:lstStyle/>
          <a:p>
            <a:pPr algn="l">
              <a:lnSpc>
                <a:spcPct val="112000"/>
              </a:lnSpc>
              <a:spcAft>
                <a:spcPts val="0"/>
              </a:spcAft>
            </a:pPr>
            <a:r>
              <a:rPr sz="850" b="0" i="0">
                <a:solidFill>
                  <a:srgbClr val="5A6878"/>
                </a:solidFill>
                <a:latin typeface="Consolas"/>
              </a:rPr>
              <a:t>OSOS · DKM-440 remote meter reading</a:t>
            </a:r>
          </a:p>
        </p:txBody>
      </p:sp>
      <p:sp>
        <p:nvSpPr>
          <p:cNvPr id="76" name="TextBox 75"/>
          <p:cNvSpPr txBox="1"/>
          <p:nvPr/>
        </p:nvSpPr>
        <p:spPr>
          <a:xfrm>
            <a:off x="10177272" y="6492240"/>
            <a:ext cx="1371600" cy="237744"/>
          </a:xfrm>
          <a:prstGeom prst="rect">
            <a:avLst/>
          </a:prstGeom>
          <a:noFill/>
        </p:spPr>
        <p:txBody>
          <a:bodyPr wrap="square" lIns="0" tIns="0" rIns="0" bIns="0" anchor="t">
            <a:spAutoFit/>
          </a:bodyPr>
          <a:lstStyle/>
          <a:p>
            <a:pPr algn="r">
              <a:lnSpc>
                <a:spcPct val="112000"/>
              </a:lnSpc>
              <a:spcAft>
                <a:spcPts val="0"/>
              </a:spcAft>
            </a:pPr>
            <a:r>
              <a:rPr sz="850" b="0" i="0">
                <a:solidFill>
                  <a:srgbClr val="5A6878"/>
                </a:solidFill>
                <a:latin typeface="Consolas"/>
              </a:rPr>
              <a:t>04</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D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274320"/>
            <a:ext cx="5852160" cy="219456"/>
          </a:xfrm>
          <a:prstGeom prst="rect">
            <a:avLst/>
          </a:prstGeom>
          <a:noFill/>
        </p:spPr>
        <p:txBody>
          <a:bodyPr wrap="square" lIns="0" tIns="0" rIns="0" bIns="0" anchor="t">
            <a:spAutoFit/>
          </a:bodyPr>
          <a:lstStyle/>
          <a:p>
            <a:pPr algn="l">
              <a:lnSpc>
                <a:spcPct val="100000"/>
              </a:lnSpc>
              <a:spcAft>
                <a:spcPts val="0"/>
              </a:spcAft>
            </a:pPr>
            <a:r>
              <a:rPr sz="900" b="0" i="0">
                <a:solidFill>
                  <a:srgbClr val="63D2E8"/>
                </a:solidFill>
                <a:latin typeface="Consolas"/>
              </a:rPr>
              <a:t>23.35 V LEAVING THE METER AND ARRIVING AT THE PHONE</a:t>
            </a:r>
          </a:p>
        </p:txBody>
      </p:sp>
      <p:sp>
        <p:nvSpPr>
          <p:cNvPr id="4" name="TextBox 3"/>
          <p:cNvSpPr txBox="1"/>
          <p:nvPr/>
        </p:nvSpPr>
        <p:spPr>
          <a:xfrm>
            <a:off x="640080" y="493776"/>
            <a:ext cx="5870448" cy="640080"/>
          </a:xfrm>
          <a:prstGeom prst="rect">
            <a:avLst/>
          </a:prstGeom>
          <a:noFill/>
        </p:spPr>
        <p:txBody>
          <a:bodyPr wrap="square" lIns="0" tIns="0" rIns="0" bIns="0" anchor="b">
            <a:spAutoFit/>
          </a:bodyPr>
          <a:lstStyle/>
          <a:p>
            <a:pPr algn="l">
              <a:lnSpc>
                <a:spcPct val="100000"/>
              </a:lnSpc>
              <a:spcAft>
                <a:spcPts val="0"/>
              </a:spcAft>
            </a:pPr>
            <a:r>
              <a:rPr sz="2700" b="0" i="0">
                <a:solidFill>
                  <a:srgbClr val="E6EDF3"/>
                </a:solidFill>
                <a:latin typeface="Bahnschrift SemiBold"/>
              </a:rPr>
              <a:t>Four bytes, wrapped twice</a:t>
            </a:r>
          </a:p>
        </p:txBody>
      </p:sp>
      <p:sp>
        <p:nvSpPr>
          <p:cNvPr id="5" name="Rectangle 4"/>
          <p:cNvSpPr/>
          <p:nvPr/>
        </p:nvSpPr>
        <p:spPr>
          <a:xfrm>
            <a:off x="6726783" y="583844"/>
            <a:ext cx="1083106" cy="12700"/>
          </a:xfrm>
          <a:prstGeom prst="rect">
            <a:avLst/>
          </a:prstGeom>
          <a:solidFill>
            <a:srgbClr val="2E7D8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Rectangle 5"/>
          <p:cNvSpPr/>
          <p:nvPr/>
        </p:nvSpPr>
        <p:spPr>
          <a:xfrm>
            <a:off x="6617970" y="548640"/>
            <a:ext cx="77724" cy="77724"/>
          </a:xfrm>
          <a:prstGeom prst="rect">
            <a:avLst/>
          </a:prstGeom>
          <a:solidFill>
            <a:srgbClr val="63D2E8"/>
          </a:solidFill>
          <a:ln w="12700">
            <a:solidFill>
              <a:srgbClr val="63D2E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6045327" y="694944"/>
            <a:ext cx="1223010" cy="201168"/>
          </a:xfrm>
          <a:prstGeom prst="rect">
            <a:avLst/>
          </a:prstGeom>
          <a:noFill/>
        </p:spPr>
        <p:txBody>
          <a:bodyPr wrap="square" lIns="0" tIns="0" rIns="0" bIns="0" anchor="t">
            <a:spAutoFit/>
          </a:bodyPr>
          <a:lstStyle/>
          <a:p>
            <a:pPr algn="ctr">
              <a:lnSpc>
                <a:spcPct val="100000"/>
              </a:lnSpc>
              <a:spcAft>
                <a:spcPts val="0"/>
              </a:spcAft>
            </a:pPr>
            <a:r>
              <a:rPr sz="750" b="0" i="0">
                <a:solidFill>
                  <a:srgbClr val="63D2E8"/>
                </a:solidFill>
                <a:latin typeface="Bahnschrift SemiBold"/>
              </a:rPr>
              <a:t>METER</a:t>
            </a:r>
          </a:p>
        </p:txBody>
      </p:sp>
      <p:sp>
        <p:nvSpPr>
          <p:cNvPr id="8" name="Rectangle 7"/>
          <p:cNvSpPr/>
          <p:nvPr/>
        </p:nvSpPr>
        <p:spPr>
          <a:xfrm>
            <a:off x="7949793" y="583844"/>
            <a:ext cx="1083106" cy="12700"/>
          </a:xfrm>
          <a:prstGeom prst="rect">
            <a:avLst/>
          </a:prstGeom>
          <a:solidFill>
            <a:srgbClr val="2E7D8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Rectangle 8"/>
          <p:cNvSpPr/>
          <p:nvPr/>
        </p:nvSpPr>
        <p:spPr>
          <a:xfrm>
            <a:off x="7840979" y="548640"/>
            <a:ext cx="77724" cy="77724"/>
          </a:xfrm>
          <a:prstGeom prst="rect">
            <a:avLst/>
          </a:prstGeom>
          <a:solidFill>
            <a:srgbClr val="63D2E8"/>
          </a:solidFill>
          <a:ln w="12700">
            <a:solidFill>
              <a:srgbClr val="63D2E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TextBox 9"/>
          <p:cNvSpPr txBox="1"/>
          <p:nvPr/>
        </p:nvSpPr>
        <p:spPr>
          <a:xfrm>
            <a:off x="7268337" y="694944"/>
            <a:ext cx="1223010" cy="201168"/>
          </a:xfrm>
          <a:prstGeom prst="rect">
            <a:avLst/>
          </a:prstGeom>
          <a:noFill/>
        </p:spPr>
        <p:txBody>
          <a:bodyPr wrap="square" lIns="0" tIns="0" rIns="0" bIns="0" anchor="t">
            <a:spAutoFit/>
          </a:bodyPr>
          <a:lstStyle/>
          <a:p>
            <a:pPr algn="ctr">
              <a:lnSpc>
                <a:spcPct val="100000"/>
              </a:lnSpc>
              <a:spcAft>
                <a:spcPts val="0"/>
              </a:spcAft>
            </a:pPr>
            <a:r>
              <a:rPr sz="750" b="0" i="0">
                <a:solidFill>
                  <a:srgbClr val="63D2E8"/>
                </a:solidFill>
                <a:latin typeface="Bahnschrift SemiBold"/>
              </a:rPr>
              <a:t>GATEWAY</a:t>
            </a:r>
          </a:p>
        </p:txBody>
      </p:sp>
      <p:sp>
        <p:nvSpPr>
          <p:cNvPr id="11" name="Rectangle 10"/>
          <p:cNvSpPr/>
          <p:nvPr/>
        </p:nvSpPr>
        <p:spPr>
          <a:xfrm>
            <a:off x="9172803" y="583844"/>
            <a:ext cx="1083106" cy="12700"/>
          </a:xfrm>
          <a:prstGeom prst="rect">
            <a:avLst/>
          </a:prstGeom>
          <a:solidFill>
            <a:srgbClr val="2E7D8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Rectangle 11"/>
          <p:cNvSpPr/>
          <p:nvPr/>
        </p:nvSpPr>
        <p:spPr>
          <a:xfrm>
            <a:off x="9063990" y="548640"/>
            <a:ext cx="77724" cy="77724"/>
          </a:xfrm>
          <a:prstGeom prst="rect">
            <a:avLst/>
          </a:prstGeom>
          <a:solidFill>
            <a:srgbClr val="63D2E8"/>
          </a:solidFill>
          <a:ln w="12700">
            <a:solidFill>
              <a:srgbClr val="63D2E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8491347" y="694944"/>
            <a:ext cx="1223010" cy="201168"/>
          </a:xfrm>
          <a:prstGeom prst="rect">
            <a:avLst/>
          </a:prstGeom>
          <a:noFill/>
        </p:spPr>
        <p:txBody>
          <a:bodyPr wrap="square" lIns="0" tIns="0" rIns="0" bIns="0" anchor="t">
            <a:spAutoFit/>
          </a:bodyPr>
          <a:lstStyle/>
          <a:p>
            <a:pPr algn="ctr">
              <a:lnSpc>
                <a:spcPct val="100000"/>
              </a:lnSpc>
              <a:spcAft>
                <a:spcPts val="0"/>
              </a:spcAft>
            </a:pPr>
            <a:r>
              <a:rPr sz="750" b="0" i="0">
                <a:solidFill>
                  <a:srgbClr val="63D2E8"/>
                </a:solidFill>
                <a:latin typeface="Bahnschrift SemiBold"/>
              </a:rPr>
              <a:t>BROKER</a:t>
            </a:r>
          </a:p>
        </p:txBody>
      </p:sp>
      <p:sp>
        <p:nvSpPr>
          <p:cNvPr id="14" name="Rectangle 13"/>
          <p:cNvSpPr/>
          <p:nvPr/>
        </p:nvSpPr>
        <p:spPr>
          <a:xfrm>
            <a:off x="10395813" y="583844"/>
            <a:ext cx="1083106" cy="12700"/>
          </a:xfrm>
          <a:prstGeom prst="rect">
            <a:avLst/>
          </a:prstGeom>
          <a:solidFill>
            <a:srgbClr val="2C364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Rectangle 14"/>
          <p:cNvSpPr/>
          <p:nvPr/>
        </p:nvSpPr>
        <p:spPr>
          <a:xfrm>
            <a:off x="10287000" y="548640"/>
            <a:ext cx="77724" cy="77724"/>
          </a:xfrm>
          <a:prstGeom prst="rect">
            <a:avLst/>
          </a:prstGeom>
          <a:solidFill>
            <a:srgbClr val="63D2E8"/>
          </a:solidFill>
          <a:ln w="12700">
            <a:solidFill>
              <a:srgbClr val="63D2E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TextBox 15"/>
          <p:cNvSpPr txBox="1"/>
          <p:nvPr/>
        </p:nvSpPr>
        <p:spPr>
          <a:xfrm>
            <a:off x="9714357" y="694944"/>
            <a:ext cx="1223010" cy="201168"/>
          </a:xfrm>
          <a:prstGeom prst="rect">
            <a:avLst/>
          </a:prstGeom>
          <a:noFill/>
        </p:spPr>
        <p:txBody>
          <a:bodyPr wrap="square" lIns="0" tIns="0" rIns="0" bIns="0" anchor="t">
            <a:spAutoFit/>
          </a:bodyPr>
          <a:lstStyle/>
          <a:p>
            <a:pPr algn="ctr">
              <a:lnSpc>
                <a:spcPct val="100000"/>
              </a:lnSpc>
              <a:spcAft>
                <a:spcPts val="0"/>
              </a:spcAft>
            </a:pPr>
            <a:r>
              <a:rPr sz="750" b="0" i="0">
                <a:solidFill>
                  <a:srgbClr val="63D2E8"/>
                </a:solidFill>
                <a:latin typeface="Bahnschrift SemiBold"/>
              </a:rPr>
              <a:t>PHONE</a:t>
            </a:r>
          </a:p>
        </p:txBody>
      </p:sp>
      <p:sp>
        <p:nvSpPr>
          <p:cNvPr id="17" name="Rectangle 16"/>
          <p:cNvSpPr/>
          <p:nvPr/>
        </p:nvSpPr>
        <p:spPr>
          <a:xfrm>
            <a:off x="11510009" y="548640"/>
            <a:ext cx="77724" cy="77724"/>
          </a:xfrm>
          <a:prstGeom prst="rect">
            <a:avLst/>
          </a:prstGeom>
          <a:solidFill>
            <a:srgbClr val="0D1117"/>
          </a:solidFill>
          <a:ln w="12700">
            <a:solidFill>
              <a:srgbClr val="3D4A5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TextBox 17"/>
          <p:cNvSpPr txBox="1"/>
          <p:nvPr/>
        </p:nvSpPr>
        <p:spPr>
          <a:xfrm>
            <a:off x="10937367" y="694944"/>
            <a:ext cx="1223010" cy="201168"/>
          </a:xfrm>
          <a:prstGeom prst="rect">
            <a:avLst/>
          </a:prstGeom>
          <a:noFill/>
        </p:spPr>
        <p:txBody>
          <a:bodyPr wrap="square" lIns="0" tIns="0" rIns="0" bIns="0" anchor="t">
            <a:spAutoFit/>
          </a:bodyPr>
          <a:lstStyle/>
          <a:p>
            <a:pPr algn="ctr">
              <a:lnSpc>
                <a:spcPct val="100000"/>
              </a:lnSpc>
              <a:spcAft>
                <a:spcPts val="0"/>
              </a:spcAft>
            </a:pPr>
            <a:r>
              <a:rPr sz="750" b="0" i="0">
                <a:solidFill>
                  <a:srgbClr val="5A6878"/>
                </a:solidFill>
                <a:latin typeface="Bahnschrift SemiBold"/>
              </a:rPr>
              <a:t>NET</a:t>
            </a:r>
          </a:p>
        </p:txBody>
      </p:sp>
      <p:sp>
        <p:nvSpPr>
          <p:cNvPr id="19" name="Rectangle 18"/>
          <p:cNvSpPr/>
          <p:nvPr/>
        </p:nvSpPr>
        <p:spPr>
          <a:xfrm>
            <a:off x="640080" y="1225296"/>
            <a:ext cx="10908792" cy="9525"/>
          </a:xfrm>
          <a:prstGeom prst="rect">
            <a:avLst/>
          </a:prstGeom>
          <a:solidFill>
            <a:srgbClr val="2C364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Rectangle 19"/>
          <p:cNvSpPr/>
          <p:nvPr/>
        </p:nvSpPr>
        <p:spPr>
          <a:xfrm>
            <a:off x="640080" y="1220724"/>
            <a:ext cx="566928" cy="25400"/>
          </a:xfrm>
          <a:prstGeom prst="rect">
            <a:avLst/>
          </a:prstGeom>
          <a:solidFill>
            <a:srgbClr val="63D2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1" name="TextBox 20"/>
          <p:cNvSpPr txBox="1"/>
          <p:nvPr/>
        </p:nvSpPr>
        <p:spPr>
          <a:xfrm>
            <a:off x="640080" y="1481328"/>
            <a:ext cx="5120640" cy="237744"/>
          </a:xfrm>
          <a:prstGeom prst="rect">
            <a:avLst/>
          </a:prstGeom>
          <a:noFill/>
        </p:spPr>
        <p:txBody>
          <a:bodyPr wrap="square" lIns="0" tIns="0" rIns="0" bIns="0" anchor="t">
            <a:spAutoFit/>
          </a:bodyPr>
          <a:lstStyle/>
          <a:p>
            <a:pPr algn="l">
              <a:lnSpc>
                <a:spcPct val="112000"/>
              </a:lnSpc>
              <a:spcAft>
                <a:spcPts val="0"/>
              </a:spcAft>
            </a:pPr>
            <a:r>
              <a:rPr sz="900" b="0" i="0">
                <a:solidFill>
                  <a:srgbClr val="63D2E8"/>
                </a:solidFill>
                <a:latin typeface="Bahnschrift SemiBold"/>
              </a:rPr>
              <a:t>HOP 1  —  WHAT THE METER SENDS</a:t>
            </a:r>
          </a:p>
        </p:txBody>
      </p:sp>
      <p:sp>
        <p:nvSpPr>
          <p:cNvPr id="22" name="Rectangle 21"/>
          <p:cNvSpPr/>
          <p:nvPr/>
        </p:nvSpPr>
        <p:spPr>
          <a:xfrm>
            <a:off x="640080" y="1792224"/>
            <a:ext cx="5120640" cy="475488"/>
          </a:xfrm>
          <a:prstGeom prst="rect">
            <a:avLst/>
          </a:prstGeom>
          <a:solidFill>
            <a:srgbClr val="161C24"/>
          </a:solidFill>
          <a:ln w="12700">
            <a:solidFill>
              <a:srgbClr val="2C364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3" name="TextBox 22"/>
          <p:cNvSpPr txBox="1"/>
          <p:nvPr/>
        </p:nvSpPr>
        <p:spPr>
          <a:xfrm>
            <a:off x="786384" y="1929384"/>
            <a:ext cx="4206240" cy="274320"/>
          </a:xfrm>
          <a:prstGeom prst="rect">
            <a:avLst/>
          </a:prstGeom>
          <a:noFill/>
        </p:spPr>
        <p:txBody>
          <a:bodyPr wrap="square" lIns="0" tIns="0" rIns="0" bIns="0" anchor="t">
            <a:spAutoFit/>
          </a:bodyPr>
          <a:lstStyle/>
          <a:p>
            <a:pPr algn="l">
              <a:lnSpc>
                <a:spcPct val="112000"/>
              </a:lnSpc>
              <a:spcAft>
                <a:spcPts val="0"/>
              </a:spcAft>
            </a:pPr>
            <a:r>
              <a:rPr sz="1050" b="0" i="0">
                <a:solidFill>
                  <a:srgbClr val="5A6878"/>
                </a:solidFill>
                <a:latin typeface="Consolas"/>
              </a:rPr>
              <a:t>Ethernet II header</a:t>
            </a:r>
          </a:p>
        </p:txBody>
      </p:sp>
      <p:sp>
        <p:nvSpPr>
          <p:cNvPr id="24" name="TextBox 23"/>
          <p:cNvSpPr txBox="1"/>
          <p:nvPr/>
        </p:nvSpPr>
        <p:spPr>
          <a:xfrm>
            <a:off x="5120640" y="1929384"/>
            <a:ext cx="493776" cy="274320"/>
          </a:xfrm>
          <a:prstGeom prst="rect">
            <a:avLst/>
          </a:prstGeom>
          <a:noFill/>
        </p:spPr>
        <p:txBody>
          <a:bodyPr wrap="square" lIns="0" tIns="0" rIns="0" bIns="0" anchor="t">
            <a:spAutoFit/>
          </a:bodyPr>
          <a:lstStyle/>
          <a:p>
            <a:pPr algn="r">
              <a:lnSpc>
                <a:spcPct val="112000"/>
              </a:lnSpc>
              <a:spcAft>
                <a:spcPts val="0"/>
              </a:spcAft>
            </a:pPr>
            <a:r>
              <a:rPr sz="1000" b="0" i="0">
                <a:solidFill>
                  <a:srgbClr val="5A6878"/>
                </a:solidFill>
                <a:latin typeface="Consolas"/>
              </a:rPr>
              <a:t>14 B</a:t>
            </a:r>
          </a:p>
        </p:txBody>
      </p:sp>
      <p:sp>
        <p:nvSpPr>
          <p:cNvPr id="25" name="Rectangle 24"/>
          <p:cNvSpPr/>
          <p:nvPr/>
        </p:nvSpPr>
        <p:spPr>
          <a:xfrm>
            <a:off x="877824" y="2290572"/>
            <a:ext cx="4645152" cy="475488"/>
          </a:xfrm>
          <a:prstGeom prst="rect">
            <a:avLst/>
          </a:prstGeom>
          <a:solidFill>
            <a:srgbClr val="161C24"/>
          </a:solidFill>
          <a:ln w="12700">
            <a:solidFill>
              <a:srgbClr val="2C364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6" name="TextBox 25"/>
          <p:cNvSpPr txBox="1"/>
          <p:nvPr/>
        </p:nvSpPr>
        <p:spPr>
          <a:xfrm>
            <a:off x="1024127" y="2427732"/>
            <a:ext cx="3730752" cy="274320"/>
          </a:xfrm>
          <a:prstGeom prst="rect">
            <a:avLst/>
          </a:prstGeom>
          <a:noFill/>
        </p:spPr>
        <p:txBody>
          <a:bodyPr wrap="square" lIns="0" tIns="0" rIns="0" bIns="0" anchor="t">
            <a:spAutoFit/>
          </a:bodyPr>
          <a:lstStyle/>
          <a:p>
            <a:pPr algn="l">
              <a:lnSpc>
                <a:spcPct val="112000"/>
              </a:lnSpc>
              <a:spcAft>
                <a:spcPts val="0"/>
              </a:spcAft>
            </a:pPr>
            <a:r>
              <a:rPr sz="1050" b="0" i="0">
                <a:solidFill>
                  <a:srgbClr val="5A6878"/>
                </a:solidFill>
                <a:latin typeface="Consolas"/>
              </a:rPr>
              <a:t>IPv4 header</a:t>
            </a:r>
          </a:p>
        </p:txBody>
      </p:sp>
      <p:sp>
        <p:nvSpPr>
          <p:cNvPr id="27" name="TextBox 26"/>
          <p:cNvSpPr txBox="1"/>
          <p:nvPr/>
        </p:nvSpPr>
        <p:spPr>
          <a:xfrm>
            <a:off x="4882896" y="2427732"/>
            <a:ext cx="493776" cy="274320"/>
          </a:xfrm>
          <a:prstGeom prst="rect">
            <a:avLst/>
          </a:prstGeom>
          <a:noFill/>
        </p:spPr>
        <p:txBody>
          <a:bodyPr wrap="square" lIns="0" tIns="0" rIns="0" bIns="0" anchor="t">
            <a:spAutoFit/>
          </a:bodyPr>
          <a:lstStyle/>
          <a:p>
            <a:pPr algn="r">
              <a:lnSpc>
                <a:spcPct val="112000"/>
              </a:lnSpc>
              <a:spcAft>
                <a:spcPts val="0"/>
              </a:spcAft>
            </a:pPr>
            <a:r>
              <a:rPr sz="1000" b="0" i="0">
                <a:solidFill>
                  <a:srgbClr val="5A6878"/>
                </a:solidFill>
                <a:latin typeface="Consolas"/>
              </a:rPr>
              <a:t>20 B</a:t>
            </a:r>
          </a:p>
        </p:txBody>
      </p:sp>
      <p:sp>
        <p:nvSpPr>
          <p:cNvPr id="28" name="Rectangle 27"/>
          <p:cNvSpPr/>
          <p:nvPr/>
        </p:nvSpPr>
        <p:spPr>
          <a:xfrm>
            <a:off x="1115568" y="2788920"/>
            <a:ext cx="4169663" cy="475488"/>
          </a:xfrm>
          <a:prstGeom prst="rect">
            <a:avLst/>
          </a:prstGeom>
          <a:solidFill>
            <a:srgbClr val="161C24"/>
          </a:solidFill>
          <a:ln w="12700">
            <a:solidFill>
              <a:srgbClr val="2C364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9" name="TextBox 28"/>
          <p:cNvSpPr txBox="1"/>
          <p:nvPr/>
        </p:nvSpPr>
        <p:spPr>
          <a:xfrm>
            <a:off x="1261872" y="2926079"/>
            <a:ext cx="3255263" cy="274320"/>
          </a:xfrm>
          <a:prstGeom prst="rect">
            <a:avLst/>
          </a:prstGeom>
          <a:noFill/>
        </p:spPr>
        <p:txBody>
          <a:bodyPr wrap="square" lIns="0" tIns="0" rIns="0" bIns="0" anchor="t">
            <a:spAutoFit/>
          </a:bodyPr>
          <a:lstStyle/>
          <a:p>
            <a:pPr algn="l">
              <a:lnSpc>
                <a:spcPct val="112000"/>
              </a:lnSpc>
              <a:spcAft>
                <a:spcPts val="0"/>
              </a:spcAft>
            </a:pPr>
            <a:r>
              <a:rPr sz="1050" b="0" i="0">
                <a:solidFill>
                  <a:srgbClr val="5A6878"/>
                </a:solidFill>
                <a:latin typeface="Consolas"/>
              </a:rPr>
              <a:t>TCP header</a:t>
            </a:r>
          </a:p>
        </p:txBody>
      </p:sp>
      <p:sp>
        <p:nvSpPr>
          <p:cNvPr id="30" name="TextBox 29"/>
          <p:cNvSpPr txBox="1"/>
          <p:nvPr/>
        </p:nvSpPr>
        <p:spPr>
          <a:xfrm>
            <a:off x="4645151" y="2926079"/>
            <a:ext cx="493776" cy="274320"/>
          </a:xfrm>
          <a:prstGeom prst="rect">
            <a:avLst/>
          </a:prstGeom>
          <a:noFill/>
        </p:spPr>
        <p:txBody>
          <a:bodyPr wrap="square" lIns="0" tIns="0" rIns="0" bIns="0" anchor="t">
            <a:spAutoFit/>
          </a:bodyPr>
          <a:lstStyle/>
          <a:p>
            <a:pPr algn="r">
              <a:lnSpc>
                <a:spcPct val="112000"/>
              </a:lnSpc>
              <a:spcAft>
                <a:spcPts val="0"/>
              </a:spcAft>
            </a:pPr>
            <a:r>
              <a:rPr sz="1000" b="0" i="0">
                <a:solidFill>
                  <a:srgbClr val="5A6878"/>
                </a:solidFill>
                <a:latin typeface="Consolas"/>
              </a:rPr>
              <a:t>20 B</a:t>
            </a:r>
          </a:p>
        </p:txBody>
      </p:sp>
      <p:sp>
        <p:nvSpPr>
          <p:cNvPr id="31" name="Rectangle 30"/>
          <p:cNvSpPr/>
          <p:nvPr/>
        </p:nvSpPr>
        <p:spPr>
          <a:xfrm>
            <a:off x="1353312" y="3287268"/>
            <a:ext cx="3694175" cy="475488"/>
          </a:xfrm>
          <a:prstGeom prst="rect">
            <a:avLst/>
          </a:prstGeom>
          <a:solidFill>
            <a:srgbClr val="161C24"/>
          </a:solidFill>
          <a:ln w="12700">
            <a:solidFill>
              <a:srgbClr val="2C364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2" name="TextBox 31"/>
          <p:cNvSpPr txBox="1"/>
          <p:nvPr/>
        </p:nvSpPr>
        <p:spPr>
          <a:xfrm>
            <a:off x="1499616" y="3424427"/>
            <a:ext cx="2779775" cy="274320"/>
          </a:xfrm>
          <a:prstGeom prst="rect">
            <a:avLst/>
          </a:prstGeom>
          <a:noFill/>
        </p:spPr>
        <p:txBody>
          <a:bodyPr wrap="square" lIns="0" tIns="0" rIns="0" bIns="0" anchor="t">
            <a:spAutoFit/>
          </a:bodyPr>
          <a:lstStyle/>
          <a:p>
            <a:pPr algn="l">
              <a:lnSpc>
                <a:spcPct val="112000"/>
              </a:lnSpc>
              <a:spcAft>
                <a:spcPts val="0"/>
              </a:spcAft>
            </a:pPr>
            <a:r>
              <a:rPr sz="1050" b="0" i="0">
                <a:solidFill>
                  <a:srgbClr val="8494A6"/>
                </a:solidFill>
                <a:latin typeface="Consolas"/>
              </a:rPr>
              <a:t>MBAP header  tid · pid · len · unit</a:t>
            </a:r>
          </a:p>
        </p:txBody>
      </p:sp>
      <p:sp>
        <p:nvSpPr>
          <p:cNvPr id="33" name="TextBox 32"/>
          <p:cNvSpPr txBox="1"/>
          <p:nvPr/>
        </p:nvSpPr>
        <p:spPr>
          <a:xfrm>
            <a:off x="4407407" y="3424427"/>
            <a:ext cx="493776" cy="274320"/>
          </a:xfrm>
          <a:prstGeom prst="rect">
            <a:avLst/>
          </a:prstGeom>
          <a:noFill/>
        </p:spPr>
        <p:txBody>
          <a:bodyPr wrap="square" lIns="0" tIns="0" rIns="0" bIns="0" anchor="t">
            <a:spAutoFit/>
          </a:bodyPr>
          <a:lstStyle/>
          <a:p>
            <a:pPr algn="r">
              <a:lnSpc>
                <a:spcPct val="112000"/>
              </a:lnSpc>
              <a:spcAft>
                <a:spcPts val="0"/>
              </a:spcAft>
            </a:pPr>
            <a:r>
              <a:rPr sz="1000" b="0" i="0">
                <a:solidFill>
                  <a:srgbClr val="5A6878"/>
                </a:solidFill>
                <a:latin typeface="Consolas"/>
              </a:rPr>
              <a:t>7 B</a:t>
            </a:r>
          </a:p>
        </p:txBody>
      </p:sp>
      <p:sp>
        <p:nvSpPr>
          <p:cNvPr id="34" name="Rectangle 33"/>
          <p:cNvSpPr/>
          <p:nvPr/>
        </p:nvSpPr>
        <p:spPr>
          <a:xfrm>
            <a:off x="1591056" y="3785615"/>
            <a:ext cx="3218687" cy="475488"/>
          </a:xfrm>
          <a:prstGeom prst="rect">
            <a:avLst/>
          </a:prstGeom>
          <a:solidFill>
            <a:srgbClr val="161C24"/>
          </a:solidFill>
          <a:ln w="12700">
            <a:solidFill>
              <a:srgbClr val="2C364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5" name="TextBox 34"/>
          <p:cNvSpPr txBox="1"/>
          <p:nvPr/>
        </p:nvSpPr>
        <p:spPr>
          <a:xfrm>
            <a:off x="1737360" y="3922776"/>
            <a:ext cx="2304287" cy="274320"/>
          </a:xfrm>
          <a:prstGeom prst="rect">
            <a:avLst/>
          </a:prstGeom>
          <a:noFill/>
        </p:spPr>
        <p:txBody>
          <a:bodyPr wrap="square" lIns="0" tIns="0" rIns="0" bIns="0" anchor="t">
            <a:spAutoFit/>
          </a:bodyPr>
          <a:lstStyle/>
          <a:p>
            <a:pPr algn="l">
              <a:lnSpc>
                <a:spcPct val="112000"/>
              </a:lnSpc>
              <a:spcAft>
                <a:spcPts val="0"/>
              </a:spcAft>
            </a:pPr>
            <a:r>
              <a:rPr sz="1050" b="0" i="0">
                <a:solidFill>
                  <a:srgbClr val="8494A6"/>
                </a:solidFill>
                <a:latin typeface="Consolas"/>
              </a:rPr>
              <a:t>FC03 reply  fn + byte count</a:t>
            </a:r>
          </a:p>
        </p:txBody>
      </p:sp>
      <p:sp>
        <p:nvSpPr>
          <p:cNvPr id="36" name="TextBox 35"/>
          <p:cNvSpPr txBox="1"/>
          <p:nvPr/>
        </p:nvSpPr>
        <p:spPr>
          <a:xfrm>
            <a:off x="4169663" y="3922776"/>
            <a:ext cx="493776" cy="274320"/>
          </a:xfrm>
          <a:prstGeom prst="rect">
            <a:avLst/>
          </a:prstGeom>
          <a:noFill/>
        </p:spPr>
        <p:txBody>
          <a:bodyPr wrap="square" lIns="0" tIns="0" rIns="0" bIns="0" anchor="t">
            <a:spAutoFit/>
          </a:bodyPr>
          <a:lstStyle/>
          <a:p>
            <a:pPr algn="r">
              <a:lnSpc>
                <a:spcPct val="112000"/>
              </a:lnSpc>
              <a:spcAft>
                <a:spcPts val="0"/>
              </a:spcAft>
            </a:pPr>
            <a:r>
              <a:rPr sz="1000" b="0" i="0">
                <a:solidFill>
                  <a:srgbClr val="5A6878"/>
                </a:solidFill>
                <a:latin typeface="Consolas"/>
              </a:rPr>
              <a:t>2 B</a:t>
            </a:r>
          </a:p>
        </p:txBody>
      </p:sp>
      <p:sp>
        <p:nvSpPr>
          <p:cNvPr id="37" name="Rectangle 36"/>
          <p:cNvSpPr/>
          <p:nvPr/>
        </p:nvSpPr>
        <p:spPr>
          <a:xfrm>
            <a:off x="1828800" y="4283964"/>
            <a:ext cx="2743199" cy="475488"/>
          </a:xfrm>
          <a:prstGeom prst="rect">
            <a:avLst/>
          </a:prstGeom>
          <a:solidFill>
            <a:srgbClr val="0D1117"/>
          </a:solidFill>
          <a:ln w="12700">
            <a:solidFill>
              <a:srgbClr val="63D2E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8" name="TextBox 37"/>
          <p:cNvSpPr txBox="1"/>
          <p:nvPr/>
        </p:nvSpPr>
        <p:spPr>
          <a:xfrm>
            <a:off x="1975104" y="4421124"/>
            <a:ext cx="1828799" cy="274320"/>
          </a:xfrm>
          <a:prstGeom prst="rect">
            <a:avLst/>
          </a:prstGeom>
          <a:noFill/>
        </p:spPr>
        <p:txBody>
          <a:bodyPr wrap="square" lIns="0" tIns="0" rIns="0" bIns="0" anchor="t">
            <a:spAutoFit/>
          </a:bodyPr>
          <a:lstStyle/>
          <a:p>
            <a:pPr algn="l">
              <a:lnSpc>
                <a:spcPct val="112000"/>
              </a:lnSpc>
              <a:spcAft>
                <a:spcPts val="0"/>
              </a:spcAft>
            </a:pPr>
            <a:r>
              <a:rPr sz="1050" b="0" i="0">
                <a:solidFill>
                  <a:srgbClr val="63D2E8"/>
                </a:solidFill>
                <a:latin typeface="Consolas"/>
              </a:rPr>
              <a:t>41 BA CC CD   ← the value</a:t>
            </a:r>
          </a:p>
        </p:txBody>
      </p:sp>
      <p:sp>
        <p:nvSpPr>
          <p:cNvPr id="39" name="TextBox 38"/>
          <p:cNvSpPr txBox="1"/>
          <p:nvPr/>
        </p:nvSpPr>
        <p:spPr>
          <a:xfrm>
            <a:off x="3931919" y="4421124"/>
            <a:ext cx="493776" cy="274320"/>
          </a:xfrm>
          <a:prstGeom prst="rect">
            <a:avLst/>
          </a:prstGeom>
          <a:noFill/>
        </p:spPr>
        <p:txBody>
          <a:bodyPr wrap="square" lIns="0" tIns="0" rIns="0" bIns="0" anchor="t">
            <a:spAutoFit/>
          </a:bodyPr>
          <a:lstStyle/>
          <a:p>
            <a:pPr algn="r">
              <a:lnSpc>
                <a:spcPct val="112000"/>
              </a:lnSpc>
              <a:spcAft>
                <a:spcPts val="0"/>
              </a:spcAft>
            </a:pPr>
            <a:r>
              <a:rPr sz="1000" b="0" i="0">
                <a:solidFill>
                  <a:srgbClr val="5A6878"/>
                </a:solidFill>
                <a:latin typeface="Consolas"/>
              </a:rPr>
              <a:t>4 B</a:t>
            </a:r>
          </a:p>
        </p:txBody>
      </p:sp>
      <p:sp>
        <p:nvSpPr>
          <p:cNvPr id="40" name="TextBox 39"/>
          <p:cNvSpPr txBox="1"/>
          <p:nvPr/>
        </p:nvSpPr>
        <p:spPr>
          <a:xfrm>
            <a:off x="640080" y="4837175"/>
            <a:ext cx="5120640" cy="457200"/>
          </a:xfrm>
          <a:prstGeom prst="rect">
            <a:avLst/>
          </a:prstGeom>
          <a:noFill/>
        </p:spPr>
        <p:txBody>
          <a:bodyPr wrap="square" lIns="0" tIns="0" rIns="0" bIns="0" anchor="t">
            <a:spAutoFit/>
          </a:bodyPr>
          <a:lstStyle/>
          <a:p>
            <a:pPr algn="l">
              <a:lnSpc>
                <a:spcPct val="125000"/>
              </a:lnSpc>
              <a:spcAft>
                <a:spcPts val="0"/>
              </a:spcAft>
            </a:pPr>
            <a:r>
              <a:rPr sz="850" b="0" i="0">
                <a:solidFill>
                  <a:srgbClr val="5A6878"/>
                </a:solidFill>
                <a:latin typeface="Consolas"/>
              </a:rPr>
              <a:t>67 bytes on the wire to carry 4 bytes of measurement</a:t>
            </a:r>
          </a:p>
        </p:txBody>
      </p:sp>
      <p:cxnSp>
        <p:nvCxnSpPr>
          <p:cNvPr id="41" name="Connector 40"/>
          <p:cNvCxnSpPr/>
          <p:nvPr/>
        </p:nvCxnSpPr>
        <p:spPr>
          <a:xfrm>
            <a:off x="5961888" y="3291840"/>
            <a:ext cx="457200" cy="0"/>
          </a:xfrm>
          <a:prstGeom prst="line">
            <a:avLst/>
          </a:prstGeom>
          <a:ln w="25400">
            <a:solidFill>
              <a:srgbClr val="63D2E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5669280" y="2962656"/>
            <a:ext cx="1097280" cy="219456"/>
          </a:xfrm>
          <a:prstGeom prst="rect">
            <a:avLst/>
          </a:prstGeom>
          <a:noFill/>
        </p:spPr>
        <p:txBody>
          <a:bodyPr wrap="square" lIns="0" tIns="0" rIns="0" bIns="0" anchor="t">
            <a:spAutoFit/>
          </a:bodyPr>
          <a:lstStyle/>
          <a:p>
            <a:pPr algn="ctr">
              <a:lnSpc>
                <a:spcPct val="112000"/>
              </a:lnSpc>
              <a:spcAft>
                <a:spcPts val="0"/>
              </a:spcAft>
            </a:pPr>
            <a:r>
              <a:rPr sz="800" b="0" i="0">
                <a:solidFill>
                  <a:srgbClr val="63D2E8"/>
                </a:solidFill>
                <a:latin typeface="Bahnschrift SemiBold"/>
              </a:rPr>
              <a:t>ESP8266</a:t>
            </a:r>
          </a:p>
        </p:txBody>
      </p:sp>
      <p:sp>
        <p:nvSpPr>
          <p:cNvPr id="43" name="TextBox 42"/>
          <p:cNvSpPr txBox="1"/>
          <p:nvPr/>
        </p:nvSpPr>
        <p:spPr>
          <a:xfrm>
            <a:off x="5614416" y="3456432"/>
            <a:ext cx="1188720" cy="365760"/>
          </a:xfrm>
          <a:prstGeom prst="rect">
            <a:avLst/>
          </a:prstGeom>
          <a:noFill/>
        </p:spPr>
        <p:txBody>
          <a:bodyPr wrap="square" lIns="0" tIns="0" rIns="0" bIns="0" anchor="t">
            <a:spAutoFit/>
          </a:bodyPr>
          <a:lstStyle/>
          <a:p>
            <a:pPr algn="ctr">
              <a:lnSpc>
                <a:spcPct val="125000"/>
              </a:lnSpc>
              <a:spcAft>
                <a:spcPts val="0"/>
              </a:spcAft>
            </a:pPr>
            <a:r>
              <a:rPr sz="800" b="0" i="0">
                <a:solidFill>
                  <a:srgbClr val="5A6878"/>
                </a:solidFill>
                <a:latin typeface="Consolas"/>
              </a:rPr>
              <a:t>decode</a:t>
            </a:r>
          </a:p>
          <a:p>
            <a:pPr algn="ctr">
              <a:lnSpc>
                <a:spcPct val="125000"/>
              </a:lnSpc>
              <a:spcAft>
                <a:spcPts val="0"/>
              </a:spcAft>
            </a:pPr>
            <a:r>
              <a:rPr sz="800" b="0" i="0">
                <a:solidFill>
                  <a:srgbClr val="5A6878"/>
                </a:solidFill>
                <a:latin typeface="Consolas"/>
              </a:rPr>
              <a:t>+ re-wrap</a:t>
            </a:r>
          </a:p>
        </p:txBody>
      </p:sp>
      <p:sp>
        <p:nvSpPr>
          <p:cNvPr id="44" name="TextBox 43"/>
          <p:cNvSpPr txBox="1"/>
          <p:nvPr/>
        </p:nvSpPr>
        <p:spPr>
          <a:xfrm>
            <a:off x="6428232" y="1481328"/>
            <a:ext cx="5120640" cy="237744"/>
          </a:xfrm>
          <a:prstGeom prst="rect">
            <a:avLst/>
          </a:prstGeom>
          <a:noFill/>
        </p:spPr>
        <p:txBody>
          <a:bodyPr wrap="square" lIns="0" tIns="0" rIns="0" bIns="0" anchor="t">
            <a:spAutoFit/>
          </a:bodyPr>
          <a:lstStyle/>
          <a:p>
            <a:pPr algn="l">
              <a:lnSpc>
                <a:spcPct val="112000"/>
              </a:lnSpc>
              <a:spcAft>
                <a:spcPts val="0"/>
              </a:spcAft>
            </a:pPr>
            <a:r>
              <a:rPr sz="900" b="0" i="0">
                <a:solidFill>
                  <a:srgbClr val="63D2E8"/>
                </a:solidFill>
                <a:latin typeface="Bahnschrift SemiBold"/>
              </a:rPr>
              <a:t>HOP 2  —  WHAT THE PHONE RECEIVES</a:t>
            </a:r>
          </a:p>
        </p:txBody>
      </p:sp>
      <p:sp>
        <p:nvSpPr>
          <p:cNvPr id="45" name="Rectangle 44"/>
          <p:cNvSpPr/>
          <p:nvPr/>
        </p:nvSpPr>
        <p:spPr>
          <a:xfrm>
            <a:off x="6428232" y="1792224"/>
            <a:ext cx="5120640" cy="475488"/>
          </a:xfrm>
          <a:prstGeom prst="rect">
            <a:avLst/>
          </a:prstGeom>
          <a:solidFill>
            <a:srgbClr val="161C24"/>
          </a:solidFill>
          <a:ln w="12700">
            <a:solidFill>
              <a:srgbClr val="2C364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6" name="TextBox 45"/>
          <p:cNvSpPr txBox="1"/>
          <p:nvPr/>
        </p:nvSpPr>
        <p:spPr>
          <a:xfrm>
            <a:off x="6574536" y="1929384"/>
            <a:ext cx="4206240" cy="274320"/>
          </a:xfrm>
          <a:prstGeom prst="rect">
            <a:avLst/>
          </a:prstGeom>
          <a:noFill/>
        </p:spPr>
        <p:txBody>
          <a:bodyPr wrap="square" lIns="0" tIns="0" rIns="0" bIns="0" anchor="t">
            <a:spAutoFit/>
          </a:bodyPr>
          <a:lstStyle/>
          <a:p>
            <a:pPr algn="l">
              <a:lnSpc>
                <a:spcPct val="112000"/>
              </a:lnSpc>
              <a:spcAft>
                <a:spcPts val="0"/>
              </a:spcAft>
            </a:pPr>
            <a:r>
              <a:rPr sz="1050" b="0" i="0">
                <a:solidFill>
                  <a:srgbClr val="5A6878"/>
                </a:solidFill>
                <a:latin typeface="Consolas"/>
              </a:rPr>
              <a:t>802.11 frame</a:t>
            </a:r>
          </a:p>
        </p:txBody>
      </p:sp>
      <p:sp>
        <p:nvSpPr>
          <p:cNvPr id="47" name="TextBox 46"/>
          <p:cNvSpPr txBox="1"/>
          <p:nvPr/>
        </p:nvSpPr>
        <p:spPr>
          <a:xfrm>
            <a:off x="10908792" y="1929384"/>
            <a:ext cx="493776" cy="274320"/>
          </a:xfrm>
          <a:prstGeom prst="rect">
            <a:avLst/>
          </a:prstGeom>
          <a:noFill/>
        </p:spPr>
        <p:txBody>
          <a:bodyPr wrap="square" lIns="0" tIns="0" rIns="0" bIns="0" anchor="t">
            <a:spAutoFit/>
          </a:bodyPr>
          <a:lstStyle/>
          <a:p>
            <a:pPr algn="r">
              <a:lnSpc>
                <a:spcPct val="112000"/>
              </a:lnSpc>
              <a:spcAft>
                <a:spcPts val="0"/>
              </a:spcAft>
            </a:pPr>
            <a:r>
              <a:rPr sz="1000" b="0" i="0">
                <a:solidFill>
                  <a:srgbClr val="5A6878"/>
                </a:solidFill>
                <a:latin typeface="Consolas"/>
              </a:rPr>
              <a:t>~34 B</a:t>
            </a:r>
          </a:p>
        </p:txBody>
      </p:sp>
      <p:sp>
        <p:nvSpPr>
          <p:cNvPr id="48" name="Rectangle 47"/>
          <p:cNvSpPr/>
          <p:nvPr/>
        </p:nvSpPr>
        <p:spPr>
          <a:xfrm>
            <a:off x="6665976" y="2290572"/>
            <a:ext cx="4645152" cy="475488"/>
          </a:xfrm>
          <a:prstGeom prst="rect">
            <a:avLst/>
          </a:prstGeom>
          <a:solidFill>
            <a:srgbClr val="161C24"/>
          </a:solidFill>
          <a:ln w="12700">
            <a:solidFill>
              <a:srgbClr val="2C364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9" name="TextBox 48"/>
          <p:cNvSpPr txBox="1"/>
          <p:nvPr/>
        </p:nvSpPr>
        <p:spPr>
          <a:xfrm>
            <a:off x="6812280" y="2427732"/>
            <a:ext cx="3730752" cy="274320"/>
          </a:xfrm>
          <a:prstGeom prst="rect">
            <a:avLst/>
          </a:prstGeom>
          <a:noFill/>
        </p:spPr>
        <p:txBody>
          <a:bodyPr wrap="square" lIns="0" tIns="0" rIns="0" bIns="0" anchor="t">
            <a:spAutoFit/>
          </a:bodyPr>
          <a:lstStyle/>
          <a:p>
            <a:pPr algn="l">
              <a:lnSpc>
                <a:spcPct val="112000"/>
              </a:lnSpc>
              <a:spcAft>
                <a:spcPts val="0"/>
              </a:spcAft>
            </a:pPr>
            <a:r>
              <a:rPr sz="1050" b="0" i="0">
                <a:solidFill>
                  <a:srgbClr val="5A6878"/>
                </a:solidFill>
                <a:latin typeface="Consolas"/>
              </a:rPr>
              <a:t>IPv4 + TCP</a:t>
            </a:r>
          </a:p>
        </p:txBody>
      </p:sp>
      <p:sp>
        <p:nvSpPr>
          <p:cNvPr id="50" name="TextBox 49"/>
          <p:cNvSpPr txBox="1"/>
          <p:nvPr/>
        </p:nvSpPr>
        <p:spPr>
          <a:xfrm>
            <a:off x="10671048" y="2427732"/>
            <a:ext cx="493776" cy="274320"/>
          </a:xfrm>
          <a:prstGeom prst="rect">
            <a:avLst/>
          </a:prstGeom>
          <a:noFill/>
        </p:spPr>
        <p:txBody>
          <a:bodyPr wrap="square" lIns="0" tIns="0" rIns="0" bIns="0" anchor="t">
            <a:spAutoFit/>
          </a:bodyPr>
          <a:lstStyle/>
          <a:p>
            <a:pPr algn="r">
              <a:lnSpc>
                <a:spcPct val="112000"/>
              </a:lnSpc>
              <a:spcAft>
                <a:spcPts val="0"/>
              </a:spcAft>
            </a:pPr>
            <a:r>
              <a:rPr sz="1000" b="0" i="0">
                <a:solidFill>
                  <a:srgbClr val="5A6878"/>
                </a:solidFill>
                <a:latin typeface="Consolas"/>
              </a:rPr>
              <a:t>40 B</a:t>
            </a:r>
          </a:p>
        </p:txBody>
      </p:sp>
      <p:sp>
        <p:nvSpPr>
          <p:cNvPr id="51" name="Rectangle 50"/>
          <p:cNvSpPr/>
          <p:nvPr/>
        </p:nvSpPr>
        <p:spPr>
          <a:xfrm>
            <a:off x="6903720" y="2788920"/>
            <a:ext cx="4169663" cy="475488"/>
          </a:xfrm>
          <a:prstGeom prst="rect">
            <a:avLst/>
          </a:prstGeom>
          <a:solidFill>
            <a:srgbClr val="161C24"/>
          </a:solidFill>
          <a:ln w="12700">
            <a:solidFill>
              <a:srgbClr val="2C364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2" name="TextBox 51"/>
          <p:cNvSpPr txBox="1"/>
          <p:nvPr/>
        </p:nvSpPr>
        <p:spPr>
          <a:xfrm>
            <a:off x="7050024" y="2926079"/>
            <a:ext cx="3255263" cy="274320"/>
          </a:xfrm>
          <a:prstGeom prst="rect">
            <a:avLst/>
          </a:prstGeom>
          <a:noFill/>
        </p:spPr>
        <p:txBody>
          <a:bodyPr wrap="square" lIns="0" tIns="0" rIns="0" bIns="0" anchor="t">
            <a:spAutoFit/>
          </a:bodyPr>
          <a:lstStyle/>
          <a:p>
            <a:pPr algn="l">
              <a:lnSpc>
                <a:spcPct val="112000"/>
              </a:lnSpc>
              <a:spcAft>
                <a:spcPts val="0"/>
              </a:spcAft>
            </a:pPr>
            <a:r>
              <a:rPr sz="1050" b="0" i="0">
                <a:solidFill>
                  <a:srgbClr val="8494A6"/>
                </a:solidFill>
                <a:latin typeface="Consolas"/>
              </a:rPr>
              <a:t>TLS 1.3 record  AEAD sealed</a:t>
            </a:r>
          </a:p>
        </p:txBody>
      </p:sp>
      <p:sp>
        <p:nvSpPr>
          <p:cNvPr id="53" name="TextBox 52"/>
          <p:cNvSpPr txBox="1"/>
          <p:nvPr/>
        </p:nvSpPr>
        <p:spPr>
          <a:xfrm>
            <a:off x="10433304" y="2926079"/>
            <a:ext cx="493776" cy="274320"/>
          </a:xfrm>
          <a:prstGeom prst="rect">
            <a:avLst/>
          </a:prstGeom>
          <a:noFill/>
        </p:spPr>
        <p:txBody>
          <a:bodyPr wrap="square" lIns="0" tIns="0" rIns="0" bIns="0" anchor="t">
            <a:spAutoFit/>
          </a:bodyPr>
          <a:lstStyle/>
          <a:p>
            <a:pPr algn="r">
              <a:lnSpc>
                <a:spcPct val="112000"/>
              </a:lnSpc>
              <a:spcAft>
                <a:spcPts val="0"/>
              </a:spcAft>
            </a:pPr>
            <a:r>
              <a:rPr sz="1000" b="0" i="0">
                <a:solidFill>
                  <a:srgbClr val="5A6878"/>
                </a:solidFill>
                <a:latin typeface="Consolas"/>
              </a:rPr>
              <a:t>~22 B</a:t>
            </a:r>
          </a:p>
        </p:txBody>
      </p:sp>
      <p:sp>
        <p:nvSpPr>
          <p:cNvPr id="54" name="Rectangle 53"/>
          <p:cNvSpPr/>
          <p:nvPr/>
        </p:nvSpPr>
        <p:spPr>
          <a:xfrm>
            <a:off x="7141464" y="3287268"/>
            <a:ext cx="3694175" cy="475488"/>
          </a:xfrm>
          <a:prstGeom prst="rect">
            <a:avLst/>
          </a:prstGeom>
          <a:solidFill>
            <a:srgbClr val="161C24"/>
          </a:solidFill>
          <a:ln w="12700">
            <a:solidFill>
              <a:srgbClr val="2C364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5" name="TextBox 54"/>
          <p:cNvSpPr txBox="1"/>
          <p:nvPr/>
        </p:nvSpPr>
        <p:spPr>
          <a:xfrm>
            <a:off x="7287768" y="3424427"/>
            <a:ext cx="2779775" cy="274320"/>
          </a:xfrm>
          <a:prstGeom prst="rect">
            <a:avLst/>
          </a:prstGeom>
          <a:noFill/>
        </p:spPr>
        <p:txBody>
          <a:bodyPr wrap="square" lIns="0" tIns="0" rIns="0" bIns="0" anchor="t">
            <a:spAutoFit/>
          </a:bodyPr>
          <a:lstStyle/>
          <a:p>
            <a:pPr algn="l">
              <a:lnSpc>
                <a:spcPct val="112000"/>
              </a:lnSpc>
              <a:spcAft>
                <a:spcPts val="0"/>
              </a:spcAft>
            </a:pPr>
            <a:r>
              <a:rPr sz="1050" b="0" i="0">
                <a:solidFill>
                  <a:srgbClr val="8494A6"/>
                </a:solidFill>
                <a:latin typeface="Consolas"/>
              </a:rPr>
              <a:t>MQTT PUBLISH  osos/{gw}/telemetry</a:t>
            </a:r>
          </a:p>
        </p:txBody>
      </p:sp>
      <p:sp>
        <p:nvSpPr>
          <p:cNvPr id="56" name="TextBox 55"/>
          <p:cNvSpPr txBox="1"/>
          <p:nvPr/>
        </p:nvSpPr>
        <p:spPr>
          <a:xfrm>
            <a:off x="10195560" y="3424427"/>
            <a:ext cx="493776" cy="274320"/>
          </a:xfrm>
          <a:prstGeom prst="rect">
            <a:avLst/>
          </a:prstGeom>
          <a:noFill/>
        </p:spPr>
        <p:txBody>
          <a:bodyPr wrap="square" lIns="0" tIns="0" rIns="0" bIns="0" anchor="t">
            <a:spAutoFit/>
          </a:bodyPr>
          <a:lstStyle/>
          <a:p>
            <a:pPr algn="r">
              <a:lnSpc>
                <a:spcPct val="112000"/>
              </a:lnSpc>
              <a:spcAft>
                <a:spcPts val="0"/>
              </a:spcAft>
            </a:pPr>
            <a:r>
              <a:rPr sz="1000" b="0" i="0">
                <a:solidFill>
                  <a:srgbClr val="5A6878"/>
                </a:solidFill>
                <a:latin typeface="Consolas"/>
              </a:rPr>
              <a:t>~28 B</a:t>
            </a:r>
          </a:p>
        </p:txBody>
      </p:sp>
      <p:sp>
        <p:nvSpPr>
          <p:cNvPr id="57" name="Rectangle 56"/>
          <p:cNvSpPr/>
          <p:nvPr/>
        </p:nvSpPr>
        <p:spPr>
          <a:xfrm>
            <a:off x="7379208" y="3785615"/>
            <a:ext cx="3218687" cy="475488"/>
          </a:xfrm>
          <a:prstGeom prst="rect">
            <a:avLst/>
          </a:prstGeom>
          <a:solidFill>
            <a:srgbClr val="0D1117"/>
          </a:solidFill>
          <a:ln w="12700">
            <a:solidFill>
              <a:srgbClr val="63D2E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8" name="TextBox 57"/>
          <p:cNvSpPr txBox="1"/>
          <p:nvPr/>
        </p:nvSpPr>
        <p:spPr>
          <a:xfrm>
            <a:off x="7525512" y="3922776"/>
            <a:ext cx="2304287" cy="274320"/>
          </a:xfrm>
          <a:prstGeom prst="rect">
            <a:avLst/>
          </a:prstGeom>
          <a:noFill/>
        </p:spPr>
        <p:txBody>
          <a:bodyPr wrap="square" lIns="0" tIns="0" rIns="0" bIns="0" anchor="t">
            <a:spAutoFit/>
          </a:bodyPr>
          <a:lstStyle/>
          <a:p>
            <a:pPr algn="l">
              <a:lnSpc>
                <a:spcPct val="112000"/>
              </a:lnSpc>
              <a:spcAft>
                <a:spcPts val="0"/>
              </a:spcAft>
            </a:pPr>
            <a:r>
              <a:rPr sz="1050" b="0" i="0">
                <a:solidFill>
                  <a:srgbClr val="63D2E8"/>
                </a:solidFill>
                <a:latin typeface="Consolas"/>
              </a:rPr>
              <a:t>"Supply_Voltage": 23.350</a:t>
            </a:r>
          </a:p>
        </p:txBody>
      </p:sp>
      <p:sp>
        <p:nvSpPr>
          <p:cNvPr id="59" name="TextBox 58"/>
          <p:cNvSpPr txBox="1"/>
          <p:nvPr/>
        </p:nvSpPr>
        <p:spPr>
          <a:xfrm>
            <a:off x="9957816" y="3922776"/>
            <a:ext cx="493776" cy="274320"/>
          </a:xfrm>
          <a:prstGeom prst="rect">
            <a:avLst/>
          </a:prstGeom>
          <a:noFill/>
        </p:spPr>
        <p:txBody>
          <a:bodyPr wrap="square" lIns="0" tIns="0" rIns="0" bIns="0" anchor="t">
            <a:spAutoFit/>
          </a:bodyPr>
          <a:lstStyle/>
          <a:p>
            <a:pPr algn="r">
              <a:lnSpc>
                <a:spcPct val="112000"/>
              </a:lnSpc>
              <a:spcAft>
                <a:spcPts val="0"/>
              </a:spcAft>
            </a:pPr>
            <a:r>
              <a:rPr sz="1000" b="0" i="0">
                <a:solidFill>
                  <a:srgbClr val="5A6878"/>
                </a:solidFill>
                <a:latin typeface="Consolas"/>
              </a:rPr>
              <a:t>~26 B</a:t>
            </a:r>
          </a:p>
        </p:txBody>
      </p:sp>
      <p:sp>
        <p:nvSpPr>
          <p:cNvPr id="60" name="TextBox 59"/>
          <p:cNvSpPr txBox="1"/>
          <p:nvPr/>
        </p:nvSpPr>
        <p:spPr>
          <a:xfrm>
            <a:off x="6428232" y="4338827"/>
            <a:ext cx="5120640" cy="457200"/>
          </a:xfrm>
          <a:prstGeom prst="rect">
            <a:avLst/>
          </a:prstGeom>
          <a:noFill/>
        </p:spPr>
        <p:txBody>
          <a:bodyPr wrap="square" lIns="0" tIns="0" rIns="0" bIns="0" anchor="t">
            <a:spAutoFit/>
          </a:bodyPr>
          <a:lstStyle/>
          <a:p>
            <a:pPr algn="l">
              <a:lnSpc>
                <a:spcPct val="125000"/>
              </a:lnSpc>
              <a:spcAft>
                <a:spcPts val="0"/>
              </a:spcAft>
            </a:pPr>
            <a:r>
              <a:rPr sz="850" b="0" i="0">
                <a:solidFill>
                  <a:srgbClr val="5A6878"/>
                </a:solidFill>
                <a:latin typeface="Consolas"/>
              </a:rPr>
              <a:t>the full 22-register frame is under 1 KB (NF-2, still unmeasured)</a:t>
            </a:r>
          </a:p>
        </p:txBody>
      </p:sp>
      <p:sp>
        <p:nvSpPr>
          <p:cNvPr id="61" name="Rectangle 60"/>
          <p:cNvSpPr/>
          <p:nvPr/>
        </p:nvSpPr>
        <p:spPr>
          <a:xfrm>
            <a:off x="640080" y="4956048"/>
            <a:ext cx="10908792" cy="9525"/>
          </a:xfrm>
          <a:prstGeom prst="rect">
            <a:avLst/>
          </a:prstGeom>
          <a:solidFill>
            <a:srgbClr val="2C364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2" name="TextBox 61"/>
          <p:cNvSpPr txBox="1"/>
          <p:nvPr/>
        </p:nvSpPr>
        <p:spPr>
          <a:xfrm>
            <a:off x="640080" y="5138928"/>
            <a:ext cx="10908792" cy="1097280"/>
          </a:xfrm>
          <a:prstGeom prst="rect">
            <a:avLst/>
          </a:prstGeom>
          <a:noFill/>
        </p:spPr>
        <p:txBody>
          <a:bodyPr wrap="square" lIns="0" tIns="0" rIns="0" bIns="0">
            <a:spAutoFit/>
          </a:bodyPr>
          <a:lstStyle/>
          <a:p>
            <a:pPr algn="l">
              <a:lnSpc>
                <a:spcPct val="122000"/>
              </a:lnSpc>
              <a:spcAft>
                <a:spcPts val="800"/>
              </a:spcAft>
            </a:pPr>
            <a:r>
              <a:rPr sz="1200" b="1">
                <a:solidFill>
                  <a:srgbClr val="63D2E8"/>
                </a:solidFill>
                <a:latin typeface="Consolas"/>
              </a:rPr>
              <a:t>— </a:t>
            </a:r>
            <a:r>
              <a:rPr sz="1200" b="1">
                <a:solidFill>
                  <a:srgbClr val="E6EDF3"/>
                </a:solidFill>
                <a:latin typeface="Segoe UI"/>
              </a:rPr>
              <a:t>The number changes representation twice, and value never.</a:t>
            </a:r>
            <a:r>
              <a:rPr sz="1200" b="0">
                <a:solidFill>
                  <a:srgbClr val="8494A6"/>
                </a:solidFill>
                <a:latin typeface="Segoe UI"/>
              </a:rPr>
              <a:t>  Binary float32 on the meter side, decimal text on the broker side. String(v, 3) is the only transformation, and it is lossy in the third decimal by design — nothing scales, offsets or corrects the reading anywhere in the chain.</a:t>
            </a:r>
          </a:p>
        </p:txBody>
      </p:sp>
      <p:sp>
        <p:nvSpPr>
          <p:cNvPr id="63" name="Rectangle 62"/>
          <p:cNvSpPr/>
          <p:nvPr/>
        </p:nvSpPr>
        <p:spPr>
          <a:xfrm>
            <a:off x="640080" y="6382512"/>
            <a:ext cx="10908792" cy="9525"/>
          </a:xfrm>
          <a:prstGeom prst="rect">
            <a:avLst/>
          </a:prstGeom>
          <a:solidFill>
            <a:srgbClr val="2C364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4" name="TextBox 63"/>
          <p:cNvSpPr txBox="1"/>
          <p:nvPr/>
        </p:nvSpPr>
        <p:spPr>
          <a:xfrm>
            <a:off x="640080" y="6492240"/>
            <a:ext cx="7315200" cy="237744"/>
          </a:xfrm>
          <a:prstGeom prst="rect">
            <a:avLst/>
          </a:prstGeom>
          <a:noFill/>
        </p:spPr>
        <p:txBody>
          <a:bodyPr wrap="square" lIns="0" tIns="0" rIns="0" bIns="0" anchor="t">
            <a:spAutoFit/>
          </a:bodyPr>
          <a:lstStyle/>
          <a:p>
            <a:pPr algn="l">
              <a:lnSpc>
                <a:spcPct val="112000"/>
              </a:lnSpc>
              <a:spcAft>
                <a:spcPts val="0"/>
              </a:spcAft>
            </a:pPr>
            <a:r>
              <a:rPr sz="850" b="0" i="0">
                <a:solidFill>
                  <a:srgbClr val="5A6878"/>
                </a:solidFill>
                <a:latin typeface="Consolas"/>
              </a:rPr>
              <a:t>OSOS · DKM-440 remote meter reading</a:t>
            </a:r>
          </a:p>
        </p:txBody>
      </p:sp>
      <p:sp>
        <p:nvSpPr>
          <p:cNvPr id="65" name="TextBox 64"/>
          <p:cNvSpPr txBox="1"/>
          <p:nvPr/>
        </p:nvSpPr>
        <p:spPr>
          <a:xfrm>
            <a:off x="10177272" y="6492240"/>
            <a:ext cx="1371600" cy="237744"/>
          </a:xfrm>
          <a:prstGeom prst="rect">
            <a:avLst/>
          </a:prstGeom>
          <a:noFill/>
        </p:spPr>
        <p:txBody>
          <a:bodyPr wrap="square" lIns="0" tIns="0" rIns="0" bIns="0" anchor="t">
            <a:spAutoFit/>
          </a:bodyPr>
          <a:lstStyle/>
          <a:p>
            <a:pPr algn="r">
              <a:lnSpc>
                <a:spcPct val="112000"/>
              </a:lnSpc>
              <a:spcAft>
                <a:spcPts val="0"/>
              </a:spcAft>
            </a:pPr>
            <a:r>
              <a:rPr sz="850" b="0" i="0">
                <a:solidFill>
                  <a:srgbClr val="5A6878"/>
                </a:solidFill>
                <a:latin typeface="Consolas"/>
              </a:rPr>
              <a:t>05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D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274320"/>
            <a:ext cx="5852160" cy="219456"/>
          </a:xfrm>
          <a:prstGeom prst="rect">
            <a:avLst/>
          </a:prstGeom>
          <a:noFill/>
        </p:spPr>
        <p:txBody>
          <a:bodyPr wrap="square" lIns="0" tIns="0" rIns="0" bIns="0" anchor="t">
            <a:spAutoFit/>
          </a:bodyPr>
          <a:lstStyle/>
          <a:p>
            <a:pPr algn="l">
              <a:lnSpc>
                <a:spcPct val="100000"/>
              </a:lnSpc>
              <a:spcAft>
                <a:spcPts val="0"/>
              </a:spcAft>
            </a:pPr>
            <a:r>
              <a:rPr sz="900" b="0" i="0">
                <a:solidFill>
                  <a:srgbClr val="63D2E8"/>
                </a:solidFill>
                <a:latin typeface="Consolas"/>
              </a:rPr>
              <a:t>FUNCTION CODE 03 · BIG-ENDIAN FLOAT32 ACROSS TWO REGISTERS</a:t>
            </a:r>
          </a:p>
        </p:txBody>
      </p:sp>
      <p:sp>
        <p:nvSpPr>
          <p:cNvPr id="4" name="TextBox 3"/>
          <p:cNvSpPr txBox="1"/>
          <p:nvPr/>
        </p:nvSpPr>
        <p:spPr>
          <a:xfrm>
            <a:off x="640080" y="493776"/>
            <a:ext cx="5870448" cy="640080"/>
          </a:xfrm>
          <a:prstGeom prst="rect">
            <a:avLst/>
          </a:prstGeom>
          <a:noFill/>
        </p:spPr>
        <p:txBody>
          <a:bodyPr wrap="square" lIns="0" tIns="0" rIns="0" bIns="0" anchor="b">
            <a:spAutoFit/>
          </a:bodyPr>
          <a:lstStyle/>
          <a:p>
            <a:pPr algn="l">
              <a:lnSpc>
                <a:spcPct val="100000"/>
              </a:lnSpc>
              <a:spcAft>
                <a:spcPts val="0"/>
              </a:spcAft>
            </a:pPr>
            <a:r>
              <a:rPr sz="2700" b="0" i="0">
                <a:solidFill>
                  <a:srgbClr val="E6EDF3"/>
                </a:solidFill>
                <a:latin typeface="Bahnschrift SemiBold"/>
              </a:rPr>
              <a:t>One register read, byte for byte</a:t>
            </a:r>
          </a:p>
        </p:txBody>
      </p:sp>
      <p:sp>
        <p:nvSpPr>
          <p:cNvPr id="5" name="Rectangle 4"/>
          <p:cNvSpPr/>
          <p:nvPr/>
        </p:nvSpPr>
        <p:spPr>
          <a:xfrm>
            <a:off x="6726783" y="583844"/>
            <a:ext cx="1083106" cy="12700"/>
          </a:xfrm>
          <a:prstGeom prst="rect">
            <a:avLst/>
          </a:prstGeom>
          <a:solidFill>
            <a:srgbClr val="2E7D8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Rectangle 5"/>
          <p:cNvSpPr/>
          <p:nvPr/>
        </p:nvSpPr>
        <p:spPr>
          <a:xfrm>
            <a:off x="6617970" y="548640"/>
            <a:ext cx="77724" cy="77724"/>
          </a:xfrm>
          <a:prstGeom prst="rect">
            <a:avLst/>
          </a:prstGeom>
          <a:solidFill>
            <a:srgbClr val="63D2E8"/>
          </a:solidFill>
          <a:ln w="12700">
            <a:solidFill>
              <a:srgbClr val="63D2E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6045327" y="694944"/>
            <a:ext cx="1223010" cy="201168"/>
          </a:xfrm>
          <a:prstGeom prst="rect">
            <a:avLst/>
          </a:prstGeom>
          <a:noFill/>
        </p:spPr>
        <p:txBody>
          <a:bodyPr wrap="square" lIns="0" tIns="0" rIns="0" bIns="0" anchor="t">
            <a:spAutoFit/>
          </a:bodyPr>
          <a:lstStyle/>
          <a:p>
            <a:pPr algn="ctr">
              <a:lnSpc>
                <a:spcPct val="100000"/>
              </a:lnSpc>
              <a:spcAft>
                <a:spcPts val="0"/>
              </a:spcAft>
            </a:pPr>
            <a:r>
              <a:rPr sz="750" b="0" i="0">
                <a:solidFill>
                  <a:srgbClr val="63D2E8"/>
                </a:solidFill>
                <a:latin typeface="Bahnschrift SemiBold"/>
              </a:rPr>
              <a:t>METER</a:t>
            </a:r>
          </a:p>
        </p:txBody>
      </p:sp>
      <p:sp>
        <p:nvSpPr>
          <p:cNvPr id="8" name="Rectangle 7"/>
          <p:cNvSpPr/>
          <p:nvPr/>
        </p:nvSpPr>
        <p:spPr>
          <a:xfrm>
            <a:off x="7949793" y="583844"/>
            <a:ext cx="1083106" cy="12700"/>
          </a:xfrm>
          <a:prstGeom prst="rect">
            <a:avLst/>
          </a:prstGeom>
          <a:solidFill>
            <a:srgbClr val="2C364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Rectangle 8"/>
          <p:cNvSpPr/>
          <p:nvPr/>
        </p:nvSpPr>
        <p:spPr>
          <a:xfrm>
            <a:off x="7840979" y="548640"/>
            <a:ext cx="77724" cy="77724"/>
          </a:xfrm>
          <a:prstGeom prst="rect">
            <a:avLst/>
          </a:prstGeom>
          <a:solidFill>
            <a:srgbClr val="63D2E8"/>
          </a:solidFill>
          <a:ln w="12700">
            <a:solidFill>
              <a:srgbClr val="63D2E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TextBox 9"/>
          <p:cNvSpPr txBox="1"/>
          <p:nvPr/>
        </p:nvSpPr>
        <p:spPr>
          <a:xfrm>
            <a:off x="7268337" y="694944"/>
            <a:ext cx="1223010" cy="201168"/>
          </a:xfrm>
          <a:prstGeom prst="rect">
            <a:avLst/>
          </a:prstGeom>
          <a:noFill/>
        </p:spPr>
        <p:txBody>
          <a:bodyPr wrap="square" lIns="0" tIns="0" rIns="0" bIns="0" anchor="t">
            <a:spAutoFit/>
          </a:bodyPr>
          <a:lstStyle/>
          <a:p>
            <a:pPr algn="ctr">
              <a:lnSpc>
                <a:spcPct val="100000"/>
              </a:lnSpc>
              <a:spcAft>
                <a:spcPts val="0"/>
              </a:spcAft>
            </a:pPr>
            <a:r>
              <a:rPr sz="750" b="0" i="0">
                <a:solidFill>
                  <a:srgbClr val="63D2E8"/>
                </a:solidFill>
                <a:latin typeface="Bahnschrift SemiBold"/>
              </a:rPr>
              <a:t>GATEWAY</a:t>
            </a:r>
          </a:p>
        </p:txBody>
      </p:sp>
      <p:sp>
        <p:nvSpPr>
          <p:cNvPr id="11" name="Rectangle 10"/>
          <p:cNvSpPr/>
          <p:nvPr/>
        </p:nvSpPr>
        <p:spPr>
          <a:xfrm>
            <a:off x="9172803" y="583844"/>
            <a:ext cx="1083106" cy="12700"/>
          </a:xfrm>
          <a:prstGeom prst="rect">
            <a:avLst/>
          </a:prstGeom>
          <a:solidFill>
            <a:srgbClr val="2C364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Rectangle 11"/>
          <p:cNvSpPr/>
          <p:nvPr/>
        </p:nvSpPr>
        <p:spPr>
          <a:xfrm>
            <a:off x="9063990" y="548640"/>
            <a:ext cx="77724" cy="77724"/>
          </a:xfrm>
          <a:prstGeom prst="rect">
            <a:avLst/>
          </a:prstGeom>
          <a:solidFill>
            <a:srgbClr val="0D1117"/>
          </a:solidFill>
          <a:ln w="12700">
            <a:solidFill>
              <a:srgbClr val="3D4A5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8491347" y="694944"/>
            <a:ext cx="1223010" cy="201168"/>
          </a:xfrm>
          <a:prstGeom prst="rect">
            <a:avLst/>
          </a:prstGeom>
          <a:noFill/>
        </p:spPr>
        <p:txBody>
          <a:bodyPr wrap="square" lIns="0" tIns="0" rIns="0" bIns="0" anchor="t">
            <a:spAutoFit/>
          </a:bodyPr>
          <a:lstStyle/>
          <a:p>
            <a:pPr algn="ctr">
              <a:lnSpc>
                <a:spcPct val="100000"/>
              </a:lnSpc>
              <a:spcAft>
                <a:spcPts val="0"/>
              </a:spcAft>
            </a:pPr>
            <a:r>
              <a:rPr sz="750" b="0" i="0">
                <a:solidFill>
                  <a:srgbClr val="5A6878"/>
                </a:solidFill>
                <a:latin typeface="Bahnschrift SemiBold"/>
              </a:rPr>
              <a:t>BROKER</a:t>
            </a:r>
          </a:p>
        </p:txBody>
      </p:sp>
      <p:sp>
        <p:nvSpPr>
          <p:cNvPr id="14" name="Rectangle 13"/>
          <p:cNvSpPr/>
          <p:nvPr/>
        </p:nvSpPr>
        <p:spPr>
          <a:xfrm>
            <a:off x="10395813" y="583844"/>
            <a:ext cx="1083106" cy="12700"/>
          </a:xfrm>
          <a:prstGeom prst="rect">
            <a:avLst/>
          </a:prstGeom>
          <a:solidFill>
            <a:srgbClr val="2C364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Rectangle 14"/>
          <p:cNvSpPr/>
          <p:nvPr/>
        </p:nvSpPr>
        <p:spPr>
          <a:xfrm>
            <a:off x="10287000" y="548640"/>
            <a:ext cx="77724" cy="77724"/>
          </a:xfrm>
          <a:prstGeom prst="rect">
            <a:avLst/>
          </a:prstGeom>
          <a:solidFill>
            <a:srgbClr val="0D1117"/>
          </a:solidFill>
          <a:ln w="12700">
            <a:solidFill>
              <a:srgbClr val="3D4A5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TextBox 15"/>
          <p:cNvSpPr txBox="1"/>
          <p:nvPr/>
        </p:nvSpPr>
        <p:spPr>
          <a:xfrm>
            <a:off x="9714357" y="694944"/>
            <a:ext cx="1223010" cy="201168"/>
          </a:xfrm>
          <a:prstGeom prst="rect">
            <a:avLst/>
          </a:prstGeom>
          <a:noFill/>
        </p:spPr>
        <p:txBody>
          <a:bodyPr wrap="square" lIns="0" tIns="0" rIns="0" bIns="0" anchor="t">
            <a:spAutoFit/>
          </a:bodyPr>
          <a:lstStyle/>
          <a:p>
            <a:pPr algn="ctr">
              <a:lnSpc>
                <a:spcPct val="100000"/>
              </a:lnSpc>
              <a:spcAft>
                <a:spcPts val="0"/>
              </a:spcAft>
            </a:pPr>
            <a:r>
              <a:rPr sz="750" b="0" i="0">
                <a:solidFill>
                  <a:srgbClr val="5A6878"/>
                </a:solidFill>
                <a:latin typeface="Bahnschrift SemiBold"/>
              </a:rPr>
              <a:t>PHONE</a:t>
            </a:r>
          </a:p>
        </p:txBody>
      </p:sp>
      <p:sp>
        <p:nvSpPr>
          <p:cNvPr id="17" name="Rectangle 16"/>
          <p:cNvSpPr/>
          <p:nvPr/>
        </p:nvSpPr>
        <p:spPr>
          <a:xfrm>
            <a:off x="11510009" y="548640"/>
            <a:ext cx="77724" cy="77724"/>
          </a:xfrm>
          <a:prstGeom prst="rect">
            <a:avLst/>
          </a:prstGeom>
          <a:solidFill>
            <a:srgbClr val="0D1117"/>
          </a:solidFill>
          <a:ln w="12700">
            <a:solidFill>
              <a:srgbClr val="3D4A5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TextBox 17"/>
          <p:cNvSpPr txBox="1"/>
          <p:nvPr/>
        </p:nvSpPr>
        <p:spPr>
          <a:xfrm>
            <a:off x="10937367" y="694944"/>
            <a:ext cx="1223010" cy="201168"/>
          </a:xfrm>
          <a:prstGeom prst="rect">
            <a:avLst/>
          </a:prstGeom>
          <a:noFill/>
        </p:spPr>
        <p:txBody>
          <a:bodyPr wrap="square" lIns="0" tIns="0" rIns="0" bIns="0" anchor="t">
            <a:spAutoFit/>
          </a:bodyPr>
          <a:lstStyle/>
          <a:p>
            <a:pPr algn="ctr">
              <a:lnSpc>
                <a:spcPct val="100000"/>
              </a:lnSpc>
              <a:spcAft>
                <a:spcPts val="0"/>
              </a:spcAft>
            </a:pPr>
            <a:r>
              <a:rPr sz="750" b="0" i="0">
                <a:solidFill>
                  <a:srgbClr val="5A6878"/>
                </a:solidFill>
                <a:latin typeface="Bahnschrift SemiBold"/>
              </a:rPr>
              <a:t>NET</a:t>
            </a:r>
          </a:p>
        </p:txBody>
      </p:sp>
      <p:sp>
        <p:nvSpPr>
          <p:cNvPr id="19" name="Rectangle 18"/>
          <p:cNvSpPr/>
          <p:nvPr/>
        </p:nvSpPr>
        <p:spPr>
          <a:xfrm>
            <a:off x="640080" y="1225296"/>
            <a:ext cx="10908792" cy="9525"/>
          </a:xfrm>
          <a:prstGeom prst="rect">
            <a:avLst/>
          </a:prstGeom>
          <a:solidFill>
            <a:srgbClr val="2C364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Rectangle 19"/>
          <p:cNvSpPr/>
          <p:nvPr/>
        </p:nvSpPr>
        <p:spPr>
          <a:xfrm>
            <a:off x="640080" y="1220724"/>
            <a:ext cx="566928" cy="25400"/>
          </a:xfrm>
          <a:prstGeom prst="rect">
            <a:avLst/>
          </a:prstGeom>
          <a:solidFill>
            <a:srgbClr val="63D2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1" name="Rectangle 20"/>
          <p:cNvSpPr/>
          <p:nvPr/>
        </p:nvSpPr>
        <p:spPr>
          <a:xfrm>
            <a:off x="640080" y="1536192"/>
            <a:ext cx="5349240" cy="2364866"/>
          </a:xfrm>
          <a:prstGeom prst="rect">
            <a:avLst/>
          </a:prstGeom>
          <a:solidFill>
            <a:srgbClr val="0A0E13"/>
          </a:solidFill>
          <a:ln w="12700">
            <a:solidFill>
              <a:srgbClr val="2C364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2" name="Rectangle 21"/>
          <p:cNvSpPr/>
          <p:nvPr/>
        </p:nvSpPr>
        <p:spPr>
          <a:xfrm>
            <a:off x="640080" y="1536192"/>
            <a:ext cx="25400" cy="2364866"/>
          </a:xfrm>
          <a:prstGeom prst="rect">
            <a:avLst/>
          </a:prstGeom>
          <a:solidFill>
            <a:srgbClr val="63D2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3" name="TextBox 22"/>
          <p:cNvSpPr txBox="1"/>
          <p:nvPr/>
        </p:nvSpPr>
        <p:spPr>
          <a:xfrm>
            <a:off x="841247" y="1664207"/>
            <a:ext cx="4946903" cy="201168"/>
          </a:xfrm>
          <a:prstGeom prst="rect">
            <a:avLst/>
          </a:prstGeom>
          <a:noFill/>
        </p:spPr>
        <p:txBody>
          <a:bodyPr wrap="square" lIns="0" tIns="0" rIns="0" bIns="0" anchor="t">
            <a:spAutoFit/>
          </a:bodyPr>
          <a:lstStyle/>
          <a:p>
            <a:pPr algn="l">
              <a:lnSpc>
                <a:spcPct val="100000"/>
              </a:lnSpc>
              <a:spcAft>
                <a:spcPts val="0"/>
              </a:spcAft>
            </a:pPr>
            <a:r>
              <a:rPr sz="850" b="0" i="0">
                <a:solidFill>
                  <a:srgbClr val="63D2E8"/>
                </a:solidFill>
                <a:latin typeface="Bahnschrift SemiBold"/>
              </a:rPr>
              <a:t>ESP8266  →  192.169.10.74:502</a:t>
            </a:r>
          </a:p>
        </p:txBody>
      </p:sp>
      <p:sp>
        <p:nvSpPr>
          <p:cNvPr id="24" name="TextBox 23"/>
          <p:cNvSpPr txBox="1"/>
          <p:nvPr/>
        </p:nvSpPr>
        <p:spPr>
          <a:xfrm>
            <a:off x="841247" y="1938527"/>
            <a:ext cx="4946903" cy="1852803"/>
          </a:xfrm>
          <a:prstGeom prst="rect">
            <a:avLst/>
          </a:prstGeom>
          <a:noFill/>
        </p:spPr>
        <p:txBody>
          <a:bodyPr wrap="square" lIns="0" tIns="0" rIns="0" bIns="0">
            <a:spAutoFit/>
          </a:bodyPr>
          <a:lstStyle/>
          <a:p>
            <a:pPr algn="l">
              <a:lnSpc>
                <a:spcPct val="130000"/>
              </a:lnSpc>
              <a:spcAft>
                <a:spcPts val="0"/>
              </a:spcAft>
            </a:pPr>
            <a:r>
              <a:rPr sz="1000" b="0">
                <a:solidFill>
                  <a:srgbClr val="63D2E8"/>
                </a:solidFill>
                <a:latin typeface="Consolas"/>
              </a:rPr>
              <a:t>REQUEST                              12 bytes</a:t>
            </a:r>
          </a:p>
          <a:p>
            <a:pPr algn="l">
              <a:lnSpc>
                <a:spcPct val="130000"/>
              </a:lnSpc>
              <a:spcAft>
                <a:spcPts val="0"/>
              </a:spcAft>
            </a:pPr>
            <a:endParaRPr sz="1000" b="0">
              <a:solidFill>
                <a:srgbClr val="63D2E8"/>
              </a:solidFill>
              <a:latin typeface="Consolas"/>
            </a:endParaRPr>
          </a:p>
          <a:p>
            <a:pPr algn="l">
              <a:lnSpc>
                <a:spcPct val="130000"/>
              </a:lnSpc>
              <a:spcAft>
                <a:spcPts val="0"/>
              </a:spcAft>
            </a:pPr>
            <a:r>
              <a:rPr sz="1000" b="0">
                <a:solidFill>
                  <a:srgbClr val="8494A6"/>
                </a:solidFill>
                <a:latin typeface="Consolas"/>
              </a:rPr>
              <a:t>00 01   transaction id</a:t>
            </a:r>
          </a:p>
          <a:p>
            <a:pPr algn="l">
              <a:lnSpc>
                <a:spcPct val="130000"/>
              </a:lnSpc>
              <a:spcAft>
                <a:spcPts val="0"/>
              </a:spcAft>
            </a:pPr>
            <a:r>
              <a:rPr sz="1000" b="0">
                <a:solidFill>
                  <a:srgbClr val="8494A6"/>
                </a:solidFill>
                <a:latin typeface="Consolas"/>
              </a:rPr>
              <a:t>00 00   protocol id (0 = Modbus)</a:t>
            </a:r>
          </a:p>
          <a:p>
            <a:pPr algn="l">
              <a:lnSpc>
                <a:spcPct val="130000"/>
              </a:lnSpc>
              <a:spcAft>
                <a:spcPts val="0"/>
              </a:spcAft>
            </a:pPr>
            <a:r>
              <a:rPr sz="1000" b="0">
                <a:solidFill>
                  <a:srgbClr val="8494A6"/>
                </a:solidFill>
                <a:latin typeface="Consolas"/>
              </a:rPr>
              <a:t>00 06   length of what follows</a:t>
            </a:r>
          </a:p>
          <a:p>
            <a:pPr algn="l">
              <a:lnSpc>
                <a:spcPct val="130000"/>
              </a:lnSpc>
              <a:spcAft>
                <a:spcPts val="0"/>
              </a:spcAft>
            </a:pPr>
            <a:r>
              <a:rPr sz="1000" b="0">
                <a:solidFill>
                  <a:srgbClr val="E6EDF3"/>
                </a:solidFill>
                <a:latin typeface="Consolas"/>
              </a:rPr>
              <a:t>01      unit id</a:t>
            </a:r>
          </a:p>
          <a:p>
            <a:pPr algn="l">
              <a:lnSpc>
                <a:spcPct val="130000"/>
              </a:lnSpc>
              <a:spcAft>
                <a:spcPts val="0"/>
              </a:spcAft>
            </a:pPr>
            <a:r>
              <a:rPr sz="1000" b="0">
                <a:solidFill>
                  <a:srgbClr val="E6EDF3"/>
                </a:solidFill>
                <a:latin typeface="Consolas"/>
              </a:rPr>
              <a:t>03      FC03 read holding registers</a:t>
            </a:r>
          </a:p>
          <a:p>
            <a:pPr algn="l">
              <a:lnSpc>
                <a:spcPct val="130000"/>
              </a:lnSpc>
              <a:spcAft>
                <a:spcPts val="0"/>
              </a:spcAft>
            </a:pPr>
            <a:r>
              <a:rPr sz="1000" b="0">
                <a:solidFill>
                  <a:srgbClr val="63D2E8"/>
                </a:solidFill>
                <a:latin typeface="Consolas"/>
              </a:rPr>
              <a:t>01 04   start address 260</a:t>
            </a:r>
          </a:p>
          <a:p>
            <a:pPr algn="l">
              <a:lnSpc>
                <a:spcPct val="130000"/>
              </a:lnSpc>
              <a:spcAft>
                <a:spcPts val="0"/>
              </a:spcAft>
            </a:pPr>
            <a:r>
              <a:rPr sz="1000" b="0">
                <a:solidFill>
                  <a:srgbClr val="63D2E8"/>
                </a:solidFill>
                <a:latin typeface="Consolas"/>
              </a:rPr>
              <a:t>00 02   quantity: 2 registers</a:t>
            </a:r>
          </a:p>
        </p:txBody>
      </p:sp>
      <p:sp>
        <p:nvSpPr>
          <p:cNvPr id="25" name="Rectangle 24"/>
          <p:cNvSpPr/>
          <p:nvPr/>
        </p:nvSpPr>
        <p:spPr>
          <a:xfrm>
            <a:off x="6199632" y="1536192"/>
            <a:ext cx="5349240" cy="2364866"/>
          </a:xfrm>
          <a:prstGeom prst="rect">
            <a:avLst/>
          </a:prstGeom>
          <a:solidFill>
            <a:srgbClr val="0A0E13"/>
          </a:solidFill>
          <a:ln w="12700">
            <a:solidFill>
              <a:srgbClr val="2C364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6" name="Rectangle 25"/>
          <p:cNvSpPr/>
          <p:nvPr/>
        </p:nvSpPr>
        <p:spPr>
          <a:xfrm>
            <a:off x="6199632" y="1536192"/>
            <a:ext cx="25400" cy="2364866"/>
          </a:xfrm>
          <a:prstGeom prst="rect">
            <a:avLst/>
          </a:prstGeom>
          <a:solidFill>
            <a:srgbClr val="63D2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7" name="TextBox 26"/>
          <p:cNvSpPr txBox="1"/>
          <p:nvPr/>
        </p:nvSpPr>
        <p:spPr>
          <a:xfrm>
            <a:off x="6400800" y="1664207"/>
            <a:ext cx="4946903" cy="201168"/>
          </a:xfrm>
          <a:prstGeom prst="rect">
            <a:avLst/>
          </a:prstGeom>
          <a:noFill/>
        </p:spPr>
        <p:txBody>
          <a:bodyPr wrap="square" lIns="0" tIns="0" rIns="0" bIns="0" anchor="t">
            <a:spAutoFit/>
          </a:bodyPr>
          <a:lstStyle/>
          <a:p>
            <a:pPr algn="l">
              <a:lnSpc>
                <a:spcPct val="100000"/>
              </a:lnSpc>
              <a:spcAft>
                <a:spcPts val="0"/>
              </a:spcAft>
            </a:pPr>
            <a:r>
              <a:rPr sz="850" b="0" i="0">
                <a:solidFill>
                  <a:srgbClr val="63D2E8"/>
                </a:solidFill>
                <a:latin typeface="Bahnschrift SemiBold"/>
              </a:rPr>
              <a:t>192.169.10.74:502  →  ESP8266</a:t>
            </a:r>
          </a:p>
        </p:txBody>
      </p:sp>
      <p:sp>
        <p:nvSpPr>
          <p:cNvPr id="28" name="TextBox 27"/>
          <p:cNvSpPr txBox="1"/>
          <p:nvPr/>
        </p:nvSpPr>
        <p:spPr>
          <a:xfrm>
            <a:off x="6400800" y="1938527"/>
            <a:ext cx="4946903" cy="1852803"/>
          </a:xfrm>
          <a:prstGeom prst="rect">
            <a:avLst/>
          </a:prstGeom>
          <a:noFill/>
        </p:spPr>
        <p:txBody>
          <a:bodyPr wrap="square" lIns="0" tIns="0" rIns="0" bIns="0">
            <a:spAutoFit/>
          </a:bodyPr>
          <a:lstStyle/>
          <a:p>
            <a:pPr algn="l">
              <a:lnSpc>
                <a:spcPct val="130000"/>
              </a:lnSpc>
              <a:spcAft>
                <a:spcPts val="0"/>
              </a:spcAft>
            </a:pPr>
            <a:r>
              <a:rPr sz="1000" b="0">
                <a:solidFill>
                  <a:srgbClr val="63D2E8"/>
                </a:solidFill>
                <a:latin typeface="Consolas"/>
              </a:rPr>
              <a:t>RESPONSE                             13 bytes</a:t>
            </a:r>
          </a:p>
          <a:p>
            <a:pPr algn="l">
              <a:lnSpc>
                <a:spcPct val="130000"/>
              </a:lnSpc>
              <a:spcAft>
                <a:spcPts val="0"/>
              </a:spcAft>
            </a:pPr>
            <a:endParaRPr sz="1000" b="0">
              <a:solidFill>
                <a:srgbClr val="63D2E8"/>
              </a:solidFill>
              <a:latin typeface="Consolas"/>
            </a:endParaRPr>
          </a:p>
          <a:p>
            <a:pPr algn="l">
              <a:lnSpc>
                <a:spcPct val="130000"/>
              </a:lnSpc>
              <a:spcAft>
                <a:spcPts val="0"/>
              </a:spcAft>
            </a:pPr>
            <a:r>
              <a:rPr sz="1000" b="0">
                <a:solidFill>
                  <a:srgbClr val="8494A6"/>
                </a:solidFill>
                <a:latin typeface="Consolas"/>
              </a:rPr>
              <a:t>00 01   transaction id — pairs the reply</a:t>
            </a:r>
          </a:p>
          <a:p>
            <a:pPr algn="l">
              <a:lnSpc>
                <a:spcPct val="130000"/>
              </a:lnSpc>
              <a:spcAft>
                <a:spcPts val="0"/>
              </a:spcAft>
            </a:pPr>
            <a:r>
              <a:rPr sz="1000" b="0">
                <a:solidFill>
                  <a:srgbClr val="8494A6"/>
                </a:solidFill>
                <a:latin typeface="Consolas"/>
              </a:rPr>
              <a:t>00 00   protocol id</a:t>
            </a:r>
          </a:p>
          <a:p>
            <a:pPr algn="l">
              <a:lnSpc>
                <a:spcPct val="130000"/>
              </a:lnSpc>
              <a:spcAft>
                <a:spcPts val="0"/>
              </a:spcAft>
            </a:pPr>
            <a:r>
              <a:rPr sz="1000" b="0">
                <a:solidFill>
                  <a:srgbClr val="8494A6"/>
                </a:solidFill>
                <a:latin typeface="Consolas"/>
              </a:rPr>
              <a:t>00 07   length</a:t>
            </a:r>
          </a:p>
          <a:p>
            <a:pPr algn="l">
              <a:lnSpc>
                <a:spcPct val="130000"/>
              </a:lnSpc>
              <a:spcAft>
                <a:spcPts val="0"/>
              </a:spcAft>
            </a:pPr>
            <a:r>
              <a:rPr sz="1000" b="0">
                <a:solidFill>
                  <a:srgbClr val="E6EDF3"/>
                </a:solidFill>
                <a:latin typeface="Consolas"/>
              </a:rPr>
              <a:t>01      unit id</a:t>
            </a:r>
          </a:p>
          <a:p>
            <a:pPr algn="l">
              <a:lnSpc>
                <a:spcPct val="130000"/>
              </a:lnSpc>
              <a:spcAft>
                <a:spcPts val="0"/>
              </a:spcAft>
            </a:pPr>
            <a:r>
              <a:rPr sz="1000" b="0">
                <a:solidFill>
                  <a:srgbClr val="E6EDF3"/>
                </a:solidFill>
                <a:latin typeface="Consolas"/>
              </a:rPr>
              <a:t>03      FC03 echoed</a:t>
            </a:r>
          </a:p>
          <a:p>
            <a:pPr algn="l">
              <a:lnSpc>
                <a:spcPct val="130000"/>
              </a:lnSpc>
              <a:spcAft>
                <a:spcPts val="0"/>
              </a:spcAft>
            </a:pPr>
            <a:r>
              <a:rPr sz="1000" b="0">
                <a:solidFill>
                  <a:srgbClr val="E6EDF3"/>
                </a:solidFill>
                <a:latin typeface="Consolas"/>
              </a:rPr>
              <a:t>04      byte count</a:t>
            </a:r>
          </a:p>
          <a:p>
            <a:pPr algn="l">
              <a:lnSpc>
                <a:spcPct val="130000"/>
              </a:lnSpc>
              <a:spcAft>
                <a:spcPts val="0"/>
              </a:spcAft>
            </a:pPr>
            <a:r>
              <a:rPr sz="1000" b="0">
                <a:solidFill>
                  <a:srgbClr val="63D2E8"/>
                </a:solidFill>
                <a:latin typeface="Consolas"/>
              </a:rPr>
              <a:t>41 BA CC CD   →  23.350 V</a:t>
            </a:r>
          </a:p>
        </p:txBody>
      </p:sp>
      <p:sp>
        <p:nvSpPr>
          <p:cNvPr id="29" name="Rectangle 28"/>
          <p:cNvSpPr/>
          <p:nvPr/>
        </p:nvSpPr>
        <p:spPr>
          <a:xfrm>
            <a:off x="640080" y="4041648"/>
            <a:ext cx="3291840" cy="1901952"/>
          </a:xfrm>
          <a:prstGeom prst="rect">
            <a:avLst/>
          </a:prstGeom>
          <a:solidFill>
            <a:srgbClr val="161C24"/>
          </a:solidFill>
          <a:ln w="12700">
            <a:solidFill>
              <a:srgbClr val="2C364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0" name="Rectangle 29"/>
          <p:cNvSpPr/>
          <p:nvPr/>
        </p:nvSpPr>
        <p:spPr>
          <a:xfrm>
            <a:off x="640080" y="4041648"/>
            <a:ext cx="3291840" cy="31750"/>
          </a:xfrm>
          <a:prstGeom prst="rect">
            <a:avLst/>
          </a:prstGeom>
          <a:solidFill>
            <a:srgbClr val="FF443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1" name="TextBox 30"/>
          <p:cNvSpPr txBox="1"/>
          <p:nvPr/>
        </p:nvSpPr>
        <p:spPr>
          <a:xfrm>
            <a:off x="841248" y="4224528"/>
            <a:ext cx="2926080" cy="237744"/>
          </a:xfrm>
          <a:prstGeom prst="rect">
            <a:avLst/>
          </a:prstGeom>
          <a:noFill/>
        </p:spPr>
        <p:txBody>
          <a:bodyPr wrap="square" lIns="0" tIns="0" rIns="0" bIns="0" anchor="t">
            <a:spAutoFit/>
          </a:bodyPr>
          <a:lstStyle/>
          <a:p>
            <a:pPr algn="l">
              <a:lnSpc>
                <a:spcPct val="112000"/>
              </a:lnSpc>
              <a:spcAft>
                <a:spcPts val="0"/>
              </a:spcAft>
            </a:pPr>
            <a:r>
              <a:rPr sz="900" b="0" i="0">
                <a:solidFill>
                  <a:srgbClr val="FF4438"/>
                </a:solidFill>
                <a:latin typeface="Bahnschrift SemiBold"/>
              </a:rPr>
              <a:t>THE DEVICE'S TEMPER</a:t>
            </a:r>
          </a:p>
        </p:txBody>
      </p:sp>
      <p:sp>
        <p:nvSpPr>
          <p:cNvPr id="32" name="TextBox 31"/>
          <p:cNvSpPr txBox="1"/>
          <p:nvPr/>
        </p:nvSpPr>
        <p:spPr>
          <a:xfrm>
            <a:off x="841248" y="4498848"/>
            <a:ext cx="2926080" cy="890671"/>
          </a:xfrm>
          <a:prstGeom prst="rect">
            <a:avLst/>
          </a:prstGeom>
          <a:noFill/>
        </p:spPr>
        <p:txBody>
          <a:bodyPr wrap="square" lIns="0" tIns="0" rIns="0" bIns="0" anchor="t">
            <a:spAutoFit/>
          </a:bodyPr>
          <a:lstStyle/>
          <a:p>
            <a:pPr algn="l">
              <a:lnSpc>
                <a:spcPct val="138000"/>
              </a:lnSpc>
              <a:spcAft>
                <a:spcPts val="0"/>
              </a:spcAft>
            </a:pPr>
            <a:r>
              <a:rPr sz="1050" b="0" i="0">
                <a:solidFill>
                  <a:srgbClr val="8494A6"/>
                </a:solidFill>
                <a:latin typeface="Segoe UI"/>
              </a:rPr>
              <a:t>The DKM-440 stops answering a master that fires requests back to back. A property of the device, not the transport — it survived the move from RS-485 to TCP unchanged.</a:t>
            </a:r>
          </a:p>
        </p:txBody>
      </p:sp>
      <p:sp>
        <p:nvSpPr>
          <p:cNvPr id="33" name="TextBox 32"/>
          <p:cNvSpPr txBox="1"/>
          <p:nvPr/>
        </p:nvSpPr>
        <p:spPr>
          <a:xfrm>
            <a:off x="841248" y="5468112"/>
            <a:ext cx="2926080" cy="237744"/>
          </a:xfrm>
          <a:prstGeom prst="rect">
            <a:avLst/>
          </a:prstGeom>
          <a:noFill/>
        </p:spPr>
        <p:txBody>
          <a:bodyPr wrap="square" lIns="0" tIns="0" rIns="0" bIns="0" anchor="t">
            <a:spAutoFit/>
          </a:bodyPr>
          <a:lstStyle/>
          <a:p>
            <a:pPr algn="l">
              <a:lnSpc>
                <a:spcPct val="112000"/>
              </a:lnSpc>
              <a:spcAft>
                <a:spcPts val="0"/>
              </a:spcAft>
            </a:pPr>
            <a:r>
              <a:rPr sz="1100" b="0" i="0">
                <a:solidFill>
                  <a:srgbClr val="FF4438"/>
                </a:solidFill>
                <a:latin typeface="Consolas"/>
              </a:rPr>
              <a:t>kReadGapMs = 30</a:t>
            </a:r>
          </a:p>
        </p:txBody>
      </p:sp>
      <p:sp>
        <p:nvSpPr>
          <p:cNvPr id="34" name="TextBox 33"/>
          <p:cNvSpPr txBox="1"/>
          <p:nvPr/>
        </p:nvSpPr>
        <p:spPr>
          <a:xfrm>
            <a:off x="841248" y="5687568"/>
            <a:ext cx="2926080" cy="237744"/>
          </a:xfrm>
          <a:prstGeom prst="rect">
            <a:avLst/>
          </a:prstGeom>
          <a:noFill/>
        </p:spPr>
        <p:txBody>
          <a:bodyPr wrap="square" lIns="0" tIns="0" rIns="0" bIns="0" anchor="t">
            <a:spAutoFit/>
          </a:bodyPr>
          <a:lstStyle/>
          <a:p>
            <a:pPr algn="l">
              <a:lnSpc>
                <a:spcPct val="112000"/>
              </a:lnSpc>
              <a:spcAft>
                <a:spcPts val="0"/>
              </a:spcAft>
            </a:pPr>
            <a:r>
              <a:rPr sz="1100" b="0" i="0">
                <a:solidFill>
                  <a:srgbClr val="FF4438"/>
                </a:solidFill>
                <a:latin typeface="Consolas"/>
              </a:rPr>
              <a:t>READ_RETRIES = 1</a:t>
            </a:r>
          </a:p>
        </p:txBody>
      </p:sp>
      <p:sp>
        <p:nvSpPr>
          <p:cNvPr id="35" name="Rectangle 34"/>
          <p:cNvSpPr/>
          <p:nvPr/>
        </p:nvSpPr>
        <p:spPr>
          <a:xfrm>
            <a:off x="4096512" y="4041648"/>
            <a:ext cx="3291840" cy="1901952"/>
          </a:xfrm>
          <a:prstGeom prst="rect">
            <a:avLst/>
          </a:prstGeom>
          <a:solidFill>
            <a:srgbClr val="161C24"/>
          </a:solidFill>
          <a:ln w="12700">
            <a:solidFill>
              <a:srgbClr val="2C364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6" name="Rectangle 35"/>
          <p:cNvSpPr/>
          <p:nvPr/>
        </p:nvSpPr>
        <p:spPr>
          <a:xfrm>
            <a:off x="4096512" y="4041648"/>
            <a:ext cx="3291840" cy="31750"/>
          </a:xfrm>
          <a:prstGeom prst="rect">
            <a:avLst/>
          </a:prstGeom>
          <a:solidFill>
            <a:srgbClr val="FFA92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7" name="TextBox 36"/>
          <p:cNvSpPr txBox="1"/>
          <p:nvPr/>
        </p:nvSpPr>
        <p:spPr>
          <a:xfrm>
            <a:off x="4297680" y="4224528"/>
            <a:ext cx="2926080" cy="237744"/>
          </a:xfrm>
          <a:prstGeom prst="rect">
            <a:avLst/>
          </a:prstGeom>
          <a:noFill/>
        </p:spPr>
        <p:txBody>
          <a:bodyPr wrap="square" lIns="0" tIns="0" rIns="0" bIns="0" anchor="t">
            <a:spAutoFit/>
          </a:bodyPr>
          <a:lstStyle/>
          <a:p>
            <a:pPr algn="l">
              <a:lnSpc>
                <a:spcPct val="112000"/>
              </a:lnSpc>
              <a:spcAft>
                <a:spcPts val="0"/>
              </a:spcAft>
            </a:pPr>
            <a:r>
              <a:rPr sz="900" b="0" i="0">
                <a:solidFill>
                  <a:srgbClr val="FFA928"/>
                </a:solidFill>
                <a:latin typeface="Bahnschrift SemiBold"/>
              </a:rPr>
              <a:t>AND TO CONCURRENT MASTERS</a:t>
            </a:r>
          </a:p>
        </p:txBody>
      </p:sp>
      <p:sp>
        <p:nvSpPr>
          <p:cNvPr id="38" name="TextBox 37"/>
          <p:cNvSpPr txBox="1"/>
          <p:nvPr/>
        </p:nvSpPr>
        <p:spPr>
          <a:xfrm>
            <a:off x="4297680" y="4535424"/>
            <a:ext cx="1581912" cy="365760"/>
          </a:xfrm>
          <a:prstGeom prst="rect">
            <a:avLst/>
          </a:prstGeom>
          <a:noFill/>
        </p:spPr>
        <p:txBody>
          <a:bodyPr wrap="square" lIns="0" tIns="0" rIns="0" bIns="0" anchor="t">
            <a:spAutoFit/>
          </a:bodyPr>
          <a:lstStyle/>
          <a:p>
            <a:pPr algn="l">
              <a:lnSpc>
                <a:spcPct val="105000"/>
              </a:lnSpc>
              <a:spcAft>
                <a:spcPts val="0"/>
              </a:spcAft>
            </a:pPr>
            <a:r>
              <a:rPr sz="1000" b="0" i="0">
                <a:solidFill>
                  <a:srgbClr val="8494A6"/>
                </a:solidFill>
                <a:latin typeface="Segoe UI"/>
              </a:rPr>
              <a:t>gateway alone</a:t>
            </a:r>
          </a:p>
        </p:txBody>
      </p:sp>
      <p:sp>
        <p:nvSpPr>
          <p:cNvPr id="39" name="TextBox 38"/>
          <p:cNvSpPr txBox="1"/>
          <p:nvPr/>
        </p:nvSpPr>
        <p:spPr>
          <a:xfrm>
            <a:off x="5989320" y="4535424"/>
            <a:ext cx="1234440" cy="365760"/>
          </a:xfrm>
          <a:prstGeom prst="rect">
            <a:avLst/>
          </a:prstGeom>
          <a:noFill/>
        </p:spPr>
        <p:txBody>
          <a:bodyPr wrap="square" lIns="0" tIns="0" rIns="0" bIns="0" anchor="t">
            <a:spAutoFit/>
          </a:bodyPr>
          <a:lstStyle/>
          <a:p>
            <a:pPr algn="l">
              <a:lnSpc>
                <a:spcPct val="105000"/>
              </a:lnSpc>
              <a:spcAft>
                <a:spcPts val="0"/>
              </a:spcAft>
            </a:pPr>
            <a:r>
              <a:rPr sz="1000" b="0" i="0">
                <a:solidFill>
                  <a:srgbClr val="4AD991"/>
                </a:solidFill>
                <a:latin typeface="Consolas"/>
              </a:rPr>
              <a:t>22/22 ×15</a:t>
            </a:r>
          </a:p>
        </p:txBody>
      </p:sp>
      <p:sp>
        <p:nvSpPr>
          <p:cNvPr id="40" name="Rectangle 39"/>
          <p:cNvSpPr/>
          <p:nvPr/>
        </p:nvSpPr>
        <p:spPr>
          <a:xfrm>
            <a:off x="4297680" y="4828032"/>
            <a:ext cx="2926080" cy="9525"/>
          </a:xfrm>
          <a:prstGeom prst="rect">
            <a:avLst/>
          </a:prstGeom>
          <a:solidFill>
            <a:srgbClr val="2C364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1" name="TextBox 40"/>
          <p:cNvSpPr txBox="1"/>
          <p:nvPr/>
        </p:nvSpPr>
        <p:spPr>
          <a:xfrm>
            <a:off x="4297680" y="4901184"/>
            <a:ext cx="1581912" cy="365760"/>
          </a:xfrm>
          <a:prstGeom prst="rect">
            <a:avLst/>
          </a:prstGeom>
          <a:noFill/>
        </p:spPr>
        <p:txBody>
          <a:bodyPr wrap="square" lIns="0" tIns="0" rIns="0" bIns="0" anchor="t">
            <a:spAutoFit/>
          </a:bodyPr>
          <a:lstStyle/>
          <a:p>
            <a:pPr algn="l">
              <a:lnSpc>
                <a:spcPct val="105000"/>
              </a:lnSpc>
              <a:spcAft>
                <a:spcPts val="0"/>
              </a:spcAft>
            </a:pPr>
            <a:r>
              <a:rPr sz="1000" b="0" i="0">
                <a:solidFill>
                  <a:srgbClr val="8494A6"/>
                </a:solidFill>
                <a:latin typeface="Segoe UI"/>
              </a:rPr>
              <a:t>+ one PC client</a:t>
            </a:r>
          </a:p>
        </p:txBody>
      </p:sp>
      <p:sp>
        <p:nvSpPr>
          <p:cNvPr id="42" name="TextBox 41"/>
          <p:cNvSpPr txBox="1"/>
          <p:nvPr/>
        </p:nvSpPr>
        <p:spPr>
          <a:xfrm>
            <a:off x="5989320" y="4901184"/>
            <a:ext cx="1234440" cy="365760"/>
          </a:xfrm>
          <a:prstGeom prst="rect">
            <a:avLst/>
          </a:prstGeom>
          <a:noFill/>
        </p:spPr>
        <p:txBody>
          <a:bodyPr wrap="square" lIns="0" tIns="0" rIns="0" bIns="0" anchor="t">
            <a:spAutoFit/>
          </a:bodyPr>
          <a:lstStyle/>
          <a:p>
            <a:pPr algn="l">
              <a:lnSpc>
                <a:spcPct val="105000"/>
              </a:lnSpc>
              <a:spcAft>
                <a:spcPts val="0"/>
              </a:spcAft>
            </a:pPr>
            <a:r>
              <a:rPr sz="1000" b="0" i="0">
                <a:solidFill>
                  <a:srgbClr val="FF4438"/>
                </a:solidFill>
                <a:latin typeface="Consolas"/>
              </a:rPr>
              <a:t>21/22</a:t>
            </a:r>
          </a:p>
        </p:txBody>
      </p:sp>
      <p:sp>
        <p:nvSpPr>
          <p:cNvPr id="43" name="TextBox 42"/>
          <p:cNvSpPr txBox="1"/>
          <p:nvPr/>
        </p:nvSpPr>
        <p:spPr>
          <a:xfrm>
            <a:off x="4297680" y="5413248"/>
            <a:ext cx="2926080" cy="445335"/>
          </a:xfrm>
          <a:prstGeom prst="rect">
            <a:avLst/>
          </a:prstGeom>
          <a:noFill/>
        </p:spPr>
        <p:txBody>
          <a:bodyPr wrap="square" lIns="0" tIns="0" rIns="0" bIns="0" anchor="t">
            <a:spAutoFit/>
          </a:bodyPr>
          <a:lstStyle/>
          <a:p>
            <a:pPr algn="l">
              <a:lnSpc>
                <a:spcPct val="138000"/>
              </a:lnSpc>
              <a:spcAft>
                <a:spcPts val="0"/>
              </a:spcAft>
            </a:pPr>
            <a:r>
              <a:rPr sz="1050" b="0" i="0">
                <a:solidFill>
                  <a:srgbClr val="8494A6"/>
                </a:solidFill>
                <a:latin typeface="Segoe UI"/>
              </a:rPr>
              <a:t>Close QModMaster, server.py and every PC client before an acceptance run.</a:t>
            </a:r>
          </a:p>
        </p:txBody>
      </p:sp>
      <p:sp>
        <p:nvSpPr>
          <p:cNvPr id="44" name="Rectangle 43"/>
          <p:cNvSpPr/>
          <p:nvPr/>
        </p:nvSpPr>
        <p:spPr>
          <a:xfrm>
            <a:off x="7552944" y="4041648"/>
            <a:ext cx="3995928" cy="1901952"/>
          </a:xfrm>
          <a:prstGeom prst="rect">
            <a:avLst/>
          </a:prstGeom>
          <a:solidFill>
            <a:srgbClr val="161C24"/>
          </a:solidFill>
          <a:ln w="12700">
            <a:solidFill>
              <a:srgbClr val="2C364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5" name="Rectangle 44"/>
          <p:cNvSpPr/>
          <p:nvPr/>
        </p:nvSpPr>
        <p:spPr>
          <a:xfrm>
            <a:off x="7552944" y="4041648"/>
            <a:ext cx="3995928" cy="31750"/>
          </a:xfrm>
          <a:prstGeom prst="rect">
            <a:avLst/>
          </a:prstGeom>
          <a:solidFill>
            <a:srgbClr val="63D2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6" name="TextBox 45"/>
          <p:cNvSpPr txBox="1"/>
          <p:nvPr/>
        </p:nvSpPr>
        <p:spPr>
          <a:xfrm>
            <a:off x="7772400" y="4224528"/>
            <a:ext cx="3566160" cy="237744"/>
          </a:xfrm>
          <a:prstGeom prst="rect">
            <a:avLst/>
          </a:prstGeom>
          <a:noFill/>
        </p:spPr>
        <p:txBody>
          <a:bodyPr wrap="square" lIns="0" tIns="0" rIns="0" bIns="0" anchor="t">
            <a:spAutoFit/>
          </a:bodyPr>
          <a:lstStyle/>
          <a:p>
            <a:pPr algn="l">
              <a:lnSpc>
                <a:spcPct val="112000"/>
              </a:lnSpc>
              <a:spcAft>
                <a:spcPts val="0"/>
              </a:spcAft>
            </a:pPr>
            <a:r>
              <a:rPr sz="900" b="0" i="0">
                <a:solidFill>
                  <a:srgbClr val="63D2E8"/>
                </a:solidFill>
                <a:latin typeface="Bahnschrift SemiBold"/>
              </a:rPr>
              <a:t>WHY ETHERNET, NOT RS-485</a:t>
            </a:r>
          </a:p>
        </p:txBody>
      </p:sp>
      <p:sp>
        <p:nvSpPr>
          <p:cNvPr id="47" name="TextBox 46"/>
          <p:cNvSpPr txBox="1"/>
          <p:nvPr/>
        </p:nvSpPr>
        <p:spPr>
          <a:xfrm>
            <a:off x="7772400" y="4498848"/>
            <a:ext cx="3566160" cy="890671"/>
          </a:xfrm>
          <a:prstGeom prst="rect">
            <a:avLst/>
          </a:prstGeom>
          <a:noFill/>
        </p:spPr>
        <p:txBody>
          <a:bodyPr wrap="square" lIns="0" tIns="0" rIns="0" bIns="0" anchor="t">
            <a:spAutoFit/>
          </a:bodyPr>
          <a:lstStyle/>
          <a:p>
            <a:pPr algn="l">
              <a:lnSpc>
                <a:spcPct val="138000"/>
              </a:lnSpc>
              <a:spcAft>
                <a:spcPts val="0"/>
              </a:spcAft>
            </a:pPr>
            <a:r>
              <a:rPr sz="1050" b="0" i="0">
                <a:solidFill>
                  <a:srgbClr val="8494A6"/>
                </a:solidFill>
                <a:latin typeface="Segoe UI"/>
              </a:rPr>
              <a:t>The ESP8266 has one usable UART: UART1 cannot receive, so Modbus RTU would have to take the console port. Over TCP the serial console stays usable — and every diagnosis in this project was read off it.</a:t>
            </a:r>
          </a:p>
        </p:txBody>
      </p:sp>
      <p:sp>
        <p:nvSpPr>
          <p:cNvPr id="48" name="TextBox 47"/>
          <p:cNvSpPr txBox="1"/>
          <p:nvPr/>
        </p:nvSpPr>
        <p:spPr>
          <a:xfrm>
            <a:off x="7772400" y="5669280"/>
            <a:ext cx="3566160" cy="237744"/>
          </a:xfrm>
          <a:prstGeom prst="rect">
            <a:avLst/>
          </a:prstGeom>
          <a:noFill/>
        </p:spPr>
        <p:txBody>
          <a:bodyPr wrap="square" lIns="0" tIns="0" rIns="0" bIns="0" anchor="t">
            <a:spAutoFit/>
          </a:bodyPr>
          <a:lstStyle/>
          <a:p>
            <a:pPr algn="l">
              <a:lnSpc>
                <a:spcPct val="112000"/>
              </a:lnSpc>
              <a:spcAft>
                <a:spcPts val="0"/>
              </a:spcAft>
            </a:pPr>
            <a:r>
              <a:rPr sz="950" b="0" i="0">
                <a:solidFill>
                  <a:srgbClr val="63D2E8"/>
                </a:solidFill>
                <a:latin typeface="Consolas"/>
              </a:rPr>
              <a:t>seq=15  22/22 regs  besleme=23.350</a:t>
            </a:r>
          </a:p>
        </p:txBody>
      </p:sp>
      <p:sp>
        <p:nvSpPr>
          <p:cNvPr id="49" name="Rectangle 48"/>
          <p:cNvSpPr/>
          <p:nvPr/>
        </p:nvSpPr>
        <p:spPr>
          <a:xfrm>
            <a:off x="640080" y="6382512"/>
            <a:ext cx="10908792" cy="9525"/>
          </a:xfrm>
          <a:prstGeom prst="rect">
            <a:avLst/>
          </a:prstGeom>
          <a:solidFill>
            <a:srgbClr val="2C364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0" name="TextBox 49"/>
          <p:cNvSpPr txBox="1"/>
          <p:nvPr/>
        </p:nvSpPr>
        <p:spPr>
          <a:xfrm>
            <a:off x="640080" y="6492240"/>
            <a:ext cx="7315200" cy="237744"/>
          </a:xfrm>
          <a:prstGeom prst="rect">
            <a:avLst/>
          </a:prstGeom>
          <a:noFill/>
        </p:spPr>
        <p:txBody>
          <a:bodyPr wrap="square" lIns="0" tIns="0" rIns="0" bIns="0" anchor="t">
            <a:spAutoFit/>
          </a:bodyPr>
          <a:lstStyle/>
          <a:p>
            <a:pPr algn="l">
              <a:lnSpc>
                <a:spcPct val="112000"/>
              </a:lnSpc>
              <a:spcAft>
                <a:spcPts val="0"/>
              </a:spcAft>
            </a:pPr>
            <a:r>
              <a:rPr sz="850" b="0" i="0">
                <a:solidFill>
                  <a:srgbClr val="5A6878"/>
                </a:solidFill>
                <a:latin typeface="Consolas"/>
              </a:rPr>
              <a:t>OSOS · DKM-440 remote meter reading</a:t>
            </a:r>
          </a:p>
        </p:txBody>
      </p:sp>
      <p:sp>
        <p:nvSpPr>
          <p:cNvPr id="51" name="TextBox 50"/>
          <p:cNvSpPr txBox="1"/>
          <p:nvPr/>
        </p:nvSpPr>
        <p:spPr>
          <a:xfrm>
            <a:off x="10177272" y="6492240"/>
            <a:ext cx="1371600" cy="237744"/>
          </a:xfrm>
          <a:prstGeom prst="rect">
            <a:avLst/>
          </a:prstGeom>
          <a:noFill/>
        </p:spPr>
        <p:txBody>
          <a:bodyPr wrap="square" lIns="0" tIns="0" rIns="0" bIns="0" anchor="t">
            <a:spAutoFit/>
          </a:bodyPr>
          <a:lstStyle/>
          <a:p>
            <a:pPr algn="r">
              <a:lnSpc>
                <a:spcPct val="112000"/>
              </a:lnSpc>
              <a:spcAft>
                <a:spcPts val="0"/>
              </a:spcAft>
            </a:pPr>
            <a:r>
              <a:rPr sz="850" b="0" i="0">
                <a:solidFill>
                  <a:srgbClr val="5A6878"/>
                </a:solidFill>
                <a:latin typeface="Consolas"/>
              </a:rPr>
              <a:t>06</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D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274320"/>
            <a:ext cx="5852160" cy="219456"/>
          </a:xfrm>
          <a:prstGeom prst="rect">
            <a:avLst/>
          </a:prstGeom>
          <a:noFill/>
        </p:spPr>
        <p:txBody>
          <a:bodyPr wrap="square" lIns="0" tIns="0" rIns="0" bIns="0" anchor="t">
            <a:spAutoFit/>
          </a:bodyPr>
          <a:lstStyle/>
          <a:p>
            <a:pPr algn="l">
              <a:lnSpc>
                <a:spcPct val="100000"/>
              </a:lnSpc>
              <a:spcAft>
                <a:spcPts val="0"/>
              </a:spcAft>
            </a:pPr>
            <a:r>
              <a:rPr sz="900" b="0" i="0">
                <a:solidFill>
                  <a:srgbClr val="63D2E8"/>
                </a:solidFill>
                <a:latin typeface="Consolas"/>
              </a:rPr>
              <a:t>MODBUS/DKM_440_MAPPING/METHOD.MD</a:t>
            </a:r>
          </a:p>
        </p:txBody>
      </p:sp>
      <p:sp>
        <p:nvSpPr>
          <p:cNvPr id="4" name="TextBox 3"/>
          <p:cNvSpPr txBox="1"/>
          <p:nvPr/>
        </p:nvSpPr>
        <p:spPr>
          <a:xfrm>
            <a:off x="640080" y="493776"/>
            <a:ext cx="5870448" cy="640080"/>
          </a:xfrm>
          <a:prstGeom prst="rect">
            <a:avLst/>
          </a:prstGeom>
          <a:noFill/>
        </p:spPr>
        <p:txBody>
          <a:bodyPr wrap="square" lIns="0" tIns="0" rIns="0" bIns="0" anchor="b">
            <a:spAutoFit/>
          </a:bodyPr>
          <a:lstStyle/>
          <a:p>
            <a:pPr algn="l">
              <a:lnSpc>
                <a:spcPct val="100000"/>
              </a:lnSpc>
              <a:spcAft>
                <a:spcPts val="0"/>
              </a:spcAft>
            </a:pPr>
            <a:r>
              <a:rPr sz="2500" b="0" i="0">
                <a:solidFill>
                  <a:srgbClr val="E6EDF3"/>
                </a:solidFill>
                <a:latin typeface="Bahnschrift SemiBold"/>
              </a:rPr>
              <a:t>Finding a register nobody documented</a:t>
            </a:r>
          </a:p>
        </p:txBody>
      </p:sp>
      <p:sp>
        <p:nvSpPr>
          <p:cNvPr id="5" name="Rectangle 4"/>
          <p:cNvSpPr/>
          <p:nvPr/>
        </p:nvSpPr>
        <p:spPr>
          <a:xfrm>
            <a:off x="6726783" y="583844"/>
            <a:ext cx="1083106" cy="12700"/>
          </a:xfrm>
          <a:prstGeom prst="rect">
            <a:avLst/>
          </a:prstGeom>
          <a:solidFill>
            <a:srgbClr val="2C364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Rectangle 5"/>
          <p:cNvSpPr/>
          <p:nvPr/>
        </p:nvSpPr>
        <p:spPr>
          <a:xfrm>
            <a:off x="6617970" y="548640"/>
            <a:ext cx="77724" cy="77724"/>
          </a:xfrm>
          <a:prstGeom prst="rect">
            <a:avLst/>
          </a:prstGeom>
          <a:solidFill>
            <a:srgbClr val="63D2E8"/>
          </a:solidFill>
          <a:ln w="12700">
            <a:solidFill>
              <a:srgbClr val="63D2E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6045327" y="694944"/>
            <a:ext cx="1223010" cy="201168"/>
          </a:xfrm>
          <a:prstGeom prst="rect">
            <a:avLst/>
          </a:prstGeom>
          <a:noFill/>
        </p:spPr>
        <p:txBody>
          <a:bodyPr wrap="square" lIns="0" tIns="0" rIns="0" bIns="0" anchor="t">
            <a:spAutoFit/>
          </a:bodyPr>
          <a:lstStyle/>
          <a:p>
            <a:pPr algn="ctr">
              <a:lnSpc>
                <a:spcPct val="100000"/>
              </a:lnSpc>
              <a:spcAft>
                <a:spcPts val="0"/>
              </a:spcAft>
            </a:pPr>
            <a:r>
              <a:rPr sz="750" b="0" i="0">
                <a:solidFill>
                  <a:srgbClr val="63D2E8"/>
                </a:solidFill>
                <a:latin typeface="Bahnschrift SemiBold"/>
              </a:rPr>
              <a:t>METER</a:t>
            </a:r>
          </a:p>
        </p:txBody>
      </p:sp>
      <p:sp>
        <p:nvSpPr>
          <p:cNvPr id="8" name="Rectangle 7"/>
          <p:cNvSpPr/>
          <p:nvPr/>
        </p:nvSpPr>
        <p:spPr>
          <a:xfrm>
            <a:off x="7949793" y="583844"/>
            <a:ext cx="1083106" cy="12700"/>
          </a:xfrm>
          <a:prstGeom prst="rect">
            <a:avLst/>
          </a:prstGeom>
          <a:solidFill>
            <a:srgbClr val="2C364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Rectangle 8"/>
          <p:cNvSpPr/>
          <p:nvPr/>
        </p:nvSpPr>
        <p:spPr>
          <a:xfrm>
            <a:off x="7840979" y="548640"/>
            <a:ext cx="77724" cy="77724"/>
          </a:xfrm>
          <a:prstGeom prst="rect">
            <a:avLst/>
          </a:prstGeom>
          <a:solidFill>
            <a:srgbClr val="0D1117"/>
          </a:solidFill>
          <a:ln w="12700">
            <a:solidFill>
              <a:srgbClr val="3D4A5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TextBox 9"/>
          <p:cNvSpPr txBox="1"/>
          <p:nvPr/>
        </p:nvSpPr>
        <p:spPr>
          <a:xfrm>
            <a:off x="7268337" y="694944"/>
            <a:ext cx="1223010" cy="201168"/>
          </a:xfrm>
          <a:prstGeom prst="rect">
            <a:avLst/>
          </a:prstGeom>
          <a:noFill/>
        </p:spPr>
        <p:txBody>
          <a:bodyPr wrap="square" lIns="0" tIns="0" rIns="0" bIns="0" anchor="t">
            <a:spAutoFit/>
          </a:bodyPr>
          <a:lstStyle/>
          <a:p>
            <a:pPr algn="ctr">
              <a:lnSpc>
                <a:spcPct val="100000"/>
              </a:lnSpc>
              <a:spcAft>
                <a:spcPts val="0"/>
              </a:spcAft>
            </a:pPr>
            <a:r>
              <a:rPr sz="750" b="0" i="0">
                <a:solidFill>
                  <a:srgbClr val="5A6878"/>
                </a:solidFill>
                <a:latin typeface="Bahnschrift SemiBold"/>
              </a:rPr>
              <a:t>GATEWAY</a:t>
            </a:r>
          </a:p>
        </p:txBody>
      </p:sp>
      <p:sp>
        <p:nvSpPr>
          <p:cNvPr id="11" name="Rectangle 10"/>
          <p:cNvSpPr/>
          <p:nvPr/>
        </p:nvSpPr>
        <p:spPr>
          <a:xfrm>
            <a:off x="9172803" y="583844"/>
            <a:ext cx="1083106" cy="12700"/>
          </a:xfrm>
          <a:prstGeom prst="rect">
            <a:avLst/>
          </a:prstGeom>
          <a:solidFill>
            <a:srgbClr val="2C364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Rectangle 11"/>
          <p:cNvSpPr/>
          <p:nvPr/>
        </p:nvSpPr>
        <p:spPr>
          <a:xfrm>
            <a:off x="9063990" y="548640"/>
            <a:ext cx="77724" cy="77724"/>
          </a:xfrm>
          <a:prstGeom prst="rect">
            <a:avLst/>
          </a:prstGeom>
          <a:solidFill>
            <a:srgbClr val="0D1117"/>
          </a:solidFill>
          <a:ln w="12700">
            <a:solidFill>
              <a:srgbClr val="3D4A5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8491347" y="694944"/>
            <a:ext cx="1223010" cy="201168"/>
          </a:xfrm>
          <a:prstGeom prst="rect">
            <a:avLst/>
          </a:prstGeom>
          <a:noFill/>
        </p:spPr>
        <p:txBody>
          <a:bodyPr wrap="square" lIns="0" tIns="0" rIns="0" bIns="0" anchor="t">
            <a:spAutoFit/>
          </a:bodyPr>
          <a:lstStyle/>
          <a:p>
            <a:pPr algn="ctr">
              <a:lnSpc>
                <a:spcPct val="100000"/>
              </a:lnSpc>
              <a:spcAft>
                <a:spcPts val="0"/>
              </a:spcAft>
            </a:pPr>
            <a:r>
              <a:rPr sz="750" b="0" i="0">
                <a:solidFill>
                  <a:srgbClr val="5A6878"/>
                </a:solidFill>
                <a:latin typeface="Bahnschrift SemiBold"/>
              </a:rPr>
              <a:t>BROKER</a:t>
            </a:r>
          </a:p>
        </p:txBody>
      </p:sp>
      <p:sp>
        <p:nvSpPr>
          <p:cNvPr id="14" name="Rectangle 13"/>
          <p:cNvSpPr/>
          <p:nvPr/>
        </p:nvSpPr>
        <p:spPr>
          <a:xfrm>
            <a:off x="10395813" y="583844"/>
            <a:ext cx="1083106" cy="12700"/>
          </a:xfrm>
          <a:prstGeom prst="rect">
            <a:avLst/>
          </a:prstGeom>
          <a:solidFill>
            <a:srgbClr val="2C364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Rectangle 14"/>
          <p:cNvSpPr/>
          <p:nvPr/>
        </p:nvSpPr>
        <p:spPr>
          <a:xfrm>
            <a:off x="10287000" y="548640"/>
            <a:ext cx="77724" cy="77724"/>
          </a:xfrm>
          <a:prstGeom prst="rect">
            <a:avLst/>
          </a:prstGeom>
          <a:solidFill>
            <a:srgbClr val="0D1117"/>
          </a:solidFill>
          <a:ln w="12700">
            <a:solidFill>
              <a:srgbClr val="3D4A5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TextBox 15"/>
          <p:cNvSpPr txBox="1"/>
          <p:nvPr/>
        </p:nvSpPr>
        <p:spPr>
          <a:xfrm>
            <a:off x="9714357" y="694944"/>
            <a:ext cx="1223010" cy="201168"/>
          </a:xfrm>
          <a:prstGeom prst="rect">
            <a:avLst/>
          </a:prstGeom>
          <a:noFill/>
        </p:spPr>
        <p:txBody>
          <a:bodyPr wrap="square" lIns="0" tIns="0" rIns="0" bIns="0" anchor="t">
            <a:spAutoFit/>
          </a:bodyPr>
          <a:lstStyle/>
          <a:p>
            <a:pPr algn="ctr">
              <a:lnSpc>
                <a:spcPct val="100000"/>
              </a:lnSpc>
              <a:spcAft>
                <a:spcPts val="0"/>
              </a:spcAft>
            </a:pPr>
            <a:r>
              <a:rPr sz="750" b="0" i="0">
                <a:solidFill>
                  <a:srgbClr val="5A6878"/>
                </a:solidFill>
                <a:latin typeface="Bahnschrift SemiBold"/>
              </a:rPr>
              <a:t>PHONE</a:t>
            </a:r>
          </a:p>
        </p:txBody>
      </p:sp>
      <p:sp>
        <p:nvSpPr>
          <p:cNvPr id="17" name="Rectangle 16"/>
          <p:cNvSpPr/>
          <p:nvPr/>
        </p:nvSpPr>
        <p:spPr>
          <a:xfrm>
            <a:off x="11510009" y="548640"/>
            <a:ext cx="77724" cy="77724"/>
          </a:xfrm>
          <a:prstGeom prst="rect">
            <a:avLst/>
          </a:prstGeom>
          <a:solidFill>
            <a:srgbClr val="0D1117"/>
          </a:solidFill>
          <a:ln w="12700">
            <a:solidFill>
              <a:srgbClr val="3D4A5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TextBox 17"/>
          <p:cNvSpPr txBox="1"/>
          <p:nvPr/>
        </p:nvSpPr>
        <p:spPr>
          <a:xfrm>
            <a:off x="10937367" y="694944"/>
            <a:ext cx="1223010" cy="201168"/>
          </a:xfrm>
          <a:prstGeom prst="rect">
            <a:avLst/>
          </a:prstGeom>
          <a:noFill/>
        </p:spPr>
        <p:txBody>
          <a:bodyPr wrap="square" lIns="0" tIns="0" rIns="0" bIns="0" anchor="t">
            <a:spAutoFit/>
          </a:bodyPr>
          <a:lstStyle/>
          <a:p>
            <a:pPr algn="ctr">
              <a:lnSpc>
                <a:spcPct val="100000"/>
              </a:lnSpc>
              <a:spcAft>
                <a:spcPts val="0"/>
              </a:spcAft>
            </a:pPr>
            <a:r>
              <a:rPr sz="750" b="0" i="0">
                <a:solidFill>
                  <a:srgbClr val="5A6878"/>
                </a:solidFill>
                <a:latin typeface="Bahnschrift SemiBold"/>
              </a:rPr>
              <a:t>NET</a:t>
            </a:r>
          </a:p>
        </p:txBody>
      </p:sp>
      <p:sp>
        <p:nvSpPr>
          <p:cNvPr id="19" name="Rectangle 18"/>
          <p:cNvSpPr/>
          <p:nvPr/>
        </p:nvSpPr>
        <p:spPr>
          <a:xfrm>
            <a:off x="640080" y="1225296"/>
            <a:ext cx="10908792" cy="9525"/>
          </a:xfrm>
          <a:prstGeom prst="rect">
            <a:avLst/>
          </a:prstGeom>
          <a:solidFill>
            <a:srgbClr val="2C364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Rectangle 19"/>
          <p:cNvSpPr/>
          <p:nvPr/>
        </p:nvSpPr>
        <p:spPr>
          <a:xfrm>
            <a:off x="640080" y="1220724"/>
            <a:ext cx="566928" cy="25400"/>
          </a:xfrm>
          <a:prstGeom prst="rect">
            <a:avLst/>
          </a:prstGeom>
          <a:solidFill>
            <a:srgbClr val="63D2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1" name="TextBox 20"/>
          <p:cNvSpPr txBox="1"/>
          <p:nvPr/>
        </p:nvSpPr>
        <p:spPr>
          <a:xfrm>
            <a:off x="640080" y="1554480"/>
            <a:ext cx="10908792" cy="457200"/>
          </a:xfrm>
          <a:prstGeom prst="rect">
            <a:avLst/>
          </a:prstGeom>
          <a:noFill/>
        </p:spPr>
        <p:txBody>
          <a:bodyPr wrap="square" lIns="0" tIns="0" rIns="0" bIns="0" anchor="t">
            <a:spAutoFit/>
          </a:bodyPr>
          <a:lstStyle/>
          <a:p>
            <a:pPr algn="l">
              <a:lnSpc>
                <a:spcPct val="140000"/>
              </a:lnSpc>
              <a:spcAft>
                <a:spcPts val="0"/>
              </a:spcAft>
            </a:pPr>
            <a:r>
              <a:rPr sz="1350" b="0" i="0">
                <a:solidFill>
                  <a:srgbClr val="E6EDF3"/>
                </a:solidFill>
                <a:latin typeface="Segoe UI"/>
              </a:rPr>
              <a:t>A measurement register holds  raw = scale × value.  Drive the value to several known points; the register whose raw plots a straight line against them is that measurement, and the slope is the scale.</a:t>
            </a:r>
          </a:p>
        </p:txBody>
      </p:sp>
      <p:sp>
        <p:nvSpPr>
          <p:cNvPr id="22" name="Rectangle 21"/>
          <p:cNvSpPr/>
          <p:nvPr/>
        </p:nvSpPr>
        <p:spPr>
          <a:xfrm>
            <a:off x="640080" y="2249424"/>
            <a:ext cx="2624328" cy="1700784"/>
          </a:xfrm>
          <a:prstGeom prst="rect">
            <a:avLst/>
          </a:prstGeom>
          <a:solidFill>
            <a:srgbClr val="161C24"/>
          </a:solidFill>
          <a:ln w="12700">
            <a:solidFill>
              <a:srgbClr val="2C364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3" name="Rectangle 22"/>
          <p:cNvSpPr/>
          <p:nvPr/>
        </p:nvSpPr>
        <p:spPr>
          <a:xfrm>
            <a:off x="640080" y="2249424"/>
            <a:ext cx="2624328" cy="31750"/>
          </a:xfrm>
          <a:prstGeom prst="rect">
            <a:avLst/>
          </a:prstGeom>
          <a:solidFill>
            <a:srgbClr val="63D2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4" name="TextBox 23"/>
          <p:cNvSpPr txBox="1"/>
          <p:nvPr/>
        </p:nvSpPr>
        <p:spPr>
          <a:xfrm>
            <a:off x="822959" y="2450592"/>
            <a:ext cx="457200" cy="237744"/>
          </a:xfrm>
          <a:prstGeom prst="rect">
            <a:avLst/>
          </a:prstGeom>
          <a:noFill/>
        </p:spPr>
        <p:txBody>
          <a:bodyPr wrap="square" lIns="0" tIns="0" rIns="0" bIns="0" anchor="t">
            <a:spAutoFit/>
          </a:bodyPr>
          <a:lstStyle/>
          <a:p>
            <a:pPr algn="l">
              <a:lnSpc>
                <a:spcPct val="112000"/>
              </a:lnSpc>
              <a:spcAft>
                <a:spcPts val="0"/>
              </a:spcAft>
            </a:pPr>
            <a:r>
              <a:rPr sz="1300" b="0" i="0">
                <a:solidFill>
                  <a:srgbClr val="63D2E8"/>
                </a:solidFill>
                <a:latin typeface="Consolas"/>
              </a:rPr>
              <a:t>1</a:t>
            </a:r>
          </a:p>
        </p:txBody>
      </p:sp>
      <p:sp>
        <p:nvSpPr>
          <p:cNvPr id="25" name="TextBox 24"/>
          <p:cNvSpPr txBox="1"/>
          <p:nvPr/>
        </p:nvSpPr>
        <p:spPr>
          <a:xfrm>
            <a:off x="822959" y="2724912"/>
            <a:ext cx="2258568" cy="274320"/>
          </a:xfrm>
          <a:prstGeom prst="rect">
            <a:avLst/>
          </a:prstGeom>
          <a:noFill/>
        </p:spPr>
        <p:txBody>
          <a:bodyPr wrap="square" lIns="0" tIns="0" rIns="0" bIns="0" anchor="t">
            <a:spAutoFit/>
          </a:bodyPr>
          <a:lstStyle/>
          <a:p>
            <a:pPr algn="l">
              <a:lnSpc>
                <a:spcPct val="112000"/>
              </a:lnSpc>
              <a:spcAft>
                <a:spcPts val="0"/>
              </a:spcAft>
            </a:pPr>
            <a:r>
              <a:rPr sz="1250" b="0" i="0">
                <a:solidFill>
                  <a:srgbClr val="E6EDF3"/>
                </a:solidFill>
                <a:latin typeface="Bahnschrift SemiBold"/>
              </a:rPr>
              <a:t>Move one thing</a:t>
            </a:r>
          </a:p>
        </p:txBody>
      </p:sp>
      <p:sp>
        <p:nvSpPr>
          <p:cNvPr id="26" name="TextBox 25"/>
          <p:cNvSpPr txBox="1"/>
          <p:nvPr/>
        </p:nvSpPr>
        <p:spPr>
          <a:xfrm>
            <a:off x="822959" y="3035808"/>
            <a:ext cx="2258568" cy="822960"/>
          </a:xfrm>
          <a:prstGeom prst="rect">
            <a:avLst/>
          </a:prstGeom>
          <a:noFill/>
        </p:spPr>
        <p:txBody>
          <a:bodyPr wrap="square" lIns="0" tIns="0" rIns="0" bIns="0" anchor="t">
            <a:spAutoFit/>
          </a:bodyPr>
          <a:lstStyle/>
          <a:p>
            <a:pPr algn="l">
              <a:lnSpc>
                <a:spcPct val="135000"/>
              </a:lnSpc>
              <a:spcAft>
                <a:spcPts val="0"/>
              </a:spcAft>
            </a:pPr>
            <a:r>
              <a:rPr sz="1000" b="0" i="0">
                <a:solidFill>
                  <a:srgbClr val="8494A6"/>
                </a:solidFill>
                <a:latin typeface="Segoe UI"/>
              </a:rPr>
              <a:t>On a bench a single source feeds every input, so a static dump shows the same number in a dozen registers. Motion is the discriminator.</a:t>
            </a:r>
          </a:p>
        </p:txBody>
      </p:sp>
      <p:sp>
        <p:nvSpPr>
          <p:cNvPr id="27" name="Rectangle 26"/>
          <p:cNvSpPr/>
          <p:nvPr/>
        </p:nvSpPr>
        <p:spPr>
          <a:xfrm>
            <a:off x="3396996" y="2249424"/>
            <a:ext cx="2624328" cy="1700784"/>
          </a:xfrm>
          <a:prstGeom prst="rect">
            <a:avLst/>
          </a:prstGeom>
          <a:solidFill>
            <a:srgbClr val="161C24"/>
          </a:solidFill>
          <a:ln w="12700">
            <a:solidFill>
              <a:srgbClr val="2C364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8" name="Rectangle 27"/>
          <p:cNvSpPr/>
          <p:nvPr/>
        </p:nvSpPr>
        <p:spPr>
          <a:xfrm>
            <a:off x="3396996" y="2249424"/>
            <a:ext cx="2624328" cy="31750"/>
          </a:xfrm>
          <a:prstGeom prst="rect">
            <a:avLst/>
          </a:prstGeom>
          <a:solidFill>
            <a:srgbClr val="63D2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9" name="TextBox 28"/>
          <p:cNvSpPr txBox="1"/>
          <p:nvPr/>
        </p:nvSpPr>
        <p:spPr>
          <a:xfrm>
            <a:off x="3579876" y="2450592"/>
            <a:ext cx="457200" cy="237744"/>
          </a:xfrm>
          <a:prstGeom prst="rect">
            <a:avLst/>
          </a:prstGeom>
          <a:noFill/>
        </p:spPr>
        <p:txBody>
          <a:bodyPr wrap="square" lIns="0" tIns="0" rIns="0" bIns="0" anchor="t">
            <a:spAutoFit/>
          </a:bodyPr>
          <a:lstStyle/>
          <a:p>
            <a:pPr algn="l">
              <a:lnSpc>
                <a:spcPct val="112000"/>
              </a:lnSpc>
              <a:spcAft>
                <a:spcPts val="0"/>
              </a:spcAft>
            </a:pPr>
            <a:r>
              <a:rPr sz="1300" b="0" i="0">
                <a:solidFill>
                  <a:srgbClr val="63D2E8"/>
                </a:solidFill>
                <a:latin typeface="Consolas"/>
              </a:rPr>
              <a:t>2</a:t>
            </a:r>
          </a:p>
        </p:txBody>
      </p:sp>
      <p:sp>
        <p:nvSpPr>
          <p:cNvPr id="30" name="TextBox 29"/>
          <p:cNvSpPr txBox="1"/>
          <p:nvPr/>
        </p:nvSpPr>
        <p:spPr>
          <a:xfrm>
            <a:off x="3579876" y="2724912"/>
            <a:ext cx="2258568" cy="274320"/>
          </a:xfrm>
          <a:prstGeom prst="rect">
            <a:avLst/>
          </a:prstGeom>
          <a:noFill/>
        </p:spPr>
        <p:txBody>
          <a:bodyPr wrap="square" lIns="0" tIns="0" rIns="0" bIns="0" anchor="t">
            <a:spAutoFit/>
          </a:bodyPr>
          <a:lstStyle/>
          <a:p>
            <a:pPr algn="l">
              <a:lnSpc>
                <a:spcPct val="112000"/>
              </a:lnSpc>
              <a:spcAft>
                <a:spcPts val="0"/>
              </a:spcAft>
            </a:pPr>
            <a:r>
              <a:rPr sz="1250" b="0" i="0">
                <a:solidFill>
                  <a:srgbClr val="E6EDF3"/>
                </a:solidFill>
                <a:latin typeface="Bahnschrift SemiBold"/>
              </a:rPr>
              <a:t>Record 3–5 points</a:t>
            </a:r>
          </a:p>
        </p:txBody>
      </p:sp>
      <p:sp>
        <p:nvSpPr>
          <p:cNvPr id="31" name="TextBox 30"/>
          <p:cNvSpPr txBox="1"/>
          <p:nvPr/>
        </p:nvSpPr>
        <p:spPr>
          <a:xfrm>
            <a:off x="3579876" y="3035808"/>
            <a:ext cx="2258568" cy="822960"/>
          </a:xfrm>
          <a:prstGeom prst="rect">
            <a:avLst/>
          </a:prstGeom>
          <a:noFill/>
        </p:spPr>
        <p:txBody>
          <a:bodyPr wrap="square" lIns="0" tIns="0" rIns="0" bIns="0" anchor="t">
            <a:spAutoFit/>
          </a:bodyPr>
          <a:lstStyle/>
          <a:p>
            <a:pPr algn="l">
              <a:lnSpc>
                <a:spcPct val="135000"/>
              </a:lnSpc>
              <a:spcAft>
                <a:spcPts val="0"/>
              </a:spcAft>
            </a:pPr>
            <a:r>
              <a:rPr sz="1000" b="0" i="0">
                <a:solidFill>
                  <a:srgbClr val="8494A6"/>
                </a:solidFill>
                <a:latin typeface="Segoe UI"/>
              </a:rPr>
              <a:t>Two points pin a line; three to five across a wide range give a meaningful R² and expose non-linearity.</a:t>
            </a:r>
          </a:p>
        </p:txBody>
      </p:sp>
      <p:sp>
        <p:nvSpPr>
          <p:cNvPr id="32" name="Rectangle 31"/>
          <p:cNvSpPr/>
          <p:nvPr/>
        </p:nvSpPr>
        <p:spPr>
          <a:xfrm>
            <a:off x="6153912" y="2249424"/>
            <a:ext cx="2624328" cy="1700784"/>
          </a:xfrm>
          <a:prstGeom prst="rect">
            <a:avLst/>
          </a:prstGeom>
          <a:solidFill>
            <a:srgbClr val="161C24"/>
          </a:solidFill>
          <a:ln w="12700">
            <a:solidFill>
              <a:srgbClr val="2C364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3" name="Rectangle 32"/>
          <p:cNvSpPr/>
          <p:nvPr/>
        </p:nvSpPr>
        <p:spPr>
          <a:xfrm>
            <a:off x="6153912" y="2249424"/>
            <a:ext cx="2624328" cy="31750"/>
          </a:xfrm>
          <a:prstGeom prst="rect">
            <a:avLst/>
          </a:prstGeom>
          <a:solidFill>
            <a:srgbClr val="63D2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4" name="TextBox 33"/>
          <p:cNvSpPr txBox="1"/>
          <p:nvPr/>
        </p:nvSpPr>
        <p:spPr>
          <a:xfrm>
            <a:off x="6336792" y="2450592"/>
            <a:ext cx="457200" cy="237744"/>
          </a:xfrm>
          <a:prstGeom prst="rect">
            <a:avLst/>
          </a:prstGeom>
          <a:noFill/>
        </p:spPr>
        <p:txBody>
          <a:bodyPr wrap="square" lIns="0" tIns="0" rIns="0" bIns="0" anchor="t">
            <a:spAutoFit/>
          </a:bodyPr>
          <a:lstStyle/>
          <a:p>
            <a:pPr algn="l">
              <a:lnSpc>
                <a:spcPct val="112000"/>
              </a:lnSpc>
              <a:spcAft>
                <a:spcPts val="0"/>
              </a:spcAft>
            </a:pPr>
            <a:r>
              <a:rPr sz="1300" b="0" i="0">
                <a:solidFill>
                  <a:srgbClr val="63D2E8"/>
                </a:solidFill>
                <a:latin typeface="Consolas"/>
              </a:rPr>
              <a:t>3</a:t>
            </a:r>
          </a:p>
        </p:txBody>
      </p:sp>
      <p:sp>
        <p:nvSpPr>
          <p:cNvPr id="35" name="TextBox 34"/>
          <p:cNvSpPr txBox="1"/>
          <p:nvPr/>
        </p:nvSpPr>
        <p:spPr>
          <a:xfrm>
            <a:off x="6336792" y="2724912"/>
            <a:ext cx="2258568" cy="274320"/>
          </a:xfrm>
          <a:prstGeom prst="rect">
            <a:avLst/>
          </a:prstGeom>
          <a:noFill/>
        </p:spPr>
        <p:txBody>
          <a:bodyPr wrap="square" lIns="0" tIns="0" rIns="0" bIns="0" anchor="t">
            <a:spAutoFit/>
          </a:bodyPr>
          <a:lstStyle/>
          <a:p>
            <a:pPr algn="l">
              <a:lnSpc>
                <a:spcPct val="112000"/>
              </a:lnSpc>
              <a:spcAft>
                <a:spcPts val="0"/>
              </a:spcAft>
            </a:pPr>
            <a:r>
              <a:rPr sz="1250" b="0" i="0">
                <a:solidFill>
                  <a:srgbClr val="E6EDF3"/>
                </a:solidFill>
                <a:latin typeface="Bahnschrift SemiBold"/>
              </a:rPr>
              <a:t>Least-squares every register</a:t>
            </a:r>
          </a:p>
        </p:txBody>
      </p:sp>
      <p:sp>
        <p:nvSpPr>
          <p:cNvPr id="36" name="TextBox 35"/>
          <p:cNvSpPr txBox="1"/>
          <p:nvPr/>
        </p:nvSpPr>
        <p:spPr>
          <a:xfrm>
            <a:off x="6336792" y="3035808"/>
            <a:ext cx="2258568" cy="822960"/>
          </a:xfrm>
          <a:prstGeom prst="rect">
            <a:avLst/>
          </a:prstGeom>
          <a:noFill/>
        </p:spPr>
        <p:txBody>
          <a:bodyPr wrap="square" lIns="0" tIns="0" rIns="0" bIns="0" anchor="t">
            <a:spAutoFit/>
          </a:bodyPr>
          <a:lstStyle/>
          <a:p>
            <a:pPr algn="l">
              <a:lnSpc>
                <a:spcPct val="135000"/>
              </a:lnSpc>
              <a:spcAft>
                <a:spcPts val="0"/>
              </a:spcAft>
            </a:pPr>
            <a:r>
              <a:rPr sz="1000" b="0" i="0">
                <a:solidFill>
                  <a:srgbClr val="8494A6"/>
                </a:solidFill>
                <a:latin typeface="Segoe UI"/>
              </a:rPr>
              <a:t>Fit raw = m·V + b. The true register scores R² ≈ 1.000; noise and drift score low. Constant registers are skipped — no line to fit.</a:t>
            </a:r>
          </a:p>
        </p:txBody>
      </p:sp>
      <p:sp>
        <p:nvSpPr>
          <p:cNvPr id="37" name="Rectangle 36"/>
          <p:cNvSpPr/>
          <p:nvPr/>
        </p:nvSpPr>
        <p:spPr>
          <a:xfrm>
            <a:off x="8910828" y="2249424"/>
            <a:ext cx="2624328" cy="1700784"/>
          </a:xfrm>
          <a:prstGeom prst="rect">
            <a:avLst/>
          </a:prstGeom>
          <a:solidFill>
            <a:srgbClr val="161C24"/>
          </a:solidFill>
          <a:ln w="12700">
            <a:solidFill>
              <a:srgbClr val="2C364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8" name="Rectangle 37"/>
          <p:cNvSpPr/>
          <p:nvPr/>
        </p:nvSpPr>
        <p:spPr>
          <a:xfrm>
            <a:off x="8910828" y="2249424"/>
            <a:ext cx="2624328" cy="31750"/>
          </a:xfrm>
          <a:prstGeom prst="rect">
            <a:avLst/>
          </a:prstGeom>
          <a:solidFill>
            <a:srgbClr val="63D2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9" name="TextBox 38"/>
          <p:cNvSpPr txBox="1"/>
          <p:nvPr/>
        </p:nvSpPr>
        <p:spPr>
          <a:xfrm>
            <a:off x="9093707" y="2450592"/>
            <a:ext cx="457200" cy="237744"/>
          </a:xfrm>
          <a:prstGeom prst="rect">
            <a:avLst/>
          </a:prstGeom>
          <a:noFill/>
        </p:spPr>
        <p:txBody>
          <a:bodyPr wrap="square" lIns="0" tIns="0" rIns="0" bIns="0" anchor="t">
            <a:spAutoFit/>
          </a:bodyPr>
          <a:lstStyle/>
          <a:p>
            <a:pPr algn="l">
              <a:lnSpc>
                <a:spcPct val="112000"/>
              </a:lnSpc>
              <a:spcAft>
                <a:spcPts val="0"/>
              </a:spcAft>
            </a:pPr>
            <a:r>
              <a:rPr sz="1300" b="0" i="0">
                <a:solidFill>
                  <a:srgbClr val="63D2E8"/>
                </a:solidFill>
                <a:latin typeface="Consolas"/>
              </a:rPr>
              <a:t>4</a:t>
            </a:r>
          </a:p>
        </p:txBody>
      </p:sp>
      <p:sp>
        <p:nvSpPr>
          <p:cNvPr id="40" name="TextBox 39"/>
          <p:cNvSpPr txBox="1"/>
          <p:nvPr/>
        </p:nvSpPr>
        <p:spPr>
          <a:xfrm>
            <a:off x="9093707" y="2724912"/>
            <a:ext cx="2258568" cy="274320"/>
          </a:xfrm>
          <a:prstGeom prst="rect">
            <a:avLst/>
          </a:prstGeom>
          <a:noFill/>
        </p:spPr>
        <p:txBody>
          <a:bodyPr wrap="square" lIns="0" tIns="0" rIns="0" bIns="0" anchor="t">
            <a:spAutoFit/>
          </a:bodyPr>
          <a:lstStyle/>
          <a:p>
            <a:pPr algn="l">
              <a:lnSpc>
                <a:spcPct val="112000"/>
              </a:lnSpc>
              <a:spcAft>
                <a:spcPts val="0"/>
              </a:spcAft>
            </a:pPr>
            <a:r>
              <a:rPr sz="1250" b="0" i="0">
                <a:solidFill>
                  <a:srgbClr val="E6EDF3"/>
                </a:solidFill>
                <a:latin typeface="Bahnschrift SemiBold"/>
              </a:rPr>
              <a:t>Rank, then verify</a:t>
            </a:r>
          </a:p>
        </p:txBody>
      </p:sp>
      <p:sp>
        <p:nvSpPr>
          <p:cNvPr id="41" name="TextBox 40"/>
          <p:cNvSpPr txBox="1"/>
          <p:nvPr/>
        </p:nvSpPr>
        <p:spPr>
          <a:xfrm>
            <a:off x="9093707" y="3035808"/>
            <a:ext cx="2258568" cy="822960"/>
          </a:xfrm>
          <a:prstGeom prst="rect">
            <a:avLst/>
          </a:prstGeom>
          <a:noFill/>
        </p:spPr>
        <p:txBody>
          <a:bodyPr wrap="square" lIns="0" tIns="0" rIns="0" bIns="0" anchor="t">
            <a:spAutoFit/>
          </a:bodyPr>
          <a:lstStyle/>
          <a:p>
            <a:pPr algn="l">
              <a:lnSpc>
                <a:spcPct val="135000"/>
              </a:lnSpc>
              <a:spcAft>
                <a:spcPts val="0"/>
              </a:spcAft>
            </a:pPr>
            <a:r>
              <a:rPr sz="1000" b="0" i="0">
                <a:solidFill>
                  <a:srgbClr val="8494A6"/>
                </a:solidFill>
                <a:latin typeface="Segoe UI"/>
              </a:rPr>
              <a:t>R² first, swing second, so a perfectly-fitting-but-barely-moving artefact cannot win. Then cross-check the winner against the TEDAŞ table.</a:t>
            </a:r>
          </a:p>
        </p:txBody>
      </p:sp>
      <p:sp>
        <p:nvSpPr>
          <p:cNvPr id="42" name="Rectangle 41"/>
          <p:cNvSpPr/>
          <p:nvPr/>
        </p:nvSpPr>
        <p:spPr>
          <a:xfrm>
            <a:off x="640080" y="4169663"/>
            <a:ext cx="6309360" cy="1481328"/>
          </a:xfrm>
          <a:prstGeom prst="rect">
            <a:avLst/>
          </a:prstGeom>
          <a:solidFill>
            <a:srgbClr val="0A0E13"/>
          </a:solidFill>
          <a:ln w="12700">
            <a:solidFill>
              <a:srgbClr val="2C364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3" name="Rectangle 42"/>
          <p:cNvSpPr/>
          <p:nvPr/>
        </p:nvSpPr>
        <p:spPr>
          <a:xfrm>
            <a:off x="640080" y="4169663"/>
            <a:ext cx="25400" cy="1481328"/>
          </a:xfrm>
          <a:prstGeom prst="rect">
            <a:avLst/>
          </a:prstGeom>
          <a:solidFill>
            <a:srgbClr val="63D2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4" name="TextBox 43"/>
          <p:cNvSpPr txBox="1"/>
          <p:nvPr/>
        </p:nvSpPr>
        <p:spPr>
          <a:xfrm>
            <a:off x="841247" y="4297679"/>
            <a:ext cx="5907024" cy="201168"/>
          </a:xfrm>
          <a:prstGeom prst="rect">
            <a:avLst/>
          </a:prstGeom>
          <a:noFill/>
        </p:spPr>
        <p:txBody>
          <a:bodyPr wrap="square" lIns="0" tIns="0" rIns="0" bIns="0" anchor="t">
            <a:spAutoFit/>
          </a:bodyPr>
          <a:lstStyle/>
          <a:p>
            <a:pPr algn="l">
              <a:lnSpc>
                <a:spcPct val="100000"/>
              </a:lnSpc>
              <a:spcAft>
                <a:spcPts val="0"/>
              </a:spcAft>
            </a:pPr>
            <a:r>
              <a:rPr sz="850" b="0" i="0">
                <a:solidFill>
                  <a:srgbClr val="63D2E8"/>
                </a:solidFill>
                <a:latin typeface="Bahnschrift SemiBold"/>
              </a:rPr>
              <a:t>find_register.py OUTPUT</a:t>
            </a:r>
          </a:p>
        </p:txBody>
      </p:sp>
      <p:sp>
        <p:nvSpPr>
          <p:cNvPr id="45" name="TextBox 44"/>
          <p:cNvSpPr txBox="1"/>
          <p:nvPr/>
        </p:nvSpPr>
        <p:spPr>
          <a:xfrm>
            <a:off x="841247" y="4571999"/>
            <a:ext cx="5907024" cy="969264"/>
          </a:xfrm>
          <a:prstGeom prst="rect">
            <a:avLst/>
          </a:prstGeom>
          <a:noFill/>
        </p:spPr>
        <p:txBody>
          <a:bodyPr wrap="square" lIns="0" tIns="0" rIns="0" bIns="0">
            <a:spAutoFit/>
          </a:bodyPr>
          <a:lstStyle/>
          <a:p>
            <a:pPr algn="l">
              <a:lnSpc>
                <a:spcPct val="130000"/>
              </a:lnSpc>
              <a:spcAft>
                <a:spcPts val="0"/>
              </a:spcAft>
            </a:pPr>
            <a:r>
              <a:rPr sz="1050" b="0">
                <a:solidFill>
                  <a:srgbClr val="8494A6"/>
                </a:solidFill>
                <a:latin typeface="Consolas"/>
              </a:rPr>
              <a:t>  addr     R^2  slope(raw/V)  intercept  scale  swing</a:t>
            </a:r>
          </a:p>
          <a:p>
            <a:pPr algn="l">
              <a:lnSpc>
                <a:spcPct val="130000"/>
              </a:lnSpc>
              <a:spcAft>
                <a:spcPts val="0"/>
              </a:spcAft>
            </a:pPr>
            <a:r>
              <a:rPr sz="1050" b="0">
                <a:solidFill>
                  <a:srgbClr val="63D2E8"/>
                </a:solidFill>
                <a:latin typeface="Consolas"/>
              </a:rPr>
              <a:t> 20480  1.0000        10.000       0.00     10    500</a:t>
            </a:r>
          </a:p>
          <a:p>
            <a:pPr algn="l">
              <a:lnSpc>
                <a:spcPct val="130000"/>
              </a:lnSpc>
              <a:spcAft>
                <a:spcPts val="0"/>
              </a:spcAft>
            </a:pPr>
            <a:r>
              <a:rPr sz="1050" b="0">
                <a:solidFill>
                  <a:srgbClr val="5A6878"/>
                </a:solidFill>
                <a:latin typeface="Consolas"/>
              </a:rPr>
              <a:t> 20500  0.7500        -0.020    2624.17      1      1</a:t>
            </a:r>
          </a:p>
        </p:txBody>
      </p:sp>
      <p:sp>
        <p:nvSpPr>
          <p:cNvPr id="46" name="TextBox 45"/>
          <p:cNvSpPr txBox="1"/>
          <p:nvPr/>
        </p:nvSpPr>
        <p:spPr>
          <a:xfrm>
            <a:off x="640080" y="5724144"/>
            <a:ext cx="6309360" cy="457200"/>
          </a:xfrm>
          <a:prstGeom prst="rect">
            <a:avLst/>
          </a:prstGeom>
          <a:noFill/>
        </p:spPr>
        <p:txBody>
          <a:bodyPr wrap="square" lIns="0" tIns="0" rIns="0" bIns="0" anchor="t">
            <a:spAutoFit/>
          </a:bodyPr>
          <a:lstStyle/>
          <a:p>
            <a:pPr algn="l">
              <a:lnSpc>
                <a:spcPct val="125000"/>
              </a:lnSpc>
              <a:spcAft>
                <a:spcPts val="0"/>
              </a:spcAft>
            </a:pPr>
            <a:r>
              <a:rPr sz="850" b="0" i="0">
                <a:solidFill>
                  <a:srgbClr val="5A6878"/>
                </a:solidFill>
                <a:latin typeface="Consolas"/>
              </a:rPr>
              <a:t>top row: R²=1.0000, big swing → that is the register, scale ÷10</a:t>
            </a:r>
          </a:p>
        </p:txBody>
      </p:sp>
      <p:sp>
        <p:nvSpPr>
          <p:cNvPr id="47" name="Rectangle 46"/>
          <p:cNvSpPr/>
          <p:nvPr/>
        </p:nvSpPr>
        <p:spPr>
          <a:xfrm>
            <a:off x="7187184" y="4169663"/>
            <a:ext cx="4361688" cy="1481328"/>
          </a:xfrm>
          <a:prstGeom prst="rect">
            <a:avLst/>
          </a:prstGeom>
          <a:solidFill>
            <a:srgbClr val="161C24"/>
          </a:solidFill>
          <a:ln w="12700">
            <a:solidFill>
              <a:srgbClr val="2C364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8" name="Rectangle 47"/>
          <p:cNvSpPr/>
          <p:nvPr/>
        </p:nvSpPr>
        <p:spPr>
          <a:xfrm>
            <a:off x="7187184" y="4169663"/>
            <a:ext cx="4361688" cy="31750"/>
          </a:xfrm>
          <a:prstGeom prst="rect">
            <a:avLst/>
          </a:prstGeom>
          <a:solidFill>
            <a:srgbClr val="FF443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9" name="TextBox 48"/>
          <p:cNvSpPr txBox="1"/>
          <p:nvPr/>
        </p:nvSpPr>
        <p:spPr>
          <a:xfrm>
            <a:off x="7406640" y="4370832"/>
            <a:ext cx="3931920" cy="274320"/>
          </a:xfrm>
          <a:prstGeom prst="rect">
            <a:avLst/>
          </a:prstGeom>
          <a:noFill/>
        </p:spPr>
        <p:txBody>
          <a:bodyPr wrap="square" lIns="0" tIns="0" rIns="0" bIns="0" anchor="t">
            <a:spAutoFit/>
          </a:bodyPr>
          <a:lstStyle/>
          <a:p>
            <a:pPr algn="l">
              <a:lnSpc>
                <a:spcPct val="112000"/>
              </a:lnSpc>
              <a:spcAft>
                <a:spcPts val="0"/>
              </a:spcAft>
            </a:pPr>
            <a:r>
              <a:rPr sz="900" b="0" i="0">
                <a:solidFill>
                  <a:srgbClr val="FF4438"/>
                </a:solidFill>
                <a:latin typeface="Bahnschrift SemiBold"/>
              </a:rPr>
              <a:t>STANDING CONSTRAINT  C-4</a:t>
            </a:r>
          </a:p>
        </p:txBody>
      </p:sp>
      <p:sp>
        <p:nvSpPr>
          <p:cNvPr id="50" name="TextBox 49"/>
          <p:cNvSpPr txBox="1"/>
          <p:nvPr/>
        </p:nvSpPr>
        <p:spPr>
          <a:xfrm>
            <a:off x="7406640" y="4663440"/>
            <a:ext cx="3931920" cy="457200"/>
          </a:xfrm>
          <a:prstGeom prst="rect">
            <a:avLst/>
          </a:prstGeom>
          <a:noFill/>
        </p:spPr>
        <p:txBody>
          <a:bodyPr wrap="square" lIns="0" tIns="0" rIns="0" bIns="0" anchor="t">
            <a:spAutoFit/>
          </a:bodyPr>
          <a:lstStyle/>
          <a:p>
            <a:pPr algn="l">
              <a:lnSpc>
                <a:spcPct val="112000"/>
              </a:lnSpc>
              <a:spcAft>
                <a:spcPts val="0"/>
              </a:spcAft>
            </a:pPr>
            <a:r>
              <a:rPr sz="1500" b="0" i="0">
                <a:solidFill>
                  <a:srgbClr val="FF4438"/>
                </a:solidFill>
                <a:latin typeface="Consolas"/>
              </a:rPr>
              <a:t>never touch 16385–16406</a:t>
            </a:r>
          </a:p>
        </p:txBody>
      </p:sp>
      <p:sp>
        <p:nvSpPr>
          <p:cNvPr id="51" name="TextBox 50"/>
          <p:cNvSpPr txBox="1"/>
          <p:nvPr/>
        </p:nvSpPr>
        <p:spPr>
          <a:xfrm>
            <a:off x="7406640" y="5102352"/>
            <a:ext cx="3931920" cy="457200"/>
          </a:xfrm>
          <a:prstGeom prst="rect">
            <a:avLst/>
          </a:prstGeom>
          <a:noFill/>
        </p:spPr>
        <p:txBody>
          <a:bodyPr wrap="square" lIns="0" tIns="0" rIns="0" bIns="0" anchor="t">
            <a:spAutoFit/>
          </a:bodyPr>
          <a:lstStyle/>
          <a:p>
            <a:pPr algn="l">
              <a:lnSpc>
                <a:spcPct val="135000"/>
              </a:lnSpc>
              <a:spcAft>
                <a:spcPts val="0"/>
              </a:spcAft>
            </a:pPr>
            <a:r>
              <a:rPr sz="1050" b="0" i="0">
                <a:solidFill>
                  <a:srgbClr val="8494A6"/>
                </a:solidFill>
                <a:latin typeface="Segoe UI"/>
              </a:rPr>
              <a:t>Neither read nor write. The scan scripts exclude the block explicitly.</a:t>
            </a:r>
          </a:p>
        </p:txBody>
      </p:sp>
      <p:sp>
        <p:nvSpPr>
          <p:cNvPr id="52" name="Rectangle 51"/>
          <p:cNvSpPr/>
          <p:nvPr/>
        </p:nvSpPr>
        <p:spPr>
          <a:xfrm>
            <a:off x="640080" y="6382512"/>
            <a:ext cx="10908792" cy="9525"/>
          </a:xfrm>
          <a:prstGeom prst="rect">
            <a:avLst/>
          </a:prstGeom>
          <a:solidFill>
            <a:srgbClr val="2C364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3" name="TextBox 52"/>
          <p:cNvSpPr txBox="1"/>
          <p:nvPr/>
        </p:nvSpPr>
        <p:spPr>
          <a:xfrm>
            <a:off x="640080" y="6492240"/>
            <a:ext cx="7315200" cy="237744"/>
          </a:xfrm>
          <a:prstGeom prst="rect">
            <a:avLst/>
          </a:prstGeom>
          <a:noFill/>
        </p:spPr>
        <p:txBody>
          <a:bodyPr wrap="square" lIns="0" tIns="0" rIns="0" bIns="0" anchor="t">
            <a:spAutoFit/>
          </a:bodyPr>
          <a:lstStyle/>
          <a:p>
            <a:pPr algn="l">
              <a:lnSpc>
                <a:spcPct val="112000"/>
              </a:lnSpc>
              <a:spcAft>
                <a:spcPts val="0"/>
              </a:spcAft>
            </a:pPr>
            <a:r>
              <a:rPr sz="850" b="0" i="0">
                <a:solidFill>
                  <a:srgbClr val="5A6878"/>
                </a:solidFill>
                <a:latin typeface="Consolas"/>
              </a:rPr>
              <a:t>OSOS · DKM-440 remote meter reading</a:t>
            </a:r>
          </a:p>
        </p:txBody>
      </p:sp>
      <p:sp>
        <p:nvSpPr>
          <p:cNvPr id="54" name="TextBox 53"/>
          <p:cNvSpPr txBox="1"/>
          <p:nvPr/>
        </p:nvSpPr>
        <p:spPr>
          <a:xfrm>
            <a:off x="10177272" y="6492240"/>
            <a:ext cx="1371600" cy="237744"/>
          </a:xfrm>
          <a:prstGeom prst="rect">
            <a:avLst/>
          </a:prstGeom>
          <a:noFill/>
        </p:spPr>
        <p:txBody>
          <a:bodyPr wrap="square" lIns="0" tIns="0" rIns="0" bIns="0" anchor="t">
            <a:spAutoFit/>
          </a:bodyPr>
          <a:lstStyle/>
          <a:p>
            <a:pPr algn="r">
              <a:lnSpc>
                <a:spcPct val="112000"/>
              </a:lnSpc>
              <a:spcAft>
                <a:spcPts val="0"/>
              </a:spcAft>
            </a:pPr>
            <a:r>
              <a:rPr sz="850" b="0" i="0">
                <a:solidFill>
                  <a:srgbClr val="5A6878"/>
                </a:solidFill>
                <a:latin typeface="Consolas"/>
              </a:rPr>
              <a:t>07</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D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274320"/>
            <a:ext cx="5852160" cy="219456"/>
          </a:xfrm>
          <a:prstGeom prst="rect">
            <a:avLst/>
          </a:prstGeom>
          <a:noFill/>
        </p:spPr>
        <p:txBody>
          <a:bodyPr wrap="square" lIns="0" tIns="0" rIns="0" bIns="0" anchor="t">
            <a:spAutoFit/>
          </a:bodyPr>
          <a:lstStyle/>
          <a:p>
            <a:pPr algn="l">
              <a:lnSpc>
                <a:spcPct val="100000"/>
              </a:lnSpc>
              <a:spcAft>
                <a:spcPts val="0"/>
              </a:spcAft>
            </a:pPr>
            <a:r>
              <a:rPr sz="900" b="0" i="0">
                <a:solidFill>
                  <a:srgbClr val="63D2E8"/>
                </a:solidFill>
                <a:latin typeface="Consolas"/>
              </a:rPr>
              <a:t>MQTT OVER TLS 1.3 TO EMQX SERVERLESS · ONE FIVE-SECOND CYCLE</a:t>
            </a:r>
          </a:p>
        </p:txBody>
      </p:sp>
      <p:sp>
        <p:nvSpPr>
          <p:cNvPr id="4" name="TextBox 3"/>
          <p:cNvSpPr txBox="1"/>
          <p:nvPr/>
        </p:nvSpPr>
        <p:spPr>
          <a:xfrm>
            <a:off x="640080" y="493776"/>
            <a:ext cx="5870448" cy="640080"/>
          </a:xfrm>
          <a:prstGeom prst="rect">
            <a:avLst/>
          </a:prstGeom>
          <a:noFill/>
        </p:spPr>
        <p:txBody>
          <a:bodyPr wrap="square" lIns="0" tIns="0" rIns="0" bIns="0" anchor="b">
            <a:spAutoFit/>
          </a:bodyPr>
          <a:lstStyle/>
          <a:p>
            <a:pPr algn="l">
              <a:lnSpc>
                <a:spcPct val="100000"/>
              </a:lnSpc>
              <a:spcAft>
                <a:spcPts val="0"/>
              </a:spcAft>
            </a:pPr>
            <a:r>
              <a:rPr sz="2700" b="0" i="0">
                <a:solidFill>
                  <a:srgbClr val="E6EDF3"/>
                </a:solidFill>
                <a:latin typeface="Bahnschrift SemiBold"/>
              </a:rPr>
              <a:t>Getting it off the bench</a:t>
            </a:r>
          </a:p>
        </p:txBody>
      </p:sp>
      <p:sp>
        <p:nvSpPr>
          <p:cNvPr id="5" name="Rectangle 4"/>
          <p:cNvSpPr/>
          <p:nvPr/>
        </p:nvSpPr>
        <p:spPr>
          <a:xfrm>
            <a:off x="6726783" y="583844"/>
            <a:ext cx="1083106" cy="12700"/>
          </a:xfrm>
          <a:prstGeom prst="rect">
            <a:avLst/>
          </a:prstGeom>
          <a:solidFill>
            <a:srgbClr val="2C364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Rectangle 5"/>
          <p:cNvSpPr/>
          <p:nvPr/>
        </p:nvSpPr>
        <p:spPr>
          <a:xfrm>
            <a:off x="6617970" y="548640"/>
            <a:ext cx="77724" cy="77724"/>
          </a:xfrm>
          <a:prstGeom prst="rect">
            <a:avLst/>
          </a:prstGeom>
          <a:solidFill>
            <a:srgbClr val="0D1117"/>
          </a:solidFill>
          <a:ln w="12700">
            <a:solidFill>
              <a:srgbClr val="3D4A5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6045327" y="694944"/>
            <a:ext cx="1223010" cy="201168"/>
          </a:xfrm>
          <a:prstGeom prst="rect">
            <a:avLst/>
          </a:prstGeom>
          <a:noFill/>
        </p:spPr>
        <p:txBody>
          <a:bodyPr wrap="square" lIns="0" tIns="0" rIns="0" bIns="0" anchor="t">
            <a:spAutoFit/>
          </a:bodyPr>
          <a:lstStyle/>
          <a:p>
            <a:pPr algn="ctr">
              <a:lnSpc>
                <a:spcPct val="100000"/>
              </a:lnSpc>
              <a:spcAft>
                <a:spcPts val="0"/>
              </a:spcAft>
            </a:pPr>
            <a:r>
              <a:rPr sz="750" b="0" i="0">
                <a:solidFill>
                  <a:srgbClr val="5A6878"/>
                </a:solidFill>
                <a:latin typeface="Bahnschrift SemiBold"/>
              </a:rPr>
              <a:t>METER</a:t>
            </a:r>
          </a:p>
        </p:txBody>
      </p:sp>
      <p:sp>
        <p:nvSpPr>
          <p:cNvPr id="8" name="Rectangle 7"/>
          <p:cNvSpPr/>
          <p:nvPr/>
        </p:nvSpPr>
        <p:spPr>
          <a:xfrm>
            <a:off x="7949793" y="583844"/>
            <a:ext cx="1083106" cy="12700"/>
          </a:xfrm>
          <a:prstGeom prst="rect">
            <a:avLst/>
          </a:prstGeom>
          <a:solidFill>
            <a:srgbClr val="2E7D8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Rectangle 8"/>
          <p:cNvSpPr/>
          <p:nvPr/>
        </p:nvSpPr>
        <p:spPr>
          <a:xfrm>
            <a:off x="7840979" y="548640"/>
            <a:ext cx="77724" cy="77724"/>
          </a:xfrm>
          <a:prstGeom prst="rect">
            <a:avLst/>
          </a:prstGeom>
          <a:solidFill>
            <a:srgbClr val="63D2E8"/>
          </a:solidFill>
          <a:ln w="12700">
            <a:solidFill>
              <a:srgbClr val="63D2E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TextBox 9"/>
          <p:cNvSpPr txBox="1"/>
          <p:nvPr/>
        </p:nvSpPr>
        <p:spPr>
          <a:xfrm>
            <a:off x="7268337" y="694944"/>
            <a:ext cx="1223010" cy="201168"/>
          </a:xfrm>
          <a:prstGeom prst="rect">
            <a:avLst/>
          </a:prstGeom>
          <a:noFill/>
        </p:spPr>
        <p:txBody>
          <a:bodyPr wrap="square" lIns="0" tIns="0" rIns="0" bIns="0" anchor="t">
            <a:spAutoFit/>
          </a:bodyPr>
          <a:lstStyle/>
          <a:p>
            <a:pPr algn="ctr">
              <a:lnSpc>
                <a:spcPct val="100000"/>
              </a:lnSpc>
              <a:spcAft>
                <a:spcPts val="0"/>
              </a:spcAft>
            </a:pPr>
            <a:r>
              <a:rPr sz="750" b="0" i="0">
                <a:solidFill>
                  <a:srgbClr val="63D2E8"/>
                </a:solidFill>
                <a:latin typeface="Bahnschrift SemiBold"/>
              </a:rPr>
              <a:t>GATEWAY</a:t>
            </a:r>
          </a:p>
        </p:txBody>
      </p:sp>
      <p:sp>
        <p:nvSpPr>
          <p:cNvPr id="11" name="Rectangle 10"/>
          <p:cNvSpPr/>
          <p:nvPr/>
        </p:nvSpPr>
        <p:spPr>
          <a:xfrm>
            <a:off x="9172803" y="583844"/>
            <a:ext cx="1083106" cy="12700"/>
          </a:xfrm>
          <a:prstGeom prst="rect">
            <a:avLst/>
          </a:prstGeom>
          <a:solidFill>
            <a:srgbClr val="2E7D8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Rectangle 11"/>
          <p:cNvSpPr/>
          <p:nvPr/>
        </p:nvSpPr>
        <p:spPr>
          <a:xfrm>
            <a:off x="9063990" y="548640"/>
            <a:ext cx="77724" cy="77724"/>
          </a:xfrm>
          <a:prstGeom prst="rect">
            <a:avLst/>
          </a:prstGeom>
          <a:solidFill>
            <a:srgbClr val="63D2E8"/>
          </a:solidFill>
          <a:ln w="12700">
            <a:solidFill>
              <a:srgbClr val="63D2E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8491347" y="694944"/>
            <a:ext cx="1223010" cy="201168"/>
          </a:xfrm>
          <a:prstGeom prst="rect">
            <a:avLst/>
          </a:prstGeom>
          <a:noFill/>
        </p:spPr>
        <p:txBody>
          <a:bodyPr wrap="square" lIns="0" tIns="0" rIns="0" bIns="0" anchor="t">
            <a:spAutoFit/>
          </a:bodyPr>
          <a:lstStyle/>
          <a:p>
            <a:pPr algn="ctr">
              <a:lnSpc>
                <a:spcPct val="100000"/>
              </a:lnSpc>
              <a:spcAft>
                <a:spcPts val="0"/>
              </a:spcAft>
            </a:pPr>
            <a:r>
              <a:rPr sz="750" b="0" i="0">
                <a:solidFill>
                  <a:srgbClr val="63D2E8"/>
                </a:solidFill>
                <a:latin typeface="Bahnschrift SemiBold"/>
              </a:rPr>
              <a:t>BROKER</a:t>
            </a:r>
          </a:p>
        </p:txBody>
      </p:sp>
      <p:sp>
        <p:nvSpPr>
          <p:cNvPr id="14" name="Rectangle 13"/>
          <p:cNvSpPr/>
          <p:nvPr/>
        </p:nvSpPr>
        <p:spPr>
          <a:xfrm>
            <a:off x="10395813" y="583844"/>
            <a:ext cx="1083106" cy="12700"/>
          </a:xfrm>
          <a:prstGeom prst="rect">
            <a:avLst/>
          </a:prstGeom>
          <a:solidFill>
            <a:srgbClr val="2C364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Rectangle 14"/>
          <p:cNvSpPr/>
          <p:nvPr/>
        </p:nvSpPr>
        <p:spPr>
          <a:xfrm>
            <a:off x="10287000" y="548640"/>
            <a:ext cx="77724" cy="77724"/>
          </a:xfrm>
          <a:prstGeom prst="rect">
            <a:avLst/>
          </a:prstGeom>
          <a:solidFill>
            <a:srgbClr val="63D2E8"/>
          </a:solidFill>
          <a:ln w="12700">
            <a:solidFill>
              <a:srgbClr val="63D2E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TextBox 15"/>
          <p:cNvSpPr txBox="1"/>
          <p:nvPr/>
        </p:nvSpPr>
        <p:spPr>
          <a:xfrm>
            <a:off x="9714357" y="694944"/>
            <a:ext cx="1223010" cy="201168"/>
          </a:xfrm>
          <a:prstGeom prst="rect">
            <a:avLst/>
          </a:prstGeom>
          <a:noFill/>
        </p:spPr>
        <p:txBody>
          <a:bodyPr wrap="square" lIns="0" tIns="0" rIns="0" bIns="0" anchor="t">
            <a:spAutoFit/>
          </a:bodyPr>
          <a:lstStyle/>
          <a:p>
            <a:pPr algn="ctr">
              <a:lnSpc>
                <a:spcPct val="100000"/>
              </a:lnSpc>
              <a:spcAft>
                <a:spcPts val="0"/>
              </a:spcAft>
            </a:pPr>
            <a:r>
              <a:rPr sz="750" b="0" i="0">
                <a:solidFill>
                  <a:srgbClr val="63D2E8"/>
                </a:solidFill>
                <a:latin typeface="Bahnschrift SemiBold"/>
              </a:rPr>
              <a:t>PHONE</a:t>
            </a:r>
          </a:p>
        </p:txBody>
      </p:sp>
      <p:sp>
        <p:nvSpPr>
          <p:cNvPr id="17" name="Rectangle 16"/>
          <p:cNvSpPr/>
          <p:nvPr/>
        </p:nvSpPr>
        <p:spPr>
          <a:xfrm>
            <a:off x="11510009" y="548640"/>
            <a:ext cx="77724" cy="77724"/>
          </a:xfrm>
          <a:prstGeom prst="rect">
            <a:avLst/>
          </a:prstGeom>
          <a:solidFill>
            <a:srgbClr val="0D1117"/>
          </a:solidFill>
          <a:ln w="12700">
            <a:solidFill>
              <a:srgbClr val="3D4A5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TextBox 17"/>
          <p:cNvSpPr txBox="1"/>
          <p:nvPr/>
        </p:nvSpPr>
        <p:spPr>
          <a:xfrm>
            <a:off x="10937367" y="694944"/>
            <a:ext cx="1223010" cy="201168"/>
          </a:xfrm>
          <a:prstGeom prst="rect">
            <a:avLst/>
          </a:prstGeom>
          <a:noFill/>
        </p:spPr>
        <p:txBody>
          <a:bodyPr wrap="square" lIns="0" tIns="0" rIns="0" bIns="0" anchor="t">
            <a:spAutoFit/>
          </a:bodyPr>
          <a:lstStyle/>
          <a:p>
            <a:pPr algn="ctr">
              <a:lnSpc>
                <a:spcPct val="100000"/>
              </a:lnSpc>
              <a:spcAft>
                <a:spcPts val="0"/>
              </a:spcAft>
            </a:pPr>
            <a:r>
              <a:rPr sz="750" b="0" i="0">
                <a:solidFill>
                  <a:srgbClr val="5A6878"/>
                </a:solidFill>
                <a:latin typeface="Bahnschrift SemiBold"/>
              </a:rPr>
              <a:t>NET</a:t>
            </a:r>
          </a:p>
        </p:txBody>
      </p:sp>
      <p:sp>
        <p:nvSpPr>
          <p:cNvPr id="19" name="Rectangle 18"/>
          <p:cNvSpPr/>
          <p:nvPr/>
        </p:nvSpPr>
        <p:spPr>
          <a:xfrm>
            <a:off x="640080" y="1225296"/>
            <a:ext cx="10908792" cy="9525"/>
          </a:xfrm>
          <a:prstGeom prst="rect">
            <a:avLst/>
          </a:prstGeom>
          <a:solidFill>
            <a:srgbClr val="2C364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Rectangle 19"/>
          <p:cNvSpPr/>
          <p:nvPr/>
        </p:nvSpPr>
        <p:spPr>
          <a:xfrm>
            <a:off x="640080" y="1220724"/>
            <a:ext cx="566928" cy="25400"/>
          </a:xfrm>
          <a:prstGeom prst="rect">
            <a:avLst/>
          </a:prstGeom>
          <a:solidFill>
            <a:srgbClr val="63D2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1" name="Rectangle 20"/>
          <p:cNvSpPr/>
          <p:nvPr/>
        </p:nvSpPr>
        <p:spPr>
          <a:xfrm>
            <a:off x="640080" y="1481328"/>
            <a:ext cx="1592683" cy="402336"/>
          </a:xfrm>
          <a:prstGeom prst="rect">
            <a:avLst/>
          </a:prstGeom>
          <a:solidFill>
            <a:srgbClr val="63D2E8"/>
          </a:solidFill>
          <a:ln w="12700">
            <a:solidFill>
              <a:srgbClr val="63D2E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2" name="TextBox 21"/>
          <p:cNvSpPr txBox="1"/>
          <p:nvPr/>
        </p:nvSpPr>
        <p:spPr>
          <a:xfrm>
            <a:off x="640080" y="1581912"/>
            <a:ext cx="1592683" cy="274320"/>
          </a:xfrm>
          <a:prstGeom prst="rect">
            <a:avLst/>
          </a:prstGeom>
          <a:noFill/>
        </p:spPr>
        <p:txBody>
          <a:bodyPr wrap="square" lIns="0" tIns="0" rIns="0" bIns="0" anchor="t">
            <a:spAutoFit/>
          </a:bodyPr>
          <a:lstStyle/>
          <a:p>
            <a:pPr algn="ctr">
              <a:lnSpc>
                <a:spcPct val="112000"/>
              </a:lnSpc>
              <a:spcAft>
                <a:spcPts val="0"/>
              </a:spcAft>
            </a:pPr>
            <a:r>
              <a:rPr sz="1050" b="1" i="0">
                <a:solidFill>
                  <a:srgbClr val="0D1117"/>
                </a:solidFill>
                <a:latin typeface="Bahnschrift SemiBold"/>
              </a:rPr>
              <a:t>22 register reads</a:t>
            </a:r>
          </a:p>
        </p:txBody>
      </p:sp>
      <p:sp>
        <p:nvSpPr>
          <p:cNvPr id="23" name="Rectangle 22"/>
          <p:cNvSpPr/>
          <p:nvPr/>
        </p:nvSpPr>
        <p:spPr>
          <a:xfrm>
            <a:off x="2232763" y="1481328"/>
            <a:ext cx="589074" cy="402336"/>
          </a:xfrm>
          <a:prstGeom prst="rect">
            <a:avLst/>
          </a:prstGeom>
          <a:solidFill>
            <a:srgbClr val="C89A5B"/>
          </a:solidFill>
          <a:ln w="12700">
            <a:solidFill>
              <a:srgbClr val="C89A5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4" name="Rectangle 23"/>
          <p:cNvSpPr/>
          <p:nvPr/>
        </p:nvSpPr>
        <p:spPr>
          <a:xfrm>
            <a:off x="2821838" y="1481328"/>
            <a:ext cx="654527" cy="402336"/>
          </a:xfrm>
          <a:prstGeom prst="rect">
            <a:avLst/>
          </a:prstGeom>
          <a:solidFill>
            <a:srgbClr val="4AD991"/>
          </a:solidFill>
          <a:ln w="12700">
            <a:solidFill>
              <a:srgbClr val="4AD99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5" name="Rectangle 24"/>
          <p:cNvSpPr/>
          <p:nvPr/>
        </p:nvSpPr>
        <p:spPr>
          <a:xfrm>
            <a:off x="3476365" y="1481328"/>
            <a:ext cx="8072506" cy="402336"/>
          </a:xfrm>
          <a:prstGeom prst="rect">
            <a:avLst/>
          </a:prstGeom>
          <a:solidFill>
            <a:srgbClr val="161C24"/>
          </a:solidFill>
          <a:ln w="12700">
            <a:solidFill>
              <a:srgbClr val="3D4A5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6" name="TextBox 25"/>
          <p:cNvSpPr txBox="1"/>
          <p:nvPr/>
        </p:nvSpPr>
        <p:spPr>
          <a:xfrm>
            <a:off x="3476365" y="1581912"/>
            <a:ext cx="8072506" cy="274320"/>
          </a:xfrm>
          <a:prstGeom prst="rect">
            <a:avLst/>
          </a:prstGeom>
          <a:noFill/>
        </p:spPr>
        <p:txBody>
          <a:bodyPr wrap="square" lIns="0" tIns="0" rIns="0" bIns="0" anchor="t">
            <a:spAutoFit/>
          </a:bodyPr>
          <a:lstStyle/>
          <a:p>
            <a:pPr algn="ctr">
              <a:lnSpc>
                <a:spcPct val="112000"/>
              </a:lnSpc>
              <a:spcAft>
                <a:spcPts val="0"/>
              </a:spcAft>
            </a:pPr>
            <a:r>
              <a:rPr sz="1050" b="1" i="0">
                <a:solidFill>
                  <a:srgbClr val="8494A6"/>
                </a:solidFill>
                <a:latin typeface="Bahnschrift SemiBold"/>
              </a:rPr>
              <a:t>idle</a:t>
            </a:r>
          </a:p>
        </p:txBody>
      </p:sp>
      <p:sp>
        <p:nvSpPr>
          <p:cNvPr id="27" name="Rectangle 26"/>
          <p:cNvSpPr/>
          <p:nvPr/>
        </p:nvSpPr>
        <p:spPr>
          <a:xfrm>
            <a:off x="640080" y="1993392"/>
            <a:ext cx="10908792" cy="15875"/>
          </a:xfrm>
          <a:prstGeom prst="rect">
            <a:avLst/>
          </a:prstGeom>
          <a:solidFill>
            <a:srgbClr val="3D4A5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8" name="Rectangle 27"/>
          <p:cNvSpPr/>
          <p:nvPr/>
        </p:nvSpPr>
        <p:spPr>
          <a:xfrm>
            <a:off x="636422" y="1911096"/>
            <a:ext cx="15875" cy="182880"/>
          </a:xfrm>
          <a:prstGeom prst="rect">
            <a:avLst/>
          </a:prstGeom>
          <a:solidFill>
            <a:srgbClr val="3D4A5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9" name="TextBox 28"/>
          <p:cNvSpPr txBox="1"/>
          <p:nvPr/>
        </p:nvSpPr>
        <p:spPr>
          <a:xfrm>
            <a:off x="179222" y="2139696"/>
            <a:ext cx="914400" cy="219456"/>
          </a:xfrm>
          <a:prstGeom prst="rect">
            <a:avLst/>
          </a:prstGeom>
          <a:noFill/>
        </p:spPr>
        <p:txBody>
          <a:bodyPr wrap="square" lIns="0" tIns="0" rIns="0" bIns="0" anchor="t">
            <a:spAutoFit/>
          </a:bodyPr>
          <a:lstStyle/>
          <a:p>
            <a:pPr algn="ctr">
              <a:lnSpc>
                <a:spcPct val="112000"/>
              </a:lnSpc>
              <a:spcAft>
                <a:spcPts val="0"/>
              </a:spcAft>
            </a:pPr>
            <a:r>
              <a:rPr sz="900" b="0" i="0">
                <a:solidFill>
                  <a:srgbClr val="5A6878"/>
                </a:solidFill>
                <a:latin typeface="Consolas"/>
              </a:rPr>
              <a:t>0 ms</a:t>
            </a:r>
          </a:p>
        </p:txBody>
      </p:sp>
      <p:sp>
        <p:nvSpPr>
          <p:cNvPr id="30" name="Rectangle 29"/>
          <p:cNvSpPr/>
          <p:nvPr/>
        </p:nvSpPr>
        <p:spPr>
          <a:xfrm>
            <a:off x="2229106" y="1911096"/>
            <a:ext cx="15875" cy="182880"/>
          </a:xfrm>
          <a:prstGeom prst="rect">
            <a:avLst/>
          </a:prstGeom>
          <a:solidFill>
            <a:srgbClr val="3D4A5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1" name="TextBox 30"/>
          <p:cNvSpPr txBox="1"/>
          <p:nvPr/>
        </p:nvSpPr>
        <p:spPr>
          <a:xfrm>
            <a:off x="1771906" y="2139696"/>
            <a:ext cx="914400" cy="219456"/>
          </a:xfrm>
          <a:prstGeom prst="rect">
            <a:avLst/>
          </a:prstGeom>
          <a:noFill/>
        </p:spPr>
        <p:txBody>
          <a:bodyPr wrap="square" lIns="0" tIns="0" rIns="0" bIns="0" anchor="t">
            <a:spAutoFit/>
          </a:bodyPr>
          <a:lstStyle/>
          <a:p>
            <a:pPr algn="ctr">
              <a:lnSpc>
                <a:spcPct val="112000"/>
              </a:lnSpc>
              <a:spcAft>
                <a:spcPts val="0"/>
              </a:spcAft>
            </a:pPr>
            <a:r>
              <a:rPr sz="900" b="0" i="0">
                <a:solidFill>
                  <a:srgbClr val="5A6878"/>
                </a:solidFill>
                <a:latin typeface="Consolas"/>
              </a:rPr>
              <a:t>~730 ms</a:t>
            </a:r>
          </a:p>
        </p:txBody>
      </p:sp>
      <p:sp>
        <p:nvSpPr>
          <p:cNvPr id="32" name="Rectangle 31"/>
          <p:cNvSpPr/>
          <p:nvPr/>
        </p:nvSpPr>
        <p:spPr>
          <a:xfrm>
            <a:off x="2818180" y="1911096"/>
            <a:ext cx="15875" cy="182880"/>
          </a:xfrm>
          <a:prstGeom prst="rect">
            <a:avLst/>
          </a:prstGeom>
          <a:solidFill>
            <a:srgbClr val="3D4A5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3" name="TextBox 32"/>
          <p:cNvSpPr txBox="1"/>
          <p:nvPr/>
        </p:nvSpPr>
        <p:spPr>
          <a:xfrm>
            <a:off x="2360980" y="2139696"/>
            <a:ext cx="914400" cy="219456"/>
          </a:xfrm>
          <a:prstGeom prst="rect">
            <a:avLst/>
          </a:prstGeom>
          <a:noFill/>
        </p:spPr>
        <p:txBody>
          <a:bodyPr wrap="square" lIns="0" tIns="0" rIns="0" bIns="0" anchor="t">
            <a:spAutoFit/>
          </a:bodyPr>
          <a:lstStyle/>
          <a:p>
            <a:pPr algn="ctr">
              <a:lnSpc>
                <a:spcPct val="112000"/>
              </a:lnSpc>
              <a:spcAft>
                <a:spcPts val="0"/>
              </a:spcAft>
            </a:pPr>
            <a:r>
              <a:rPr sz="900" b="0" i="0">
                <a:solidFill>
                  <a:srgbClr val="5A6878"/>
                </a:solidFill>
                <a:latin typeface="Consolas"/>
              </a:rPr>
              <a:t>~1.0 s</a:t>
            </a:r>
          </a:p>
        </p:txBody>
      </p:sp>
      <p:sp>
        <p:nvSpPr>
          <p:cNvPr id="34" name="Rectangle 33"/>
          <p:cNvSpPr/>
          <p:nvPr/>
        </p:nvSpPr>
        <p:spPr>
          <a:xfrm>
            <a:off x="7181697" y="1911096"/>
            <a:ext cx="15875" cy="182880"/>
          </a:xfrm>
          <a:prstGeom prst="rect">
            <a:avLst/>
          </a:prstGeom>
          <a:solidFill>
            <a:srgbClr val="3D4A5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5" name="Rectangle 34"/>
          <p:cNvSpPr/>
          <p:nvPr/>
        </p:nvSpPr>
        <p:spPr>
          <a:xfrm>
            <a:off x="11530584" y="1911096"/>
            <a:ext cx="15875" cy="182880"/>
          </a:xfrm>
          <a:prstGeom prst="rect">
            <a:avLst/>
          </a:prstGeom>
          <a:solidFill>
            <a:srgbClr val="3D4A5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6" name="TextBox 35"/>
          <p:cNvSpPr txBox="1"/>
          <p:nvPr/>
        </p:nvSpPr>
        <p:spPr>
          <a:xfrm>
            <a:off x="11073384" y="2139696"/>
            <a:ext cx="914400" cy="219456"/>
          </a:xfrm>
          <a:prstGeom prst="rect">
            <a:avLst/>
          </a:prstGeom>
          <a:noFill/>
        </p:spPr>
        <p:txBody>
          <a:bodyPr wrap="square" lIns="0" tIns="0" rIns="0" bIns="0" anchor="t">
            <a:spAutoFit/>
          </a:bodyPr>
          <a:lstStyle/>
          <a:p>
            <a:pPr algn="ctr">
              <a:lnSpc>
                <a:spcPct val="112000"/>
              </a:lnSpc>
              <a:spcAft>
                <a:spcPts val="0"/>
              </a:spcAft>
            </a:pPr>
            <a:r>
              <a:rPr sz="900" b="0" i="0">
                <a:solidFill>
                  <a:srgbClr val="5A6878"/>
                </a:solidFill>
                <a:latin typeface="Consolas"/>
              </a:rPr>
              <a:t>5 000 ms</a:t>
            </a:r>
          </a:p>
        </p:txBody>
      </p:sp>
      <p:sp>
        <p:nvSpPr>
          <p:cNvPr id="37" name="Rectangle 36"/>
          <p:cNvSpPr/>
          <p:nvPr/>
        </p:nvSpPr>
        <p:spPr>
          <a:xfrm>
            <a:off x="640080" y="2377440"/>
            <a:ext cx="82296" cy="82296"/>
          </a:xfrm>
          <a:prstGeom prst="rect">
            <a:avLst/>
          </a:prstGeom>
          <a:solidFill>
            <a:srgbClr val="63D2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8" name="TextBox 37"/>
          <p:cNvSpPr txBox="1"/>
          <p:nvPr/>
        </p:nvSpPr>
        <p:spPr>
          <a:xfrm>
            <a:off x="822959" y="2313432"/>
            <a:ext cx="2443353" cy="219456"/>
          </a:xfrm>
          <a:prstGeom prst="rect">
            <a:avLst/>
          </a:prstGeom>
          <a:noFill/>
        </p:spPr>
        <p:txBody>
          <a:bodyPr wrap="square" lIns="0" tIns="0" rIns="0" bIns="0" anchor="t">
            <a:spAutoFit/>
          </a:bodyPr>
          <a:lstStyle/>
          <a:p>
            <a:pPr algn="l">
              <a:lnSpc>
                <a:spcPct val="112000"/>
              </a:lnSpc>
              <a:spcAft>
                <a:spcPts val="0"/>
              </a:spcAft>
            </a:pPr>
            <a:r>
              <a:rPr sz="950" b="0" i="0">
                <a:solidFill>
                  <a:srgbClr val="8494A6"/>
                </a:solidFill>
                <a:latin typeface="Consolas"/>
              </a:rPr>
              <a:t>22 × (request + 30 ms gap) ≈ 730 ms</a:t>
            </a:r>
          </a:p>
        </p:txBody>
      </p:sp>
      <p:sp>
        <p:nvSpPr>
          <p:cNvPr id="39" name="Rectangle 38"/>
          <p:cNvSpPr/>
          <p:nvPr/>
        </p:nvSpPr>
        <p:spPr>
          <a:xfrm>
            <a:off x="3632073" y="2377440"/>
            <a:ext cx="82296" cy="82296"/>
          </a:xfrm>
          <a:prstGeom prst="rect">
            <a:avLst/>
          </a:prstGeom>
          <a:solidFill>
            <a:srgbClr val="C89A5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0" name="TextBox 39"/>
          <p:cNvSpPr txBox="1"/>
          <p:nvPr/>
        </p:nvSpPr>
        <p:spPr>
          <a:xfrm>
            <a:off x="3814953" y="2313432"/>
            <a:ext cx="1576578" cy="219456"/>
          </a:xfrm>
          <a:prstGeom prst="rect">
            <a:avLst/>
          </a:prstGeom>
          <a:noFill/>
        </p:spPr>
        <p:txBody>
          <a:bodyPr wrap="square" lIns="0" tIns="0" rIns="0" bIns="0" anchor="t">
            <a:spAutoFit/>
          </a:bodyPr>
          <a:lstStyle/>
          <a:p>
            <a:pPr algn="l">
              <a:lnSpc>
                <a:spcPct val="112000"/>
              </a:lnSpc>
              <a:spcAft>
                <a:spcPts val="0"/>
              </a:spcAft>
            </a:pPr>
            <a:r>
              <a:rPr sz="950" b="0" i="0">
                <a:solidFill>
                  <a:srgbClr val="8494A6"/>
                </a:solidFill>
                <a:latin typeface="Consolas"/>
              </a:rPr>
              <a:t>encode · ArduinoJson 7</a:t>
            </a:r>
          </a:p>
        </p:txBody>
      </p:sp>
      <p:sp>
        <p:nvSpPr>
          <p:cNvPr id="41" name="Rectangle 40"/>
          <p:cNvSpPr/>
          <p:nvPr/>
        </p:nvSpPr>
        <p:spPr>
          <a:xfrm>
            <a:off x="5757291" y="2377440"/>
            <a:ext cx="82296" cy="82296"/>
          </a:xfrm>
          <a:prstGeom prst="rect">
            <a:avLst/>
          </a:prstGeom>
          <a:solidFill>
            <a:srgbClr val="4AD99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2" name="TextBox 41"/>
          <p:cNvSpPr txBox="1"/>
          <p:nvPr/>
        </p:nvSpPr>
        <p:spPr>
          <a:xfrm>
            <a:off x="5940171" y="2313432"/>
            <a:ext cx="1709928" cy="219456"/>
          </a:xfrm>
          <a:prstGeom prst="rect">
            <a:avLst/>
          </a:prstGeom>
          <a:noFill/>
        </p:spPr>
        <p:txBody>
          <a:bodyPr wrap="square" lIns="0" tIns="0" rIns="0" bIns="0" anchor="t">
            <a:spAutoFit/>
          </a:bodyPr>
          <a:lstStyle/>
          <a:p>
            <a:pPr algn="l">
              <a:lnSpc>
                <a:spcPct val="112000"/>
              </a:lnSpc>
              <a:spcAft>
                <a:spcPts val="0"/>
              </a:spcAft>
            </a:pPr>
            <a:r>
              <a:rPr sz="950" b="0" i="0">
                <a:solidFill>
                  <a:srgbClr val="8494A6"/>
                </a:solidFill>
                <a:latin typeface="Consolas"/>
              </a:rPr>
              <a:t>publish · one TLS record</a:t>
            </a:r>
          </a:p>
        </p:txBody>
      </p:sp>
      <p:sp>
        <p:nvSpPr>
          <p:cNvPr id="43" name="TextBox 42"/>
          <p:cNvSpPr txBox="1"/>
          <p:nvPr/>
        </p:nvSpPr>
        <p:spPr>
          <a:xfrm>
            <a:off x="640080" y="2615184"/>
            <a:ext cx="10908792" cy="237744"/>
          </a:xfrm>
          <a:prstGeom prst="rect">
            <a:avLst/>
          </a:prstGeom>
          <a:noFill/>
        </p:spPr>
        <p:txBody>
          <a:bodyPr wrap="square" lIns="0" tIns="0" rIns="0" bIns="0" anchor="t">
            <a:spAutoFit/>
          </a:bodyPr>
          <a:lstStyle/>
          <a:p>
            <a:pPr algn="l">
              <a:lnSpc>
                <a:spcPct val="130000"/>
              </a:lnSpc>
              <a:spcAft>
                <a:spcPts val="0"/>
              </a:spcAft>
            </a:pPr>
            <a:r>
              <a:rPr sz="1000" b="0" i="0">
                <a:solidFill>
                  <a:srgbClr val="5A6878"/>
                </a:solidFill>
                <a:latin typeface="Segoe UI"/>
              </a:rPr>
              <a:t>The remaining ≈4 s is idle by design — alarm rules therefore live on the phone, over the stream the gateway already publishes.</a:t>
            </a:r>
          </a:p>
        </p:txBody>
      </p:sp>
      <p:sp>
        <p:nvSpPr>
          <p:cNvPr id="44" name="Rectangle 43"/>
          <p:cNvSpPr/>
          <p:nvPr/>
        </p:nvSpPr>
        <p:spPr>
          <a:xfrm>
            <a:off x="640080" y="2944368"/>
            <a:ext cx="5074920" cy="2564637"/>
          </a:xfrm>
          <a:prstGeom prst="rect">
            <a:avLst/>
          </a:prstGeom>
          <a:solidFill>
            <a:srgbClr val="0A0E13"/>
          </a:solidFill>
          <a:ln w="12700">
            <a:solidFill>
              <a:srgbClr val="2C364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5" name="Rectangle 44"/>
          <p:cNvSpPr/>
          <p:nvPr/>
        </p:nvSpPr>
        <p:spPr>
          <a:xfrm>
            <a:off x="640080" y="2944368"/>
            <a:ext cx="25400" cy="2564637"/>
          </a:xfrm>
          <a:prstGeom prst="rect">
            <a:avLst/>
          </a:prstGeom>
          <a:solidFill>
            <a:srgbClr val="63D2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6" name="TextBox 45"/>
          <p:cNvSpPr txBox="1"/>
          <p:nvPr/>
        </p:nvSpPr>
        <p:spPr>
          <a:xfrm>
            <a:off x="841247" y="3072384"/>
            <a:ext cx="4672583" cy="201168"/>
          </a:xfrm>
          <a:prstGeom prst="rect">
            <a:avLst/>
          </a:prstGeom>
          <a:noFill/>
        </p:spPr>
        <p:txBody>
          <a:bodyPr wrap="square" lIns="0" tIns="0" rIns="0" bIns="0" anchor="t">
            <a:spAutoFit/>
          </a:bodyPr>
          <a:lstStyle/>
          <a:p>
            <a:pPr algn="l">
              <a:lnSpc>
                <a:spcPct val="100000"/>
              </a:lnSpc>
              <a:spcAft>
                <a:spcPts val="0"/>
              </a:spcAft>
            </a:pPr>
            <a:r>
              <a:rPr sz="850" b="0" i="0">
                <a:solidFill>
                  <a:srgbClr val="63D2E8"/>
                </a:solidFill>
                <a:latin typeface="Bahnschrift SemiBold"/>
              </a:rPr>
              <a:t>osos/dkm440-gw1/telemetry</a:t>
            </a:r>
          </a:p>
        </p:txBody>
      </p:sp>
      <p:sp>
        <p:nvSpPr>
          <p:cNvPr id="47" name="TextBox 46"/>
          <p:cNvSpPr txBox="1"/>
          <p:nvPr/>
        </p:nvSpPr>
        <p:spPr>
          <a:xfrm>
            <a:off x="841247" y="3346704"/>
            <a:ext cx="4672583" cy="2052573"/>
          </a:xfrm>
          <a:prstGeom prst="rect">
            <a:avLst/>
          </a:prstGeom>
          <a:noFill/>
        </p:spPr>
        <p:txBody>
          <a:bodyPr wrap="square" lIns="0" tIns="0" rIns="0" bIns="0">
            <a:spAutoFit/>
          </a:bodyPr>
          <a:lstStyle/>
          <a:p>
            <a:pPr algn="l">
              <a:lnSpc>
                <a:spcPct val="130000"/>
              </a:lnSpc>
              <a:spcAft>
                <a:spcPts val="0"/>
              </a:spcAft>
            </a:pPr>
            <a:r>
              <a:rPr sz="1000" b="0">
                <a:solidFill>
                  <a:srgbClr val="8494A6"/>
                </a:solidFill>
                <a:latin typeface="Consolas"/>
              </a:rPr>
              <a:t>{ "ts": "2026-08-03T11:20:05Z",</a:t>
            </a:r>
          </a:p>
          <a:p>
            <a:pPr algn="l">
              <a:lnSpc>
                <a:spcPct val="130000"/>
              </a:lnSpc>
              <a:spcAft>
                <a:spcPts val="0"/>
              </a:spcAft>
            </a:pPr>
            <a:r>
              <a:rPr sz="1000" b="0">
                <a:solidFill>
                  <a:srgbClr val="8494A6"/>
                </a:solidFill>
                <a:latin typeface="Consolas"/>
              </a:rPr>
              <a:t>  "seq": 4127,</a:t>
            </a:r>
          </a:p>
          <a:p>
            <a:pPr algn="l">
              <a:lnSpc>
                <a:spcPct val="130000"/>
              </a:lnSpc>
              <a:spcAft>
                <a:spcPts val="0"/>
              </a:spcAft>
            </a:pPr>
            <a:r>
              <a:rPr sz="1000" b="0">
                <a:solidFill>
                  <a:srgbClr val="FFA928"/>
                </a:solidFill>
                <a:latin typeface="Consolas"/>
              </a:rPr>
              <a:t>  "buffered": false,</a:t>
            </a:r>
          </a:p>
          <a:p>
            <a:pPr algn="l">
              <a:lnSpc>
                <a:spcPct val="130000"/>
              </a:lnSpc>
              <a:spcAft>
                <a:spcPts val="0"/>
              </a:spcAft>
            </a:pPr>
            <a:r>
              <a:rPr sz="1000" b="0">
                <a:solidFill>
                  <a:srgbClr val="4AD991"/>
                </a:solidFill>
                <a:latin typeface="Consolas"/>
              </a:rPr>
              <a:t>  "meter_ok": true,</a:t>
            </a:r>
          </a:p>
          <a:p>
            <a:pPr algn="l">
              <a:lnSpc>
                <a:spcPct val="130000"/>
              </a:lnSpc>
              <a:spcAft>
                <a:spcPts val="0"/>
              </a:spcAft>
            </a:pPr>
            <a:r>
              <a:rPr sz="1000" b="0">
                <a:solidFill>
                  <a:srgbClr val="E6EDF3"/>
                </a:solidFill>
                <a:latin typeface="Consolas"/>
              </a:rPr>
              <a:t>  "values": {</a:t>
            </a:r>
          </a:p>
          <a:p>
            <a:pPr algn="l">
              <a:lnSpc>
                <a:spcPct val="130000"/>
              </a:lnSpc>
              <a:spcAft>
                <a:spcPts val="0"/>
              </a:spcAft>
            </a:pPr>
            <a:r>
              <a:rPr sz="1000" b="0">
                <a:solidFill>
                  <a:srgbClr val="63D2E8"/>
                </a:solidFill>
                <a:latin typeface="Consolas"/>
              </a:rPr>
              <a:t>    "Supply_Voltage":     23.350,</a:t>
            </a:r>
          </a:p>
          <a:p>
            <a:pPr algn="l">
              <a:lnSpc>
                <a:spcPct val="130000"/>
              </a:lnSpc>
              <a:spcAft>
                <a:spcPts val="0"/>
              </a:spcAft>
            </a:pPr>
            <a:r>
              <a:rPr sz="1000" b="0">
                <a:solidFill>
                  <a:srgbClr val="63D2E8"/>
                </a:solidFill>
                <a:latin typeface="Consolas"/>
              </a:rPr>
              <a:t>    "MainBus_Voltage_L1":  0.000,</a:t>
            </a:r>
          </a:p>
          <a:p>
            <a:pPr algn="l">
              <a:lnSpc>
                <a:spcPct val="130000"/>
              </a:lnSpc>
              <a:spcAft>
                <a:spcPts val="0"/>
              </a:spcAft>
            </a:pPr>
            <a:r>
              <a:rPr sz="1000" b="0">
                <a:solidFill>
                  <a:srgbClr val="FF4438"/>
                </a:solidFill>
                <a:latin typeface="Consolas"/>
              </a:rPr>
              <a:t>    "MainBus_Current_N":   null,</a:t>
            </a:r>
          </a:p>
          <a:p>
            <a:pPr algn="l">
              <a:lnSpc>
                <a:spcPct val="130000"/>
              </a:lnSpc>
              <a:spcAft>
                <a:spcPts val="0"/>
              </a:spcAft>
            </a:pPr>
            <a:r>
              <a:rPr sz="1000" b="0">
                <a:solidFill>
                  <a:srgbClr val="E6EDF3"/>
                </a:solidFill>
                <a:latin typeface="Consolas"/>
              </a:rPr>
              <a:t>    …  22 keys total</a:t>
            </a:r>
          </a:p>
          <a:p>
            <a:pPr algn="l">
              <a:lnSpc>
                <a:spcPct val="130000"/>
              </a:lnSpc>
              <a:spcAft>
                <a:spcPts val="0"/>
              </a:spcAft>
            </a:pPr>
            <a:r>
              <a:rPr sz="1000" b="0">
                <a:solidFill>
                  <a:srgbClr val="E6EDF3"/>
                </a:solidFill>
                <a:latin typeface="Consolas"/>
              </a:rPr>
              <a:t>  } }</a:t>
            </a:r>
          </a:p>
        </p:txBody>
      </p:sp>
      <p:sp>
        <p:nvSpPr>
          <p:cNvPr id="48" name="TextBox 47"/>
          <p:cNvSpPr txBox="1"/>
          <p:nvPr/>
        </p:nvSpPr>
        <p:spPr>
          <a:xfrm>
            <a:off x="640080" y="5596128"/>
            <a:ext cx="5074920" cy="731520"/>
          </a:xfrm>
          <a:prstGeom prst="rect">
            <a:avLst/>
          </a:prstGeom>
          <a:noFill/>
        </p:spPr>
        <p:txBody>
          <a:bodyPr wrap="square" lIns="0" tIns="0" rIns="0" bIns="0">
            <a:spAutoFit/>
          </a:bodyPr>
          <a:lstStyle/>
          <a:p>
            <a:pPr algn="l">
              <a:lnSpc>
                <a:spcPct val="124000"/>
              </a:lnSpc>
              <a:spcAft>
                <a:spcPts val="300"/>
              </a:spcAft>
            </a:pPr>
            <a:r>
              <a:rPr sz="900" b="1">
                <a:solidFill>
                  <a:srgbClr val="63D2E8"/>
                </a:solidFill>
                <a:latin typeface="Consolas"/>
              </a:rPr>
              <a:t>seq</a:t>
            </a:r>
            <a:r>
              <a:rPr sz="900" b="0">
                <a:solidFill>
                  <a:srgbClr val="8494A6"/>
                </a:solidFill>
                <a:latin typeface="Segoe UI"/>
              </a:rPr>
              <a:t>  ·  monotonic per boot — a gap is detectable</a:t>
            </a:r>
          </a:p>
          <a:p>
            <a:pPr algn="l">
              <a:lnSpc>
                <a:spcPct val="124000"/>
              </a:lnSpc>
              <a:spcAft>
                <a:spcPts val="300"/>
              </a:spcAft>
            </a:pPr>
            <a:r>
              <a:rPr sz="900" b="1">
                <a:solidFill>
                  <a:srgbClr val="FFA928"/>
                </a:solidFill>
                <a:latin typeface="Consolas"/>
              </a:rPr>
              <a:t>buffered</a:t>
            </a:r>
            <a:r>
              <a:rPr sz="900" b="0">
                <a:solidFill>
                  <a:srgbClr val="8494A6"/>
                </a:solidFill>
                <a:latin typeface="Segoe UI"/>
              </a:rPr>
              <a:t>  ·  honestly false; store-and-forward did not fit in 36 KB</a:t>
            </a:r>
          </a:p>
          <a:p>
            <a:pPr algn="l">
              <a:lnSpc>
                <a:spcPct val="124000"/>
              </a:lnSpc>
              <a:spcAft>
                <a:spcPts val="300"/>
              </a:spcAft>
            </a:pPr>
            <a:r>
              <a:rPr sz="900" b="1">
                <a:solidFill>
                  <a:srgbClr val="FF4438"/>
                </a:solidFill>
                <a:latin typeface="Consolas"/>
              </a:rPr>
              <a:t>null vs 0.000</a:t>
            </a:r>
            <a:r>
              <a:rPr sz="900" b="0">
                <a:solidFill>
                  <a:srgbClr val="8494A6"/>
                </a:solidFill>
                <a:latin typeface="Segoe UI"/>
              </a:rPr>
              <a:t>  ·  not read, versus read as genuinely zero</a:t>
            </a:r>
          </a:p>
        </p:txBody>
      </p:sp>
      <p:sp>
        <p:nvSpPr>
          <p:cNvPr id="49" name="TextBox 48"/>
          <p:cNvSpPr txBox="1"/>
          <p:nvPr/>
        </p:nvSpPr>
        <p:spPr>
          <a:xfrm>
            <a:off x="5989320" y="2944368"/>
            <a:ext cx="5559552" cy="237744"/>
          </a:xfrm>
          <a:prstGeom prst="rect">
            <a:avLst/>
          </a:prstGeom>
          <a:noFill/>
        </p:spPr>
        <p:txBody>
          <a:bodyPr wrap="square" lIns="0" tIns="0" rIns="0" bIns="0" anchor="t">
            <a:spAutoFit/>
          </a:bodyPr>
          <a:lstStyle/>
          <a:p>
            <a:pPr algn="l">
              <a:lnSpc>
                <a:spcPct val="112000"/>
              </a:lnSpc>
              <a:spcAft>
                <a:spcPts val="0"/>
              </a:spcAft>
            </a:pPr>
            <a:r>
              <a:rPr sz="900" b="0" i="0">
                <a:solidFill>
                  <a:srgbClr val="63D2E8"/>
                </a:solidFill>
                <a:latin typeface="Bahnschrift SemiBold"/>
              </a:rPr>
              <a:t>TOPICS</a:t>
            </a:r>
          </a:p>
        </p:txBody>
      </p:sp>
      <p:sp>
        <p:nvSpPr>
          <p:cNvPr id="50" name="Rectangle 49"/>
          <p:cNvSpPr/>
          <p:nvPr/>
        </p:nvSpPr>
        <p:spPr>
          <a:xfrm>
            <a:off x="5989320" y="3200400"/>
            <a:ext cx="5559552" cy="9525"/>
          </a:xfrm>
          <a:prstGeom prst="rect">
            <a:avLst/>
          </a:prstGeom>
          <a:solidFill>
            <a:srgbClr val="3D4A5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1" name="TextBox 50"/>
          <p:cNvSpPr txBox="1"/>
          <p:nvPr/>
        </p:nvSpPr>
        <p:spPr>
          <a:xfrm>
            <a:off x="5989320" y="3346704"/>
            <a:ext cx="2743200" cy="237744"/>
          </a:xfrm>
          <a:prstGeom prst="rect">
            <a:avLst/>
          </a:prstGeom>
          <a:noFill/>
        </p:spPr>
        <p:txBody>
          <a:bodyPr wrap="square" lIns="0" tIns="0" rIns="0" bIns="0" anchor="t">
            <a:spAutoFit/>
          </a:bodyPr>
          <a:lstStyle/>
          <a:p>
            <a:pPr algn="l">
              <a:lnSpc>
                <a:spcPct val="112000"/>
              </a:lnSpc>
              <a:spcAft>
                <a:spcPts val="0"/>
              </a:spcAft>
            </a:pPr>
            <a:r>
              <a:rPr sz="1100" b="0" i="0">
                <a:solidFill>
                  <a:srgbClr val="63D2E8"/>
                </a:solidFill>
                <a:latin typeface="Consolas"/>
              </a:rPr>
              <a:t>osos/{gw}/telemetry</a:t>
            </a:r>
          </a:p>
        </p:txBody>
      </p:sp>
      <p:sp>
        <p:nvSpPr>
          <p:cNvPr id="52" name="TextBox 51"/>
          <p:cNvSpPr txBox="1"/>
          <p:nvPr/>
        </p:nvSpPr>
        <p:spPr>
          <a:xfrm>
            <a:off x="8778240" y="3364992"/>
            <a:ext cx="2770632" cy="237744"/>
          </a:xfrm>
          <a:prstGeom prst="rect">
            <a:avLst/>
          </a:prstGeom>
          <a:noFill/>
        </p:spPr>
        <p:txBody>
          <a:bodyPr wrap="square" lIns="0" tIns="0" rIns="0" bIns="0" anchor="t">
            <a:spAutoFit/>
          </a:bodyPr>
          <a:lstStyle/>
          <a:p>
            <a:pPr algn="l">
              <a:lnSpc>
                <a:spcPct val="112000"/>
              </a:lnSpc>
              <a:spcAft>
                <a:spcPts val="0"/>
              </a:spcAft>
            </a:pPr>
            <a:r>
              <a:rPr sz="950" b="0" i="0">
                <a:solidFill>
                  <a:srgbClr val="8494A6"/>
                </a:solidFill>
                <a:latin typeface="Segoe UI"/>
              </a:rPr>
              <a:t>every 5 s · the 22 values</a:t>
            </a:r>
          </a:p>
        </p:txBody>
      </p:sp>
      <p:sp>
        <p:nvSpPr>
          <p:cNvPr id="53" name="TextBox 52"/>
          <p:cNvSpPr txBox="1"/>
          <p:nvPr/>
        </p:nvSpPr>
        <p:spPr>
          <a:xfrm>
            <a:off x="5989320" y="3648456"/>
            <a:ext cx="2743200" cy="237744"/>
          </a:xfrm>
          <a:prstGeom prst="rect">
            <a:avLst/>
          </a:prstGeom>
          <a:noFill/>
        </p:spPr>
        <p:txBody>
          <a:bodyPr wrap="square" lIns="0" tIns="0" rIns="0" bIns="0" anchor="t">
            <a:spAutoFit/>
          </a:bodyPr>
          <a:lstStyle/>
          <a:p>
            <a:pPr algn="l">
              <a:lnSpc>
                <a:spcPct val="112000"/>
              </a:lnSpc>
              <a:spcAft>
                <a:spcPts val="0"/>
              </a:spcAft>
            </a:pPr>
            <a:r>
              <a:rPr sz="1100" b="0" i="0">
                <a:solidFill>
                  <a:srgbClr val="63D2E8"/>
                </a:solidFill>
                <a:latin typeface="Consolas"/>
              </a:rPr>
              <a:t>osos/{gw}/status</a:t>
            </a:r>
          </a:p>
        </p:txBody>
      </p:sp>
      <p:sp>
        <p:nvSpPr>
          <p:cNvPr id="54" name="TextBox 53"/>
          <p:cNvSpPr txBox="1"/>
          <p:nvPr/>
        </p:nvSpPr>
        <p:spPr>
          <a:xfrm>
            <a:off x="8778240" y="3666744"/>
            <a:ext cx="2770632" cy="237744"/>
          </a:xfrm>
          <a:prstGeom prst="rect">
            <a:avLst/>
          </a:prstGeom>
          <a:noFill/>
        </p:spPr>
        <p:txBody>
          <a:bodyPr wrap="square" lIns="0" tIns="0" rIns="0" bIns="0" anchor="t">
            <a:spAutoFit/>
          </a:bodyPr>
          <a:lstStyle/>
          <a:p>
            <a:pPr algn="l">
              <a:lnSpc>
                <a:spcPct val="112000"/>
              </a:lnSpc>
              <a:spcAft>
                <a:spcPts val="0"/>
              </a:spcAft>
            </a:pPr>
            <a:r>
              <a:rPr sz="950" b="0" i="0">
                <a:solidFill>
                  <a:srgbClr val="8494A6"/>
                </a:solidFill>
                <a:latin typeface="Segoe UI"/>
              </a:rPr>
              <a:t>retained · online/offline + LWT</a:t>
            </a:r>
          </a:p>
        </p:txBody>
      </p:sp>
      <p:sp>
        <p:nvSpPr>
          <p:cNvPr id="55" name="TextBox 54"/>
          <p:cNvSpPr txBox="1"/>
          <p:nvPr/>
        </p:nvSpPr>
        <p:spPr>
          <a:xfrm>
            <a:off x="5989320" y="3950208"/>
            <a:ext cx="2743200" cy="237744"/>
          </a:xfrm>
          <a:prstGeom prst="rect">
            <a:avLst/>
          </a:prstGeom>
          <a:noFill/>
        </p:spPr>
        <p:txBody>
          <a:bodyPr wrap="square" lIns="0" tIns="0" rIns="0" bIns="0" anchor="t">
            <a:spAutoFit/>
          </a:bodyPr>
          <a:lstStyle/>
          <a:p>
            <a:pPr algn="l">
              <a:lnSpc>
                <a:spcPct val="112000"/>
              </a:lnSpc>
              <a:spcAft>
                <a:spcPts val="0"/>
              </a:spcAft>
            </a:pPr>
            <a:r>
              <a:rPr sz="1100" b="0" i="0">
                <a:solidFill>
                  <a:srgbClr val="63D2E8"/>
                </a:solidFill>
                <a:latin typeface="Consolas"/>
              </a:rPr>
              <a:t>osos/{gw}/event</a:t>
            </a:r>
          </a:p>
        </p:txBody>
      </p:sp>
      <p:sp>
        <p:nvSpPr>
          <p:cNvPr id="56" name="TextBox 55"/>
          <p:cNvSpPr txBox="1"/>
          <p:nvPr/>
        </p:nvSpPr>
        <p:spPr>
          <a:xfrm>
            <a:off x="8778240" y="3968496"/>
            <a:ext cx="2770632" cy="237744"/>
          </a:xfrm>
          <a:prstGeom prst="rect">
            <a:avLst/>
          </a:prstGeom>
          <a:noFill/>
        </p:spPr>
        <p:txBody>
          <a:bodyPr wrap="square" lIns="0" tIns="0" rIns="0" bIns="0" anchor="t">
            <a:spAutoFit/>
          </a:bodyPr>
          <a:lstStyle/>
          <a:p>
            <a:pPr algn="l">
              <a:lnSpc>
                <a:spcPct val="112000"/>
              </a:lnSpc>
              <a:spcAft>
                <a:spcPts val="0"/>
              </a:spcAft>
            </a:pPr>
            <a:r>
              <a:rPr sz="950" b="0" i="0">
                <a:solidFill>
                  <a:srgbClr val="8494A6"/>
                </a:solidFill>
                <a:latin typeface="Segoe UI"/>
              </a:rPr>
              <a:t>link loss, recovery, boot</a:t>
            </a:r>
          </a:p>
        </p:txBody>
      </p:sp>
      <p:sp>
        <p:nvSpPr>
          <p:cNvPr id="57" name="TextBox 56"/>
          <p:cNvSpPr txBox="1"/>
          <p:nvPr/>
        </p:nvSpPr>
        <p:spPr>
          <a:xfrm>
            <a:off x="5989320" y="4251960"/>
            <a:ext cx="2743200" cy="237744"/>
          </a:xfrm>
          <a:prstGeom prst="rect">
            <a:avLst/>
          </a:prstGeom>
          <a:noFill/>
        </p:spPr>
        <p:txBody>
          <a:bodyPr wrap="square" lIns="0" tIns="0" rIns="0" bIns="0" anchor="t">
            <a:spAutoFit/>
          </a:bodyPr>
          <a:lstStyle/>
          <a:p>
            <a:pPr algn="l">
              <a:lnSpc>
                <a:spcPct val="112000"/>
              </a:lnSpc>
              <a:spcAft>
                <a:spcPts val="0"/>
              </a:spcAft>
            </a:pPr>
            <a:r>
              <a:rPr sz="1100" b="0" i="0">
                <a:solidFill>
                  <a:srgbClr val="FFA928"/>
                </a:solidFill>
                <a:latin typeface="Consolas"/>
              </a:rPr>
              <a:t>osos/{gw}/cmd</a:t>
            </a:r>
          </a:p>
        </p:txBody>
      </p:sp>
      <p:sp>
        <p:nvSpPr>
          <p:cNvPr id="58" name="TextBox 57"/>
          <p:cNvSpPr txBox="1"/>
          <p:nvPr/>
        </p:nvSpPr>
        <p:spPr>
          <a:xfrm>
            <a:off x="8778240" y="4270248"/>
            <a:ext cx="2770632" cy="237744"/>
          </a:xfrm>
          <a:prstGeom prst="rect">
            <a:avLst/>
          </a:prstGeom>
          <a:noFill/>
        </p:spPr>
        <p:txBody>
          <a:bodyPr wrap="square" lIns="0" tIns="0" rIns="0" bIns="0" anchor="t">
            <a:spAutoFit/>
          </a:bodyPr>
          <a:lstStyle/>
          <a:p>
            <a:pPr algn="l">
              <a:lnSpc>
                <a:spcPct val="112000"/>
              </a:lnSpc>
              <a:spcAft>
                <a:spcPts val="0"/>
              </a:spcAft>
            </a:pPr>
            <a:r>
              <a:rPr sz="950" b="0" i="0">
                <a:solidFill>
                  <a:srgbClr val="8494A6"/>
                </a:solidFill>
                <a:latin typeface="Segoe UI"/>
              </a:rPr>
              <a:t>phone → gateway</a:t>
            </a:r>
          </a:p>
        </p:txBody>
      </p:sp>
      <p:sp>
        <p:nvSpPr>
          <p:cNvPr id="59" name="TextBox 58"/>
          <p:cNvSpPr txBox="1"/>
          <p:nvPr/>
        </p:nvSpPr>
        <p:spPr>
          <a:xfrm>
            <a:off x="5989320" y="4553712"/>
            <a:ext cx="2743200" cy="237744"/>
          </a:xfrm>
          <a:prstGeom prst="rect">
            <a:avLst/>
          </a:prstGeom>
          <a:noFill/>
        </p:spPr>
        <p:txBody>
          <a:bodyPr wrap="square" lIns="0" tIns="0" rIns="0" bIns="0" anchor="t">
            <a:spAutoFit/>
          </a:bodyPr>
          <a:lstStyle/>
          <a:p>
            <a:pPr algn="l">
              <a:lnSpc>
                <a:spcPct val="112000"/>
              </a:lnSpc>
              <a:spcAft>
                <a:spcPts val="0"/>
              </a:spcAft>
            </a:pPr>
            <a:r>
              <a:rPr sz="1100" b="0" i="0">
                <a:solidFill>
                  <a:srgbClr val="FFA928"/>
                </a:solidFill>
                <a:latin typeface="Consolas"/>
              </a:rPr>
              <a:t>osos/{gw}/ack</a:t>
            </a:r>
          </a:p>
        </p:txBody>
      </p:sp>
      <p:sp>
        <p:nvSpPr>
          <p:cNvPr id="60" name="TextBox 59"/>
          <p:cNvSpPr txBox="1"/>
          <p:nvPr/>
        </p:nvSpPr>
        <p:spPr>
          <a:xfrm>
            <a:off x="8778240" y="4572000"/>
            <a:ext cx="2770632" cy="237744"/>
          </a:xfrm>
          <a:prstGeom prst="rect">
            <a:avLst/>
          </a:prstGeom>
          <a:noFill/>
        </p:spPr>
        <p:txBody>
          <a:bodyPr wrap="square" lIns="0" tIns="0" rIns="0" bIns="0" anchor="t">
            <a:spAutoFit/>
          </a:bodyPr>
          <a:lstStyle/>
          <a:p>
            <a:pPr algn="l">
              <a:lnSpc>
                <a:spcPct val="112000"/>
              </a:lnSpc>
              <a:spcAft>
                <a:spcPts val="0"/>
              </a:spcAft>
            </a:pPr>
            <a:r>
              <a:rPr sz="950" b="0" i="0">
                <a:solidFill>
                  <a:srgbClr val="8494A6"/>
                </a:solidFill>
                <a:latin typeface="Segoe UI"/>
              </a:rPr>
              <a:t>gateway → phone</a:t>
            </a:r>
          </a:p>
        </p:txBody>
      </p:sp>
      <p:sp>
        <p:nvSpPr>
          <p:cNvPr id="61" name="TextBox 60"/>
          <p:cNvSpPr txBox="1"/>
          <p:nvPr/>
        </p:nvSpPr>
        <p:spPr>
          <a:xfrm>
            <a:off x="5989320" y="4892040"/>
            <a:ext cx="5559552" cy="365760"/>
          </a:xfrm>
          <a:prstGeom prst="rect">
            <a:avLst/>
          </a:prstGeom>
          <a:noFill/>
        </p:spPr>
        <p:txBody>
          <a:bodyPr wrap="square" lIns="0" tIns="0" rIns="0" bIns="0" anchor="t">
            <a:spAutoFit/>
          </a:bodyPr>
          <a:lstStyle/>
          <a:p>
            <a:pPr algn="l">
              <a:lnSpc>
                <a:spcPct val="130000"/>
              </a:lnSpc>
              <a:spcAft>
                <a:spcPts val="0"/>
              </a:spcAft>
            </a:pPr>
            <a:r>
              <a:rPr sz="950" b="0" i="0">
                <a:solidFill>
                  <a:srgbClr val="FFA928"/>
                </a:solidFill>
                <a:latin typeface="Segoe UI"/>
              </a:rPr>
              <a:t>cmd/ack are implemented on the phone, the ESP32-S3 build and now the ESP8266 v0.4 firmware — which compiles but has not been flashed.</a:t>
            </a:r>
          </a:p>
        </p:txBody>
      </p:sp>
      <p:sp>
        <p:nvSpPr>
          <p:cNvPr id="62" name="TextBox 61"/>
          <p:cNvSpPr txBox="1"/>
          <p:nvPr/>
        </p:nvSpPr>
        <p:spPr>
          <a:xfrm>
            <a:off x="5989320" y="5358384"/>
            <a:ext cx="5559552" cy="237744"/>
          </a:xfrm>
          <a:prstGeom prst="rect">
            <a:avLst/>
          </a:prstGeom>
          <a:noFill/>
        </p:spPr>
        <p:txBody>
          <a:bodyPr wrap="square" lIns="0" tIns="0" rIns="0" bIns="0" anchor="t">
            <a:spAutoFit/>
          </a:bodyPr>
          <a:lstStyle/>
          <a:p>
            <a:pPr algn="l">
              <a:lnSpc>
                <a:spcPct val="112000"/>
              </a:lnSpc>
              <a:spcAft>
                <a:spcPts val="0"/>
              </a:spcAft>
            </a:pPr>
            <a:r>
              <a:rPr sz="900" b="0" i="0">
                <a:solidFill>
                  <a:srgbClr val="63D2E8"/>
                </a:solidFill>
                <a:latin typeface="Bahnschrift SemiBold"/>
              </a:rPr>
              <a:t>TLS 1.3 — AND WHERE IT STOPS</a:t>
            </a:r>
          </a:p>
        </p:txBody>
      </p:sp>
      <p:sp>
        <p:nvSpPr>
          <p:cNvPr id="63" name="Rectangle 62"/>
          <p:cNvSpPr/>
          <p:nvPr/>
        </p:nvSpPr>
        <p:spPr>
          <a:xfrm>
            <a:off x="5989320" y="5614416"/>
            <a:ext cx="5559552" cy="9525"/>
          </a:xfrm>
          <a:prstGeom prst="rect">
            <a:avLst/>
          </a:prstGeom>
          <a:solidFill>
            <a:srgbClr val="3D4A5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4" name="TextBox 63"/>
          <p:cNvSpPr txBox="1"/>
          <p:nvPr/>
        </p:nvSpPr>
        <p:spPr>
          <a:xfrm>
            <a:off x="5989320" y="5705856"/>
            <a:ext cx="5559552" cy="640080"/>
          </a:xfrm>
          <a:prstGeom prst="rect">
            <a:avLst/>
          </a:prstGeom>
          <a:noFill/>
        </p:spPr>
        <p:txBody>
          <a:bodyPr wrap="square" lIns="0" tIns="0" rIns="0" bIns="0">
            <a:spAutoFit/>
          </a:bodyPr>
          <a:lstStyle/>
          <a:p>
            <a:pPr algn="l">
              <a:lnSpc>
                <a:spcPct val="130000"/>
              </a:lnSpc>
              <a:spcAft>
                <a:spcPts val="600"/>
              </a:spcAft>
            </a:pPr>
            <a:r>
              <a:rPr sz="1000" b="0">
                <a:solidFill>
                  <a:srgbClr val="8494A6"/>
                </a:solidFill>
                <a:latin typeface="Segoe UI"/>
              </a:rPr>
              <a:t>MFLN lets BearSSL run 1 KB receive buffers instead of 16 KB — the only reason TLS coexists with the JSON encoder at 92 % IRAM. Server verified against a DigiCert G2 anchor, config.h gitignored. </a:t>
            </a:r>
            <a:r>
              <a:rPr sz="1000" b="0">
                <a:solidFill>
                  <a:srgbClr val="FF4438"/>
                </a:solidFill>
                <a:latin typeface="Segoe UI"/>
              </a:rPr>
              <a:t>Gateway and head-end still share one credential.</a:t>
            </a:r>
          </a:p>
        </p:txBody>
      </p:sp>
      <p:sp>
        <p:nvSpPr>
          <p:cNvPr id="65" name="Rectangle 64"/>
          <p:cNvSpPr/>
          <p:nvPr/>
        </p:nvSpPr>
        <p:spPr>
          <a:xfrm>
            <a:off x="640080" y="6382512"/>
            <a:ext cx="10908792" cy="9525"/>
          </a:xfrm>
          <a:prstGeom prst="rect">
            <a:avLst/>
          </a:prstGeom>
          <a:solidFill>
            <a:srgbClr val="2C364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6" name="TextBox 65"/>
          <p:cNvSpPr txBox="1"/>
          <p:nvPr/>
        </p:nvSpPr>
        <p:spPr>
          <a:xfrm>
            <a:off x="640080" y="6492240"/>
            <a:ext cx="7315200" cy="237744"/>
          </a:xfrm>
          <a:prstGeom prst="rect">
            <a:avLst/>
          </a:prstGeom>
          <a:noFill/>
        </p:spPr>
        <p:txBody>
          <a:bodyPr wrap="square" lIns="0" tIns="0" rIns="0" bIns="0" anchor="t">
            <a:spAutoFit/>
          </a:bodyPr>
          <a:lstStyle/>
          <a:p>
            <a:pPr algn="l">
              <a:lnSpc>
                <a:spcPct val="112000"/>
              </a:lnSpc>
              <a:spcAft>
                <a:spcPts val="0"/>
              </a:spcAft>
            </a:pPr>
            <a:r>
              <a:rPr sz="850" b="0" i="0">
                <a:solidFill>
                  <a:srgbClr val="5A6878"/>
                </a:solidFill>
                <a:latin typeface="Consolas"/>
              </a:rPr>
              <a:t>OSOS · DKM-440 remote meter reading</a:t>
            </a:r>
          </a:p>
        </p:txBody>
      </p:sp>
      <p:sp>
        <p:nvSpPr>
          <p:cNvPr id="67" name="TextBox 66"/>
          <p:cNvSpPr txBox="1"/>
          <p:nvPr/>
        </p:nvSpPr>
        <p:spPr>
          <a:xfrm>
            <a:off x="10177272" y="6492240"/>
            <a:ext cx="1371600" cy="237744"/>
          </a:xfrm>
          <a:prstGeom prst="rect">
            <a:avLst/>
          </a:prstGeom>
          <a:noFill/>
        </p:spPr>
        <p:txBody>
          <a:bodyPr wrap="square" lIns="0" tIns="0" rIns="0" bIns="0" anchor="t">
            <a:spAutoFit/>
          </a:bodyPr>
          <a:lstStyle/>
          <a:p>
            <a:pPr algn="r">
              <a:lnSpc>
                <a:spcPct val="112000"/>
              </a:lnSpc>
              <a:spcAft>
                <a:spcPts val="0"/>
              </a:spcAft>
            </a:pPr>
            <a:r>
              <a:rPr sz="850" b="0" i="0">
                <a:solidFill>
                  <a:srgbClr val="5A6878"/>
                </a:solidFill>
                <a:latin typeface="Consolas"/>
              </a:rPr>
              <a:t>08</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D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274320"/>
            <a:ext cx="5852160" cy="219456"/>
          </a:xfrm>
          <a:prstGeom prst="rect">
            <a:avLst/>
          </a:prstGeom>
          <a:noFill/>
        </p:spPr>
        <p:txBody>
          <a:bodyPr wrap="square" lIns="0" tIns="0" rIns="0" bIns="0" anchor="t">
            <a:spAutoFit/>
          </a:bodyPr>
          <a:lstStyle/>
          <a:p>
            <a:pPr algn="l">
              <a:lnSpc>
                <a:spcPct val="100000"/>
              </a:lnSpc>
              <a:spcAft>
                <a:spcPts val="0"/>
              </a:spcAft>
            </a:pPr>
            <a:r>
              <a:rPr sz="900" b="0" i="0">
                <a:solidFill>
                  <a:srgbClr val="C89A5B"/>
                </a:solidFill>
                <a:latin typeface="Consolas"/>
              </a:rPr>
              <a:t>NEURAL_NET_C/EXPLANATION.MD · EVERY DERIVATIVE BY HAND</a:t>
            </a:r>
          </a:p>
        </p:txBody>
      </p:sp>
      <p:sp>
        <p:nvSpPr>
          <p:cNvPr id="4" name="TextBox 3"/>
          <p:cNvSpPr txBox="1"/>
          <p:nvPr/>
        </p:nvSpPr>
        <p:spPr>
          <a:xfrm>
            <a:off x="640080" y="493776"/>
            <a:ext cx="5870448" cy="640080"/>
          </a:xfrm>
          <a:prstGeom prst="rect">
            <a:avLst/>
          </a:prstGeom>
          <a:noFill/>
        </p:spPr>
        <p:txBody>
          <a:bodyPr wrap="square" lIns="0" tIns="0" rIns="0" bIns="0" anchor="b">
            <a:spAutoFit/>
          </a:bodyPr>
          <a:lstStyle/>
          <a:p>
            <a:pPr algn="l">
              <a:lnSpc>
                <a:spcPct val="100000"/>
              </a:lnSpc>
              <a:spcAft>
                <a:spcPts val="0"/>
              </a:spcAft>
            </a:pPr>
            <a:r>
              <a:rPr sz="2350" b="0" i="0">
                <a:solidFill>
                  <a:srgbClr val="E6EDF3"/>
                </a:solidFill>
                <a:latin typeface="Bahnschrift SemiBold"/>
              </a:rPr>
              <a:t>The network, from one neuron to training</a:t>
            </a:r>
          </a:p>
        </p:txBody>
      </p:sp>
      <p:sp>
        <p:nvSpPr>
          <p:cNvPr id="5" name="Rectangle 4"/>
          <p:cNvSpPr/>
          <p:nvPr/>
        </p:nvSpPr>
        <p:spPr>
          <a:xfrm>
            <a:off x="6726783" y="583844"/>
            <a:ext cx="1083106" cy="12700"/>
          </a:xfrm>
          <a:prstGeom prst="rect">
            <a:avLst/>
          </a:prstGeom>
          <a:solidFill>
            <a:srgbClr val="2C364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Rectangle 5"/>
          <p:cNvSpPr/>
          <p:nvPr/>
        </p:nvSpPr>
        <p:spPr>
          <a:xfrm>
            <a:off x="6617970" y="548640"/>
            <a:ext cx="77724" cy="77724"/>
          </a:xfrm>
          <a:prstGeom prst="rect">
            <a:avLst/>
          </a:prstGeom>
          <a:solidFill>
            <a:srgbClr val="0D1117"/>
          </a:solidFill>
          <a:ln w="12700">
            <a:solidFill>
              <a:srgbClr val="3D4A5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6045327" y="694944"/>
            <a:ext cx="1223010" cy="201168"/>
          </a:xfrm>
          <a:prstGeom prst="rect">
            <a:avLst/>
          </a:prstGeom>
          <a:noFill/>
        </p:spPr>
        <p:txBody>
          <a:bodyPr wrap="square" lIns="0" tIns="0" rIns="0" bIns="0" anchor="t">
            <a:spAutoFit/>
          </a:bodyPr>
          <a:lstStyle/>
          <a:p>
            <a:pPr algn="ctr">
              <a:lnSpc>
                <a:spcPct val="100000"/>
              </a:lnSpc>
              <a:spcAft>
                <a:spcPts val="0"/>
              </a:spcAft>
            </a:pPr>
            <a:r>
              <a:rPr sz="750" b="0" i="0">
                <a:solidFill>
                  <a:srgbClr val="5A6878"/>
                </a:solidFill>
                <a:latin typeface="Bahnschrift SemiBold"/>
              </a:rPr>
              <a:t>METER</a:t>
            </a:r>
          </a:p>
        </p:txBody>
      </p:sp>
      <p:sp>
        <p:nvSpPr>
          <p:cNvPr id="8" name="Rectangle 7"/>
          <p:cNvSpPr/>
          <p:nvPr/>
        </p:nvSpPr>
        <p:spPr>
          <a:xfrm>
            <a:off x="7949793" y="583844"/>
            <a:ext cx="1083106" cy="12700"/>
          </a:xfrm>
          <a:prstGeom prst="rect">
            <a:avLst/>
          </a:prstGeom>
          <a:solidFill>
            <a:srgbClr val="2C364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Rectangle 8"/>
          <p:cNvSpPr/>
          <p:nvPr/>
        </p:nvSpPr>
        <p:spPr>
          <a:xfrm>
            <a:off x="7840979" y="548640"/>
            <a:ext cx="77724" cy="77724"/>
          </a:xfrm>
          <a:prstGeom prst="rect">
            <a:avLst/>
          </a:prstGeom>
          <a:solidFill>
            <a:srgbClr val="0D1117"/>
          </a:solidFill>
          <a:ln w="12700">
            <a:solidFill>
              <a:srgbClr val="3D4A5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TextBox 9"/>
          <p:cNvSpPr txBox="1"/>
          <p:nvPr/>
        </p:nvSpPr>
        <p:spPr>
          <a:xfrm>
            <a:off x="7268337" y="694944"/>
            <a:ext cx="1223010" cy="201168"/>
          </a:xfrm>
          <a:prstGeom prst="rect">
            <a:avLst/>
          </a:prstGeom>
          <a:noFill/>
        </p:spPr>
        <p:txBody>
          <a:bodyPr wrap="square" lIns="0" tIns="0" rIns="0" bIns="0" anchor="t">
            <a:spAutoFit/>
          </a:bodyPr>
          <a:lstStyle/>
          <a:p>
            <a:pPr algn="ctr">
              <a:lnSpc>
                <a:spcPct val="100000"/>
              </a:lnSpc>
              <a:spcAft>
                <a:spcPts val="0"/>
              </a:spcAft>
            </a:pPr>
            <a:r>
              <a:rPr sz="750" b="0" i="0">
                <a:solidFill>
                  <a:srgbClr val="5A6878"/>
                </a:solidFill>
                <a:latin typeface="Bahnschrift SemiBold"/>
              </a:rPr>
              <a:t>GATEWAY</a:t>
            </a:r>
          </a:p>
        </p:txBody>
      </p:sp>
      <p:sp>
        <p:nvSpPr>
          <p:cNvPr id="11" name="Rectangle 10"/>
          <p:cNvSpPr/>
          <p:nvPr/>
        </p:nvSpPr>
        <p:spPr>
          <a:xfrm>
            <a:off x="9172803" y="583844"/>
            <a:ext cx="1083106" cy="12700"/>
          </a:xfrm>
          <a:prstGeom prst="rect">
            <a:avLst/>
          </a:prstGeom>
          <a:solidFill>
            <a:srgbClr val="2C364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Rectangle 11"/>
          <p:cNvSpPr/>
          <p:nvPr/>
        </p:nvSpPr>
        <p:spPr>
          <a:xfrm>
            <a:off x="9063990" y="548640"/>
            <a:ext cx="77724" cy="77724"/>
          </a:xfrm>
          <a:prstGeom prst="rect">
            <a:avLst/>
          </a:prstGeom>
          <a:solidFill>
            <a:srgbClr val="0D1117"/>
          </a:solidFill>
          <a:ln w="12700">
            <a:solidFill>
              <a:srgbClr val="3D4A5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8491347" y="694944"/>
            <a:ext cx="1223010" cy="201168"/>
          </a:xfrm>
          <a:prstGeom prst="rect">
            <a:avLst/>
          </a:prstGeom>
          <a:noFill/>
        </p:spPr>
        <p:txBody>
          <a:bodyPr wrap="square" lIns="0" tIns="0" rIns="0" bIns="0" anchor="t">
            <a:spAutoFit/>
          </a:bodyPr>
          <a:lstStyle/>
          <a:p>
            <a:pPr algn="ctr">
              <a:lnSpc>
                <a:spcPct val="100000"/>
              </a:lnSpc>
              <a:spcAft>
                <a:spcPts val="0"/>
              </a:spcAft>
            </a:pPr>
            <a:r>
              <a:rPr sz="750" b="0" i="0">
                <a:solidFill>
                  <a:srgbClr val="5A6878"/>
                </a:solidFill>
                <a:latin typeface="Bahnschrift SemiBold"/>
              </a:rPr>
              <a:t>BROKER</a:t>
            </a:r>
          </a:p>
        </p:txBody>
      </p:sp>
      <p:sp>
        <p:nvSpPr>
          <p:cNvPr id="14" name="Rectangle 13"/>
          <p:cNvSpPr/>
          <p:nvPr/>
        </p:nvSpPr>
        <p:spPr>
          <a:xfrm>
            <a:off x="10395813" y="583844"/>
            <a:ext cx="1083106" cy="12700"/>
          </a:xfrm>
          <a:prstGeom prst="rect">
            <a:avLst/>
          </a:prstGeom>
          <a:solidFill>
            <a:srgbClr val="2C364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Rectangle 14"/>
          <p:cNvSpPr/>
          <p:nvPr/>
        </p:nvSpPr>
        <p:spPr>
          <a:xfrm>
            <a:off x="10287000" y="548640"/>
            <a:ext cx="77724" cy="77724"/>
          </a:xfrm>
          <a:prstGeom prst="rect">
            <a:avLst/>
          </a:prstGeom>
          <a:solidFill>
            <a:srgbClr val="0D1117"/>
          </a:solidFill>
          <a:ln w="12700">
            <a:solidFill>
              <a:srgbClr val="3D4A5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TextBox 15"/>
          <p:cNvSpPr txBox="1"/>
          <p:nvPr/>
        </p:nvSpPr>
        <p:spPr>
          <a:xfrm>
            <a:off x="9714357" y="694944"/>
            <a:ext cx="1223010" cy="201168"/>
          </a:xfrm>
          <a:prstGeom prst="rect">
            <a:avLst/>
          </a:prstGeom>
          <a:noFill/>
        </p:spPr>
        <p:txBody>
          <a:bodyPr wrap="square" lIns="0" tIns="0" rIns="0" bIns="0" anchor="t">
            <a:spAutoFit/>
          </a:bodyPr>
          <a:lstStyle/>
          <a:p>
            <a:pPr algn="ctr">
              <a:lnSpc>
                <a:spcPct val="100000"/>
              </a:lnSpc>
              <a:spcAft>
                <a:spcPts val="0"/>
              </a:spcAft>
            </a:pPr>
            <a:r>
              <a:rPr sz="750" b="0" i="0">
                <a:solidFill>
                  <a:srgbClr val="5A6878"/>
                </a:solidFill>
                <a:latin typeface="Bahnschrift SemiBold"/>
              </a:rPr>
              <a:t>PHONE</a:t>
            </a:r>
          </a:p>
        </p:txBody>
      </p:sp>
      <p:sp>
        <p:nvSpPr>
          <p:cNvPr id="17" name="Rectangle 16"/>
          <p:cNvSpPr/>
          <p:nvPr/>
        </p:nvSpPr>
        <p:spPr>
          <a:xfrm>
            <a:off x="11510009" y="548640"/>
            <a:ext cx="77724" cy="77724"/>
          </a:xfrm>
          <a:prstGeom prst="rect">
            <a:avLst/>
          </a:prstGeom>
          <a:solidFill>
            <a:srgbClr val="63D2E8"/>
          </a:solidFill>
          <a:ln w="12700">
            <a:solidFill>
              <a:srgbClr val="63D2E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TextBox 17"/>
          <p:cNvSpPr txBox="1"/>
          <p:nvPr/>
        </p:nvSpPr>
        <p:spPr>
          <a:xfrm>
            <a:off x="10937367" y="694944"/>
            <a:ext cx="1223010" cy="201168"/>
          </a:xfrm>
          <a:prstGeom prst="rect">
            <a:avLst/>
          </a:prstGeom>
          <a:noFill/>
        </p:spPr>
        <p:txBody>
          <a:bodyPr wrap="square" lIns="0" tIns="0" rIns="0" bIns="0" anchor="t">
            <a:spAutoFit/>
          </a:bodyPr>
          <a:lstStyle/>
          <a:p>
            <a:pPr algn="ctr">
              <a:lnSpc>
                <a:spcPct val="100000"/>
              </a:lnSpc>
              <a:spcAft>
                <a:spcPts val="0"/>
              </a:spcAft>
            </a:pPr>
            <a:r>
              <a:rPr sz="750" b="0" i="0">
                <a:solidFill>
                  <a:srgbClr val="63D2E8"/>
                </a:solidFill>
                <a:latin typeface="Bahnschrift SemiBold"/>
              </a:rPr>
              <a:t>NET</a:t>
            </a:r>
          </a:p>
        </p:txBody>
      </p:sp>
      <p:sp>
        <p:nvSpPr>
          <p:cNvPr id="19" name="Rectangle 18"/>
          <p:cNvSpPr/>
          <p:nvPr/>
        </p:nvSpPr>
        <p:spPr>
          <a:xfrm>
            <a:off x="640080" y="1225296"/>
            <a:ext cx="10908792" cy="9525"/>
          </a:xfrm>
          <a:prstGeom prst="rect">
            <a:avLst/>
          </a:prstGeom>
          <a:solidFill>
            <a:srgbClr val="2C364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Rectangle 19"/>
          <p:cNvSpPr/>
          <p:nvPr/>
        </p:nvSpPr>
        <p:spPr>
          <a:xfrm>
            <a:off x="640080" y="1220724"/>
            <a:ext cx="566928" cy="25400"/>
          </a:xfrm>
          <a:prstGeom prst="rect">
            <a:avLst/>
          </a:prstGeom>
          <a:solidFill>
            <a:srgbClr val="C89A5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1" name="TextBox 20"/>
          <p:cNvSpPr txBox="1"/>
          <p:nvPr/>
        </p:nvSpPr>
        <p:spPr>
          <a:xfrm>
            <a:off x="640080" y="1463040"/>
            <a:ext cx="5486400" cy="237744"/>
          </a:xfrm>
          <a:prstGeom prst="rect">
            <a:avLst/>
          </a:prstGeom>
          <a:noFill/>
        </p:spPr>
        <p:txBody>
          <a:bodyPr wrap="square" lIns="0" tIns="0" rIns="0" bIns="0" anchor="t">
            <a:spAutoFit/>
          </a:bodyPr>
          <a:lstStyle/>
          <a:p>
            <a:pPr algn="l">
              <a:lnSpc>
                <a:spcPct val="112000"/>
              </a:lnSpc>
              <a:spcAft>
                <a:spcPts val="0"/>
              </a:spcAft>
            </a:pPr>
            <a:r>
              <a:rPr sz="900" b="0" i="0">
                <a:solidFill>
                  <a:srgbClr val="C89A5B"/>
                </a:solidFill>
                <a:latin typeface="Bahnschrift SemiBold"/>
              </a:rPr>
              <a:t>A NEURON IS A WEIGHTED SUM</a:t>
            </a:r>
          </a:p>
        </p:txBody>
      </p:sp>
      <p:sp>
        <p:nvSpPr>
          <p:cNvPr id="22" name="TextBox 21"/>
          <p:cNvSpPr txBox="1"/>
          <p:nvPr/>
        </p:nvSpPr>
        <p:spPr>
          <a:xfrm>
            <a:off x="640080" y="1719072"/>
            <a:ext cx="5486400" cy="365760"/>
          </a:xfrm>
          <a:prstGeom prst="rect">
            <a:avLst/>
          </a:prstGeom>
          <a:noFill/>
        </p:spPr>
        <p:txBody>
          <a:bodyPr wrap="square" lIns="0" tIns="0" rIns="0" bIns="0" anchor="t">
            <a:spAutoFit/>
          </a:bodyPr>
          <a:lstStyle/>
          <a:p>
            <a:pPr algn="l">
              <a:lnSpc>
                <a:spcPct val="112000"/>
              </a:lnSpc>
              <a:spcAft>
                <a:spcPts val="0"/>
              </a:spcAft>
            </a:pPr>
            <a:r>
              <a:rPr sz="2000" b="0" i="0">
                <a:solidFill>
                  <a:srgbClr val="C89A5B"/>
                </a:solidFill>
                <a:latin typeface="Consolas"/>
              </a:rPr>
              <a:t>zⱼ  =  Σᵢ ( Wⱼᵢ · inᵢ )  +  bⱼ</a:t>
            </a:r>
          </a:p>
        </p:txBody>
      </p:sp>
      <p:sp>
        <p:nvSpPr>
          <p:cNvPr id="23" name="TextBox 22"/>
          <p:cNvSpPr txBox="1"/>
          <p:nvPr/>
        </p:nvSpPr>
        <p:spPr>
          <a:xfrm>
            <a:off x="640080" y="2139696"/>
            <a:ext cx="5486400" cy="709955"/>
          </a:xfrm>
          <a:prstGeom prst="rect">
            <a:avLst/>
          </a:prstGeom>
          <a:noFill/>
        </p:spPr>
        <p:txBody>
          <a:bodyPr wrap="square" lIns="0" tIns="0" rIns="0" bIns="0" anchor="t">
            <a:spAutoFit/>
          </a:bodyPr>
          <a:lstStyle/>
          <a:p>
            <a:pPr algn="l">
              <a:lnSpc>
                <a:spcPct val="140000"/>
              </a:lnSpc>
              <a:spcAft>
                <a:spcPts val="0"/>
              </a:spcAft>
            </a:pPr>
            <a:r>
              <a:rPr sz="1100" b="0" i="0">
                <a:solidFill>
                  <a:srgbClr val="8494A6"/>
                </a:solidFill>
                <a:latin typeface="Segoe UI"/>
              </a:rPr>
              <a:t>Multiply each input by its own weight, add a bias, produce one number. Many in parallel is a layer, layers in sequence are a network, and choosing W and b automatically is training.</a:t>
            </a:r>
          </a:p>
        </p:txBody>
      </p:sp>
      <p:sp>
        <p:nvSpPr>
          <p:cNvPr id="24" name="TextBox 23"/>
          <p:cNvSpPr txBox="1"/>
          <p:nvPr/>
        </p:nvSpPr>
        <p:spPr>
          <a:xfrm>
            <a:off x="6720840" y="1463040"/>
            <a:ext cx="4828032" cy="237744"/>
          </a:xfrm>
          <a:prstGeom prst="rect">
            <a:avLst/>
          </a:prstGeom>
          <a:noFill/>
        </p:spPr>
        <p:txBody>
          <a:bodyPr wrap="square" lIns="0" tIns="0" rIns="0" bIns="0" anchor="t">
            <a:spAutoFit/>
          </a:bodyPr>
          <a:lstStyle/>
          <a:p>
            <a:pPr algn="l">
              <a:lnSpc>
                <a:spcPct val="112000"/>
              </a:lnSpc>
              <a:spcAft>
                <a:spcPts val="0"/>
              </a:spcAft>
            </a:pPr>
            <a:r>
              <a:rPr sz="900" b="0" i="0">
                <a:solidFill>
                  <a:srgbClr val="C89A5B"/>
                </a:solidFill>
                <a:latin typeface="Bahnschrift SemiBold"/>
              </a:rPr>
              <a:t>WHY THERE MUST BE A HIDDEN LAYER</a:t>
            </a:r>
          </a:p>
        </p:txBody>
      </p:sp>
      <p:sp>
        <p:nvSpPr>
          <p:cNvPr id="25" name="Rectangle 24"/>
          <p:cNvSpPr/>
          <p:nvPr/>
        </p:nvSpPr>
        <p:spPr>
          <a:xfrm>
            <a:off x="6720840" y="1755648"/>
            <a:ext cx="896112" cy="896112"/>
          </a:xfrm>
          <a:prstGeom prst="rect">
            <a:avLst/>
          </a:prstGeom>
          <a:solidFill>
            <a:srgbClr val="161C24"/>
          </a:solidFill>
          <a:ln w="12700">
            <a:solidFill>
              <a:srgbClr val="2C364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6" name="Rounded Rectangle 25"/>
          <p:cNvSpPr/>
          <p:nvPr/>
        </p:nvSpPr>
        <p:spPr>
          <a:xfrm>
            <a:off x="6830568" y="2359151"/>
            <a:ext cx="182880" cy="182880"/>
          </a:xfrm>
          <a:prstGeom prst="roundRect">
            <a:avLst>
              <a:gd name="adj" fmla="val 50000"/>
            </a:avLst>
          </a:prstGeom>
          <a:solidFill>
            <a:srgbClr val="63D2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7" name="TextBox 26"/>
          <p:cNvSpPr txBox="1"/>
          <p:nvPr/>
        </p:nvSpPr>
        <p:spPr>
          <a:xfrm>
            <a:off x="6830568" y="2388412"/>
            <a:ext cx="182880" cy="182880"/>
          </a:xfrm>
          <a:prstGeom prst="rect">
            <a:avLst/>
          </a:prstGeom>
          <a:noFill/>
        </p:spPr>
        <p:txBody>
          <a:bodyPr wrap="square" lIns="0" tIns="0" rIns="0" bIns="0" anchor="t">
            <a:spAutoFit/>
          </a:bodyPr>
          <a:lstStyle/>
          <a:p>
            <a:pPr algn="ctr">
              <a:lnSpc>
                <a:spcPct val="112000"/>
              </a:lnSpc>
              <a:spcAft>
                <a:spcPts val="0"/>
              </a:spcAft>
            </a:pPr>
            <a:r>
              <a:rPr sz="850" b="0" i="0">
                <a:solidFill>
                  <a:srgbClr val="0D1117"/>
                </a:solidFill>
                <a:latin typeface="Consolas"/>
              </a:rPr>
              <a:t>0</a:t>
            </a:r>
          </a:p>
        </p:txBody>
      </p:sp>
      <p:sp>
        <p:nvSpPr>
          <p:cNvPr id="28" name="Rounded Rectangle 27"/>
          <p:cNvSpPr/>
          <p:nvPr/>
        </p:nvSpPr>
        <p:spPr>
          <a:xfrm>
            <a:off x="6830568" y="1865375"/>
            <a:ext cx="182880" cy="182880"/>
          </a:xfrm>
          <a:prstGeom prst="roundRect">
            <a:avLst>
              <a:gd name="adj" fmla="val 50000"/>
            </a:avLst>
          </a:prstGeom>
          <a:solidFill>
            <a:srgbClr val="C89A5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9" name="TextBox 28"/>
          <p:cNvSpPr txBox="1"/>
          <p:nvPr/>
        </p:nvSpPr>
        <p:spPr>
          <a:xfrm>
            <a:off x="6830568" y="1894636"/>
            <a:ext cx="182880" cy="182880"/>
          </a:xfrm>
          <a:prstGeom prst="rect">
            <a:avLst/>
          </a:prstGeom>
          <a:noFill/>
        </p:spPr>
        <p:txBody>
          <a:bodyPr wrap="square" lIns="0" tIns="0" rIns="0" bIns="0" anchor="t">
            <a:spAutoFit/>
          </a:bodyPr>
          <a:lstStyle/>
          <a:p>
            <a:pPr algn="ctr">
              <a:lnSpc>
                <a:spcPct val="112000"/>
              </a:lnSpc>
              <a:spcAft>
                <a:spcPts val="0"/>
              </a:spcAft>
            </a:pPr>
            <a:r>
              <a:rPr sz="850" b="0" i="0">
                <a:solidFill>
                  <a:srgbClr val="0D1117"/>
                </a:solidFill>
                <a:latin typeface="Consolas"/>
              </a:rPr>
              <a:t>1</a:t>
            </a:r>
          </a:p>
        </p:txBody>
      </p:sp>
      <p:sp>
        <p:nvSpPr>
          <p:cNvPr id="30" name="Rounded Rectangle 29"/>
          <p:cNvSpPr/>
          <p:nvPr/>
        </p:nvSpPr>
        <p:spPr>
          <a:xfrm>
            <a:off x="7324344" y="2359151"/>
            <a:ext cx="182880" cy="182880"/>
          </a:xfrm>
          <a:prstGeom prst="roundRect">
            <a:avLst>
              <a:gd name="adj" fmla="val 50000"/>
            </a:avLst>
          </a:prstGeom>
          <a:solidFill>
            <a:srgbClr val="C89A5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1" name="TextBox 30"/>
          <p:cNvSpPr txBox="1"/>
          <p:nvPr/>
        </p:nvSpPr>
        <p:spPr>
          <a:xfrm>
            <a:off x="7324344" y="2388412"/>
            <a:ext cx="182880" cy="182880"/>
          </a:xfrm>
          <a:prstGeom prst="rect">
            <a:avLst/>
          </a:prstGeom>
          <a:noFill/>
        </p:spPr>
        <p:txBody>
          <a:bodyPr wrap="square" lIns="0" tIns="0" rIns="0" bIns="0" anchor="t">
            <a:spAutoFit/>
          </a:bodyPr>
          <a:lstStyle/>
          <a:p>
            <a:pPr algn="ctr">
              <a:lnSpc>
                <a:spcPct val="112000"/>
              </a:lnSpc>
              <a:spcAft>
                <a:spcPts val="0"/>
              </a:spcAft>
            </a:pPr>
            <a:r>
              <a:rPr sz="850" b="0" i="0">
                <a:solidFill>
                  <a:srgbClr val="0D1117"/>
                </a:solidFill>
                <a:latin typeface="Consolas"/>
              </a:rPr>
              <a:t>1</a:t>
            </a:r>
          </a:p>
        </p:txBody>
      </p:sp>
      <p:sp>
        <p:nvSpPr>
          <p:cNvPr id="32" name="Rounded Rectangle 31"/>
          <p:cNvSpPr/>
          <p:nvPr/>
        </p:nvSpPr>
        <p:spPr>
          <a:xfrm>
            <a:off x="7324344" y="1865375"/>
            <a:ext cx="182880" cy="182880"/>
          </a:xfrm>
          <a:prstGeom prst="roundRect">
            <a:avLst>
              <a:gd name="adj" fmla="val 50000"/>
            </a:avLst>
          </a:prstGeom>
          <a:solidFill>
            <a:srgbClr val="63D2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3" name="TextBox 32"/>
          <p:cNvSpPr txBox="1"/>
          <p:nvPr/>
        </p:nvSpPr>
        <p:spPr>
          <a:xfrm>
            <a:off x="7324344" y="1894636"/>
            <a:ext cx="182880" cy="182880"/>
          </a:xfrm>
          <a:prstGeom prst="rect">
            <a:avLst/>
          </a:prstGeom>
          <a:noFill/>
        </p:spPr>
        <p:txBody>
          <a:bodyPr wrap="square" lIns="0" tIns="0" rIns="0" bIns="0" anchor="t">
            <a:spAutoFit/>
          </a:bodyPr>
          <a:lstStyle/>
          <a:p>
            <a:pPr algn="ctr">
              <a:lnSpc>
                <a:spcPct val="112000"/>
              </a:lnSpc>
              <a:spcAft>
                <a:spcPts val="0"/>
              </a:spcAft>
            </a:pPr>
            <a:r>
              <a:rPr sz="850" b="0" i="0">
                <a:solidFill>
                  <a:srgbClr val="0D1117"/>
                </a:solidFill>
                <a:latin typeface="Consolas"/>
              </a:rPr>
              <a:t>0</a:t>
            </a:r>
          </a:p>
        </p:txBody>
      </p:sp>
      <p:cxnSp>
        <p:nvCxnSpPr>
          <p:cNvPr id="34" name="Connector 33"/>
          <p:cNvCxnSpPr/>
          <p:nvPr/>
        </p:nvCxnSpPr>
        <p:spPr>
          <a:xfrm flipV="1">
            <a:off x="6784848" y="1819656"/>
            <a:ext cx="768096" cy="768096"/>
          </a:xfrm>
          <a:prstGeom prst="line">
            <a:avLst/>
          </a:prstGeom>
          <a:ln w="19050">
            <a:solidFill>
              <a:srgbClr val="FF4438"/>
            </a:solidFill>
            <a:prstDash val="dash"/>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6720840" y="2706624"/>
            <a:ext cx="896112" cy="219456"/>
          </a:xfrm>
          <a:prstGeom prst="rect">
            <a:avLst/>
          </a:prstGeom>
          <a:noFill/>
        </p:spPr>
        <p:txBody>
          <a:bodyPr wrap="square" lIns="0" tIns="0" rIns="0" bIns="0" anchor="t">
            <a:spAutoFit/>
          </a:bodyPr>
          <a:lstStyle/>
          <a:p>
            <a:pPr algn="ctr">
              <a:lnSpc>
                <a:spcPct val="112000"/>
              </a:lnSpc>
              <a:spcAft>
                <a:spcPts val="0"/>
              </a:spcAft>
            </a:pPr>
            <a:r>
              <a:rPr sz="850" b="0" i="0">
                <a:solidFill>
                  <a:srgbClr val="8494A6"/>
                </a:solidFill>
                <a:latin typeface="Consolas"/>
              </a:rPr>
              <a:t>XOR</a:t>
            </a:r>
          </a:p>
        </p:txBody>
      </p:sp>
      <p:sp>
        <p:nvSpPr>
          <p:cNvPr id="36" name="TextBox 35"/>
          <p:cNvSpPr txBox="1"/>
          <p:nvPr/>
        </p:nvSpPr>
        <p:spPr>
          <a:xfrm>
            <a:off x="7882127" y="1755648"/>
            <a:ext cx="3666744" cy="1183258"/>
          </a:xfrm>
          <a:prstGeom prst="rect">
            <a:avLst/>
          </a:prstGeom>
          <a:noFill/>
        </p:spPr>
        <p:txBody>
          <a:bodyPr wrap="square" lIns="0" tIns="0" rIns="0" bIns="0" anchor="t">
            <a:spAutoFit/>
          </a:bodyPr>
          <a:lstStyle/>
          <a:p>
            <a:pPr algn="l">
              <a:lnSpc>
                <a:spcPct val="140000"/>
              </a:lnSpc>
              <a:spcAft>
                <a:spcPts val="0"/>
              </a:spcAft>
            </a:pPr>
            <a:r>
              <a:rPr sz="1100" b="0" i="0">
                <a:solidFill>
                  <a:srgbClr val="8494A6"/>
                </a:solidFill>
                <a:latin typeface="Segoe UI"/>
              </a:rPr>
              <a:t>No straight line separates XOR's ones from its zeros. Each hidden neuron draws its own line, building coordinates in which the classes become separable — and f must be non-linear, or any depth collapses back into a single matrix.</a:t>
            </a:r>
          </a:p>
        </p:txBody>
      </p:sp>
      <p:sp>
        <p:nvSpPr>
          <p:cNvPr id="37" name="Rectangle 36"/>
          <p:cNvSpPr/>
          <p:nvPr/>
        </p:nvSpPr>
        <p:spPr>
          <a:xfrm>
            <a:off x="640080" y="3017520"/>
            <a:ext cx="2624328" cy="1956816"/>
          </a:xfrm>
          <a:prstGeom prst="rect">
            <a:avLst/>
          </a:prstGeom>
          <a:solidFill>
            <a:srgbClr val="161C24"/>
          </a:solidFill>
          <a:ln w="12700">
            <a:solidFill>
              <a:srgbClr val="2C364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8" name="Rectangle 37"/>
          <p:cNvSpPr/>
          <p:nvPr/>
        </p:nvSpPr>
        <p:spPr>
          <a:xfrm>
            <a:off x="640080" y="3017520"/>
            <a:ext cx="2624328" cy="31750"/>
          </a:xfrm>
          <a:prstGeom prst="rect">
            <a:avLst/>
          </a:prstGeom>
          <a:solidFill>
            <a:srgbClr val="C89A5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9" name="TextBox 38"/>
          <p:cNvSpPr txBox="1"/>
          <p:nvPr/>
        </p:nvSpPr>
        <p:spPr>
          <a:xfrm>
            <a:off x="822959" y="3182112"/>
            <a:ext cx="2258568" cy="237744"/>
          </a:xfrm>
          <a:prstGeom prst="rect">
            <a:avLst/>
          </a:prstGeom>
          <a:noFill/>
        </p:spPr>
        <p:txBody>
          <a:bodyPr wrap="square" lIns="0" tIns="0" rIns="0" bIns="0" anchor="t">
            <a:spAutoFit/>
          </a:bodyPr>
          <a:lstStyle/>
          <a:p>
            <a:pPr algn="l">
              <a:lnSpc>
                <a:spcPct val="112000"/>
              </a:lnSpc>
              <a:spcAft>
                <a:spcPts val="0"/>
              </a:spcAft>
            </a:pPr>
            <a:r>
              <a:rPr sz="900" b="0" i="0">
                <a:solidFill>
                  <a:srgbClr val="C89A5B"/>
                </a:solidFill>
                <a:latin typeface="Bahnschrift SemiBold"/>
              </a:rPr>
              <a:t>FORWARD</a:t>
            </a:r>
          </a:p>
        </p:txBody>
      </p:sp>
      <p:sp>
        <p:nvSpPr>
          <p:cNvPr id="40" name="TextBox 39"/>
          <p:cNvSpPr txBox="1"/>
          <p:nvPr/>
        </p:nvSpPr>
        <p:spPr>
          <a:xfrm>
            <a:off x="822959" y="3438144"/>
            <a:ext cx="2258568" cy="822960"/>
          </a:xfrm>
          <a:prstGeom prst="rect">
            <a:avLst/>
          </a:prstGeom>
          <a:noFill/>
        </p:spPr>
        <p:txBody>
          <a:bodyPr wrap="square" lIns="0" tIns="0" rIns="0" bIns="0" anchor="t">
            <a:spAutoFit/>
          </a:bodyPr>
          <a:lstStyle/>
          <a:p>
            <a:pPr algn="l">
              <a:lnSpc>
                <a:spcPct val="142000"/>
              </a:lnSpc>
              <a:spcAft>
                <a:spcPts val="0"/>
              </a:spcAft>
            </a:pPr>
            <a:r>
              <a:rPr sz="1150" b="0" i="0">
                <a:solidFill>
                  <a:srgbClr val="E6EDF3"/>
                </a:solidFill>
                <a:latin typeface="Consolas"/>
              </a:rPr>
              <a:t>a^0 = x</a:t>
            </a:r>
          </a:p>
          <a:p>
            <a:pPr algn="l">
              <a:lnSpc>
                <a:spcPct val="142000"/>
              </a:lnSpc>
              <a:spcAft>
                <a:spcPts val="0"/>
              </a:spcAft>
            </a:pPr>
            <a:r>
              <a:rPr sz="1150" b="0" i="0">
                <a:solidFill>
                  <a:srgbClr val="E6EDF3"/>
                </a:solidFill>
                <a:latin typeface="Consolas"/>
              </a:rPr>
              <a:t>z^l = W^l·a^(l-1) + b^l</a:t>
            </a:r>
          </a:p>
          <a:p>
            <a:pPr algn="l">
              <a:lnSpc>
                <a:spcPct val="142000"/>
              </a:lnSpc>
              <a:spcAft>
                <a:spcPts val="0"/>
              </a:spcAft>
            </a:pPr>
            <a:r>
              <a:rPr sz="1150" b="0" i="0">
                <a:solidFill>
                  <a:srgbClr val="E6EDF3"/>
                </a:solidFill>
                <a:latin typeface="Consolas"/>
              </a:rPr>
              <a:t>a^l = f(z^l)</a:t>
            </a:r>
          </a:p>
        </p:txBody>
      </p:sp>
      <p:sp>
        <p:nvSpPr>
          <p:cNvPr id="41" name="TextBox 40"/>
          <p:cNvSpPr txBox="1"/>
          <p:nvPr/>
        </p:nvSpPr>
        <p:spPr>
          <a:xfrm>
            <a:off x="822959" y="4279392"/>
            <a:ext cx="2258568" cy="397083"/>
          </a:xfrm>
          <a:prstGeom prst="rect">
            <a:avLst/>
          </a:prstGeom>
          <a:noFill/>
        </p:spPr>
        <p:txBody>
          <a:bodyPr wrap="square" lIns="0" tIns="0" rIns="0" bIns="0" anchor="t">
            <a:spAutoFit/>
          </a:bodyPr>
          <a:lstStyle/>
          <a:p>
            <a:pPr algn="l">
              <a:lnSpc>
                <a:spcPct val="136000"/>
              </a:lnSpc>
              <a:spcAft>
                <a:spcPts val="0"/>
              </a:spcAft>
            </a:pPr>
            <a:r>
              <a:rPr sz="950" b="0" i="0">
                <a:solidFill>
                  <a:srgbClr val="8494A6"/>
                </a:solidFill>
                <a:latin typeface="Segoe UI"/>
              </a:rPr>
              <a:t>Each layer caches z and a — not an optimisation. Backprop needs both.</a:t>
            </a:r>
          </a:p>
        </p:txBody>
      </p:sp>
      <p:cxnSp>
        <p:nvCxnSpPr>
          <p:cNvPr id="42" name="Connector 41"/>
          <p:cNvCxnSpPr/>
          <p:nvPr/>
        </p:nvCxnSpPr>
        <p:spPr>
          <a:xfrm>
            <a:off x="3278124" y="3931920"/>
            <a:ext cx="105156" cy="0"/>
          </a:xfrm>
          <a:prstGeom prst="line">
            <a:avLst/>
          </a:prstGeom>
          <a:ln w="19050">
            <a:solidFill>
              <a:srgbClr val="C89A5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3" name="Rectangle 42"/>
          <p:cNvSpPr/>
          <p:nvPr/>
        </p:nvSpPr>
        <p:spPr>
          <a:xfrm>
            <a:off x="3396996" y="3017520"/>
            <a:ext cx="2624328" cy="1956816"/>
          </a:xfrm>
          <a:prstGeom prst="rect">
            <a:avLst/>
          </a:prstGeom>
          <a:solidFill>
            <a:srgbClr val="161C24"/>
          </a:solidFill>
          <a:ln w="12700">
            <a:solidFill>
              <a:srgbClr val="2C364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4" name="Rectangle 43"/>
          <p:cNvSpPr/>
          <p:nvPr/>
        </p:nvSpPr>
        <p:spPr>
          <a:xfrm>
            <a:off x="3396996" y="3017520"/>
            <a:ext cx="2624328" cy="31750"/>
          </a:xfrm>
          <a:prstGeom prst="rect">
            <a:avLst/>
          </a:prstGeom>
          <a:solidFill>
            <a:srgbClr val="C89A5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5" name="TextBox 44"/>
          <p:cNvSpPr txBox="1"/>
          <p:nvPr/>
        </p:nvSpPr>
        <p:spPr>
          <a:xfrm>
            <a:off x="3579876" y="3182112"/>
            <a:ext cx="2258568" cy="237744"/>
          </a:xfrm>
          <a:prstGeom prst="rect">
            <a:avLst/>
          </a:prstGeom>
          <a:noFill/>
        </p:spPr>
        <p:txBody>
          <a:bodyPr wrap="square" lIns="0" tIns="0" rIns="0" bIns="0" anchor="t">
            <a:spAutoFit/>
          </a:bodyPr>
          <a:lstStyle/>
          <a:p>
            <a:pPr algn="l">
              <a:lnSpc>
                <a:spcPct val="112000"/>
              </a:lnSpc>
              <a:spcAft>
                <a:spcPts val="0"/>
              </a:spcAft>
            </a:pPr>
            <a:r>
              <a:rPr sz="900" b="0" i="0">
                <a:solidFill>
                  <a:srgbClr val="C89A5B"/>
                </a:solidFill>
                <a:latin typeface="Bahnschrift SemiBold"/>
              </a:rPr>
              <a:t>LOSS</a:t>
            </a:r>
          </a:p>
        </p:txBody>
      </p:sp>
      <p:sp>
        <p:nvSpPr>
          <p:cNvPr id="46" name="TextBox 45"/>
          <p:cNvSpPr txBox="1"/>
          <p:nvPr/>
        </p:nvSpPr>
        <p:spPr>
          <a:xfrm>
            <a:off x="3579876" y="3438144"/>
            <a:ext cx="2258568" cy="822960"/>
          </a:xfrm>
          <a:prstGeom prst="rect">
            <a:avLst/>
          </a:prstGeom>
          <a:noFill/>
        </p:spPr>
        <p:txBody>
          <a:bodyPr wrap="square" lIns="0" tIns="0" rIns="0" bIns="0" anchor="t">
            <a:spAutoFit/>
          </a:bodyPr>
          <a:lstStyle/>
          <a:p>
            <a:pPr algn="l">
              <a:lnSpc>
                <a:spcPct val="142000"/>
              </a:lnSpc>
              <a:spcAft>
                <a:spcPts val="0"/>
              </a:spcAft>
            </a:pPr>
            <a:r>
              <a:rPr sz="1150" b="0" i="0">
                <a:solidFill>
                  <a:srgbClr val="E6EDF3"/>
                </a:solidFill>
                <a:latin typeface="Consolas"/>
              </a:rPr>
              <a:t>L = −Σ y_j log a_j</a:t>
            </a:r>
          </a:p>
        </p:txBody>
      </p:sp>
      <p:sp>
        <p:nvSpPr>
          <p:cNvPr id="47" name="TextBox 46"/>
          <p:cNvSpPr txBox="1"/>
          <p:nvPr/>
        </p:nvSpPr>
        <p:spPr>
          <a:xfrm>
            <a:off x="3579876" y="4279392"/>
            <a:ext cx="2258568" cy="595624"/>
          </a:xfrm>
          <a:prstGeom prst="rect">
            <a:avLst/>
          </a:prstGeom>
          <a:noFill/>
        </p:spPr>
        <p:txBody>
          <a:bodyPr wrap="square" lIns="0" tIns="0" rIns="0" bIns="0" anchor="t">
            <a:spAutoFit/>
          </a:bodyPr>
          <a:lstStyle/>
          <a:p>
            <a:pPr algn="l">
              <a:lnSpc>
                <a:spcPct val="136000"/>
              </a:lnSpc>
              <a:spcAft>
                <a:spcPts val="0"/>
              </a:spcAft>
            </a:pPr>
            <a:r>
              <a:rPr sz="950" b="0" i="0">
                <a:solidFill>
                  <a:srgbClr val="8494A6"/>
                </a:solidFill>
                <a:latin typeface="Segoe UI"/>
              </a:rPr>
              <a:t>Cross-entropy over softmax punishes a confident wrong answer far harder than MSE.</a:t>
            </a:r>
          </a:p>
        </p:txBody>
      </p:sp>
      <p:cxnSp>
        <p:nvCxnSpPr>
          <p:cNvPr id="48" name="Connector 47"/>
          <p:cNvCxnSpPr/>
          <p:nvPr/>
        </p:nvCxnSpPr>
        <p:spPr>
          <a:xfrm>
            <a:off x="6035040" y="3931920"/>
            <a:ext cx="105156" cy="0"/>
          </a:xfrm>
          <a:prstGeom prst="line">
            <a:avLst/>
          </a:prstGeom>
          <a:ln w="19050">
            <a:solidFill>
              <a:srgbClr val="C89A5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9" name="Rectangle 48"/>
          <p:cNvSpPr/>
          <p:nvPr/>
        </p:nvSpPr>
        <p:spPr>
          <a:xfrm>
            <a:off x="6153912" y="3017520"/>
            <a:ext cx="2624328" cy="1956816"/>
          </a:xfrm>
          <a:prstGeom prst="rect">
            <a:avLst/>
          </a:prstGeom>
          <a:solidFill>
            <a:srgbClr val="161C24"/>
          </a:solidFill>
          <a:ln w="12700">
            <a:solidFill>
              <a:srgbClr val="2C364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0" name="Rectangle 49"/>
          <p:cNvSpPr/>
          <p:nvPr/>
        </p:nvSpPr>
        <p:spPr>
          <a:xfrm>
            <a:off x="6153912" y="3017520"/>
            <a:ext cx="2624328" cy="31750"/>
          </a:xfrm>
          <a:prstGeom prst="rect">
            <a:avLst/>
          </a:prstGeom>
          <a:solidFill>
            <a:srgbClr val="C89A5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1" name="TextBox 50"/>
          <p:cNvSpPr txBox="1"/>
          <p:nvPr/>
        </p:nvSpPr>
        <p:spPr>
          <a:xfrm>
            <a:off x="6336792" y="3182112"/>
            <a:ext cx="2258568" cy="237744"/>
          </a:xfrm>
          <a:prstGeom prst="rect">
            <a:avLst/>
          </a:prstGeom>
          <a:noFill/>
        </p:spPr>
        <p:txBody>
          <a:bodyPr wrap="square" lIns="0" tIns="0" rIns="0" bIns="0" anchor="t">
            <a:spAutoFit/>
          </a:bodyPr>
          <a:lstStyle/>
          <a:p>
            <a:pPr algn="l">
              <a:lnSpc>
                <a:spcPct val="112000"/>
              </a:lnSpc>
              <a:spcAft>
                <a:spcPts val="0"/>
              </a:spcAft>
            </a:pPr>
            <a:r>
              <a:rPr sz="900" b="0" i="0">
                <a:solidFill>
                  <a:srgbClr val="C89A5B"/>
                </a:solidFill>
                <a:latin typeface="Bahnschrift SemiBold"/>
              </a:rPr>
              <a:t>BACKWARD</a:t>
            </a:r>
          </a:p>
        </p:txBody>
      </p:sp>
      <p:sp>
        <p:nvSpPr>
          <p:cNvPr id="52" name="TextBox 51"/>
          <p:cNvSpPr txBox="1"/>
          <p:nvPr/>
        </p:nvSpPr>
        <p:spPr>
          <a:xfrm>
            <a:off x="6336792" y="3438144"/>
            <a:ext cx="2258568" cy="822960"/>
          </a:xfrm>
          <a:prstGeom prst="rect">
            <a:avLst/>
          </a:prstGeom>
          <a:noFill/>
        </p:spPr>
        <p:txBody>
          <a:bodyPr wrap="square" lIns="0" tIns="0" rIns="0" bIns="0" anchor="t">
            <a:spAutoFit/>
          </a:bodyPr>
          <a:lstStyle/>
          <a:p>
            <a:pPr algn="l">
              <a:lnSpc>
                <a:spcPct val="142000"/>
              </a:lnSpc>
              <a:spcAft>
                <a:spcPts val="0"/>
              </a:spcAft>
            </a:pPr>
            <a:r>
              <a:rPr sz="1150" b="0" i="0">
                <a:solidFill>
                  <a:srgbClr val="E6EDF3"/>
                </a:solidFill>
                <a:latin typeface="Consolas"/>
              </a:rPr>
              <a:t>δ^L = a − y</a:t>
            </a:r>
          </a:p>
          <a:p>
            <a:pPr algn="l">
              <a:lnSpc>
                <a:spcPct val="142000"/>
              </a:lnSpc>
              <a:spcAft>
                <a:spcPts val="0"/>
              </a:spcAft>
            </a:pPr>
            <a:r>
              <a:rPr sz="1150" b="0" i="0">
                <a:solidFill>
                  <a:srgbClr val="E6EDF3"/>
                </a:solidFill>
                <a:latin typeface="Consolas"/>
              </a:rPr>
              <a:t>δ^l = (W^(l+1))^T·δ^(l+1)</a:t>
            </a:r>
          </a:p>
          <a:p>
            <a:pPr algn="l">
              <a:lnSpc>
                <a:spcPct val="142000"/>
              </a:lnSpc>
              <a:spcAft>
                <a:spcPts val="0"/>
              </a:spcAft>
            </a:pPr>
            <a:r>
              <a:rPr sz="1150" b="0" i="0">
                <a:solidFill>
                  <a:srgbClr val="E6EDF3"/>
                </a:solidFill>
                <a:latin typeface="Consolas"/>
              </a:rPr>
              <a:t>        ⊙ f′(z^l)</a:t>
            </a:r>
          </a:p>
        </p:txBody>
      </p:sp>
      <p:sp>
        <p:nvSpPr>
          <p:cNvPr id="53" name="TextBox 52"/>
          <p:cNvSpPr txBox="1"/>
          <p:nvPr/>
        </p:nvSpPr>
        <p:spPr>
          <a:xfrm>
            <a:off x="6336792" y="4279392"/>
            <a:ext cx="2258568" cy="595624"/>
          </a:xfrm>
          <a:prstGeom prst="rect">
            <a:avLst/>
          </a:prstGeom>
          <a:noFill/>
        </p:spPr>
        <p:txBody>
          <a:bodyPr wrap="square" lIns="0" tIns="0" rIns="0" bIns="0" anchor="t">
            <a:spAutoFit/>
          </a:bodyPr>
          <a:lstStyle/>
          <a:p>
            <a:pPr algn="l">
              <a:lnSpc>
                <a:spcPct val="136000"/>
              </a:lnSpc>
              <a:spcAft>
                <a:spcPts val="0"/>
              </a:spcAft>
            </a:pPr>
            <a:r>
              <a:rPr sz="950" b="0" i="0">
                <a:solidFill>
                  <a:srgbClr val="8494A6"/>
                </a:solidFill>
                <a:latin typeface="Segoe UI"/>
              </a:rPr>
              <a:t>The chain rule written out. With softmax + cross-entropy the output term collapses to a − y.</a:t>
            </a:r>
          </a:p>
        </p:txBody>
      </p:sp>
      <p:cxnSp>
        <p:nvCxnSpPr>
          <p:cNvPr id="54" name="Connector 53"/>
          <p:cNvCxnSpPr/>
          <p:nvPr/>
        </p:nvCxnSpPr>
        <p:spPr>
          <a:xfrm>
            <a:off x="8791956" y="3931920"/>
            <a:ext cx="105156" cy="0"/>
          </a:xfrm>
          <a:prstGeom prst="line">
            <a:avLst/>
          </a:prstGeom>
          <a:ln w="19050">
            <a:solidFill>
              <a:srgbClr val="C89A5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5" name="Rectangle 54"/>
          <p:cNvSpPr/>
          <p:nvPr/>
        </p:nvSpPr>
        <p:spPr>
          <a:xfrm>
            <a:off x="8910828" y="3017520"/>
            <a:ext cx="2624328" cy="1956816"/>
          </a:xfrm>
          <a:prstGeom prst="rect">
            <a:avLst/>
          </a:prstGeom>
          <a:solidFill>
            <a:srgbClr val="161C24"/>
          </a:solidFill>
          <a:ln w="12700">
            <a:solidFill>
              <a:srgbClr val="2C364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6" name="Rectangle 55"/>
          <p:cNvSpPr/>
          <p:nvPr/>
        </p:nvSpPr>
        <p:spPr>
          <a:xfrm>
            <a:off x="8910828" y="3017520"/>
            <a:ext cx="2624328" cy="31750"/>
          </a:xfrm>
          <a:prstGeom prst="rect">
            <a:avLst/>
          </a:prstGeom>
          <a:solidFill>
            <a:srgbClr val="C89A5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7" name="TextBox 56"/>
          <p:cNvSpPr txBox="1"/>
          <p:nvPr/>
        </p:nvSpPr>
        <p:spPr>
          <a:xfrm>
            <a:off x="9093707" y="3182112"/>
            <a:ext cx="2258568" cy="237744"/>
          </a:xfrm>
          <a:prstGeom prst="rect">
            <a:avLst/>
          </a:prstGeom>
          <a:noFill/>
        </p:spPr>
        <p:txBody>
          <a:bodyPr wrap="square" lIns="0" tIns="0" rIns="0" bIns="0" anchor="t">
            <a:spAutoFit/>
          </a:bodyPr>
          <a:lstStyle/>
          <a:p>
            <a:pPr algn="l">
              <a:lnSpc>
                <a:spcPct val="112000"/>
              </a:lnSpc>
              <a:spcAft>
                <a:spcPts val="0"/>
              </a:spcAft>
            </a:pPr>
            <a:r>
              <a:rPr sz="900" b="0" i="0">
                <a:solidFill>
                  <a:srgbClr val="C89A5B"/>
                </a:solidFill>
                <a:latin typeface="Bahnschrift SemiBold"/>
              </a:rPr>
              <a:t>STEP</a:t>
            </a:r>
          </a:p>
        </p:txBody>
      </p:sp>
      <p:sp>
        <p:nvSpPr>
          <p:cNvPr id="58" name="TextBox 57"/>
          <p:cNvSpPr txBox="1"/>
          <p:nvPr/>
        </p:nvSpPr>
        <p:spPr>
          <a:xfrm>
            <a:off x="9093707" y="3438144"/>
            <a:ext cx="2258568" cy="822960"/>
          </a:xfrm>
          <a:prstGeom prst="rect">
            <a:avLst/>
          </a:prstGeom>
          <a:noFill/>
        </p:spPr>
        <p:txBody>
          <a:bodyPr wrap="square" lIns="0" tIns="0" rIns="0" bIns="0" anchor="t">
            <a:spAutoFit/>
          </a:bodyPr>
          <a:lstStyle/>
          <a:p>
            <a:pPr algn="l">
              <a:lnSpc>
                <a:spcPct val="142000"/>
              </a:lnSpc>
              <a:spcAft>
                <a:spcPts val="0"/>
              </a:spcAft>
            </a:pPr>
            <a:r>
              <a:rPr sz="1150" b="0" i="0">
                <a:solidFill>
                  <a:srgbClr val="E6EDF3"/>
                </a:solidFill>
                <a:latin typeface="Consolas"/>
              </a:rPr>
              <a:t>W ← W − η·(1/n)·Σ δ·a^T</a:t>
            </a:r>
          </a:p>
        </p:txBody>
      </p:sp>
      <p:sp>
        <p:nvSpPr>
          <p:cNvPr id="59" name="TextBox 58"/>
          <p:cNvSpPr txBox="1"/>
          <p:nvPr/>
        </p:nvSpPr>
        <p:spPr>
          <a:xfrm>
            <a:off x="9093707" y="4279392"/>
            <a:ext cx="2258568" cy="397083"/>
          </a:xfrm>
          <a:prstGeom prst="rect">
            <a:avLst/>
          </a:prstGeom>
          <a:noFill/>
        </p:spPr>
        <p:txBody>
          <a:bodyPr wrap="square" lIns="0" tIns="0" rIns="0" bIns="0" anchor="t">
            <a:spAutoFit/>
          </a:bodyPr>
          <a:lstStyle/>
          <a:p>
            <a:pPr algn="l">
              <a:lnSpc>
                <a:spcPct val="136000"/>
              </a:lnSpc>
              <a:spcAft>
                <a:spcPts val="0"/>
              </a:spcAft>
            </a:pPr>
            <a:r>
              <a:rPr sz="950" b="0" i="0">
                <a:solidFill>
                  <a:srgbClr val="8494A6"/>
                </a:solidFill>
                <a:latin typeface="Segoe UI"/>
              </a:rPr>
              <a:t>Mini-batch SGD: shuffle, accumulate over 64 samples, take one averaged step.</a:t>
            </a:r>
          </a:p>
        </p:txBody>
      </p:sp>
      <p:sp>
        <p:nvSpPr>
          <p:cNvPr id="60" name="Rectangle 59"/>
          <p:cNvSpPr/>
          <p:nvPr/>
        </p:nvSpPr>
        <p:spPr>
          <a:xfrm>
            <a:off x="640080" y="5138928"/>
            <a:ext cx="5349240" cy="1133856"/>
          </a:xfrm>
          <a:prstGeom prst="rect">
            <a:avLst/>
          </a:prstGeom>
          <a:solidFill>
            <a:srgbClr val="161C24"/>
          </a:solidFill>
          <a:ln w="12700">
            <a:solidFill>
              <a:srgbClr val="2C364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1" name="Rectangle 60"/>
          <p:cNvSpPr/>
          <p:nvPr/>
        </p:nvSpPr>
        <p:spPr>
          <a:xfrm>
            <a:off x="640080" y="5138928"/>
            <a:ext cx="5349240" cy="31750"/>
          </a:xfrm>
          <a:prstGeom prst="rect">
            <a:avLst/>
          </a:prstGeom>
          <a:solidFill>
            <a:srgbClr val="4AD99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2" name="TextBox 61"/>
          <p:cNvSpPr txBox="1"/>
          <p:nvPr/>
        </p:nvSpPr>
        <p:spPr>
          <a:xfrm>
            <a:off x="841248" y="5303520"/>
            <a:ext cx="4937760" cy="237744"/>
          </a:xfrm>
          <a:prstGeom prst="rect">
            <a:avLst/>
          </a:prstGeom>
          <a:noFill/>
        </p:spPr>
        <p:txBody>
          <a:bodyPr wrap="square" lIns="0" tIns="0" rIns="0" bIns="0" anchor="t">
            <a:spAutoFit/>
          </a:bodyPr>
          <a:lstStyle/>
          <a:p>
            <a:pPr algn="l">
              <a:lnSpc>
                <a:spcPct val="112000"/>
              </a:lnSpc>
              <a:spcAft>
                <a:spcPts val="0"/>
              </a:spcAft>
            </a:pPr>
            <a:r>
              <a:rPr sz="900" b="0" i="0">
                <a:solidFill>
                  <a:srgbClr val="4AD991"/>
                </a:solidFill>
                <a:latin typeface="Bahnschrift SemiBold"/>
              </a:rPr>
              <a:t>HOW WE KNOW THE DERIVATIVES ARE RIGHT</a:t>
            </a:r>
          </a:p>
        </p:txBody>
      </p:sp>
      <p:sp>
        <p:nvSpPr>
          <p:cNvPr id="63" name="TextBox 62"/>
          <p:cNvSpPr txBox="1"/>
          <p:nvPr/>
        </p:nvSpPr>
        <p:spPr>
          <a:xfrm>
            <a:off x="841248" y="5541264"/>
            <a:ext cx="4937760" cy="274320"/>
          </a:xfrm>
          <a:prstGeom prst="rect">
            <a:avLst/>
          </a:prstGeom>
          <a:noFill/>
        </p:spPr>
        <p:txBody>
          <a:bodyPr wrap="square" lIns="0" tIns="0" rIns="0" bIns="0" anchor="t">
            <a:spAutoFit/>
          </a:bodyPr>
          <a:lstStyle/>
          <a:p>
            <a:pPr algn="l">
              <a:lnSpc>
                <a:spcPct val="112000"/>
              </a:lnSpc>
              <a:spcAft>
                <a:spcPts val="0"/>
              </a:spcAft>
            </a:pPr>
            <a:r>
              <a:rPr sz="1400" b="0" i="0">
                <a:solidFill>
                  <a:srgbClr val="4AD991"/>
                </a:solidFill>
                <a:latin typeface="Consolas"/>
              </a:rPr>
              <a:t>max |analytic − numeric|  &lt;  1e-9</a:t>
            </a:r>
          </a:p>
        </p:txBody>
      </p:sp>
      <p:sp>
        <p:nvSpPr>
          <p:cNvPr id="64" name="TextBox 63"/>
          <p:cNvSpPr txBox="1"/>
          <p:nvPr/>
        </p:nvSpPr>
        <p:spPr>
          <a:xfrm>
            <a:off x="841248" y="5833872"/>
            <a:ext cx="4937760" cy="391243"/>
          </a:xfrm>
          <a:prstGeom prst="rect">
            <a:avLst/>
          </a:prstGeom>
          <a:noFill/>
        </p:spPr>
        <p:txBody>
          <a:bodyPr wrap="square" lIns="0" tIns="0" rIns="0" bIns="0" anchor="t">
            <a:spAutoFit/>
          </a:bodyPr>
          <a:lstStyle/>
          <a:p>
            <a:pPr algn="l">
              <a:lnSpc>
                <a:spcPct val="134000"/>
              </a:lnSpc>
              <a:spcAft>
                <a:spcPts val="0"/>
              </a:spcAft>
            </a:pPr>
            <a:r>
              <a:rPr sz="950" b="0" i="0">
                <a:solidFill>
                  <a:srgbClr val="8494A6"/>
                </a:solidFill>
                <a:latin typeface="Segoe UI"/>
              </a:rPr>
              <a:t>gradcheck.cpp perturbs every weight by ±ε and compares the finite difference against backprop.</a:t>
            </a:r>
          </a:p>
        </p:txBody>
      </p:sp>
      <p:sp>
        <p:nvSpPr>
          <p:cNvPr id="65" name="TextBox 64"/>
          <p:cNvSpPr txBox="1"/>
          <p:nvPr/>
        </p:nvSpPr>
        <p:spPr>
          <a:xfrm>
            <a:off x="6199632" y="5138928"/>
            <a:ext cx="5349240" cy="237744"/>
          </a:xfrm>
          <a:prstGeom prst="rect">
            <a:avLst/>
          </a:prstGeom>
          <a:noFill/>
        </p:spPr>
        <p:txBody>
          <a:bodyPr wrap="square" lIns="0" tIns="0" rIns="0" bIns="0" anchor="t">
            <a:spAutoFit/>
          </a:bodyPr>
          <a:lstStyle/>
          <a:p>
            <a:pPr algn="l">
              <a:lnSpc>
                <a:spcPct val="112000"/>
              </a:lnSpc>
              <a:spcAft>
                <a:spcPts val="0"/>
              </a:spcAft>
            </a:pPr>
            <a:r>
              <a:rPr sz="900" b="0" i="0">
                <a:solidFill>
                  <a:srgbClr val="C89A5B"/>
                </a:solidFill>
                <a:latin typeface="Bahnschrift SemiBold"/>
              </a:rPr>
              <a:t>THE REST OF IT — main_mnist.cpp</a:t>
            </a:r>
          </a:p>
        </p:txBody>
      </p:sp>
      <p:sp>
        <p:nvSpPr>
          <p:cNvPr id="66" name="Rectangle 65"/>
          <p:cNvSpPr/>
          <p:nvPr/>
        </p:nvSpPr>
        <p:spPr>
          <a:xfrm>
            <a:off x="6199632" y="5394960"/>
            <a:ext cx="5349240" cy="9525"/>
          </a:xfrm>
          <a:prstGeom prst="rect">
            <a:avLst/>
          </a:prstGeom>
          <a:solidFill>
            <a:srgbClr val="3D4A5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7" name="TextBox 66"/>
          <p:cNvSpPr txBox="1"/>
          <p:nvPr/>
        </p:nvSpPr>
        <p:spPr>
          <a:xfrm>
            <a:off x="6199632" y="5504688"/>
            <a:ext cx="5349240" cy="237744"/>
          </a:xfrm>
          <a:prstGeom prst="rect">
            <a:avLst/>
          </a:prstGeom>
          <a:noFill/>
        </p:spPr>
        <p:txBody>
          <a:bodyPr wrap="square" lIns="0" tIns="0" rIns="0" bIns="0" anchor="t">
            <a:spAutoFit/>
          </a:bodyPr>
          <a:lstStyle/>
          <a:p>
            <a:pPr algn="l">
              <a:lnSpc>
                <a:spcPct val="112000"/>
              </a:lnSpc>
              <a:spcAft>
                <a:spcPts val="0"/>
              </a:spcAft>
            </a:pPr>
            <a:r>
              <a:rPr sz="950" b="0" i="0">
                <a:solidFill>
                  <a:srgbClr val="E6EDF3"/>
                </a:solidFill>
                <a:latin typeface="Consolas"/>
              </a:rPr>
              <a:t>EPOCHS 10 · BATCH 64 · ETA 0.1 · Fisher–Yates shuffle per epoch</a:t>
            </a:r>
          </a:p>
        </p:txBody>
      </p:sp>
      <p:sp>
        <p:nvSpPr>
          <p:cNvPr id="68" name="TextBox 67"/>
          <p:cNvSpPr txBox="1"/>
          <p:nvPr/>
        </p:nvSpPr>
        <p:spPr>
          <a:xfrm>
            <a:off x="6199632" y="5724144"/>
            <a:ext cx="5349240" cy="237744"/>
          </a:xfrm>
          <a:prstGeom prst="rect">
            <a:avLst/>
          </a:prstGeom>
          <a:noFill/>
        </p:spPr>
        <p:txBody>
          <a:bodyPr wrap="square" lIns="0" tIns="0" rIns="0" bIns="0" anchor="t">
            <a:spAutoFit/>
          </a:bodyPr>
          <a:lstStyle/>
          <a:p>
            <a:pPr algn="l">
              <a:lnSpc>
                <a:spcPct val="112000"/>
              </a:lnSpc>
              <a:spcAft>
                <a:spcPts val="0"/>
              </a:spcAft>
            </a:pPr>
            <a:r>
              <a:rPr sz="950" b="0" i="0">
                <a:solidFill>
                  <a:srgbClr val="8494A6"/>
                </a:solidFill>
                <a:latin typeface="Consolas"/>
              </a:rPr>
              <a:t>weights scaled by fan-in · softmax with max subtracted</a:t>
            </a:r>
          </a:p>
        </p:txBody>
      </p:sp>
      <p:sp>
        <p:nvSpPr>
          <p:cNvPr id="69" name="TextBox 68"/>
          <p:cNvSpPr txBox="1"/>
          <p:nvPr/>
        </p:nvSpPr>
        <p:spPr>
          <a:xfrm>
            <a:off x="6199632" y="5943600"/>
            <a:ext cx="5349240" cy="237744"/>
          </a:xfrm>
          <a:prstGeom prst="rect">
            <a:avLst/>
          </a:prstGeom>
          <a:noFill/>
        </p:spPr>
        <p:txBody>
          <a:bodyPr wrap="square" lIns="0" tIns="0" rIns="0" bIns="0" anchor="t">
            <a:spAutoFit/>
          </a:bodyPr>
          <a:lstStyle/>
          <a:p>
            <a:pPr algn="l">
              <a:lnSpc>
                <a:spcPct val="112000"/>
              </a:lnSpc>
              <a:spcAft>
                <a:spcPts val="0"/>
              </a:spcAft>
            </a:pPr>
            <a:r>
              <a:rPr sz="950" b="0" i="0">
                <a:solidFill>
                  <a:srgbClr val="5A6878"/>
                </a:solidFill>
                <a:latin typeface="Consolas"/>
              </a:rPr>
              <a:t>sigmoid s′ = s(1−s) peaks at 0.25 · ReLU r′ = 1 does not vanish</a:t>
            </a:r>
          </a:p>
        </p:txBody>
      </p:sp>
      <p:sp>
        <p:nvSpPr>
          <p:cNvPr id="70" name="Rectangle 69"/>
          <p:cNvSpPr/>
          <p:nvPr/>
        </p:nvSpPr>
        <p:spPr>
          <a:xfrm>
            <a:off x="640080" y="6382512"/>
            <a:ext cx="10908792" cy="9525"/>
          </a:xfrm>
          <a:prstGeom prst="rect">
            <a:avLst/>
          </a:prstGeom>
          <a:solidFill>
            <a:srgbClr val="2C364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1" name="TextBox 70"/>
          <p:cNvSpPr txBox="1"/>
          <p:nvPr/>
        </p:nvSpPr>
        <p:spPr>
          <a:xfrm>
            <a:off x="640080" y="6492240"/>
            <a:ext cx="7315200" cy="237744"/>
          </a:xfrm>
          <a:prstGeom prst="rect">
            <a:avLst/>
          </a:prstGeom>
          <a:noFill/>
        </p:spPr>
        <p:txBody>
          <a:bodyPr wrap="square" lIns="0" tIns="0" rIns="0" bIns="0" anchor="t">
            <a:spAutoFit/>
          </a:bodyPr>
          <a:lstStyle/>
          <a:p>
            <a:pPr algn="l">
              <a:lnSpc>
                <a:spcPct val="112000"/>
              </a:lnSpc>
              <a:spcAft>
                <a:spcPts val="0"/>
              </a:spcAft>
            </a:pPr>
            <a:r>
              <a:rPr sz="850" b="0" i="0">
                <a:solidFill>
                  <a:srgbClr val="5A6878"/>
                </a:solidFill>
                <a:latin typeface="Consolas"/>
              </a:rPr>
              <a:t>OSOS · DKM-440 remote meter reading</a:t>
            </a:r>
          </a:p>
        </p:txBody>
      </p:sp>
      <p:sp>
        <p:nvSpPr>
          <p:cNvPr id="72" name="TextBox 71"/>
          <p:cNvSpPr txBox="1"/>
          <p:nvPr/>
        </p:nvSpPr>
        <p:spPr>
          <a:xfrm>
            <a:off x="10177272" y="6492240"/>
            <a:ext cx="1371600" cy="237744"/>
          </a:xfrm>
          <a:prstGeom prst="rect">
            <a:avLst/>
          </a:prstGeom>
          <a:noFill/>
        </p:spPr>
        <p:txBody>
          <a:bodyPr wrap="square" lIns="0" tIns="0" rIns="0" bIns="0" anchor="t">
            <a:spAutoFit/>
          </a:bodyPr>
          <a:lstStyle/>
          <a:p>
            <a:pPr algn="r">
              <a:lnSpc>
                <a:spcPct val="112000"/>
              </a:lnSpc>
              <a:spcAft>
                <a:spcPts val="0"/>
              </a:spcAft>
            </a:pPr>
            <a:r>
              <a:rPr sz="850" b="0" i="0">
                <a:solidFill>
                  <a:srgbClr val="5A6878"/>
                </a:solidFill>
                <a:latin typeface="Consolas"/>
              </a:rPr>
              <a:t>09</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D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274320"/>
            <a:ext cx="5852160" cy="219456"/>
          </a:xfrm>
          <a:prstGeom prst="rect">
            <a:avLst/>
          </a:prstGeom>
          <a:noFill/>
        </p:spPr>
        <p:txBody>
          <a:bodyPr wrap="square" lIns="0" tIns="0" rIns="0" bIns="0" anchor="t">
            <a:spAutoFit/>
          </a:bodyPr>
          <a:lstStyle/>
          <a:p>
            <a:pPr algn="l">
              <a:lnSpc>
                <a:spcPct val="100000"/>
              </a:lnSpc>
              <a:spcAft>
                <a:spcPts val="0"/>
              </a:spcAft>
            </a:pPr>
            <a:r>
              <a:rPr sz="900" b="0" i="0">
                <a:solidFill>
                  <a:srgbClr val="C89A5B"/>
                </a:solidFill>
                <a:latin typeface="Consolas"/>
              </a:rPr>
              <a:t>70 000 HANDWRITTEN DIGITS · 60 K TRAIN / 10 K TEST</a:t>
            </a:r>
          </a:p>
        </p:txBody>
      </p:sp>
      <p:sp>
        <p:nvSpPr>
          <p:cNvPr id="4" name="TextBox 3"/>
          <p:cNvSpPr txBox="1"/>
          <p:nvPr/>
        </p:nvSpPr>
        <p:spPr>
          <a:xfrm>
            <a:off x="640080" y="493776"/>
            <a:ext cx="5870448" cy="640080"/>
          </a:xfrm>
          <a:prstGeom prst="rect">
            <a:avLst/>
          </a:prstGeom>
          <a:noFill/>
        </p:spPr>
        <p:txBody>
          <a:bodyPr wrap="square" lIns="0" tIns="0" rIns="0" bIns="0" anchor="b">
            <a:spAutoFit/>
          </a:bodyPr>
          <a:lstStyle/>
          <a:p>
            <a:pPr algn="l">
              <a:lnSpc>
                <a:spcPct val="100000"/>
              </a:lnSpc>
              <a:spcAft>
                <a:spcPts val="0"/>
              </a:spcAft>
            </a:pPr>
            <a:r>
              <a:rPr sz="2700" b="0" i="0">
                <a:solidFill>
                  <a:srgbClr val="E6EDF3"/>
                </a:solidFill>
                <a:latin typeface="Bahnschrift SemiBold"/>
              </a:rPr>
              <a:t>MNIST — the standard first problem</a:t>
            </a:r>
          </a:p>
        </p:txBody>
      </p:sp>
      <p:sp>
        <p:nvSpPr>
          <p:cNvPr id="5" name="Rectangle 4"/>
          <p:cNvSpPr/>
          <p:nvPr/>
        </p:nvSpPr>
        <p:spPr>
          <a:xfrm>
            <a:off x="6726783" y="583844"/>
            <a:ext cx="1083106" cy="12700"/>
          </a:xfrm>
          <a:prstGeom prst="rect">
            <a:avLst/>
          </a:prstGeom>
          <a:solidFill>
            <a:srgbClr val="2C364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Rectangle 5"/>
          <p:cNvSpPr/>
          <p:nvPr/>
        </p:nvSpPr>
        <p:spPr>
          <a:xfrm>
            <a:off x="6617970" y="548640"/>
            <a:ext cx="77724" cy="77724"/>
          </a:xfrm>
          <a:prstGeom prst="rect">
            <a:avLst/>
          </a:prstGeom>
          <a:solidFill>
            <a:srgbClr val="0D1117"/>
          </a:solidFill>
          <a:ln w="12700">
            <a:solidFill>
              <a:srgbClr val="3D4A5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6045327" y="694944"/>
            <a:ext cx="1223010" cy="201168"/>
          </a:xfrm>
          <a:prstGeom prst="rect">
            <a:avLst/>
          </a:prstGeom>
          <a:noFill/>
        </p:spPr>
        <p:txBody>
          <a:bodyPr wrap="square" lIns="0" tIns="0" rIns="0" bIns="0" anchor="t">
            <a:spAutoFit/>
          </a:bodyPr>
          <a:lstStyle/>
          <a:p>
            <a:pPr algn="ctr">
              <a:lnSpc>
                <a:spcPct val="100000"/>
              </a:lnSpc>
              <a:spcAft>
                <a:spcPts val="0"/>
              </a:spcAft>
            </a:pPr>
            <a:r>
              <a:rPr sz="750" b="0" i="0">
                <a:solidFill>
                  <a:srgbClr val="5A6878"/>
                </a:solidFill>
                <a:latin typeface="Bahnschrift SemiBold"/>
              </a:rPr>
              <a:t>METER</a:t>
            </a:r>
          </a:p>
        </p:txBody>
      </p:sp>
      <p:sp>
        <p:nvSpPr>
          <p:cNvPr id="8" name="Rectangle 7"/>
          <p:cNvSpPr/>
          <p:nvPr/>
        </p:nvSpPr>
        <p:spPr>
          <a:xfrm>
            <a:off x="7949793" y="583844"/>
            <a:ext cx="1083106" cy="12700"/>
          </a:xfrm>
          <a:prstGeom prst="rect">
            <a:avLst/>
          </a:prstGeom>
          <a:solidFill>
            <a:srgbClr val="2C364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Rectangle 8"/>
          <p:cNvSpPr/>
          <p:nvPr/>
        </p:nvSpPr>
        <p:spPr>
          <a:xfrm>
            <a:off x="7840979" y="548640"/>
            <a:ext cx="77724" cy="77724"/>
          </a:xfrm>
          <a:prstGeom prst="rect">
            <a:avLst/>
          </a:prstGeom>
          <a:solidFill>
            <a:srgbClr val="0D1117"/>
          </a:solidFill>
          <a:ln w="12700">
            <a:solidFill>
              <a:srgbClr val="3D4A5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TextBox 9"/>
          <p:cNvSpPr txBox="1"/>
          <p:nvPr/>
        </p:nvSpPr>
        <p:spPr>
          <a:xfrm>
            <a:off x="7268337" y="694944"/>
            <a:ext cx="1223010" cy="201168"/>
          </a:xfrm>
          <a:prstGeom prst="rect">
            <a:avLst/>
          </a:prstGeom>
          <a:noFill/>
        </p:spPr>
        <p:txBody>
          <a:bodyPr wrap="square" lIns="0" tIns="0" rIns="0" bIns="0" anchor="t">
            <a:spAutoFit/>
          </a:bodyPr>
          <a:lstStyle/>
          <a:p>
            <a:pPr algn="ctr">
              <a:lnSpc>
                <a:spcPct val="100000"/>
              </a:lnSpc>
              <a:spcAft>
                <a:spcPts val="0"/>
              </a:spcAft>
            </a:pPr>
            <a:r>
              <a:rPr sz="750" b="0" i="0">
                <a:solidFill>
                  <a:srgbClr val="5A6878"/>
                </a:solidFill>
                <a:latin typeface="Bahnschrift SemiBold"/>
              </a:rPr>
              <a:t>GATEWAY</a:t>
            </a:r>
          </a:p>
        </p:txBody>
      </p:sp>
      <p:sp>
        <p:nvSpPr>
          <p:cNvPr id="11" name="Rectangle 10"/>
          <p:cNvSpPr/>
          <p:nvPr/>
        </p:nvSpPr>
        <p:spPr>
          <a:xfrm>
            <a:off x="9172803" y="583844"/>
            <a:ext cx="1083106" cy="12700"/>
          </a:xfrm>
          <a:prstGeom prst="rect">
            <a:avLst/>
          </a:prstGeom>
          <a:solidFill>
            <a:srgbClr val="2C364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Rectangle 11"/>
          <p:cNvSpPr/>
          <p:nvPr/>
        </p:nvSpPr>
        <p:spPr>
          <a:xfrm>
            <a:off x="9063990" y="548640"/>
            <a:ext cx="77724" cy="77724"/>
          </a:xfrm>
          <a:prstGeom prst="rect">
            <a:avLst/>
          </a:prstGeom>
          <a:solidFill>
            <a:srgbClr val="0D1117"/>
          </a:solidFill>
          <a:ln w="12700">
            <a:solidFill>
              <a:srgbClr val="3D4A5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8491347" y="694944"/>
            <a:ext cx="1223010" cy="201168"/>
          </a:xfrm>
          <a:prstGeom prst="rect">
            <a:avLst/>
          </a:prstGeom>
          <a:noFill/>
        </p:spPr>
        <p:txBody>
          <a:bodyPr wrap="square" lIns="0" tIns="0" rIns="0" bIns="0" anchor="t">
            <a:spAutoFit/>
          </a:bodyPr>
          <a:lstStyle/>
          <a:p>
            <a:pPr algn="ctr">
              <a:lnSpc>
                <a:spcPct val="100000"/>
              </a:lnSpc>
              <a:spcAft>
                <a:spcPts val="0"/>
              </a:spcAft>
            </a:pPr>
            <a:r>
              <a:rPr sz="750" b="0" i="0">
                <a:solidFill>
                  <a:srgbClr val="5A6878"/>
                </a:solidFill>
                <a:latin typeface="Bahnschrift SemiBold"/>
              </a:rPr>
              <a:t>BROKER</a:t>
            </a:r>
          </a:p>
        </p:txBody>
      </p:sp>
      <p:sp>
        <p:nvSpPr>
          <p:cNvPr id="14" name="Rectangle 13"/>
          <p:cNvSpPr/>
          <p:nvPr/>
        </p:nvSpPr>
        <p:spPr>
          <a:xfrm>
            <a:off x="10395813" y="583844"/>
            <a:ext cx="1083106" cy="12700"/>
          </a:xfrm>
          <a:prstGeom prst="rect">
            <a:avLst/>
          </a:prstGeom>
          <a:solidFill>
            <a:srgbClr val="2C364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Rectangle 14"/>
          <p:cNvSpPr/>
          <p:nvPr/>
        </p:nvSpPr>
        <p:spPr>
          <a:xfrm>
            <a:off x="10287000" y="548640"/>
            <a:ext cx="77724" cy="77724"/>
          </a:xfrm>
          <a:prstGeom prst="rect">
            <a:avLst/>
          </a:prstGeom>
          <a:solidFill>
            <a:srgbClr val="0D1117"/>
          </a:solidFill>
          <a:ln w="12700">
            <a:solidFill>
              <a:srgbClr val="3D4A5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TextBox 15"/>
          <p:cNvSpPr txBox="1"/>
          <p:nvPr/>
        </p:nvSpPr>
        <p:spPr>
          <a:xfrm>
            <a:off x="9714357" y="694944"/>
            <a:ext cx="1223010" cy="201168"/>
          </a:xfrm>
          <a:prstGeom prst="rect">
            <a:avLst/>
          </a:prstGeom>
          <a:noFill/>
        </p:spPr>
        <p:txBody>
          <a:bodyPr wrap="square" lIns="0" tIns="0" rIns="0" bIns="0" anchor="t">
            <a:spAutoFit/>
          </a:bodyPr>
          <a:lstStyle/>
          <a:p>
            <a:pPr algn="ctr">
              <a:lnSpc>
                <a:spcPct val="100000"/>
              </a:lnSpc>
              <a:spcAft>
                <a:spcPts val="0"/>
              </a:spcAft>
            </a:pPr>
            <a:r>
              <a:rPr sz="750" b="0" i="0">
                <a:solidFill>
                  <a:srgbClr val="5A6878"/>
                </a:solidFill>
                <a:latin typeface="Bahnschrift SemiBold"/>
              </a:rPr>
              <a:t>PHONE</a:t>
            </a:r>
          </a:p>
        </p:txBody>
      </p:sp>
      <p:sp>
        <p:nvSpPr>
          <p:cNvPr id="17" name="Rectangle 16"/>
          <p:cNvSpPr/>
          <p:nvPr/>
        </p:nvSpPr>
        <p:spPr>
          <a:xfrm>
            <a:off x="11510009" y="548640"/>
            <a:ext cx="77724" cy="77724"/>
          </a:xfrm>
          <a:prstGeom prst="rect">
            <a:avLst/>
          </a:prstGeom>
          <a:solidFill>
            <a:srgbClr val="63D2E8"/>
          </a:solidFill>
          <a:ln w="12700">
            <a:solidFill>
              <a:srgbClr val="63D2E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TextBox 17"/>
          <p:cNvSpPr txBox="1"/>
          <p:nvPr/>
        </p:nvSpPr>
        <p:spPr>
          <a:xfrm>
            <a:off x="10937367" y="694944"/>
            <a:ext cx="1223010" cy="201168"/>
          </a:xfrm>
          <a:prstGeom prst="rect">
            <a:avLst/>
          </a:prstGeom>
          <a:noFill/>
        </p:spPr>
        <p:txBody>
          <a:bodyPr wrap="square" lIns="0" tIns="0" rIns="0" bIns="0" anchor="t">
            <a:spAutoFit/>
          </a:bodyPr>
          <a:lstStyle/>
          <a:p>
            <a:pPr algn="ctr">
              <a:lnSpc>
                <a:spcPct val="100000"/>
              </a:lnSpc>
              <a:spcAft>
                <a:spcPts val="0"/>
              </a:spcAft>
            </a:pPr>
            <a:r>
              <a:rPr sz="750" b="0" i="0">
                <a:solidFill>
                  <a:srgbClr val="63D2E8"/>
                </a:solidFill>
                <a:latin typeface="Bahnschrift SemiBold"/>
              </a:rPr>
              <a:t>NET</a:t>
            </a:r>
          </a:p>
        </p:txBody>
      </p:sp>
      <p:sp>
        <p:nvSpPr>
          <p:cNvPr id="19" name="Rectangle 18"/>
          <p:cNvSpPr/>
          <p:nvPr/>
        </p:nvSpPr>
        <p:spPr>
          <a:xfrm>
            <a:off x="640080" y="1225296"/>
            <a:ext cx="10908792" cy="9525"/>
          </a:xfrm>
          <a:prstGeom prst="rect">
            <a:avLst/>
          </a:prstGeom>
          <a:solidFill>
            <a:srgbClr val="2C364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Rectangle 19"/>
          <p:cNvSpPr/>
          <p:nvPr/>
        </p:nvSpPr>
        <p:spPr>
          <a:xfrm>
            <a:off x="640080" y="1220724"/>
            <a:ext cx="566928" cy="25400"/>
          </a:xfrm>
          <a:prstGeom prst="rect">
            <a:avLst/>
          </a:prstGeom>
          <a:solidFill>
            <a:srgbClr val="C89A5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pic>
        <p:nvPicPr>
          <p:cNvPr id="21" name="Picture 20" descr="mnist-strip.png"/>
          <p:cNvPicPr>
            <a:picLocks noChangeAspect="1"/>
          </p:cNvPicPr>
          <p:nvPr/>
        </p:nvPicPr>
        <p:blipFill>
          <a:blip r:embed="rId2"/>
          <a:stretch>
            <a:fillRect/>
          </a:stretch>
        </p:blipFill>
        <p:spPr>
          <a:xfrm>
            <a:off x="640080" y="1554480"/>
            <a:ext cx="6537960" cy="810179"/>
          </a:xfrm>
          <a:prstGeom prst="rect">
            <a:avLst/>
          </a:prstGeom>
        </p:spPr>
      </p:pic>
      <p:sp>
        <p:nvSpPr>
          <p:cNvPr id="22" name="TextBox 21"/>
          <p:cNvSpPr txBox="1"/>
          <p:nvPr/>
        </p:nvSpPr>
        <p:spPr>
          <a:xfrm>
            <a:off x="640080" y="2487168"/>
            <a:ext cx="6537960" cy="457200"/>
          </a:xfrm>
          <a:prstGeom prst="rect">
            <a:avLst/>
          </a:prstGeom>
          <a:noFill/>
        </p:spPr>
        <p:txBody>
          <a:bodyPr wrap="square" lIns="0" tIns="0" rIns="0" bIns="0" anchor="t">
            <a:spAutoFit/>
          </a:bodyPr>
          <a:lstStyle/>
          <a:p>
            <a:pPr algn="l">
              <a:lnSpc>
                <a:spcPct val="125000"/>
              </a:lnSpc>
              <a:spcAft>
                <a:spcPts val="0"/>
              </a:spcAft>
            </a:pPr>
            <a:r>
              <a:rPr sz="850" b="0" i="0">
                <a:solidFill>
                  <a:srgbClr val="5A6878"/>
                </a:solidFill>
                <a:latin typeface="Consolas"/>
              </a:rPr>
              <a:t>real samples, read straight out of data/t10k-images-idx3-ubyte</a:t>
            </a:r>
          </a:p>
        </p:txBody>
      </p:sp>
      <p:sp>
        <p:nvSpPr>
          <p:cNvPr id="23" name="Rectangle 22"/>
          <p:cNvSpPr/>
          <p:nvPr/>
        </p:nvSpPr>
        <p:spPr>
          <a:xfrm>
            <a:off x="7589520" y="1481328"/>
            <a:ext cx="3959352" cy="1298448"/>
          </a:xfrm>
          <a:prstGeom prst="rect">
            <a:avLst/>
          </a:prstGeom>
          <a:solidFill>
            <a:srgbClr val="161C24"/>
          </a:solidFill>
          <a:ln w="12700">
            <a:solidFill>
              <a:srgbClr val="2C364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4" name="Rectangle 23"/>
          <p:cNvSpPr/>
          <p:nvPr/>
        </p:nvSpPr>
        <p:spPr>
          <a:xfrm>
            <a:off x="7589520" y="1481328"/>
            <a:ext cx="3959352" cy="31750"/>
          </a:xfrm>
          <a:prstGeom prst="rect">
            <a:avLst/>
          </a:prstGeom>
          <a:solidFill>
            <a:srgbClr val="C89A5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5" name="TextBox 24"/>
          <p:cNvSpPr txBox="1"/>
          <p:nvPr/>
        </p:nvSpPr>
        <p:spPr>
          <a:xfrm>
            <a:off x="7827264" y="1664208"/>
            <a:ext cx="3566160" cy="274320"/>
          </a:xfrm>
          <a:prstGeom prst="rect">
            <a:avLst/>
          </a:prstGeom>
          <a:noFill/>
        </p:spPr>
        <p:txBody>
          <a:bodyPr wrap="square" lIns="0" tIns="0" rIns="0" bIns="0" anchor="t">
            <a:spAutoFit/>
          </a:bodyPr>
          <a:lstStyle/>
          <a:p>
            <a:pPr algn="l">
              <a:lnSpc>
                <a:spcPct val="112000"/>
              </a:lnSpc>
              <a:spcAft>
                <a:spcPts val="0"/>
              </a:spcAft>
            </a:pPr>
            <a:r>
              <a:rPr sz="900" b="0" i="0">
                <a:solidFill>
                  <a:srgbClr val="C89A5B"/>
                </a:solidFill>
                <a:latin typeface="Bahnschrift SemiBold"/>
              </a:rPr>
              <a:t>TEST ACCURACY</a:t>
            </a:r>
          </a:p>
        </p:txBody>
      </p:sp>
      <p:sp>
        <p:nvSpPr>
          <p:cNvPr id="26" name="TextBox 25"/>
          <p:cNvSpPr txBox="1"/>
          <p:nvPr/>
        </p:nvSpPr>
        <p:spPr>
          <a:xfrm>
            <a:off x="7827264" y="1920240"/>
            <a:ext cx="3566160" cy="640080"/>
          </a:xfrm>
          <a:prstGeom prst="rect">
            <a:avLst/>
          </a:prstGeom>
          <a:noFill/>
        </p:spPr>
        <p:txBody>
          <a:bodyPr wrap="square" lIns="0" tIns="0" rIns="0" bIns="0" anchor="t">
            <a:spAutoFit/>
          </a:bodyPr>
          <a:lstStyle/>
          <a:p>
            <a:pPr algn="l">
              <a:lnSpc>
                <a:spcPct val="112000"/>
              </a:lnSpc>
              <a:spcAft>
                <a:spcPts val="0"/>
              </a:spcAft>
            </a:pPr>
            <a:r>
              <a:rPr sz="3800" b="0" i="0">
                <a:solidFill>
                  <a:srgbClr val="C89A5B"/>
                </a:solidFill>
                <a:latin typeface="Consolas"/>
              </a:rPr>
              <a:t>97.65 %</a:t>
            </a:r>
          </a:p>
        </p:txBody>
      </p:sp>
      <p:sp>
        <p:nvSpPr>
          <p:cNvPr id="27" name="TextBox 26"/>
          <p:cNvSpPr txBox="1"/>
          <p:nvPr/>
        </p:nvSpPr>
        <p:spPr>
          <a:xfrm>
            <a:off x="10149840" y="2157984"/>
            <a:ext cx="1280160" cy="274320"/>
          </a:xfrm>
          <a:prstGeom prst="rect">
            <a:avLst/>
          </a:prstGeom>
          <a:noFill/>
        </p:spPr>
        <p:txBody>
          <a:bodyPr wrap="square" lIns="0" tIns="0" rIns="0" bIns="0" anchor="t">
            <a:spAutoFit/>
          </a:bodyPr>
          <a:lstStyle/>
          <a:p>
            <a:pPr algn="r">
              <a:lnSpc>
                <a:spcPct val="112000"/>
              </a:lnSpc>
              <a:spcAft>
                <a:spcPts val="0"/>
              </a:spcAft>
            </a:pPr>
            <a:r>
              <a:rPr sz="900" b="0" i="0">
                <a:solidFill>
                  <a:srgbClr val="5A6878"/>
                </a:solidFill>
                <a:latin typeface="Consolas"/>
              </a:rPr>
              <a:t>10 000 unseen</a:t>
            </a:r>
          </a:p>
        </p:txBody>
      </p:sp>
      <p:pic>
        <p:nvPicPr>
          <p:cNvPr id="28" name="Picture 27" descr="mlp-diagram.png"/>
          <p:cNvPicPr>
            <a:picLocks noChangeAspect="1"/>
          </p:cNvPicPr>
          <p:nvPr/>
        </p:nvPicPr>
        <p:blipFill>
          <a:blip r:embed="rId3"/>
          <a:stretch>
            <a:fillRect/>
          </a:stretch>
        </p:blipFill>
        <p:spPr>
          <a:xfrm>
            <a:off x="640080" y="2926080"/>
            <a:ext cx="6537960" cy="2580774"/>
          </a:xfrm>
          <a:prstGeom prst="rect">
            <a:avLst/>
          </a:prstGeom>
        </p:spPr>
      </p:pic>
      <p:sp>
        <p:nvSpPr>
          <p:cNvPr id="29" name="TextBox 28"/>
          <p:cNvSpPr txBox="1"/>
          <p:nvPr/>
        </p:nvSpPr>
        <p:spPr>
          <a:xfrm>
            <a:off x="7589520" y="3017520"/>
            <a:ext cx="3959352" cy="237744"/>
          </a:xfrm>
          <a:prstGeom prst="rect">
            <a:avLst/>
          </a:prstGeom>
          <a:noFill/>
        </p:spPr>
        <p:txBody>
          <a:bodyPr wrap="square" lIns="0" tIns="0" rIns="0" bIns="0" anchor="t">
            <a:spAutoFit/>
          </a:bodyPr>
          <a:lstStyle/>
          <a:p>
            <a:pPr algn="l">
              <a:lnSpc>
                <a:spcPct val="112000"/>
              </a:lnSpc>
              <a:spcAft>
                <a:spcPts val="0"/>
              </a:spcAft>
            </a:pPr>
            <a:r>
              <a:rPr sz="900" b="0" i="0">
                <a:solidFill>
                  <a:srgbClr val="C89A5B"/>
                </a:solidFill>
                <a:latin typeface="Bahnschrift SemiBold"/>
              </a:rPr>
              <a:t>WHY THIS SHAPE</a:t>
            </a:r>
          </a:p>
        </p:txBody>
      </p:sp>
      <p:sp>
        <p:nvSpPr>
          <p:cNvPr id="30" name="Rectangle 29"/>
          <p:cNvSpPr/>
          <p:nvPr/>
        </p:nvSpPr>
        <p:spPr>
          <a:xfrm>
            <a:off x="7589520" y="3273552"/>
            <a:ext cx="3959352" cy="9525"/>
          </a:xfrm>
          <a:prstGeom prst="rect">
            <a:avLst/>
          </a:prstGeom>
          <a:solidFill>
            <a:srgbClr val="3D4A5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1" name="TextBox 30"/>
          <p:cNvSpPr txBox="1"/>
          <p:nvPr/>
        </p:nvSpPr>
        <p:spPr>
          <a:xfrm>
            <a:off x="7589520" y="3456432"/>
            <a:ext cx="3959352" cy="2377440"/>
          </a:xfrm>
          <a:prstGeom prst="rect">
            <a:avLst/>
          </a:prstGeom>
          <a:noFill/>
        </p:spPr>
        <p:txBody>
          <a:bodyPr wrap="square" lIns="0" tIns="0" rIns="0" bIns="0">
            <a:spAutoFit/>
          </a:bodyPr>
          <a:lstStyle/>
          <a:p>
            <a:pPr algn="l">
              <a:lnSpc>
                <a:spcPct val="122000"/>
              </a:lnSpc>
              <a:spcAft>
                <a:spcPts val="700"/>
              </a:spcAft>
            </a:pPr>
            <a:r>
              <a:rPr sz="1050" b="1">
                <a:solidFill>
                  <a:srgbClr val="C89A5B"/>
                </a:solidFill>
                <a:latin typeface="Consolas"/>
              </a:rPr>
              <a:t>— </a:t>
            </a:r>
            <a:r>
              <a:rPr sz="1050" b="1">
                <a:solidFill>
                  <a:srgbClr val="E6EDF3"/>
                </a:solidFill>
                <a:latin typeface="Segoe UI"/>
              </a:rPr>
              <a:t>784 in</a:t>
            </a:r>
            <a:r>
              <a:rPr sz="1050" b="0">
                <a:solidFill>
                  <a:srgbClr val="8494A6"/>
                </a:solidFill>
                <a:latin typeface="Segoe UI"/>
              </a:rPr>
              <a:t>  28 × 28 pixels flattened and divided by 255. No convolution, no augmentation at train time.</a:t>
            </a:r>
          </a:p>
          <a:p>
            <a:pPr algn="l">
              <a:lnSpc>
                <a:spcPct val="122000"/>
              </a:lnSpc>
              <a:spcAft>
                <a:spcPts val="700"/>
              </a:spcAft>
            </a:pPr>
            <a:r>
              <a:rPr sz="1050" b="1">
                <a:solidFill>
                  <a:srgbClr val="C89A5B"/>
                </a:solidFill>
                <a:latin typeface="Consolas"/>
              </a:rPr>
              <a:t>— </a:t>
            </a:r>
            <a:r>
              <a:rPr sz="1050" b="1">
                <a:solidFill>
                  <a:srgbClr val="E6EDF3"/>
                </a:solidFill>
                <a:latin typeface="Segoe UI"/>
              </a:rPr>
              <a:t>128 hidden, ReLU</a:t>
            </a:r>
            <a:r>
              <a:rPr sz="1050" b="0">
                <a:solidFill>
                  <a:srgbClr val="8494A6"/>
                </a:solidFill>
                <a:latin typeface="Segoe UI"/>
              </a:rPr>
              <a:t>  wide enough to learn stroke parts, small enough that the whole weight file is 407 KB and fits in a phone asset.</a:t>
            </a:r>
          </a:p>
          <a:p>
            <a:pPr algn="l">
              <a:lnSpc>
                <a:spcPct val="122000"/>
              </a:lnSpc>
              <a:spcAft>
                <a:spcPts val="700"/>
              </a:spcAft>
            </a:pPr>
            <a:r>
              <a:rPr sz="1050" b="1">
                <a:solidFill>
                  <a:srgbClr val="C89A5B"/>
                </a:solidFill>
                <a:latin typeface="Consolas"/>
              </a:rPr>
              <a:t>— </a:t>
            </a:r>
            <a:r>
              <a:rPr sz="1050" b="1">
                <a:solidFill>
                  <a:srgbClr val="E6EDF3"/>
                </a:solidFill>
                <a:latin typeface="Segoe UI"/>
              </a:rPr>
              <a:t>10 out, softmax</a:t>
            </a:r>
            <a:r>
              <a:rPr sz="1050" b="0">
                <a:solidFill>
                  <a:srgbClr val="8494A6"/>
                </a:solidFill>
                <a:latin typeface="Segoe UI"/>
              </a:rPr>
              <a:t>  ten probabilities that sum to one — which is what makes a confidence gate meaningful later.</a:t>
            </a:r>
          </a:p>
        </p:txBody>
      </p:sp>
      <p:sp>
        <p:nvSpPr>
          <p:cNvPr id="32" name="Rectangle 31"/>
          <p:cNvSpPr/>
          <p:nvPr/>
        </p:nvSpPr>
        <p:spPr>
          <a:xfrm>
            <a:off x="640080" y="5577840"/>
            <a:ext cx="6537960" cy="9525"/>
          </a:xfrm>
          <a:prstGeom prst="rect">
            <a:avLst/>
          </a:prstGeom>
          <a:solidFill>
            <a:srgbClr val="2C364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3" name="TextBox 32"/>
          <p:cNvSpPr txBox="1"/>
          <p:nvPr/>
        </p:nvSpPr>
        <p:spPr>
          <a:xfrm>
            <a:off x="640080" y="5742432"/>
            <a:ext cx="6537960" cy="457200"/>
          </a:xfrm>
          <a:prstGeom prst="rect">
            <a:avLst/>
          </a:prstGeom>
          <a:noFill/>
        </p:spPr>
        <p:txBody>
          <a:bodyPr wrap="square" lIns="0" tIns="0" rIns="0" bIns="0" anchor="t">
            <a:spAutoFit/>
          </a:bodyPr>
          <a:lstStyle/>
          <a:p>
            <a:pPr algn="l">
              <a:lnSpc>
                <a:spcPct val="135000"/>
              </a:lnSpc>
              <a:spcAft>
                <a:spcPts val="0"/>
              </a:spcAft>
            </a:pPr>
            <a:r>
              <a:rPr sz="1100" b="0" i="0">
                <a:solidFill>
                  <a:srgbClr val="8494A6"/>
                </a:solidFill>
                <a:latin typeface="Segoe UI"/>
              </a:rPr>
              <a:t>Written from scratch: no TensorFlow, no PyTorch, no BLAS. Roughly 900 lines of C++17, every derivative derived by hand and checked numerically.</a:t>
            </a:r>
          </a:p>
        </p:txBody>
      </p:sp>
      <p:sp>
        <p:nvSpPr>
          <p:cNvPr id="34" name="Rectangle 33"/>
          <p:cNvSpPr/>
          <p:nvPr/>
        </p:nvSpPr>
        <p:spPr>
          <a:xfrm>
            <a:off x="640080" y="6382512"/>
            <a:ext cx="10908792" cy="9525"/>
          </a:xfrm>
          <a:prstGeom prst="rect">
            <a:avLst/>
          </a:prstGeom>
          <a:solidFill>
            <a:srgbClr val="2C364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5" name="TextBox 34"/>
          <p:cNvSpPr txBox="1"/>
          <p:nvPr/>
        </p:nvSpPr>
        <p:spPr>
          <a:xfrm>
            <a:off x="640080" y="6492240"/>
            <a:ext cx="7315200" cy="237744"/>
          </a:xfrm>
          <a:prstGeom prst="rect">
            <a:avLst/>
          </a:prstGeom>
          <a:noFill/>
        </p:spPr>
        <p:txBody>
          <a:bodyPr wrap="square" lIns="0" tIns="0" rIns="0" bIns="0" anchor="t">
            <a:spAutoFit/>
          </a:bodyPr>
          <a:lstStyle/>
          <a:p>
            <a:pPr algn="l">
              <a:lnSpc>
                <a:spcPct val="112000"/>
              </a:lnSpc>
              <a:spcAft>
                <a:spcPts val="0"/>
              </a:spcAft>
            </a:pPr>
            <a:r>
              <a:rPr sz="850" b="0" i="0">
                <a:solidFill>
                  <a:srgbClr val="5A6878"/>
                </a:solidFill>
                <a:latin typeface="Consolas"/>
              </a:rPr>
              <a:t>OSOS · DKM-440 remote meter reading</a:t>
            </a:r>
          </a:p>
        </p:txBody>
      </p:sp>
      <p:sp>
        <p:nvSpPr>
          <p:cNvPr id="36" name="TextBox 35"/>
          <p:cNvSpPr txBox="1"/>
          <p:nvPr/>
        </p:nvSpPr>
        <p:spPr>
          <a:xfrm>
            <a:off x="10177272" y="6492240"/>
            <a:ext cx="1371600" cy="237744"/>
          </a:xfrm>
          <a:prstGeom prst="rect">
            <a:avLst/>
          </a:prstGeom>
          <a:noFill/>
        </p:spPr>
        <p:txBody>
          <a:bodyPr wrap="square" lIns="0" tIns="0" rIns="0" bIns="0" anchor="t">
            <a:spAutoFit/>
          </a:bodyPr>
          <a:lstStyle/>
          <a:p>
            <a:pPr algn="r">
              <a:lnSpc>
                <a:spcPct val="112000"/>
              </a:lnSpc>
              <a:spcAft>
                <a:spcPts val="0"/>
              </a:spcAft>
            </a:pPr>
            <a:r>
              <a:rPr sz="850" b="0" i="0">
                <a:solidFill>
                  <a:srgbClr val="5A6878"/>
                </a:solidFill>
                <a:latin typeface="Consolas"/>
              </a:rPr>
              <a:t>18</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D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274320"/>
            <a:ext cx="5852160" cy="219456"/>
          </a:xfrm>
          <a:prstGeom prst="rect">
            <a:avLst/>
          </a:prstGeom>
          <a:noFill/>
        </p:spPr>
        <p:txBody>
          <a:bodyPr wrap="square" lIns="0" tIns="0" rIns="0" bIns="0" anchor="t">
            <a:spAutoFit/>
          </a:bodyPr>
          <a:lstStyle/>
          <a:p>
            <a:pPr algn="l">
              <a:lnSpc>
                <a:spcPct val="100000"/>
              </a:lnSpc>
              <a:spcAft>
                <a:spcPts val="0"/>
              </a:spcAft>
            </a:pPr>
            <a:r>
              <a:rPr sz="900" b="0" i="0">
                <a:solidFill>
                  <a:srgbClr val="C89A5B"/>
                </a:solidFill>
                <a:latin typeface="Consolas"/>
              </a:rPr>
              <a:t>70 000 HANDWRITTEN DIGITS · 60 K TRAIN / 10 K TEST</a:t>
            </a:r>
          </a:p>
        </p:txBody>
      </p:sp>
      <p:sp>
        <p:nvSpPr>
          <p:cNvPr id="4" name="TextBox 3"/>
          <p:cNvSpPr txBox="1"/>
          <p:nvPr/>
        </p:nvSpPr>
        <p:spPr>
          <a:xfrm>
            <a:off x="640080" y="493776"/>
            <a:ext cx="5870448" cy="640080"/>
          </a:xfrm>
          <a:prstGeom prst="rect">
            <a:avLst/>
          </a:prstGeom>
          <a:noFill/>
        </p:spPr>
        <p:txBody>
          <a:bodyPr wrap="square" lIns="0" tIns="0" rIns="0" bIns="0" anchor="b">
            <a:spAutoFit/>
          </a:bodyPr>
          <a:lstStyle/>
          <a:p>
            <a:pPr algn="l">
              <a:lnSpc>
                <a:spcPct val="100000"/>
              </a:lnSpc>
              <a:spcAft>
                <a:spcPts val="0"/>
              </a:spcAft>
            </a:pPr>
            <a:r>
              <a:rPr sz="2700" b="0" i="0">
                <a:solidFill>
                  <a:srgbClr val="E6EDF3"/>
                </a:solidFill>
                <a:latin typeface="Bahnschrift SemiBold"/>
              </a:rPr>
              <a:t>MNIST, and the seam to the phone</a:t>
            </a:r>
          </a:p>
        </p:txBody>
      </p:sp>
      <p:sp>
        <p:nvSpPr>
          <p:cNvPr id="5" name="Rectangle 4"/>
          <p:cNvSpPr/>
          <p:nvPr/>
        </p:nvSpPr>
        <p:spPr>
          <a:xfrm>
            <a:off x="6726783" y="583844"/>
            <a:ext cx="1083106" cy="12700"/>
          </a:xfrm>
          <a:prstGeom prst="rect">
            <a:avLst/>
          </a:prstGeom>
          <a:solidFill>
            <a:srgbClr val="2C364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Rectangle 5"/>
          <p:cNvSpPr/>
          <p:nvPr/>
        </p:nvSpPr>
        <p:spPr>
          <a:xfrm>
            <a:off x="6617970" y="548640"/>
            <a:ext cx="77724" cy="77724"/>
          </a:xfrm>
          <a:prstGeom prst="rect">
            <a:avLst/>
          </a:prstGeom>
          <a:solidFill>
            <a:srgbClr val="0D1117"/>
          </a:solidFill>
          <a:ln w="12700">
            <a:solidFill>
              <a:srgbClr val="3D4A5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6045327" y="694944"/>
            <a:ext cx="1223010" cy="201168"/>
          </a:xfrm>
          <a:prstGeom prst="rect">
            <a:avLst/>
          </a:prstGeom>
          <a:noFill/>
        </p:spPr>
        <p:txBody>
          <a:bodyPr wrap="square" lIns="0" tIns="0" rIns="0" bIns="0" anchor="t">
            <a:spAutoFit/>
          </a:bodyPr>
          <a:lstStyle/>
          <a:p>
            <a:pPr algn="ctr">
              <a:lnSpc>
                <a:spcPct val="100000"/>
              </a:lnSpc>
              <a:spcAft>
                <a:spcPts val="0"/>
              </a:spcAft>
            </a:pPr>
            <a:r>
              <a:rPr sz="750" b="0" i="0">
                <a:solidFill>
                  <a:srgbClr val="5A6878"/>
                </a:solidFill>
                <a:latin typeface="Bahnschrift SemiBold"/>
              </a:rPr>
              <a:t>METER</a:t>
            </a:r>
          </a:p>
        </p:txBody>
      </p:sp>
      <p:sp>
        <p:nvSpPr>
          <p:cNvPr id="8" name="Rectangle 7"/>
          <p:cNvSpPr/>
          <p:nvPr/>
        </p:nvSpPr>
        <p:spPr>
          <a:xfrm>
            <a:off x="7949793" y="583844"/>
            <a:ext cx="1083106" cy="12700"/>
          </a:xfrm>
          <a:prstGeom prst="rect">
            <a:avLst/>
          </a:prstGeom>
          <a:solidFill>
            <a:srgbClr val="2C364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Rectangle 8"/>
          <p:cNvSpPr/>
          <p:nvPr/>
        </p:nvSpPr>
        <p:spPr>
          <a:xfrm>
            <a:off x="7840979" y="548640"/>
            <a:ext cx="77724" cy="77724"/>
          </a:xfrm>
          <a:prstGeom prst="rect">
            <a:avLst/>
          </a:prstGeom>
          <a:solidFill>
            <a:srgbClr val="0D1117"/>
          </a:solidFill>
          <a:ln w="12700">
            <a:solidFill>
              <a:srgbClr val="3D4A5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TextBox 9"/>
          <p:cNvSpPr txBox="1"/>
          <p:nvPr/>
        </p:nvSpPr>
        <p:spPr>
          <a:xfrm>
            <a:off x="7268337" y="694944"/>
            <a:ext cx="1223010" cy="201168"/>
          </a:xfrm>
          <a:prstGeom prst="rect">
            <a:avLst/>
          </a:prstGeom>
          <a:noFill/>
        </p:spPr>
        <p:txBody>
          <a:bodyPr wrap="square" lIns="0" tIns="0" rIns="0" bIns="0" anchor="t">
            <a:spAutoFit/>
          </a:bodyPr>
          <a:lstStyle/>
          <a:p>
            <a:pPr algn="ctr">
              <a:lnSpc>
                <a:spcPct val="100000"/>
              </a:lnSpc>
              <a:spcAft>
                <a:spcPts val="0"/>
              </a:spcAft>
            </a:pPr>
            <a:r>
              <a:rPr sz="750" b="0" i="0">
                <a:solidFill>
                  <a:srgbClr val="5A6878"/>
                </a:solidFill>
                <a:latin typeface="Bahnschrift SemiBold"/>
              </a:rPr>
              <a:t>GATEWAY</a:t>
            </a:r>
          </a:p>
        </p:txBody>
      </p:sp>
      <p:sp>
        <p:nvSpPr>
          <p:cNvPr id="11" name="Rectangle 10"/>
          <p:cNvSpPr/>
          <p:nvPr/>
        </p:nvSpPr>
        <p:spPr>
          <a:xfrm>
            <a:off x="9172803" y="583844"/>
            <a:ext cx="1083106" cy="12700"/>
          </a:xfrm>
          <a:prstGeom prst="rect">
            <a:avLst/>
          </a:prstGeom>
          <a:solidFill>
            <a:srgbClr val="2C364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Rectangle 11"/>
          <p:cNvSpPr/>
          <p:nvPr/>
        </p:nvSpPr>
        <p:spPr>
          <a:xfrm>
            <a:off x="9063990" y="548640"/>
            <a:ext cx="77724" cy="77724"/>
          </a:xfrm>
          <a:prstGeom prst="rect">
            <a:avLst/>
          </a:prstGeom>
          <a:solidFill>
            <a:srgbClr val="0D1117"/>
          </a:solidFill>
          <a:ln w="12700">
            <a:solidFill>
              <a:srgbClr val="3D4A5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8491347" y="694944"/>
            <a:ext cx="1223010" cy="201168"/>
          </a:xfrm>
          <a:prstGeom prst="rect">
            <a:avLst/>
          </a:prstGeom>
          <a:noFill/>
        </p:spPr>
        <p:txBody>
          <a:bodyPr wrap="square" lIns="0" tIns="0" rIns="0" bIns="0" anchor="t">
            <a:spAutoFit/>
          </a:bodyPr>
          <a:lstStyle/>
          <a:p>
            <a:pPr algn="ctr">
              <a:lnSpc>
                <a:spcPct val="100000"/>
              </a:lnSpc>
              <a:spcAft>
                <a:spcPts val="0"/>
              </a:spcAft>
            </a:pPr>
            <a:r>
              <a:rPr sz="750" b="0" i="0">
                <a:solidFill>
                  <a:srgbClr val="5A6878"/>
                </a:solidFill>
                <a:latin typeface="Bahnschrift SemiBold"/>
              </a:rPr>
              <a:t>BROKER</a:t>
            </a:r>
          </a:p>
        </p:txBody>
      </p:sp>
      <p:sp>
        <p:nvSpPr>
          <p:cNvPr id="14" name="Rectangle 13"/>
          <p:cNvSpPr/>
          <p:nvPr/>
        </p:nvSpPr>
        <p:spPr>
          <a:xfrm>
            <a:off x="10395813" y="583844"/>
            <a:ext cx="1083106" cy="12700"/>
          </a:xfrm>
          <a:prstGeom prst="rect">
            <a:avLst/>
          </a:prstGeom>
          <a:solidFill>
            <a:srgbClr val="2E7D8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Rectangle 14"/>
          <p:cNvSpPr/>
          <p:nvPr/>
        </p:nvSpPr>
        <p:spPr>
          <a:xfrm>
            <a:off x="10287000" y="548640"/>
            <a:ext cx="77724" cy="77724"/>
          </a:xfrm>
          <a:prstGeom prst="rect">
            <a:avLst/>
          </a:prstGeom>
          <a:solidFill>
            <a:srgbClr val="63D2E8"/>
          </a:solidFill>
          <a:ln w="12700">
            <a:solidFill>
              <a:srgbClr val="63D2E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TextBox 15"/>
          <p:cNvSpPr txBox="1"/>
          <p:nvPr/>
        </p:nvSpPr>
        <p:spPr>
          <a:xfrm>
            <a:off x="9714357" y="694944"/>
            <a:ext cx="1223010" cy="201168"/>
          </a:xfrm>
          <a:prstGeom prst="rect">
            <a:avLst/>
          </a:prstGeom>
          <a:noFill/>
        </p:spPr>
        <p:txBody>
          <a:bodyPr wrap="square" lIns="0" tIns="0" rIns="0" bIns="0" anchor="t">
            <a:spAutoFit/>
          </a:bodyPr>
          <a:lstStyle/>
          <a:p>
            <a:pPr algn="ctr">
              <a:lnSpc>
                <a:spcPct val="100000"/>
              </a:lnSpc>
              <a:spcAft>
                <a:spcPts val="0"/>
              </a:spcAft>
            </a:pPr>
            <a:r>
              <a:rPr sz="750" b="0" i="0">
                <a:solidFill>
                  <a:srgbClr val="63D2E8"/>
                </a:solidFill>
                <a:latin typeface="Bahnschrift SemiBold"/>
              </a:rPr>
              <a:t>PHONE</a:t>
            </a:r>
          </a:p>
        </p:txBody>
      </p:sp>
      <p:sp>
        <p:nvSpPr>
          <p:cNvPr id="17" name="Rectangle 16"/>
          <p:cNvSpPr/>
          <p:nvPr/>
        </p:nvSpPr>
        <p:spPr>
          <a:xfrm>
            <a:off x="11510009" y="548640"/>
            <a:ext cx="77724" cy="77724"/>
          </a:xfrm>
          <a:prstGeom prst="rect">
            <a:avLst/>
          </a:prstGeom>
          <a:solidFill>
            <a:srgbClr val="63D2E8"/>
          </a:solidFill>
          <a:ln w="12700">
            <a:solidFill>
              <a:srgbClr val="63D2E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TextBox 17"/>
          <p:cNvSpPr txBox="1"/>
          <p:nvPr/>
        </p:nvSpPr>
        <p:spPr>
          <a:xfrm>
            <a:off x="10937367" y="694944"/>
            <a:ext cx="1223010" cy="201168"/>
          </a:xfrm>
          <a:prstGeom prst="rect">
            <a:avLst/>
          </a:prstGeom>
          <a:noFill/>
        </p:spPr>
        <p:txBody>
          <a:bodyPr wrap="square" lIns="0" tIns="0" rIns="0" bIns="0" anchor="t">
            <a:spAutoFit/>
          </a:bodyPr>
          <a:lstStyle/>
          <a:p>
            <a:pPr algn="ctr">
              <a:lnSpc>
                <a:spcPct val="100000"/>
              </a:lnSpc>
              <a:spcAft>
                <a:spcPts val="0"/>
              </a:spcAft>
            </a:pPr>
            <a:r>
              <a:rPr sz="750" b="0" i="0">
                <a:solidFill>
                  <a:srgbClr val="63D2E8"/>
                </a:solidFill>
                <a:latin typeface="Bahnschrift SemiBold"/>
              </a:rPr>
              <a:t>NET</a:t>
            </a:r>
          </a:p>
        </p:txBody>
      </p:sp>
      <p:sp>
        <p:nvSpPr>
          <p:cNvPr id="19" name="Rectangle 18"/>
          <p:cNvSpPr/>
          <p:nvPr/>
        </p:nvSpPr>
        <p:spPr>
          <a:xfrm>
            <a:off x="640080" y="1225296"/>
            <a:ext cx="10908792" cy="9525"/>
          </a:xfrm>
          <a:prstGeom prst="rect">
            <a:avLst/>
          </a:prstGeom>
          <a:solidFill>
            <a:srgbClr val="2C364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Rectangle 19"/>
          <p:cNvSpPr/>
          <p:nvPr/>
        </p:nvSpPr>
        <p:spPr>
          <a:xfrm>
            <a:off x="640080" y="1220724"/>
            <a:ext cx="566928" cy="25400"/>
          </a:xfrm>
          <a:prstGeom prst="rect">
            <a:avLst/>
          </a:prstGeom>
          <a:solidFill>
            <a:srgbClr val="C89A5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pic>
        <p:nvPicPr>
          <p:cNvPr id="21" name="Picture 20" descr="mnist-strip.png"/>
          <p:cNvPicPr>
            <a:picLocks noChangeAspect="1"/>
          </p:cNvPicPr>
          <p:nvPr/>
        </p:nvPicPr>
        <p:blipFill>
          <a:blip r:embed="rId2"/>
          <a:stretch>
            <a:fillRect/>
          </a:stretch>
        </p:blipFill>
        <p:spPr>
          <a:xfrm>
            <a:off x="640080" y="1517904"/>
            <a:ext cx="6537960" cy="810179"/>
          </a:xfrm>
          <a:prstGeom prst="rect">
            <a:avLst/>
          </a:prstGeom>
        </p:spPr>
      </p:pic>
      <p:sp>
        <p:nvSpPr>
          <p:cNvPr id="22" name="TextBox 21"/>
          <p:cNvSpPr txBox="1"/>
          <p:nvPr/>
        </p:nvSpPr>
        <p:spPr>
          <a:xfrm>
            <a:off x="640080" y="2432304"/>
            <a:ext cx="6537960" cy="457200"/>
          </a:xfrm>
          <a:prstGeom prst="rect">
            <a:avLst/>
          </a:prstGeom>
          <a:noFill/>
        </p:spPr>
        <p:txBody>
          <a:bodyPr wrap="square" lIns="0" tIns="0" rIns="0" bIns="0" anchor="t">
            <a:spAutoFit/>
          </a:bodyPr>
          <a:lstStyle/>
          <a:p>
            <a:pPr algn="l">
              <a:lnSpc>
                <a:spcPct val="125000"/>
              </a:lnSpc>
              <a:spcAft>
                <a:spcPts val="0"/>
              </a:spcAft>
            </a:pPr>
            <a:r>
              <a:rPr sz="850" b="0" i="0">
                <a:solidFill>
                  <a:srgbClr val="5A6878"/>
                </a:solidFill>
                <a:latin typeface="Consolas"/>
              </a:rPr>
              <a:t>real samples, read straight out of data/t10k-images-idx3-ubyte</a:t>
            </a:r>
          </a:p>
        </p:txBody>
      </p:sp>
      <p:sp>
        <p:nvSpPr>
          <p:cNvPr id="23" name="Rectangle 22"/>
          <p:cNvSpPr/>
          <p:nvPr/>
        </p:nvSpPr>
        <p:spPr>
          <a:xfrm>
            <a:off x="7589520" y="1481328"/>
            <a:ext cx="3959352" cy="1188720"/>
          </a:xfrm>
          <a:prstGeom prst="rect">
            <a:avLst/>
          </a:prstGeom>
          <a:solidFill>
            <a:srgbClr val="161C24"/>
          </a:solidFill>
          <a:ln w="12700">
            <a:solidFill>
              <a:srgbClr val="2C364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4" name="Rectangle 23"/>
          <p:cNvSpPr/>
          <p:nvPr/>
        </p:nvSpPr>
        <p:spPr>
          <a:xfrm>
            <a:off x="7589520" y="1481328"/>
            <a:ext cx="3959352" cy="31750"/>
          </a:xfrm>
          <a:prstGeom prst="rect">
            <a:avLst/>
          </a:prstGeom>
          <a:solidFill>
            <a:srgbClr val="C89A5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5" name="TextBox 24"/>
          <p:cNvSpPr txBox="1"/>
          <p:nvPr/>
        </p:nvSpPr>
        <p:spPr>
          <a:xfrm>
            <a:off x="7808975" y="1645920"/>
            <a:ext cx="3566160" cy="274320"/>
          </a:xfrm>
          <a:prstGeom prst="rect">
            <a:avLst/>
          </a:prstGeom>
          <a:noFill/>
        </p:spPr>
        <p:txBody>
          <a:bodyPr wrap="square" lIns="0" tIns="0" rIns="0" bIns="0" anchor="t">
            <a:spAutoFit/>
          </a:bodyPr>
          <a:lstStyle/>
          <a:p>
            <a:pPr algn="l">
              <a:lnSpc>
                <a:spcPct val="112000"/>
              </a:lnSpc>
              <a:spcAft>
                <a:spcPts val="0"/>
              </a:spcAft>
            </a:pPr>
            <a:r>
              <a:rPr sz="900" b="0" i="0">
                <a:solidFill>
                  <a:srgbClr val="C89A5B"/>
                </a:solidFill>
                <a:latin typeface="Bahnschrift SemiBold"/>
              </a:rPr>
              <a:t>TEST ACCURACY</a:t>
            </a:r>
          </a:p>
        </p:txBody>
      </p:sp>
      <p:sp>
        <p:nvSpPr>
          <p:cNvPr id="26" name="TextBox 25"/>
          <p:cNvSpPr txBox="1"/>
          <p:nvPr/>
        </p:nvSpPr>
        <p:spPr>
          <a:xfrm>
            <a:off x="7808975" y="1883664"/>
            <a:ext cx="3566160" cy="640080"/>
          </a:xfrm>
          <a:prstGeom prst="rect">
            <a:avLst/>
          </a:prstGeom>
          <a:noFill/>
        </p:spPr>
        <p:txBody>
          <a:bodyPr wrap="square" lIns="0" tIns="0" rIns="0" bIns="0" anchor="t">
            <a:spAutoFit/>
          </a:bodyPr>
          <a:lstStyle/>
          <a:p>
            <a:pPr algn="l">
              <a:lnSpc>
                <a:spcPct val="112000"/>
              </a:lnSpc>
              <a:spcAft>
                <a:spcPts val="0"/>
              </a:spcAft>
            </a:pPr>
            <a:r>
              <a:rPr sz="3200" b="0" i="0">
                <a:solidFill>
                  <a:srgbClr val="C89A5B"/>
                </a:solidFill>
                <a:latin typeface="Consolas"/>
              </a:rPr>
              <a:t>97.65 %</a:t>
            </a:r>
          </a:p>
        </p:txBody>
      </p:sp>
      <p:sp>
        <p:nvSpPr>
          <p:cNvPr id="27" name="TextBox 26"/>
          <p:cNvSpPr txBox="1"/>
          <p:nvPr/>
        </p:nvSpPr>
        <p:spPr>
          <a:xfrm>
            <a:off x="10241280" y="2066543"/>
            <a:ext cx="1097280" cy="274320"/>
          </a:xfrm>
          <a:prstGeom prst="rect">
            <a:avLst/>
          </a:prstGeom>
          <a:noFill/>
        </p:spPr>
        <p:txBody>
          <a:bodyPr wrap="square" lIns="0" tIns="0" rIns="0" bIns="0" anchor="t">
            <a:spAutoFit/>
          </a:bodyPr>
          <a:lstStyle/>
          <a:p>
            <a:pPr algn="r">
              <a:lnSpc>
                <a:spcPct val="112000"/>
              </a:lnSpc>
              <a:spcAft>
                <a:spcPts val="0"/>
              </a:spcAft>
            </a:pPr>
            <a:r>
              <a:rPr sz="850" b="0" i="0">
                <a:solidFill>
                  <a:srgbClr val="5A6878"/>
                </a:solidFill>
                <a:latin typeface="Consolas"/>
              </a:rPr>
              <a:t>10 000 unseen</a:t>
            </a:r>
          </a:p>
        </p:txBody>
      </p:sp>
      <p:sp>
        <p:nvSpPr>
          <p:cNvPr id="28" name="TextBox 27"/>
          <p:cNvSpPr txBox="1"/>
          <p:nvPr/>
        </p:nvSpPr>
        <p:spPr>
          <a:xfrm>
            <a:off x="640080" y="2798064"/>
            <a:ext cx="6537960" cy="237744"/>
          </a:xfrm>
          <a:prstGeom prst="rect">
            <a:avLst/>
          </a:prstGeom>
          <a:noFill/>
        </p:spPr>
        <p:txBody>
          <a:bodyPr wrap="square" lIns="0" tIns="0" rIns="0" bIns="0" anchor="t">
            <a:spAutoFit/>
          </a:bodyPr>
          <a:lstStyle/>
          <a:p>
            <a:pPr algn="l">
              <a:lnSpc>
                <a:spcPct val="112000"/>
              </a:lnSpc>
              <a:spcAft>
                <a:spcPts val="0"/>
              </a:spcAft>
            </a:pPr>
            <a:r>
              <a:rPr sz="900" b="0" i="0">
                <a:solidFill>
                  <a:srgbClr val="C89A5B"/>
                </a:solidFill>
                <a:latin typeface="Bahnschrift SemiBold"/>
              </a:rPr>
              <a:t>ONE STROKE, EIGHT STEPS — AND TWO INDEPENDENT IMPLEMENTATIONS OF IT</a:t>
            </a:r>
          </a:p>
        </p:txBody>
      </p:sp>
      <p:pic>
        <p:nvPicPr>
          <p:cNvPr id="29" name="Picture 28" descr="mnist-pipeline.png"/>
          <p:cNvPicPr>
            <a:picLocks noChangeAspect="1"/>
          </p:cNvPicPr>
          <p:nvPr/>
        </p:nvPicPr>
        <p:blipFill>
          <a:blip r:embed="rId3"/>
          <a:stretch>
            <a:fillRect/>
          </a:stretch>
        </p:blipFill>
        <p:spPr>
          <a:xfrm>
            <a:off x="640080" y="3072384"/>
            <a:ext cx="6537960" cy="1328023"/>
          </a:xfrm>
          <a:prstGeom prst="rect">
            <a:avLst/>
          </a:prstGeom>
        </p:spPr>
      </p:pic>
      <p:sp>
        <p:nvSpPr>
          <p:cNvPr id="30" name="TextBox 29"/>
          <p:cNvSpPr txBox="1"/>
          <p:nvPr/>
        </p:nvSpPr>
        <p:spPr>
          <a:xfrm>
            <a:off x="640080" y="4517136"/>
            <a:ext cx="6537960" cy="457200"/>
          </a:xfrm>
          <a:prstGeom prst="rect">
            <a:avLst/>
          </a:prstGeom>
          <a:noFill/>
        </p:spPr>
        <p:txBody>
          <a:bodyPr wrap="square" lIns="0" tIns="0" rIns="0" bIns="0" anchor="t">
            <a:spAutoFit/>
          </a:bodyPr>
          <a:lstStyle/>
          <a:p>
            <a:pPr algn="l">
              <a:lnSpc>
                <a:spcPct val="125000"/>
              </a:lnSpc>
              <a:spcAft>
                <a:spcPts val="0"/>
              </a:spcAft>
            </a:pPr>
            <a:r>
              <a:rPr sz="850" b="0" i="0">
                <a:solidFill>
                  <a:srgbClr val="5A6878"/>
                </a:solidFill>
                <a:latin typeface="Consolas"/>
              </a:rPr>
              <a:t>280×280 canvas · stroke 20 round cap · R-channel · threshold 25 · ink ≥ 30 · fit 20 px block-average · centre-of-mass in 28×28</a:t>
            </a:r>
          </a:p>
        </p:txBody>
      </p:sp>
      <p:sp>
        <p:nvSpPr>
          <p:cNvPr id="31" name="TextBox 30"/>
          <p:cNvSpPr txBox="1"/>
          <p:nvPr/>
        </p:nvSpPr>
        <p:spPr>
          <a:xfrm>
            <a:off x="7589520" y="2798064"/>
            <a:ext cx="3959352" cy="237744"/>
          </a:xfrm>
          <a:prstGeom prst="rect">
            <a:avLst/>
          </a:prstGeom>
          <a:noFill/>
        </p:spPr>
        <p:txBody>
          <a:bodyPr wrap="square" lIns="0" tIns="0" rIns="0" bIns="0" anchor="t">
            <a:spAutoFit/>
          </a:bodyPr>
          <a:lstStyle/>
          <a:p>
            <a:pPr algn="l">
              <a:lnSpc>
                <a:spcPct val="112000"/>
              </a:lnSpc>
              <a:spcAft>
                <a:spcPts val="0"/>
              </a:spcAft>
            </a:pPr>
            <a:r>
              <a:rPr sz="900" b="0" i="0">
                <a:solidFill>
                  <a:srgbClr val="C89A5B"/>
                </a:solidFill>
                <a:latin typeface="Bahnschrift SemiBold"/>
              </a:rPr>
              <a:t>WHY THIS SHAPE</a:t>
            </a:r>
          </a:p>
        </p:txBody>
      </p:sp>
      <p:sp>
        <p:nvSpPr>
          <p:cNvPr id="32" name="Rectangle 31"/>
          <p:cNvSpPr/>
          <p:nvPr/>
        </p:nvSpPr>
        <p:spPr>
          <a:xfrm>
            <a:off x="7589520" y="3054096"/>
            <a:ext cx="3959352" cy="9525"/>
          </a:xfrm>
          <a:prstGeom prst="rect">
            <a:avLst/>
          </a:prstGeom>
          <a:solidFill>
            <a:srgbClr val="3D4A5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3" name="TextBox 32"/>
          <p:cNvSpPr txBox="1"/>
          <p:nvPr/>
        </p:nvSpPr>
        <p:spPr>
          <a:xfrm>
            <a:off x="7589520" y="3182112"/>
            <a:ext cx="3959352" cy="1828800"/>
          </a:xfrm>
          <a:prstGeom prst="rect">
            <a:avLst/>
          </a:prstGeom>
          <a:noFill/>
        </p:spPr>
        <p:txBody>
          <a:bodyPr wrap="square" lIns="0" tIns="0" rIns="0" bIns="0">
            <a:spAutoFit/>
          </a:bodyPr>
          <a:lstStyle/>
          <a:p>
            <a:pPr algn="l">
              <a:lnSpc>
                <a:spcPct val="122000"/>
              </a:lnSpc>
              <a:spcAft>
                <a:spcPts val="600"/>
              </a:spcAft>
            </a:pPr>
            <a:r>
              <a:rPr sz="1000" b="1">
                <a:solidFill>
                  <a:srgbClr val="C89A5B"/>
                </a:solidFill>
                <a:latin typeface="Consolas"/>
              </a:rPr>
              <a:t>— </a:t>
            </a:r>
            <a:r>
              <a:rPr sz="1000" b="1">
                <a:solidFill>
                  <a:srgbClr val="E6EDF3"/>
                </a:solidFill>
                <a:latin typeface="Segoe UI"/>
              </a:rPr>
              <a:t>784 in</a:t>
            </a:r>
            <a:r>
              <a:rPr sz="1000" b="0">
                <a:solidFill>
                  <a:srgbClr val="8494A6"/>
                </a:solidFill>
                <a:latin typeface="Segoe UI"/>
              </a:rPr>
              <a:t>  28 × 28 pixels flattened and divided by 255. No convolution, no augmentation at train time.</a:t>
            </a:r>
          </a:p>
          <a:p>
            <a:pPr algn="l">
              <a:lnSpc>
                <a:spcPct val="122000"/>
              </a:lnSpc>
              <a:spcAft>
                <a:spcPts val="600"/>
              </a:spcAft>
            </a:pPr>
            <a:r>
              <a:rPr sz="1000" b="1">
                <a:solidFill>
                  <a:srgbClr val="C89A5B"/>
                </a:solidFill>
                <a:latin typeface="Consolas"/>
              </a:rPr>
              <a:t>— </a:t>
            </a:r>
            <a:r>
              <a:rPr sz="1000" b="1">
                <a:solidFill>
                  <a:srgbClr val="E6EDF3"/>
                </a:solidFill>
                <a:latin typeface="Segoe UI"/>
              </a:rPr>
              <a:t>128 hidden, ReLU</a:t>
            </a:r>
            <a:r>
              <a:rPr sz="1000" b="0">
                <a:solidFill>
                  <a:srgbClr val="8494A6"/>
                </a:solidFill>
                <a:latin typeface="Segoe UI"/>
              </a:rPr>
              <a:t>  wide enough for stroke parts, small enough that the whole weight file is 407 KB and fits in a phone asset.</a:t>
            </a:r>
          </a:p>
          <a:p>
            <a:pPr algn="l">
              <a:lnSpc>
                <a:spcPct val="122000"/>
              </a:lnSpc>
              <a:spcAft>
                <a:spcPts val="600"/>
              </a:spcAft>
            </a:pPr>
            <a:r>
              <a:rPr sz="1000" b="1">
                <a:solidFill>
                  <a:srgbClr val="C89A5B"/>
                </a:solidFill>
                <a:latin typeface="Consolas"/>
              </a:rPr>
              <a:t>— </a:t>
            </a:r>
            <a:r>
              <a:rPr sz="1000" b="1">
                <a:solidFill>
                  <a:srgbClr val="E6EDF3"/>
                </a:solidFill>
                <a:latin typeface="Segoe UI"/>
              </a:rPr>
              <a:t>10 out, softmax</a:t>
            </a:r>
            <a:r>
              <a:rPr sz="1000" b="0">
                <a:solidFill>
                  <a:srgbClr val="8494A6"/>
                </a:solidFill>
                <a:latin typeface="Segoe UI"/>
              </a:rPr>
              <a:t>  ten probabilities summing to one — which is what makes a confidence gate meaningful.</a:t>
            </a:r>
          </a:p>
        </p:txBody>
      </p:sp>
      <p:sp>
        <p:nvSpPr>
          <p:cNvPr id="34" name="Rectangle 33"/>
          <p:cNvSpPr/>
          <p:nvPr/>
        </p:nvSpPr>
        <p:spPr>
          <a:xfrm>
            <a:off x="640080" y="4956048"/>
            <a:ext cx="6537960" cy="1316736"/>
          </a:xfrm>
          <a:prstGeom prst="rect">
            <a:avLst/>
          </a:prstGeom>
          <a:solidFill>
            <a:srgbClr val="161C24"/>
          </a:solidFill>
          <a:ln w="12700">
            <a:solidFill>
              <a:srgbClr val="2C364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5" name="Rectangle 34"/>
          <p:cNvSpPr/>
          <p:nvPr/>
        </p:nvSpPr>
        <p:spPr>
          <a:xfrm>
            <a:off x="640080" y="4956048"/>
            <a:ext cx="6537960" cy="31750"/>
          </a:xfrm>
          <a:prstGeom prst="rect">
            <a:avLst/>
          </a:prstGeom>
          <a:solidFill>
            <a:srgbClr val="FF443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6" name="TextBox 35"/>
          <p:cNvSpPr txBox="1"/>
          <p:nvPr/>
        </p:nvSpPr>
        <p:spPr>
          <a:xfrm>
            <a:off x="859536" y="5120640"/>
            <a:ext cx="6126480" cy="237744"/>
          </a:xfrm>
          <a:prstGeom prst="rect">
            <a:avLst/>
          </a:prstGeom>
          <a:noFill/>
        </p:spPr>
        <p:txBody>
          <a:bodyPr wrap="square" lIns="0" tIns="0" rIns="0" bIns="0" anchor="t">
            <a:spAutoFit/>
          </a:bodyPr>
          <a:lstStyle/>
          <a:p>
            <a:pPr algn="l">
              <a:lnSpc>
                <a:spcPct val="112000"/>
              </a:lnSpc>
              <a:spcAft>
                <a:spcPts val="0"/>
              </a:spcAft>
            </a:pPr>
            <a:r>
              <a:rPr sz="900" b="0" i="0">
                <a:solidFill>
                  <a:srgbClr val="FF4438"/>
                </a:solidFill>
                <a:latin typeface="Bahnschrift SemiBold"/>
              </a:rPr>
              <a:t>MX-2 IS THE ONE REAL PIECE OF TECHNICAL DEBT</a:t>
            </a:r>
          </a:p>
        </p:txBody>
      </p:sp>
      <p:sp>
        <p:nvSpPr>
          <p:cNvPr id="37" name="TextBox 36"/>
          <p:cNvSpPr txBox="1"/>
          <p:nvPr/>
        </p:nvSpPr>
        <p:spPr>
          <a:xfrm>
            <a:off x="859536" y="5376672"/>
            <a:ext cx="6126480" cy="626973"/>
          </a:xfrm>
          <a:prstGeom prst="rect">
            <a:avLst/>
          </a:prstGeom>
          <a:noFill/>
        </p:spPr>
        <p:txBody>
          <a:bodyPr wrap="square" lIns="0" tIns="0" rIns="0" bIns="0" anchor="t">
            <a:spAutoFit/>
          </a:bodyPr>
          <a:lstStyle/>
          <a:p>
            <a:pPr algn="l">
              <a:lnSpc>
                <a:spcPct val="136000"/>
              </a:lnSpc>
              <a:spcAft>
                <a:spcPts val="0"/>
              </a:spcAft>
            </a:pPr>
            <a:r>
              <a:rPr sz="1000" b="0" i="0">
                <a:solidFill>
                  <a:srgbClr val="8494A6"/>
                </a:solidFill>
                <a:latin typeface="Segoe UI"/>
              </a:rPr>
              <a:t>draw.js and Preprocess.kt must produce byte-identical 784-vectors from the same stroke — two hand-ported implementations of that eight-step pipeline, with no test pinning them together. A divergence would not crash anything; it would silently change which command fires.</a:t>
            </a:r>
          </a:p>
        </p:txBody>
      </p:sp>
      <p:sp>
        <p:nvSpPr>
          <p:cNvPr id="38" name="Rectangle 37"/>
          <p:cNvSpPr/>
          <p:nvPr/>
        </p:nvSpPr>
        <p:spPr>
          <a:xfrm>
            <a:off x="7589520" y="4956048"/>
            <a:ext cx="3959352" cy="1316736"/>
          </a:xfrm>
          <a:prstGeom prst="rect">
            <a:avLst/>
          </a:prstGeom>
          <a:solidFill>
            <a:srgbClr val="161C24"/>
          </a:solidFill>
          <a:ln w="12700">
            <a:solidFill>
              <a:srgbClr val="2C364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9" name="Rectangle 38"/>
          <p:cNvSpPr/>
          <p:nvPr/>
        </p:nvSpPr>
        <p:spPr>
          <a:xfrm>
            <a:off x="7589520" y="4956048"/>
            <a:ext cx="3959352" cy="31750"/>
          </a:xfrm>
          <a:prstGeom prst="rect">
            <a:avLst/>
          </a:prstGeom>
          <a:solidFill>
            <a:srgbClr val="4AD99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0" name="TextBox 39"/>
          <p:cNvSpPr txBox="1"/>
          <p:nvPr/>
        </p:nvSpPr>
        <p:spPr>
          <a:xfrm>
            <a:off x="7808975" y="5120640"/>
            <a:ext cx="3566160" cy="237744"/>
          </a:xfrm>
          <a:prstGeom prst="rect">
            <a:avLst/>
          </a:prstGeom>
          <a:noFill/>
        </p:spPr>
        <p:txBody>
          <a:bodyPr wrap="square" lIns="0" tIns="0" rIns="0" bIns="0" anchor="t">
            <a:spAutoFit/>
          </a:bodyPr>
          <a:lstStyle/>
          <a:p>
            <a:pPr algn="l">
              <a:lnSpc>
                <a:spcPct val="112000"/>
              </a:lnSpc>
              <a:spcAft>
                <a:spcPts val="0"/>
              </a:spcAft>
            </a:pPr>
            <a:r>
              <a:rPr sz="900" b="0" i="0">
                <a:solidFill>
                  <a:srgbClr val="4AD991"/>
                </a:solidFill>
                <a:latin typeface="Bahnschrift SemiBold"/>
              </a:rPr>
              <a:t>MX-1  WEIGHT PARITY</a:t>
            </a:r>
          </a:p>
        </p:txBody>
      </p:sp>
      <p:sp>
        <p:nvSpPr>
          <p:cNvPr id="41" name="TextBox 40"/>
          <p:cNvSpPr txBox="1"/>
          <p:nvPr/>
        </p:nvSpPr>
        <p:spPr>
          <a:xfrm>
            <a:off x="7808975" y="5376672"/>
            <a:ext cx="3566160" cy="626973"/>
          </a:xfrm>
          <a:prstGeom prst="rect">
            <a:avLst/>
          </a:prstGeom>
          <a:noFill/>
        </p:spPr>
        <p:txBody>
          <a:bodyPr wrap="square" lIns="0" tIns="0" rIns="0" bIns="0" anchor="t">
            <a:spAutoFit/>
          </a:bodyPr>
          <a:lstStyle/>
          <a:p>
            <a:pPr algn="l">
              <a:lnSpc>
                <a:spcPct val="136000"/>
              </a:lnSpc>
              <a:spcAft>
                <a:spcPts val="0"/>
              </a:spcAft>
            </a:pPr>
            <a:r>
              <a:rPr sz="1000" b="0" i="0">
                <a:solidFill>
                  <a:srgbClr val="8494A6"/>
                </a:solidFill>
                <a:latin typeface="Segoe UI"/>
              </a:rPr>
              <a:t>w.bin exports to nnc-json-1 and loads bit-identically in www/nn.js and Android Weights.kt. One trained artifact, two consumers, zero re-training.</a:t>
            </a:r>
          </a:p>
        </p:txBody>
      </p:sp>
      <p:sp>
        <p:nvSpPr>
          <p:cNvPr id="42" name="Rectangle 41"/>
          <p:cNvSpPr/>
          <p:nvPr/>
        </p:nvSpPr>
        <p:spPr>
          <a:xfrm>
            <a:off x="640080" y="6382512"/>
            <a:ext cx="10908792" cy="9525"/>
          </a:xfrm>
          <a:prstGeom prst="rect">
            <a:avLst/>
          </a:prstGeom>
          <a:solidFill>
            <a:srgbClr val="2C364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3" name="TextBox 42"/>
          <p:cNvSpPr txBox="1"/>
          <p:nvPr/>
        </p:nvSpPr>
        <p:spPr>
          <a:xfrm>
            <a:off x="640080" y="6492240"/>
            <a:ext cx="7315200" cy="237744"/>
          </a:xfrm>
          <a:prstGeom prst="rect">
            <a:avLst/>
          </a:prstGeom>
          <a:noFill/>
        </p:spPr>
        <p:txBody>
          <a:bodyPr wrap="square" lIns="0" tIns="0" rIns="0" bIns="0" anchor="t">
            <a:spAutoFit/>
          </a:bodyPr>
          <a:lstStyle/>
          <a:p>
            <a:pPr algn="l">
              <a:lnSpc>
                <a:spcPct val="112000"/>
              </a:lnSpc>
              <a:spcAft>
                <a:spcPts val="0"/>
              </a:spcAft>
            </a:pPr>
            <a:r>
              <a:rPr sz="850" b="0" i="0">
                <a:solidFill>
                  <a:srgbClr val="5A6878"/>
                </a:solidFill>
                <a:latin typeface="Consolas"/>
              </a:rPr>
              <a:t>no TensorFlow, no PyTorch, no BLAS · ~900 lines of C++17, every derivative derived by hand</a:t>
            </a:r>
          </a:p>
        </p:txBody>
      </p:sp>
      <p:sp>
        <p:nvSpPr>
          <p:cNvPr id="44" name="TextBox 43"/>
          <p:cNvSpPr txBox="1"/>
          <p:nvPr/>
        </p:nvSpPr>
        <p:spPr>
          <a:xfrm>
            <a:off x="10177272" y="6492240"/>
            <a:ext cx="1371600" cy="237744"/>
          </a:xfrm>
          <a:prstGeom prst="rect">
            <a:avLst/>
          </a:prstGeom>
          <a:noFill/>
        </p:spPr>
        <p:txBody>
          <a:bodyPr wrap="square" lIns="0" tIns="0" rIns="0" bIns="0" anchor="t">
            <a:spAutoFit/>
          </a:bodyPr>
          <a:lstStyle/>
          <a:p>
            <a:pPr algn="r">
              <a:lnSpc>
                <a:spcPct val="112000"/>
              </a:lnSpc>
              <a:spcAft>
                <a:spcPts val="0"/>
              </a:spcAft>
            </a:pPr>
            <a:r>
              <a:rPr sz="850" b="0" i="0">
                <a:solidFill>
                  <a:srgbClr val="5A6878"/>
                </a:solidFill>
                <a:latin typeface="Consolas"/>
              </a:rPr>
              <a:t>10</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D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274320"/>
            <a:ext cx="5852160" cy="219456"/>
          </a:xfrm>
          <a:prstGeom prst="rect">
            <a:avLst/>
          </a:prstGeom>
          <a:noFill/>
        </p:spPr>
        <p:txBody>
          <a:bodyPr wrap="square" lIns="0" tIns="0" rIns="0" bIns="0" anchor="t">
            <a:spAutoFit/>
          </a:bodyPr>
          <a:lstStyle/>
          <a:p>
            <a:pPr algn="l">
              <a:lnSpc>
                <a:spcPct val="100000"/>
              </a:lnSpc>
              <a:spcAft>
                <a:spcPts val="0"/>
              </a:spcAft>
            </a:pPr>
            <a:r>
              <a:rPr sz="900" b="0" i="0">
                <a:solidFill>
                  <a:srgbClr val="63D2E8"/>
                </a:solidFill>
                <a:latin typeface="Consolas"/>
              </a:rPr>
              <a:t>KOTLIN · JETPACK COMPOSE · HIVEMQ MQTT CLIENT</a:t>
            </a:r>
          </a:p>
        </p:txBody>
      </p:sp>
      <p:sp>
        <p:nvSpPr>
          <p:cNvPr id="4" name="TextBox 3"/>
          <p:cNvSpPr txBox="1"/>
          <p:nvPr/>
        </p:nvSpPr>
        <p:spPr>
          <a:xfrm>
            <a:off x="640080" y="493776"/>
            <a:ext cx="5870448" cy="640080"/>
          </a:xfrm>
          <a:prstGeom prst="rect">
            <a:avLst/>
          </a:prstGeom>
          <a:noFill/>
        </p:spPr>
        <p:txBody>
          <a:bodyPr wrap="square" lIns="0" tIns="0" rIns="0" bIns="0" anchor="b">
            <a:spAutoFit/>
          </a:bodyPr>
          <a:lstStyle/>
          <a:p>
            <a:pPr algn="l">
              <a:lnSpc>
                <a:spcPct val="100000"/>
              </a:lnSpc>
              <a:spcAft>
                <a:spcPts val="0"/>
              </a:spcAft>
            </a:pPr>
            <a:r>
              <a:rPr sz="2700" b="0" i="0">
                <a:solidFill>
                  <a:srgbClr val="E6EDF3"/>
                </a:solidFill>
                <a:latin typeface="Bahnschrift SemiBold"/>
              </a:rPr>
              <a:t>osos-hmi</a:t>
            </a:r>
          </a:p>
        </p:txBody>
      </p:sp>
      <p:sp>
        <p:nvSpPr>
          <p:cNvPr id="5" name="Rectangle 4"/>
          <p:cNvSpPr/>
          <p:nvPr/>
        </p:nvSpPr>
        <p:spPr>
          <a:xfrm>
            <a:off x="6726783" y="583844"/>
            <a:ext cx="1083106" cy="12700"/>
          </a:xfrm>
          <a:prstGeom prst="rect">
            <a:avLst/>
          </a:prstGeom>
          <a:solidFill>
            <a:srgbClr val="2C364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Rectangle 5"/>
          <p:cNvSpPr/>
          <p:nvPr/>
        </p:nvSpPr>
        <p:spPr>
          <a:xfrm>
            <a:off x="6617970" y="548640"/>
            <a:ext cx="77724" cy="77724"/>
          </a:xfrm>
          <a:prstGeom prst="rect">
            <a:avLst/>
          </a:prstGeom>
          <a:solidFill>
            <a:srgbClr val="0D1117"/>
          </a:solidFill>
          <a:ln w="12700">
            <a:solidFill>
              <a:srgbClr val="3D4A5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6045327" y="694944"/>
            <a:ext cx="1223010" cy="201168"/>
          </a:xfrm>
          <a:prstGeom prst="rect">
            <a:avLst/>
          </a:prstGeom>
          <a:noFill/>
        </p:spPr>
        <p:txBody>
          <a:bodyPr wrap="square" lIns="0" tIns="0" rIns="0" bIns="0" anchor="t">
            <a:spAutoFit/>
          </a:bodyPr>
          <a:lstStyle/>
          <a:p>
            <a:pPr algn="ctr">
              <a:lnSpc>
                <a:spcPct val="100000"/>
              </a:lnSpc>
              <a:spcAft>
                <a:spcPts val="0"/>
              </a:spcAft>
            </a:pPr>
            <a:r>
              <a:rPr sz="750" b="0" i="0">
                <a:solidFill>
                  <a:srgbClr val="5A6878"/>
                </a:solidFill>
                <a:latin typeface="Bahnschrift SemiBold"/>
              </a:rPr>
              <a:t>METER</a:t>
            </a:r>
          </a:p>
        </p:txBody>
      </p:sp>
      <p:sp>
        <p:nvSpPr>
          <p:cNvPr id="8" name="Rectangle 7"/>
          <p:cNvSpPr/>
          <p:nvPr/>
        </p:nvSpPr>
        <p:spPr>
          <a:xfrm>
            <a:off x="7949793" y="583844"/>
            <a:ext cx="1083106" cy="12700"/>
          </a:xfrm>
          <a:prstGeom prst="rect">
            <a:avLst/>
          </a:prstGeom>
          <a:solidFill>
            <a:srgbClr val="2C364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Rectangle 8"/>
          <p:cNvSpPr/>
          <p:nvPr/>
        </p:nvSpPr>
        <p:spPr>
          <a:xfrm>
            <a:off x="7840979" y="548640"/>
            <a:ext cx="77724" cy="77724"/>
          </a:xfrm>
          <a:prstGeom prst="rect">
            <a:avLst/>
          </a:prstGeom>
          <a:solidFill>
            <a:srgbClr val="0D1117"/>
          </a:solidFill>
          <a:ln w="12700">
            <a:solidFill>
              <a:srgbClr val="3D4A5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TextBox 9"/>
          <p:cNvSpPr txBox="1"/>
          <p:nvPr/>
        </p:nvSpPr>
        <p:spPr>
          <a:xfrm>
            <a:off x="7268337" y="694944"/>
            <a:ext cx="1223010" cy="201168"/>
          </a:xfrm>
          <a:prstGeom prst="rect">
            <a:avLst/>
          </a:prstGeom>
          <a:noFill/>
        </p:spPr>
        <p:txBody>
          <a:bodyPr wrap="square" lIns="0" tIns="0" rIns="0" bIns="0" anchor="t">
            <a:spAutoFit/>
          </a:bodyPr>
          <a:lstStyle/>
          <a:p>
            <a:pPr algn="ctr">
              <a:lnSpc>
                <a:spcPct val="100000"/>
              </a:lnSpc>
              <a:spcAft>
                <a:spcPts val="0"/>
              </a:spcAft>
            </a:pPr>
            <a:r>
              <a:rPr sz="750" b="0" i="0">
                <a:solidFill>
                  <a:srgbClr val="5A6878"/>
                </a:solidFill>
                <a:latin typeface="Bahnschrift SemiBold"/>
              </a:rPr>
              <a:t>GATEWAY</a:t>
            </a:r>
          </a:p>
        </p:txBody>
      </p:sp>
      <p:sp>
        <p:nvSpPr>
          <p:cNvPr id="11" name="Rectangle 10"/>
          <p:cNvSpPr/>
          <p:nvPr/>
        </p:nvSpPr>
        <p:spPr>
          <a:xfrm>
            <a:off x="9172803" y="583844"/>
            <a:ext cx="1083106" cy="12700"/>
          </a:xfrm>
          <a:prstGeom prst="rect">
            <a:avLst/>
          </a:prstGeom>
          <a:solidFill>
            <a:srgbClr val="2C364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Rectangle 11"/>
          <p:cNvSpPr/>
          <p:nvPr/>
        </p:nvSpPr>
        <p:spPr>
          <a:xfrm>
            <a:off x="9063990" y="548640"/>
            <a:ext cx="77724" cy="77724"/>
          </a:xfrm>
          <a:prstGeom prst="rect">
            <a:avLst/>
          </a:prstGeom>
          <a:solidFill>
            <a:srgbClr val="0D1117"/>
          </a:solidFill>
          <a:ln w="12700">
            <a:solidFill>
              <a:srgbClr val="3D4A5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8491347" y="694944"/>
            <a:ext cx="1223010" cy="201168"/>
          </a:xfrm>
          <a:prstGeom prst="rect">
            <a:avLst/>
          </a:prstGeom>
          <a:noFill/>
        </p:spPr>
        <p:txBody>
          <a:bodyPr wrap="square" lIns="0" tIns="0" rIns="0" bIns="0" anchor="t">
            <a:spAutoFit/>
          </a:bodyPr>
          <a:lstStyle/>
          <a:p>
            <a:pPr algn="ctr">
              <a:lnSpc>
                <a:spcPct val="100000"/>
              </a:lnSpc>
              <a:spcAft>
                <a:spcPts val="0"/>
              </a:spcAft>
            </a:pPr>
            <a:r>
              <a:rPr sz="750" b="0" i="0">
                <a:solidFill>
                  <a:srgbClr val="5A6878"/>
                </a:solidFill>
                <a:latin typeface="Bahnschrift SemiBold"/>
              </a:rPr>
              <a:t>BROKER</a:t>
            </a:r>
          </a:p>
        </p:txBody>
      </p:sp>
      <p:sp>
        <p:nvSpPr>
          <p:cNvPr id="14" name="Rectangle 13"/>
          <p:cNvSpPr/>
          <p:nvPr/>
        </p:nvSpPr>
        <p:spPr>
          <a:xfrm>
            <a:off x="10395813" y="583844"/>
            <a:ext cx="1083106" cy="12700"/>
          </a:xfrm>
          <a:prstGeom prst="rect">
            <a:avLst/>
          </a:prstGeom>
          <a:solidFill>
            <a:srgbClr val="2C364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Rectangle 14"/>
          <p:cNvSpPr/>
          <p:nvPr/>
        </p:nvSpPr>
        <p:spPr>
          <a:xfrm>
            <a:off x="10287000" y="548640"/>
            <a:ext cx="77724" cy="77724"/>
          </a:xfrm>
          <a:prstGeom prst="rect">
            <a:avLst/>
          </a:prstGeom>
          <a:solidFill>
            <a:srgbClr val="63D2E8"/>
          </a:solidFill>
          <a:ln w="12700">
            <a:solidFill>
              <a:srgbClr val="63D2E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TextBox 15"/>
          <p:cNvSpPr txBox="1"/>
          <p:nvPr/>
        </p:nvSpPr>
        <p:spPr>
          <a:xfrm>
            <a:off x="9714357" y="694944"/>
            <a:ext cx="1223010" cy="201168"/>
          </a:xfrm>
          <a:prstGeom prst="rect">
            <a:avLst/>
          </a:prstGeom>
          <a:noFill/>
        </p:spPr>
        <p:txBody>
          <a:bodyPr wrap="square" lIns="0" tIns="0" rIns="0" bIns="0" anchor="t">
            <a:spAutoFit/>
          </a:bodyPr>
          <a:lstStyle/>
          <a:p>
            <a:pPr algn="ctr">
              <a:lnSpc>
                <a:spcPct val="100000"/>
              </a:lnSpc>
              <a:spcAft>
                <a:spcPts val="0"/>
              </a:spcAft>
            </a:pPr>
            <a:r>
              <a:rPr sz="750" b="0" i="0">
                <a:solidFill>
                  <a:srgbClr val="63D2E8"/>
                </a:solidFill>
                <a:latin typeface="Bahnschrift SemiBold"/>
              </a:rPr>
              <a:t>PHONE</a:t>
            </a:r>
          </a:p>
        </p:txBody>
      </p:sp>
      <p:sp>
        <p:nvSpPr>
          <p:cNvPr id="17" name="Rectangle 16"/>
          <p:cNvSpPr/>
          <p:nvPr/>
        </p:nvSpPr>
        <p:spPr>
          <a:xfrm>
            <a:off x="11510009" y="548640"/>
            <a:ext cx="77724" cy="77724"/>
          </a:xfrm>
          <a:prstGeom prst="rect">
            <a:avLst/>
          </a:prstGeom>
          <a:solidFill>
            <a:srgbClr val="0D1117"/>
          </a:solidFill>
          <a:ln w="12700">
            <a:solidFill>
              <a:srgbClr val="3D4A5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TextBox 17"/>
          <p:cNvSpPr txBox="1"/>
          <p:nvPr/>
        </p:nvSpPr>
        <p:spPr>
          <a:xfrm>
            <a:off x="10937367" y="694944"/>
            <a:ext cx="1223010" cy="201168"/>
          </a:xfrm>
          <a:prstGeom prst="rect">
            <a:avLst/>
          </a:prstGeom>
          <a:noFill/>
        </p:spPr>
        <p:txBody>
          <a:bodyPr wrap="square" lIns="0" tIns="0" rIns="0" bIns="0" anchor="t">
            <a:spAutoFit/>
          </a:bodyPr>
          <a:lstStyle/>
          <a:p>
            <a:pPr algn="ctr">
              <a:lnSpc>
                <a:spcPct val="100000"/>
              </a:lnSpc>
              <a:spcAft>
                <a:spcPts val="0"/>
              </a:spcAft>
            </a:pPr>
            <a:r>
              <a:rPr sz="750" b="0" i="0">
                <a:solidFill>
                  <a:srgbClr val="5A6878"/>
                </a:solidFill>
                <a:latin typeface="Bahnschrift SemiBold"/>
              </a:rPr>
              <a:t>NET</a:t>
            </a:r>
          </a:p>
        </p:txBody>
      </p:sp>
      <p:sp>
        <p:nvSpPr>
          <p:cNvPr id="19" name="Rectangle 18"/>
          <p:cNvSpPr/>
          <p:nvPr/>
        </p:nvSpPr>
        <p:spPr>
          <a:xfrm>
            <a:off x="640080" y="1225296"/>
            <a:ext cx="10908792" cy="9525"/>
          </a:xfrm>
          <a:prstGeom prst="rect">
            <a:avLst/>
          </a:prstGeom>
          <a:solidFill>
            <a:srgbClr val="2C364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Rectangle 19"/>
          <p:cNvSpPr/>
          <p:nvPr/>
        </p:nvSpPr>
        <p:spPr>
          <a:xfrm>
            <a:off x="640080" y="1220724"/>
            <a:ext cx="566928" cy="25400"/>
          </a:xfrm>
          <a:prstGeom prst="rect">
            <a:avLst/>
          </a:prstGeom>
          <a:solidFill>
            <a:srgbClr val="63D2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pic>
        <p:nvPicPr>
          <p:cNvPr id="21" name="Picture 20" descr="phone-fleet.png"/>
          <p:cNvPicPr>
            <a:picLocks noChangeAspect="1"/>
          </p:cNvPicPr>
          <p:nvPr/>
        </p:nvPicPr>
        <p:blipFill>
          <a:blip r:embed="rId2"/>
          <a:stretch>
            <a:fillRect/>
          </a:stretch>
        </p:blipFill>
        <p:spPr>
          <a:xfrm>
            <a:off x="640080" y="1572768"/>
            <a:ext cx="1645920" cy="3401568"/>
          </a:xfrm>
          <a:prstGeom prst="rect">
            <a:avLst/>
          </a:prstGeom>
        </p:spPr>
      </p:pic>
      <p:sp>
        <p:nvSpPr>
          <p:cNvPr id="22" name="TextBox 21"/>
          <p:cNvSpPr txBox="1"/>
          <p:nvPr/>
        </p:nvSpPr>
        <p:spPr>
          <a:xfrm>
            <a:off x="640080" y="5157216"/>
            <a:ext cx="2057400" cy="237744"/>
          </a:xfrm>
          <a:prstGeom prst="rect">
            <a:avLst/>
          </a:prstGeom>
          <a:noFill/>
        </p:spPr>
        <p:txBody>
          <a:bodyPr wrap="square" lIns="0" tIns="0" rIns="0" bIns="0" anchor="t">
            <a:spAutoFit/>
          </a:bodyPr>
          <a:lstStyle/>
          <a:p>
            <a:pPr algn="l">
              <a:lnSpc>
                <a:spcPct val="112000"/>
              </a:lnSpc>
              <a:spcAft>
                <a:spcPts val="0"/>
              </a:spcAft>
            </a:pPr>
            <a:r>
              <a:rPr sz="1100" b="0" i="0">
                <a:solidFill>
                  <a:srgbClr val="63D2E8"/>
                </a:solidFill>
                <a:latin typeface="Bahnschrift SemiBold"/>
              </a:rPr>
              <a:t>FLEET</a:t>
            </a:r>
          </a:p>
        </p:txBody>
      </p:sp>
      <p:sp>
        <p:nvSpPr>
          <p:cNvPr id="23" name="TextBox 22"/>
          <p:cNvSpPr txBox="1"/>
          <p:nvPr/>
        </p:nvSpPr>
        <p:spPr>
          <a:xfrm>
            <a:off x="640080" y="5431536"/>
            <a:ext cx="2057400" cy="822960"/>
          </a:xfrm>
          <a:prstGeom prst="rect">
            <a:avLst/>
          </a:prstGeom>
          <a:noFill/>
        </p:spPr>
        <p:txBody>
          <a:bodyPr wrap="square" lIns="0" tIns="0" rIns="0" bIns="0" anchor="t">
            <a:spAutoFit/>
          </a:bodyPr>
          <a:lstStyle/>
          <a:p>
            <a:pPr algn="l">
              <a:lnSpc>
                <a:spcPct val="135000"/>
              </a:lnSpc>
              <a:spcAft>
                <a:spcPts val="0"/>
              </a:spcAft>
            </a:pPr>
            <a:r>
              <a:rPr sz="950" b="0" i="0">
                <a:solidFill>
                  <a:srgbClr val="8494A6"/>
                </a:solidFill>
                <a:latin typeface="Segoe UI"/>
              </a:rPr>
              <a:t>Every modem and analyzer, in the operator's own folders. Asleep modems dim. One master sleep switch.</a:t>
            </a:r>
          </a:p>
        </p:txBody>
      </p:sp>
      <p:pic>
        <p:nvPicPr>
          <p:cNvPr id="24" name="Picture 23" descr="phone-modem.png"/>
          <p:cNvPicPr>
            <a:picLocks noChangeAspect="1"/>
          </p:cNvPicPr>
          <p:nvPr/>
        </p:nvPicPr>
        <p:blipFill>
          <a:blip r:embed="rId3"/>
          <a:stretch>
            <a:fillRect/>
          </a:stretch>
        </p:blipFill>
        <p:spPr>
          <a:xfrm>
            <a:off x="2821838" y="1572768"/>
            <a:ext cx="1645920" cy="3401568"/>
          </a:xfrm>
          <a:prstGeom prst="rect">
            <a:avLst/>
          </a:prstGeom>
        </p:spPr>
      </p:pic>
      <p:sp>
        <p:nvSpPr>
          <p:cNvPr id="25" name="TextBox 24"/>
          <p:cNvSpPr txBox="1"/>
          <p:nvPr/>
        </p:nvSpPr>
        <p:spPr>
          <a:xfrm>
            <a:off x="2821838" y="5157216"/>
            <a:ext cx="2057400" cy="237744"/>
          </a:xfrm>
          <a:prstGeom prst="rect">
            <a:avLst/>
          </a:prstGeom>
          <a:noFill/>
        </p:spPr>
        <p:txBody>
          <a:bodyPr wrap="square" lIns="0" tIns="0" rIns="0" bIns="0" anchor="t">
            <a:spAutoFit/>
          </a:bodyPr>
          <a:lstStyle/>
          <a:p>
            <a:pPr algn="l">
              <a:lnSpc>
                <a:spcPct val="112000"/>
              </a:lnSpc>
              <a:spcAft>
                <a:spcPts val="0"/>
              </a:spcAft>
            </a:pPr>
            <a:r>
              <a:rPr sz="1100" b="0" i="0">
                <a:solidFill>
                  <a:srgbClr val="FF4438"/>
                </a:solidFill>
                <a:latin typeface="Bahnschrift SemiBold"/>
              </a:rPr>
              <a:t>MODEM</a:t>
            </a:r>
          </a:p>
        </p:txBody>
      </p:sp>
      <p:sp>
        <p:nvSpPr>
          <p:cNvPr id="26" name="TextBox 25"/>
          <p:cNvSpPr txBox="1"/>
          <p:nvPr/>
        </p:nvSpPr>
        <p:spPr>
          <a:xfrm>
            <a:off x="2821838" y="5431536"/>
            <a:ext cx="2057400" cy="822960"/>
          </a:xfrm>
          <a:prstGeom prst="rect">
            <a:avLst/>
          </a:prstGeom>
          <a:noFill/>
        </p:spPr>
        <p:txBody>
          <a:bodyPr wrap="square" lIns="0" tIns="0" rIns="0" bIns="0" anchor="t">
            <a:spAutoFit/>
          </a:bodyPr>
          <a:lstStyle/>
          <a:p>
            <a:pPr algn="l">
              <a:lnSpc>
                <a:spcPct val="135000"/>
              </a:lnSpc>
              <a:spcAft>
                <a:spcPts val="0"/>
              </a:spcAft>
            </a:pPr>
            <a:r>
              <a:rPr sz="950" b="0" i="0">
                <a:solidFill>
                  <a:srgbClr val="8494A6"/>
                </a:solidFill>
                <a:latin typeface="Segoe UI"/>
              </a:rPr>
              <a:t>One modem's observed state: sleep, interval, and four load channels switched from the phone.</a:t>
            </a:r>
          </a:p>
        </p:txBody>
      </p:sp>
      <p:pic>
        <p:nvPicPr>
          <p:cNvPr id="27" name="Picture 26" descr="phone-monitor.png"/>
          <p:cNvPicPr>
            <a:picLocks noChangeAspect="1"/>
          </p:cNvPicPr>
          <p:nvPr/>
        </p:nvPicPr>
        <p:blipFill>
          <a:blip r:embed="rId4"/>
          <a:stretch>
            <a:fillRect/>
          </a:stretch>
        </p:blipFill>
        <p:spPr>
          <a:xfrm>
            <a:off x="5003596" y="1572768"/>
            <a:ext cx="1645920" cy="3401568"/>
          </a:xfrm>
          <a:prstGeom prst="rect">
            <a:avLst/>
          </a:prstGeom>
        </p:spPr>
      </p:pic>
      <p:sp>
        <p:nvSpPr>
          <p:cNvPr id="28" name="TextBox 27"/>
          <p:cNvSpPr txBox="1"/>
          <p:nvPr/>
        </p:nvSpPr>
        <p:spPr>
          <a:xfrm>
            <a:off x="5003596" y="5157216"/>
            <a:ext cx="2057400" cy="237744"/>
          </a:xfrm>
          <a:prstGeom prst="rect">
            <a:avLst/>
          </a:prstGeom>
          <a:noFill/>
        </p:spPr>
        <p:txBody>
          <a:bodyPr wrap="square" lIns="0" tIns="0" rIns="0" bIns="0" anchor="t">
            <a:spAutoFit/>
          </a:bodyPr>
          <a:lstStyle/>
          <a:p>
            <a:pPr algn="l">
              <a:lnSpc>
                <a:spcPct val="112000"/>
              </a:lnSpc>
              <a:spcAft>
                <a:spcPts val="0"/>
              </a:spcAft>
            </a:pPr>
            <a:r>
              <a:rPr sz="1100" b="0" i="0">
                <a:solidFill>
                  <a:srgbClr val="63D2E8"/>
                </a:solidFill>
                <a:latin typeface="Bahnschrift SemiBold"/>
              </a:rPr>
              <a:t>MONITOR</a:t>
            </a:r>
          </a:p>
        </p:txBody>
      </p:sp>
      <p:sp>
        <p:nvSpPr>
          <p:cNvPr id="29" name="TextBox 28"/>
          <p:cNvSpPr txBox="1"/>
          <p:nvPr/>
        </p:nvSpPr>
        <p:spPr>
          <a:xfrm>
            <a:off x="5003596" y="5431536"/>
            <a:ext cx="2057400" cy="822960"/>
          </a:xfrm>
          <a:prstGeom prst="rect">
            <a:avLst/>
          </a:prstGeom>
          <a:noFill/>
        </p:spPr>
        <p:txBody>
          <a:bodyPr wrap="square" lIns="0" tIns="0" rIns="0" bIns="0" anchor="t">
            <a:spAutoFit/>
          </a:bodyPr>
          <a:lstStyle/>
          <a:p>
            <a:pPr algn="l">
              <a:lnSpc>
                <a:spcPct val="135000"/>
              </a:lnSpc>
              <a:spcAft>
                <a:spcPts val="0"/>
              </a:spcAft>
            </a:pPr>
            <a:r>
              <a:rPr sz="950" b="0" i="0">
                <a:solidFill>
                  <a:srgbClr val="8494A6"/>
                </a:solidFill>
                <a:latin typeface="Segoe UI"/>
              </a:rPr>
              <a:t>Five tile views for the selected analyzer; tap a tile for its sparkline over the last 720 frames.</a:t>
            </a:r>
          </a:p>
        </p:txBody>
      </p:sp>
      <p:pic>
        <p:nvPicPr>
          <p:cNvPr id="30" name="Picture 29" descr="phone-draw.png"/>
          <p:cNvPicPr>
            <a:picLocks noChangeAspect="1"/>
          </p:cNvPicPr>
          <p:nvPr/>
        </p:nvPicPr>
        <p:blipFill>
          <a:blip r:embed="rId5"/>
          <a:stretch>
            <a:fillRect/>
          </a:stretch>
        </p:blipFill>
        <p:spPr>
          <a:xfrm>
            <a:off x="7185355" y="1572768"/>
            <a:ext cx="1645920" cy="3401568"/>
          </a:xfrm>
          <a:prstGeom prst="rect">
            <a:avLst/>
          </a:prstGeom>
        </p:spPr>
      </p:pic>
      <p:sp>
        <p:nvSpPr>
          <p:cNvPr id="31" name="TextBox 30"/>
          <p:cNvSpPr txBox="1"/>
          <p:nvPr/>
        </p:nvSpPr>
        <p:spPr>
          <a:xfrm>
            <a:off x="7185355" y="5157216"/>
            <a:ext cx="2057400" cy="237744"/>
          </a:xfrm>
          <a:prstGeom prst="rect">
            <a:avLst/>
          </a:prstGeom>
          <a:noFill/>
        </p:spPr>
        <p:txBody>
          <a:bodyPr wrap="square" lIns="0" tIns="0" rIns="0" bIns="0" anchor="t">
            <a:spAutoFit/>
          </a:bodyPr>
          <a:lstStyle/>
          <a:p>
            <a:pPr algn="l">
              <a:lnSpc>
                <a:spcPct val="112000"/>
              </a:lnSpc>
              <a:spcAft>
                <a:spcPts val="0"/>
              </a:spcAft>
            </a:pPr>
            <a:r>
              <a:rPr sz="1100" b="0" i="0">
                <a:solidFill>
                  <a:srgbClr val="C89A5B"/>
                </a:solidFill>
                <a:latin typeface="Bahnschrift SemiBold"/>
              </a:rPr>
              <a:t>DRAW</a:t>
            </a:r>
          </a:p>
        </p:txBody>
      </p:sp>
      <p:sp>
        <p:nvSpPr>
          <p:cNvPr id="32" name="TextBox 31"/>
          <p:cNvSpPr txBox="1"/>
          <p:nvPr/>
        </p:nvSpPr>
        <p:spPr>
          <a:xfrm>
            <a:off x="7185355" y="5431536"/>
            <a:ext cx="2057400" cy="822960"/>
          </a:xfrm>
          <a:prstGeom prst="rect">
            <a:avLst/>
          </a:prstGeom>
          <a:noFill/>
        </p:spPr>
        <p:txBody>
          <a:bodyPr wrap="square" lIns="0" tIns="0" rIns="0" bIns="0" anchor="t">
            <a:spAutoFit/>
          </a:bodyPr>
          <a:lstStyle/>
          <a:p>
            <a:pPr algn="l">
              <a:lnSpc>
                <a:spcPct val="135000"/>
              </a:lnSpc>
              <a:spcAft>
                <a:spcPts val="0"/>
              </a:spcAft>
            </a:pPr>
            <a:r>
              <a:rPr sz="950" b="0" i="0">
                <a:solidFill>
                  <a:srgbClr val="8494A6"/>
                </a:solidFill>
                <a:latin typeface="Segoe UI"/>
              </a:rPr>
              <a:t>650 ms of pen-up idle triggers recognition, so multi-stroke symbols still work. Every result opens the inspector.</a:t>
            </a:r>
          </a:p>
        </p:txBody>
      </p:sp>
      <p:pic>
        <p:nvPicPr>
          <p:cNvPr id="33" name="Picture 32" descr="phone-alarms.png"/>
          <p:cNvPicPr>
            <a:picLocks noChangeAspect="1"/>
          </p:cNvPicPr>
          <p:nvPr/>
        </p:nvPicPr>
        <p:blipFill>
          <a:blip r:embed="rId6"/>
          <a:stretch>
            <a:fillRect/>
          </a:stretch>
        </p:blipFill>
        <p:spPr>
          <a:xfrm>
            <a:off x="9367113" y="1572768"/>
            <a:ext cx="1645920" cy="3401568"/>
          </a:xfrm>
          <a:prstGeom prst="rect">
            <a:avLst/>
          </a:prstGeom>
        </p:spPr>
      </p:pic>
      <p:sp>
        <p:nvSpPr>
          <p:cNvPr id="34" name="TextBox 33"/>
          <p:cNvSpPr txBox="1"/>
          <p:nvPr/>
        </p:nvSpPr>
        <p:spPr>
          <a:xfrm>
            <a:off x="9367113" y="5157216"/>
            <a:ext cx="2057400" cy="237744"/>
          </a:xfrm>
          <a:prstGeom prst="rect">
            <a:avLst/>
          </a:prstGeom>
          <a:noFill/>
        </p:spPr>
        <p:txBody>
          <a:bodyPr wrap="square" lIns="0" tIns="0" rIns="0" bIns="0" anchor="t">
            <a:spAutoFit/>
          </a:bodyPr>
          <a:lstStyle/>
          <a:p>
            <a:pPr algn="l">
              <a:lnSpc>
                <a:spcPct val="112000"/>
              </a:lnSpc>
              <a:spcAft>
                <a:spcPts val="0"/>
              </a:spcAft>
            </a:pPr>
            <a:r>
              <a:rPr sz="1100" b="0" i="0">
                <a:solidFill>
                  <a:srgbClr val="FFA928"/>
                </a:solidFill>
                <a:latin typeface="Bahnschrift SemiBold"/>
              </a:rPr>
              <a:t>ALARMS</a:t>
            </a:r>
          </a:p>
        </p:txBody>
      </p:sp>
      <p:sp>
        <p:nvSpPr>
          <p:cNvPr id="35" name="TextBox 34"/>
          <p:cNvSpPr txBox="1"/>
          <p:nvPr/>
        </p:nvSpPr>
        <p:spPr>
          <a:xfrm>
            <a:off x="9367113" y="5431536"/>
            <a:ext cx="2057400" cy="822960"/>
          </a:xfrm>
          <a:prstGeom prst="rect">
            <a:avLst/>
          </a:prstGeom>
          <a:noFill/>
        </p:spPr>
        <p:txBody>
          <a:bodyPr wrap="square" lIns="0" tIns="0" rIns="0" bIns="0" anchor="t">
            <a:spAutoFit/>
          </a:bodyPr>
          <a:lstStyle/>
          <a:p>
            <a:pPr algn="l">
              <a:lnSpc>
                <a:spcPct val="135000"/>
              </a:lnSpc>
              <a:spcAft>
                <a:spcPts val="0"/>
              </a:spcAft>
            </a:pPr>
            <a:r>
              <a:rPr sz="950" b="0" i="0">
                <a:solidFill>
                  <a:srgbClr val="8494A6"/>
                </a:solidFill>
                <a:latin typeface="Segoe UI"/>
              </a:rPr>
              <a:t>Rules on the telemetry stream. Muted while asleep — still recorded, and returned as a digest on wake.</a:t>
            </a:r>
          </a:p>
        </p:txBody>
      </p:sp>
      <p:sp>
        <p:nvSpPr>
          <p:cNvPr id="36" name="TextBox 35"/>
          <p:cNvSpPr txBox="1"/>
          <p:nvPr/>
        </p:nvSpPr>
        <p:spPr>
          <a:xfrm>
            <a:off x="640080" y="6473952"/>
            <a:ext cx="10058400" cy="457200"/>
          </a:xfrm>
          <a:prstGeom prst="rect">
            <a:avLst/>
          </a:prstGeom>
          <a:noFill/>
        </p:spPr>
        <p:txBody>
          <a:bodyPr wrap="square" lIns="0" tIns="0" rIns="0" bIns="0" anchor="t">
            <a:spAutoFit/>
          </a:bodyPr>
          <a:lstStyle/>
          <a:p>
            <a:pPr algn="l">
              <a:lnSpc>
                <a:spcPct val="125000"/>
              </a:lnSpc>
              <a:spcAft>
                <a:spcPts val="0"/>
              </a:spcAft>
            </a:pPr>
            <a:endParaRPr/>
          </a:p>
        </p:txBody>
      </p:sp>
      <p:sp>
        <p:nvSpPr>
          <p:cNvPr id="37" name="Rectangle 36"/>
          <p:cNvSpPr/>
          <p:nvPr/>
        </p:nvSpPr>
        <p:spPr>
          <a:xfrm>
            <a:off x="640080" y="6382512"/>
            <a:ext cx="10908792" cy="9525"/>
          </a:xfrm>
          <a:prstGeom prst="rect">
            <a:avLst/>
          </a:prstGeom>
          <a:solidFill>
            <a:srgbClr val="2C364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8" name="TextBox 37"/>
          <p:cNvSpPr txBox="1"/>
          <p:nvPr/>
        </p:nvSpPr>
        <p:spPr>
          <a:xfrm>
            <a:off x="640080" y="6492240"/>
            <a:ext cx="7315200" cy="237744"/>
          </a:xfrm>
          <a:prstGeom prst="rect">
            <a:avLst/>
          </a:prstGeom>
          <a:noFill/>
        </p:spPr>
        <p:txBody>
          <a:bodyPr wrap="square" lIns="0" tIns="0" rIns="0" bIns="0" anchor="t">
            <a:spAutoFit/>
          </a:bodyPr>
          <a:lstStyle/>
          <a:p>
            <a:pPr algn="l">
              <a:lnSpc>
                <a:spcPct val="112000"/>
              </a:lnSpc>
              <a:spcAft>
                <a:spcPts val="0"/>
              </a:spcAft>
            </a:pPr>
            <a:r>
              <a:rPr sz="850" b="0" i="0">
                <a:solidFill>
                  <a:srgbClr val="5A6878"/>
                </a:solidFill>
                <a:latin typeface="Consolas"/>
              </a:rPr>
              <a:t>osos-hmi 0.3.0 · screens redrawn from the Compose source, not photographed</a:t>
            </a:r>
          </a:p>
        </p:txBody>
      </p:sp>
      <p:sp>
        <p:nvSpPr>
          <p:cNvPr id="39" name="TextBox 38"/>
          <p:cNvSpPr txBox="1"/>
          <p:nvPr/>
        </p:nvSpPr>
        <p:spPr>
          <a:xfrm>
            <a:off x="10177272" y="6492240"/>
            <a:ext cx="1371600" cy="237744"/>
          </a:xfrm>
          <a:prstGeom prst="rect">
            <a:avLst/>
          </a:prstGeom>
          <a:noFill/>
        </p:spPr>
        <p:txBody>
          <a:bodyPr wrap="square" lIns="0" tIns="0" rIns="0" bIns="0" anchor="t">
            <a:spAutoFit/>
          </a:bodyPr>
          <a:lstStyle/>
          <a:p>
            <a:pPr algn="r">
              <a:lnSpc>
                <a:spcPct val="112000"/>
              </a:lnSpc>
              <a:spcAft>
                <a:spcPts val="0"/>
              </a:spcAft>
            </a:pPr>
            <a:r>
              <a:rPr sz="850" b="0" i="0">
                <a:solidFill>
                  <a:srgbClr val="5A6878"/>
                </a:solidFill>
                <a:latin typeface="Consolas"/>
              </a:rPr>
              <a:t>11</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D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274320"/>
            <a:ext cx="5852160" cy="219456"/>
          </a:xfrm>
          <a:prstGeom prst="rect">
            <a:avLst/>
          </a:prstGeom>
          <a:noFill/>
        </p:spPr>
        <p:txBody>
          <a:bodyPr wrap="square" lIns="0" tIns="0" rIns="0" bIns="0" anchor="t">
            <a:spAutoFit/>
          </a:bodyPr>
          <a:lstStyle/>
          <a:p>
            <a:pPr algn="l">
              <a:lnSpc>
                <a:spcPct val="100000"/>
              </a:lnSpc>
              <a:spcAft>
                <a:spcPts val="0"/>
              </a:spcAft>
            </a:pPr>
            <a:r>
              <a:rPr sz="900" b="0" i="0">
                <a:solidFill>
                  <a:srgbClr val="63D2E8"/>
                </a:solidFill>
                <a:latin typeface="Consolas"/>
              </a:rPr>
              <a:t>PROTOCOL V2 · MANY MODEMS × MANY ANALYZERS</a:t>
            </a:r>
          </a:p>
        </p:txBody>
      </p:sp>
      <p:sp>
        <p:nvSpPr>
          <p:cNvPr id="4" name="TextBox 3"/>
          <p:cNvSpPr txBox="1"/>
          <p:nvPr/>
        </p:nvSpPr>
        <p:spPr>
          <a:xfrm>
            <a:off x="640080" y="493776"/>
            <a:ext cx="5870448" cy="640080"/>
          </a:xfrm>
          <a:prstGeom prst="rect">
            <a:avLst/>
          </a:prstGeom>
          <a:noFill/>
        </p:spPr>
        <p:txBody>
          <a:bodyPr wrap="square" lIns="0" tIns="0" rIns="0" bIns="0" anchor="b">
            <a:spAutoFit/>
          </a:bodyPr>
          <a:lstStyle/>
          <a:p>
            <a:pPr algn="l">
              <a:lnSpc>
                <a:spcPct val="100000"/>
              </a:lnSpc>
              <a:spcAft>
                <a:spcPts val="0"/>
              </a:spcAft>
            </a:pPr>
            <a:r>
              <a:rPr sz="2700" b="0" i="0">
                <a:solidFill>
                  <a:srgbClr val="E6EDF3"/>
                </a:solidFill>
                <a:latin typeface="Bahnschrift SemiBold"/>
              </a:rPr>
              <a:t>From one meter to a fleet</a:t>
            </a:r>
          </a:p>
        </p:txBody>
      </p:sp>
      <p:sp>
        <p:nvSpPr>
          <p:cNvPr id="5" name="Rectangle 4"/>
          <p:cNvSpPr/>
          <p:nvPr/>
        </p:nvSpPr>
        <p:spPr>
          <a:xfrm>
            <a:off x="6726783" y="583844"/>
            <a:ext cx="1083106" cy="12700"/>
          </a:xfrm>
          <a:prstGeom prst="rect">
            <a:avLst/>
          </a:prstGeom>
          <a:solidFill>
            <a:srgbClr val="2C364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Rectangle 5"/>
          <p:cNvSpPr/>
          <p:nvPr/>
        </p:nvSpPr>
        <p:spPr>
          <a:xfrm>
            <a:off x="6617970" y="548640"/>
            <a:ext cx="77724" cy="77724"/>
          </a:xfrm>
          <a:prstGeom prst="rect">
            <a:avLst/>
          </a:prstGeom>
          <a:solidFill>
            <a:srgbClr val="0D1117"/>
          </a:solidFill>
          <a:ln w="12700">
            <a:solidFill>
              <a:srgbClr val="3D4A5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6045327" y="694944"/>
            <a:ext cx="1223010" cy="201168"/>
          </a:xfrm>
          <a:prstGeom prst="rect">
            <a:avLst/>
          </a:prstGeom>
          <a:noFill/>
        </p:spPr>
        <p:txBody>
          <a:bodyPr wrap="square" lIns="0" tIns="0" rIns="0" bIns="0" anchor="t">
            <a:spAutoFit/>
          </a:bodyPr>
          <a:lstStyle/>
          <a:p>
            <a:pPr algn="ctr">
              <a:lnSpc>
                <a:spcPct val="100000"/>
              </a:lnSpc>
              <a:spcAft>
                <a:spcPts val="0"/>
              </a:spcAft>
            </a:pPr>
            <a:r>
              <a:rPr sz="750" b="0" i="0">
                <a:solidFill>
                  <a:srgbClr val="5A6878"/>
                </a:solidFill>
                <a:latin typeface="Bahnschrift SemiBold"/>
              </a:rPr>
              <a:t>METER</a:t>
            </a:r>
          </a:p>
        </p:txBody>
      </p:sp>
      <p:sp>
        <p:nvSpPr>
          <p:cNvPr id="8" name="Rectangle 7"/>
          <p:cNvSpPr/>
          <p:nvPr/>
        </p:nvSpPr>
        <p:spPr>
          <a:xfrm>
            <a:off x="7949793" y="583844"/>
            <a:ext cx="1083106" cy="12700"/>
          </a:xfrm>
          <a:prstGeom prst="rect">
            <a:avLst/>
          </a:prstGeom>
          <a:solidFill>
            <a:srgbClr val="2E7D8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Rectangle 8"/>
          <p:cNvSpPr/>
          <p:nvPr/>
        </p:nvSpPr>
        <p:spPr>
          <a:xfrm>
            <a:off x="7840979" y="548640"/>
            <a:ext cx="77724" cy="77724"/>
          </a:xfrm>
          <a:prstGeom prst="rect">
            <a:avLst/>
          </a:prstGeom>
          <a:solidFill>
            <a:srgbClr val="63D2E8"/>
          </a:solidFill>
          <a:ln w="12700">
            <a:solidFill>
              <a:srgbClr val="63D2E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TextBox 9"/>
          <p:cNvSpPr txBox="1"/>
          <p:nvPr/>
        </p:nvSpPr>
        <p:spPr>
          <a:xfrm>
            <a:off x="7268337" y="694944"/>
            <a:ext cx="1223010" cy="201168"/>
          </a:xfrm>
          <a:prstGeom prst="rect">
            <a:avLst/>
          </a:prstGeom>
          <a:noFill/>
        </p:spPr>
        <p:txBody>
          <a:bodyPr wrap="square" lIns="0" tIns="0" rIns="0" bIns="0" anchor="t">
            <a:spAutoFit/>
          </a:bodyPr>
          <a:lstStyle/>
          <a:p>
            <a:pPr algn="ctr">
              <a:lnSpc>
                <a:spcPct val="100000"/>
              </a:lnSpc>
              <a:spcAft>
                <a:spcPts val="0"/>
              </a:spcAft>
            </a:pPr>
            <a:r>
              <a:rPr sz="750" b="0" i="0">
                <a:solidFill>
                  <a:srgbClr val="63D2E8"/>
                </a:solidFill>
                <a:latin typeface="Bahnschrift SemiBold"/>
              </a:rPr>
              <a:t>GATEWAY</a:t>
            </a:r>
          </a:p>
        </p:txBody>
      </p:sp>
      <p:sp>
        <p:nvSpPr>
          <p:cNvPr id="11" name="Rectangle 10"/>
          <p:cNvSpPr/>
          <p:nvPr/>
        </p:nvSpPr>
        <p:spPr>
          <a:xfrm>
            <a:off x="9172803" y="583844"/>
            <a:ext cx="1083106" cy="12700"/>
          </a:xfrm>
          <a:prstGeom prst="rect">
            <a:avLst/>
          </a:prstGeom>
          <a:solidFill>
            <a:srgbClr val="2E7D8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Rectangle 11"/>
          <p:cNvSpPr/>
          <p:nvPr/>
        </p:nvSpPr>
        <p:spPr>
          <a:xfrm>
            <a:off x="9063990" y="548640"/>
            <a:ext cx="77724" cy="77724"/>
          </a:xfrm>
          <a:prstGeom prst="rect">
            <a:avLst/>
          </a:prstGeom>
          <a:solidFill>
            <a:srgbClr val="63D2E8"/>
          </a:solidFill>
          <a:ln w="12700">
            <a:solidFill>
              <a:srgbClr val="63D2E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8491347" y="694944"/>
            <a:ext cx="1223010" cy="201168"/>
          </a:xfrm>
          <a:prstGeom prst="rect">
            <a:avLst/>
          </a:prstGeom>
          <a:noFill/>
        </p:spPr>
        <p:txBody>
          <a:bodyPr wrap="square" lIns="0" tIns="0" rIns="0" bIns="0" anchor="t">
            <a:spAutoFit/>
          </a:bodyPr>
          <a:lstStyle/>
          <a:p>
            <a:pPr algn="ctr">
              <a:lnSpc>
                <a:spcPct val="100000"/>
              </a:lnSpc>
              <a:spcAft>
                <a:spcPts val="0"/>
              </a:spcAft>
            </a:pPr>
            <a:r>
              <a:rPr sz="750" b="0" i="0">
                <a:solidFill>
                  <a:srgbClr val="63D2E8"/>
                </a:solidFill>
                <a:latin typeface="Bahnschrift SemiBold"/>
              </a:rPr>
              <a:t>BROKER</a:t>
            </a:r>
          </a:p>
        </p:txBody>
      </p:sp>
      <p:sp>
        <p:nvSpPr>
          <p:cNvPr id="14" name="Rectangle 13"/>
          <p:cNvSpPr/>
          <p:nvPr/>
        </p:nvSpPr>
        <p:spPr>
          <a:xfrm>
            <a:off x="10395813" y="583844"/>
            <a:ext cx="1083106" cy="12700"/>
          </a:xfrm>
          <a:prstGeom prst="rect">
            <a:avLst/>
          </a:prstGeom>
          <a:solidFill>
            <a:srgbClr val="2C364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Rectangle 14"/>
          <p:cNvSpPr/>
          <p:nvPr/>
        </p:nvSpPr>
        <p:spPr>
          <a:xfrm>
            <a:off x="10287000" y="548640"/>
            <a:ext cx="77724" cy="77724"/>
          </a:xfrm>
          <a:prstGeom prst="rect">
            <a:avLst/>
          </a:prstGeom>
          <a:solidFill>
            <a:srgbClr val="63D2E8"/>
          </a:solidFill>
          <a:ln w="12700">
            <a:solidFill>
              <a:srgbClr val="63D2E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TextBox 15"/>
          <p:cNvSpPr txBox="1"/>
          <p:nvPr/>
        </p:nvSpPr>
        <p:spPr>
          <a:xfrm>
            <a:off x="9714357" y="694944"/>
            <a:ext cx="1223010" cy="201168"/>
          </a:xfrm>
          <a:prstGeom prst="rect">
            <a:avLst/>
          </a:prstGeom>
          <a:noFill/>
        </p:spPr>
        <p:txBody>
          <a:bodyPr wrap="square" lIns="0" tIns="0" rIns="0" bIns="0" anchor="t">
            <a:spAutoFit/>
          </a:bodyPr>
          <a:lstStyle/>
          <a:p>
            <a:pPr algn="ctr">
              <a:lnSpc>
                <a:spcPct val="100000"/>
              </a:lnSpc>
              <a:spcAft>
                <a:spcPts val="0"/>
              </a:spcAft>
            </a:pPr>
            <a:r>
              <a:rPr sz="750" b="0" i="0">
                <a:solidFill>
                  <a:srgbClr val="63D2E8"/>
                </a:solidFill>
                <a:latin typeface="Bahnschrift SemiBold"/>
              </a:rPr>
              <a:t>PHONE</a:t>
            </a:r>
          </a:p>
        </p:txBody>
      </p:sp>
      <p:sp>
        <p:nvSpPr>
          <p:cNvPr id="17" name="Rectangle 16"/>
          <p:cNvSpPr/>
          <p:nvPr/>
        </p:nvSpPr>
        <p:spPr>
          <a:xfrm>
            <a:off x="11510009" y="548640"/>
            <a:ext cx="77724" cy="77724"/>
          </a:xfrm>
          <a:prstGeom prst="rect">
            <a:avLst/>
          </a:prstGeom>
          <a:solidFill>
            <a:srgbClr val="0D1117"/>
          </a:solidFill>
          <a:ln w="12700">
            <a:solidFill>
              <a:srgbClr val="3D4A5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TextBox 17"/>
          <p:cNvSpPr txBox="1"/>
          <p:nvPr/>
        </p:nvSpPr>
        <p:spPr>
          <a:xfrm>
            <a:off x="10937367" y="694944"/>
            <a:ext cx="1223010" cy="201168"/>
          </a:xfrm>
          <a:prstGeom prst="rect">
            <a:avLst/>
          </a:prstGeom>
          <a:noFill/>
        </p:spPr>
        <p:txBody>
          <a:bodyPr wrap="square" lIns="0" tIns="0" rIns="0" bIns="0" anchor="t">
            <a:spAutoFit/>
          </a:bodyPr>
          <a:lstStyle/>
          <a:p>
            <a:pPr algn="ctr">
              <a:lnSpc>
                <a:spcPct val="100000"/>
              </a:lnSpc>
              <a:spcAft>
                <a:spcPts val="0"/>
              </a:spcAft>
            </a:pPr>
            <a:r>
              <a:rPr sz="750" b="0" i="0">
                <a:solidFill>
                  <a:srgbClr val="5A6878"/>
                </a:solidFill>
                <a:latin typeface="Bahnschrift SemiBold"/>
              </a:rPr>
              <a:t>NET</a:t>
            </a:r>
          </a:p>
        </p:txBody>
      </p:sp>
      <p:sp>
        <p:nvSpPr>
          <p:cNvPr id="19" name="Rectangle 18"/>
          <p:cNvSpPr/>
          <p:nvPr/>
        </p:nvSpPr>
        <p:spPr>
          <a:xfrm>
            <a:off x="640080" y="1225296"/>
            <a:ext cx="10908792" cy="9525"/>
          </a:xfrm>
          <a:prstGeom prst="rect">
            <a:avLst/>
          </a:prstGeom>
          <a:solidFill>
            <a:srgbClr val="2C364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Rectangle 19"/>
          <p:cNvSpPr/>
          <p:nvPr/>
        </p:nvSpPr>
        <p:spPr>
          <a:xfrm>
            <a:off x="640080" y="1220724"/>
            <a:ext cx="566928" cy="25400"/>
          </a:xfrm>
          <a:prstGeom prst="rect">
            <a:avLst/>
          </a:prstGeom>
          <a:solidFill>
            <a:srgbClr val="63D2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1" name="TextBox 20"/>
          <p:cNvSpPr txBox="1"/>
          <p:nvPr/>
        </p:nvSpPr>
        <p:spPr>
          <a:xfrm>
            <a:off x="640080" y="1536192"/>
            <a:ext cx="10908792" cy="457200"/>
          </a:xfrm>
          <a:prstGeom prst="rect">
            <a:avLst/>
          </a:prstGeom>
          <a:noFill/>
        </p:spPr>
        <p:txBody>
          <a:bodyPr wrap="square" lIns="0" tIns="0" rIns="0" bIns="0" anchor="t">
            <a:spAutoFit/>
          </a:bodyPr>
          <a:lstStyle/>
          <a:p>
            <a:pPr algn="l">
              <a:lnSpc>
                <a:spcPct val="110000"/>
              </a:lnSpc>
              <a:spcAft>
                <a:spcPts val="0"/>
              </a:spcAft>
            </a:pPr>
            <a:r>
              <a:rPr sz="1900" b="0" i="0">
                <a:solidFill>
                  <a:srgbClr val="63D2E8"/>
                </a:solidFill>
                <a:latin typeface="Bahnschrift SemiBold"/>
              </a:rPr>
              <a:t>The machine owns the addresses. The operator owns the names.</a:t>
            </a:r>
          </a:p>
        </p:txBody>
      </p:sp>
      <p:sp>
        <p:nvSpPr>
          <p:cNvPr id="22" name="TextBox 21"/>
          <p:cNvSpPr txBox="1"/>
          <p:nvPr/>
        </p:nvSpPr>
        <p:spPr>
          <a:xfrm>
            <a:off x="640080" y="1938528"/>
            <a:ext cx="10908792" cy="365760"/>
          </a:xfrm>
          <a:prstGeom prst="rect">
            <a:avLst/>
          </a:prstGeom>
          <a:noFill/>
        </p:spPr>
        <p:txBody>
          <a:bodyPr wrap="square" lIns="0" tIns="0" rIns="0" bIns="0" anchor="t">
            <a:spAutoFit/>
          </a:bodyPr>
          <a:lstStyle/>
          <a:p>
            <a:pPr algn="l">
              <a:lnSpc>
                <a:spcPct val="140000"/>
              </a:lnSpc>
              <a:spcAft>
                <a:spcPts val="0"/>
              </a:spcAft>
            </a:pPr>
            <a:r>
              <a:rPr sz="1200" b="0" i="0">
                <a:solidFill>
                  <a:srgbClr val="8494A6"/>
                </a:solidFill>
                <a:latin typeface="Segoe UI"/>
              </a:rPr>
              <a:t>A modem announces what it actually polls on a retained registry topic; the app annotates it with names and folders on a separate retained topic it alone owns. Two writers, two topics, no shared field — so a rename can never corrupt a Modbus address, and neither can win a race with the other.</a:t>
            </a:r>
          </a:p>
        </p:txBody>
      </p:sp>
      <p:sp>
        <p:nvSpPr>
          <p:cNvPr id="23" name="Rectangle 22"/>
          <p:cNvSpPr/>
          <p:nvPr/>
        </p:nvSpPr>
        <p:spPr>
          <a:xfrm>
            <a:off x="640080" y="2615184"/>
            <a:ext cx="10908792" cy="9525"/>
          </a:xfrm>
          <a:prstGeom prst="rect">
            <a:avLst/>
          </a:prstGeom>
          <a:solidFill>
            <a:srgbClr val="2C364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4" name="Rectangle 23"/>
          <p:cNvSpPr/>
          <p:nvPr/>
        </p:nvSpPr>
        <p:spPr>
          <a:xfrm>
            <a:off x="640080" y="2816352"/>
            <a:ext cx="2624328" cy="2212848"/>
          </a:xfrm>
          <a:prstGeom prst="rect">
            <a:avLst/>
          </a:prstGeom>
          <a:solidFill>
            <a:srgbClr val="161C24"/>
          </a:solidFill>
          <a:ln w="12700">
            <a:solidFill>
              <a:srgbClr val="2C364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5" name="Rectangle 24"/>
          <p:cNvSpPr/>
          <p:nvPr/>
        </p:nvSpPr>
        <p:spPr>
          <a:xfrm>
            <a:off x="640080" y="2816352"/>
            <a:ext cx="2624328" cy="31750"/>
          </a:xfrm>
          <a:prstGeom prst="rect">
            <a:avLst/>
          </a:prstGeom>
          <a:solidFill>
            <a:srgbClr val="63D2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6" name="TextBox 25"/>
          <p:cNvSpPr txBox="1"/>
          <p:nvPr/>
        </p:nvSpPr>
        <p:spPr>
          <a:xfrm>
            <a:off x="822959" y="3017520"/>
            <a:ext cx="2258568" cy="274320"/>
          </a:xfrm>
          <a:prstGeom prst="rect">
            <a:avLst/>
          </a:prstGeom>
          <a:noFill/>
        </p:spPr>
        <p:txBody>
          <a:bodyPr wrap="square" lIns="0" tIns="0" rIns="0" bIns="0" anchor="t">
            <a:spAutoFit/>
          </a:bodyPr>
          <a:lstStyle/>
          <a:p>
            <a:pPr algn="l">
              <a:lnSpc>
                <a:spcPct val="112000"/>
              </a:lnSpc>
              <a:spcAft>
                <a:spcPts val="0"/>
              </a:spcAft>
            </a:pPr>
            <a:r>
              <a:rPr sz="1500" b="0" i="0">
                <a:solidFill>
                  <a:srgbClr val="E6EDF3"/>
                </a:solidFill>
                <a:latin typeface="Bahnschrift SemiBold"/>
              </a:rPr>
              <a:t>Multiple analyzers</a:t>
            </a:r>
          </a:p>
        </p:txBody>
      </p:sp>
      <p:sp>
        <p:nvSpPr>
          <p:cNvPr id="27" name="TextBox 26"/>
          <p:cNvSpPr txBox="1"/>
          <p:nvPr/>
        </p:nvSpPr>
        <p:spPr>
          <a:xfrm>
            <a:off x="822959" y="3310128"/>
            <a:ext cx="2258568" cy="201168"/>
          </a:xfrm>
          <a:prstGeom prst="rect">
            <a:avLst/>
          </a:prstGeom>
          <a:noFill/>
        </p:spPr>
        <p:txBody>
          <a:bodyPr wrap="square" lIns="0" tIns="0" rIns="0" bIns="0" anchor="t">
            <a:spAutoFit/>
          </a:bodyPr>
          <a:lstStyle/>
          <a:p>
            <a:pPr algn="l">
              <a:lnSpc>
                <a:spcPct val="112000"/>
              </a:lnSpc>
              <a:spcAft>
                <a:spcPts val="0"/>
              </a:spcAft>
            </a:pPr>
            <a:r>
              <a:rPr sz="800" b="0" i="0">
                <a:solidFill>
                  <a:srgbClr val="63D2E8"/>
                </a:solidFill>
                <a:latin typeface="Consolas"/>
              </a:rPr>
              <a:t>FLAT IDS, FOLDERS AS METADATA</a:t>
            </a:r>
          </a:p>
        </p:txBody>
      </p:sp>
      <p:sp>
        <p:nvSpPr>
          <p:cNvPr id="28" name="TextBox 27"/>
          <p:cNvSpPr txBox="1"/>
          <p:nvPr/>
        </p:nvSpPr>
        <p:spPr>
          <a:xfrm>
            <a:off x="822959" y="3584448"/>
            <a:ext cx="2258568" cy="1280160"/>
          </a:xfrm>
          <a:prstGeom prst="rect">
            <a:avLst/>
          </a:prstGeom>
          <a:noFill/>
        </p:spPr>
        <p:txBody>
          <a:bodyPr wrap="square" lIns="0" tIns="0" rIns="0" bIns="0" anchor="t">
            <a:spAutoFit/>
          </a:bodyPr>
          <a:lstStyle/>
          <a:p>
            <a:pPr algn="l">
              <a:lnSpc>
                <a:spcPct val="138000"/>
              </a:lnSpc>
              <a:spcAft>
                <a:spcPts val="0"/>
              </a:spcAft>
            </a:pPr>
            <a:r>
              <a:rPr sz="1000" b="0" i="0">
                <a:solidFill>
                  <a:srgbClr val="8494A6"/>
                </a:solidFill>
                <a:latin typeface="Segoe UI"/>
              </a:rPr>
              <a:t>an-01 stays an-01 for life. Names and folders live in MQTT, not in the topic, so a rename moves no data and breaks no history. The simulator runs 25 per modem; the ESP8266 is capped at 8 by its buffer.</a:t>
            </a:r>
          </a:p>
        </p:txBody>
      </p:sp>
      <p:sp>
        <p:nvSpPr>
          <p:cNvPr id="29" name="Rectangle 28"/>
          <p:cNvSpPr/>
          <p:nvPr/>
        </p:nvSpPr>
        <p:spPr>
          <a:xfrm>
            <a:off x="3396996" y="2816352"/>
            <a:ext cx="2624328" cy="2212848"/>
          </a:xfrm>
          <a:prstGeom prst="rect">
            <a:avLst/>
          </a:prstGeom>
          <a:solidFill>
            <a:srgbClr val="161C24"/>
          </a:solidFill>
          <a:ln w="12700">
            <a:solidFill>
              <a:srgbClr val="2C364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0" name="Rectangle 29"/>
          <p:cNvSpPr/>
          <p:nvPr/>
        </p:nvSpPr>
        <p:spPr>
          <a:xfrm>
            <a:off x="3396996" y="2816352"/>
            <a:ext cx="2624328" cy="31750"/>
          </a:xfrm>
          <a:prstGeom prst="rect">
            <a:avLst/>
          </a:prstGeom>
          <a:solidFill>
            <a:srgbClr val="C89A5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1" name="TextBox 30"/>
          <p:cNvSpPr txBox="1"/>
          <p:nvPr/>
        </p:nvSpPr>
        <p:spPr>
          <a:xfrm>
            <a:off x="3579876" y="3017520"/>
            <a:ext cx="2258568" cy="274320"/>
          </a:xfrm>
          <a:prstGeom prst="rect">
            <a:avLst/>
          </a:prstGeom>
          <a:noFill/>
        </p:spPr>
        <p:txBody>
          <a:bodyPr wrap="square" lIns="0" tIns="0" rIns="0" bIns="0" anchor="t">
            <a:spAutoFit/>
          </a:bodyPr>
          <a:lstStyle/>
          <a:p>
            <a:pPr algn="l">
              <a:lnSpc>
                <a:spcPct val="112000"/>
              </a:lnSpc>
              <a:spcAft>
                <a:spcPts val="0"/>
              </a:spcAft>
            </a:pPr>
            <a:r>
              <a:rPr sz="1500" b="0" i="0">
                <a:solidFill>
                  <a:srgbClr val="E6EDF3"/>
                </a:solidFill>
                <a:latin typeface="Bahnschrift SemiBold"/>
              </a:rPr>
              <a:t>Sleep mode</a:t>
            </a:r>
          </a:p>
        </p:txBody>
      </p:sp>
      <p:sp>
        <p:nvSpPr>
          <p:cNvPr id="32" name="TextBox 31"/>
          <p:cNvSpPr txBox="1"/>
          <p:nvPr/>
        </p:nvSpPr>
        <p:spPr>
          <a:xfrm>
            <a:off x="3579876" y="3310128"/>
            <a:ext cx="2258568" cy="201168"/>
          </a:xfrm>
          <a:prstGeom prst="rect">
            <a:avLst/>
          </a:prstGeom>
          <a:noFill/>
        </p:spPr>
        <p:txBody>
          <a:bodyPr wrap="square" lIns="0" tIns="0" rIns="0" bIns="0" anchor="t">
            <a:spAutoFit/>
          </a:bodyPr>
          <a:lstStyle/>
          <a:p>
            <a:pPr algn="l">
              <a:lnSpc>
                <a:spcPct val="112000"/>
              </a:lnSpc>
              <a:spcAft>
                <a:spcPts val="0"/>
              </a:spcAft>
            </a:pPr>
            <a:r>
              <a:rPr sz="800" b="0" i="0">
                <a:solidFill>
                  <a:srgbClr val="C89A5B"/>
                </a:solidFill>
                <a:latin typeface="Consolas"/>
              </a:rPr>
              <a:t>MUTE, NEVER DEAF</a:t>
            </a:r>
          </a:p>
        </p:txBody>
      </p:sp>
      <p:sp>
        <p:nvSpPr>
          <p:cNvPr id="33" name="TextBox 32"/>
          <p:cNvSpPr txBox="1"/>
          <p:nvPr/>
        </p:nvSpPr>
        <p:spPr>
          <a:xfrm>
            <a:off x="3579876" y="3584448"/>
            <a:ext cx="2258568" cy="1280160"/>
          </a:xfrm>
          <a:prstGeom prst="rect">
            <a:avLst/>
          </a:prstGeom>
          <a:noFill/>
        </p:spPr>
        <p:txBody>
          <a:bodyPr wrap="square" lIns="0" tIns="0" rIns="0" bIns="0" anchor="t">
            <a:spAutoFit/>
          </a:bodyPr>
          <a:lstStyle/>
          <a:p>
            <a:pPr algn="l">
              <a:lnSpc>
                <a:spcPct val="138000"/>
              </a:lnSpc>
              <a:spcAft>
                <a:spcPts val="0"/>
              </a:spcAft>
            </a:pPr>
            <a:r>
              <a:rPr sz="1000" b="0" i="0">
                <a:solidFill>
                  <a:srgbClr val="8494A6"/>
                </a:solidFill>
                <a:latin typeface="Segoe UI"/>
              </a:rPr>
              <a:t>Alarms keep evaluating while asleep — only the notification is suppressed, and everything suppressed comes back as a digest on wake. Per-modem, plus one master switch. The overnight record survives the quiet.</a:t>
            </a:r>
          </a:p>
        </p:txBody>
      </p:sp>
      <p:sp>
        <p:nvSpPr>
          <p:cNvPr id="34" name="Rectangle 33"/>
          <p:cNvSpPr/>
          <p:nvPr/>
        </p:nvSpPr>
        <p:spPr>
          <a:xfrm>
            <a:off x="6153912" y="2816352"/>
            <a:ext cx="2624328" cy="2212848"/>
          </a:xfrm>
          <a:prstGeom prst="rect">
            <a:avLst/>
          </a:prstGeom>
          <a:solidFill>
            <a:srgbClr val="161C24"/>
          </a:solidFill>
          <a:ln w="12700">
            <a:solidFill>
              <a:srgbClr val="2C364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5" name="Rectangle 34"/>
          <p:cNvSpPr/>
          <p:nvPr/>
        </p:nvSpPr>
        <p:spPr>
          <a:xfrm>
            <a:off x="6153912" y="2816352"/>
            <a:ext cx="2624328" cy="31750"/>
          </a:xfrm>
          <a:prstGeom prst="rect">
            <a:avLst/>
          </a:prstGeom>
          <a:solidFill>
            <a:srgbClr val="C89A5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6" name="TextBox 35"/>
          <p:cNvSpPr txBox="1"/>
          <p:nvPr/>
        </p:nvSpPr>
        <p:spPr>
          <a:xfrm>
            <a:off x="6336792" y="3017520"/>
            <a:ext cx="2258568" cy="274320"/>
          </a:xfrm>
          <a:prstGeom prst="rect">
            <a:avLst/>
          </a:prstGeom>
          <a:noFill/>
        </p:spPr>
        <p:txBody>
          <a:bodyPr wrap="square" lIns="0" tIns="0" rIns="0" bIns="0" anchor="t">
            <a:spAutoFit/>
          </a:bodyPr>
          <a:lstStyle/>
          <a:p>
            <a:pPr algn="l">
              <a:lnSpc>
                <a:spcPct val="112000"/>
              </a:lnSpc>
              <a:spcAft>
                <a:spcPts val="0"/>
              </a:spcAft>
            </a:pPr>
            <a:r>
              <a:rPr sz="1500" b="0" i="0">
                <a:solidFill>
                  <a:srgbClr val="E6EDF3"/>
                </a:solidFill>
                <a:latin typeface="Bahnschrift SemiBold"/>
              </a:rPr>
              <a:t>Modem energy</a:t>
            </a:r>
          </a:p>
        </p:txBody>
      </p:sp>
      <p:sp>
        <p:nvSpPr>
          <p:cNvPr id="37" name="TextBox 36"/>
          <p:cNvSpPr txBox="1"/>
          <p:nvPr/>
        </p:nvSpPr>
        <p:spPr>
          <a:xfrm>
            <a:off x="6336792" y="3310128"/>
            <a:ext cx="2258568" cy="201168"/>
          </a:xfrm>
          <a:prstGeom prst="rect">
            <a:avLst/>
          </a:prstGeom>
          <a:noFill/>
        </p:spPr>
        <p:txBody>
          <a:bodyPr wrap="square" lIns="0" tIns="0" rIns="0" bIns="0" anchor="t">
            <a:spAutoFit/>
          </a:bodyPr>
          <a:lstStyle/>
          <a:p>
            <a:pPr algn="l">
              <a:lnSpc>
                <a:spcPct val="112000"/>
              </a:lnSpc>
              <a:spcAft>
                <a:spcPts val="0"/>
              </a:spcAft>
            </a:pPr>
            <a:r>
              <a:rPr sz="800" b="0" i="0">
                <a:solidFill>
                  <a:srgbClr val="C89A5B"/>
                </a:solidFill>
                <a:latin typeface="Consolas"/>
              </a:rPr>
              <a:t>NEVER DEEP SLEEP</a:t>
            </a:r>
          </a:p>
        </p:txBody>
      </p:sp>
      <p:sp>
        <p:nvSpPr>
          <p:cNvPr id="38" name="TextBox 37"/>
          <p:cNvSpPr txBox="1"/>
          <p:nvPr/>
        </p:nvSpPr>
        <p:spPr>
          <a:xfrm>
            <a:off x="6336792" y="3584448"/>
            <a:ext cx="2258568" cy="1280160"/>
          </a:xfrm>
          <a:prstGeom prst="rect">
            <a:avLst/>
          </a:prstGeom>
          <a:noFill/>
        </p:spPr>
        <p:txBody>
          <a:bodyPr wrap="square" lIns="0" tIns="0" rIns="0" bIns="0" anchor="t">
            <a:spAutoFit/>
          </a:bodyPr>
          <a:lstStyle/>
          <a:p>
            <a:pPr algn="l">
              <a:lnSpc>
                <a:spcPct val="138000"/>
              </a:lnSpc>
              <a:spcAft>
                <a:spcPts val="0"/>
              </a:spcAft>
            </a:pPr>
            <a:r>
              <a:rPr sz="1000" b="0" i="0">
                <a:solidFill>
                  <a:srgbClr val="8494A6"/>
                </a:solidFill>
                <a:latin typeface="Segoe UI"/>
              </a:rPr>
              <a:t>Sleep means a 5 s → 300 s interval and a lower radio duty cycle, with the broker connection intact. Deep sleep would drop the very link the wake command arrives on, and fire the LWT — reporting the modem dead while it merely rested.</a:t>
            </a:r>
          </a:p>
        </p:txBody>
      </p:sp>
      <p:sp>
        <p:nvSpPr>
          <p:cNvPr id="39" name="Rectangle 38"/>
          <p:cNvSpPr/>
          <p:nvPr/>
        </p:nvSpPr>
        <p:spPr>
          <a:xfrm>
            <a:off x="8910828" y="2816352"/>
            <a:ext cx="2624328" cy="2212848"/>
          </a:xfrm>
          <a:prstGeom prst="rect">
            <a:avLst/>
          </a:prstGeom>
          <a:solidFill>
            <a:srgbClr val="161C24"/>
          </a:solidFill>
          <a:ln w="12700">
            <a:solidFill>
              <a:srgbClr val="2C364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0" name="Rectangle 39"/>
          <p:cNvSpPr/>
          <p:nvPr/>
        </p:nvSpPr>
        <p:spPr>
          <a:xfrm>
            <a:off x="8910828" y="2816352"/>
            <a:ext cx="2624328" cy="31750"/>
          </a:xfrm>
          <a:prstGeom prst="rect">
            <a:avLst/>
          </a:prstGeom>
          <a:solidFill>
            <a:srgbClr val="FF443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1" name="TextBox 40"/>
          <p:cNvSpPr txBox="1"/>
          <p:nvPr/>
        </p:nvSpPr>
        <p:spPr>
          <a:xfrm>
            <a:off x="9093707" y="3017520"/>
            <a:ext cx="2258568" cy="274320"/>
          </a:xfrm>
          <a:prstGeom prst="rect">
            <a:avLst/>
          </a:prstGeom>
          <a:noFill/>
        </p:spPr>
        <p:txBody>
          <a:bodyPr wrap="square" lIns="0" tIns="0" rIns="0" bIns="0" anchor="t">
            <a:spAutoFit/>
          </a:bodyPr>
          <a:lstStyle/>
          <a:p>
            <a:pPr algn="l">
              <a:lnSpc>
                <a:spcPct val="112000"/>
              </a:lnSpc>
              <a:spcAft>
                <a:spcPts val="0"/>
              </a:spcAft>
            </a:pPr>
            <a:r>
              <a:rPr sz="1500" b="0" i="0">
                <a:solidFill>
                  <a:srgbClr val="E6EDF3"/>
                </a:solidFill>
                <a:latin typeface="Bahnschrift SemiBold"/>
              </a:rPr>
              <a:t>Load control</a:t>
            </a:r>
          </a:p>
        </p:txBody>
      </p:sp>
      <p:sp>
        <p:nvSpPr>
          <p:cNvPr id="42" name="TextBox 41"/>
          <p:cNvSpPr txBox="1"/>
          <p:nvPr/>
        </p:nvSpPr>
        <p:spPr>
          <a:xfrm>
            <a:off x="9093707" y="3310128"/>
            <a:ext cx="2258568" cy="201168"/>
          </a:xfrm>
          <a:prstGeom prst="rect">
            <a:avLst/>
          </a:prstGeom>
          <a:noFill/>
        </p:spPr>
        <p:txBody>
          <a:bodyPr wrap="square" lIns="0" tIns="0" rIns="0" bIns="0" anchor="t">
            <a:spAutoFit/>
          </a:bodyPr>
          <a:lstStyle/>
          <a:p>
            <a:pPr algn="l">
              <a:lnSpc>
                <a:spcPct val="112000"/>
              </a:lnSpc>
              <a:spcAft>
                <a:spcPts val="0"/>
              </a:spcAft>
            </a:pPr>
            <a:r>
              <a:rPr sz="800" b="0" i="0">
                <a:solidFill>
                  <a:srgbClr val="FF4438"/>
                </a:solidFill>
                <a:latin typeface="Consolas"/>
              </a:rPr>
              <a:t>FOUR CHANNELS, OFF ON BOOT</a:t>
            </a:r>
          </a:p>
        </p:txBody>
      </p:sp>
      <p:sp>
        <p:nvSpPr>
          <p:cNvPr id="43" name="TextBox 42"/>
          <p:cNvSpPr txBox="1"/>
          <p:nvPr/>
        </p:nvSpPr>
        <p:spPr>
          <a:xfrm>
            <a:off x="9093707" y="3584448"/>
            <a:ext cx="2258568" cy="1280160"/>
          </a:xfrm>
          <a:prstGeom prst="rect">
            <a:avLst/>
          </a:prstGeom>
          <a:noFill/>
        </p:spPr>
        <p:txBody>
          <a:bodyPr wrap="square" lIns="0" tIns="0" rIns="0" bIns="0" anchor="t">
            <a:spAutoFit/>
          </a:bodyPr>
          <a:lstStyle/>
          <a:p>
            <a:pPr algn="l">
              <a:lnSpc>
                <a:spcPct val="138000"/>
              </a:lnSpc>
              <a:spcAft>
                <a:spcPts val="0"/>
              </a:spcAft>
            </a:pPr>
            <a:r>
              <a:rPr sz="1000" b="0" i="0">
                <a:solidFill>
                  <a:srgbClr val="8494A6"/>
                </a:solidFill>
                <a:latin typeface="Segoe UI"/>
              </a:rPr>
              <a:t>Relay channels on the modem's own GPIO — not a meter register, so the DKM-440 command block stays untouched. Loads are never persisted: re-closing a contactor after a power cut has to be a decision, not a default.</a:t>
            </a:r>
          </a:p>
        </p:txBody>
      </p:sp>
      <p:sp>
        <p:nvSpPr>
          <p:cNvPr id="44" name="TextBox 43"/>
          <p:cNvSpPr txBox="1"/>
          <p:nvPr/>
        </p:nvSpPr>
        <p:spPr>
          <a:xfrm>
            <a:off x="640080" y="5230368"/>
            <a:ext cx="10908792" cy="237744"/>
          </a:xfrm>
          <a:prstGeom prst="rect">
            <a:avLst/>
          </a:prstGeom>
          <a:noFill/>
        </p:spPr>
        <p:txBody>
          <a:bodyPr wrap="square" lIns="0" tIns="0" rIns="0" bIns="0" anchor="t">
            <a:spAutoFit/>
          </a:bodyPr>
          <a:lstStyle/>
          <a:p>
            <a:pPr algn="l">
              <a:lnSpc>
                <a:spcPct val="112000"/>
              </a:lnSpc>
              <a:spcAft>
                <a:spcPts val="0"/>
              </a:spcAft>
            </a:pPr>
            <a:r>
              <a:rPr sz="900" b="0" i="0">
                <a:solidFill>
                  <a:srgbClr val="4AD991"/>
                </a:solidFill>
                <a:latin typeface="Bahnschrift SemiBold"/>
              </a:rPr>
              <a:t>AND THE ONE THAT COSTS NOTHING</a:t>
            </a:r>
          </a:p>
        </p:txBody>
      </p:sp>
      <p:sp>
        <p:nvSpPr>
          <p:cNvPr id="45" name="Rectangle 44"/>
          <p:cNvSpPr/>
          <p:nvPr/>
        </p:nvSpPr>
        <p:spPr>
          <a:xfrm>
            <a:off x="640080" y="5486400"/>
            <a:ext cx="10908792" cy="9525"/>
          </a:xfrm>
          <a:prstGeom prst="rect">
            <a:avLst/>
          </a:prstGeom>
          <a:solidFill>
            <a:srgbClr val="3D4A5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6" name="TextBox 45"/>
          <p:cNvSpPr txBox="1"/>
          <p:nvPr/>
        </p:nvSpPr>
        <p:spPr>
          <a:xfrm>
            <a:off x="640080" y="5705856"/>
            <a:ext cx="3474720" cy="237744"/>
          </a:xfrm>
          <a:prstGeom prst="rect">
            <a:avLst/>
          </a:prstGeom>
          <a:noFill/>
        </p:spPr>
        <p:txBody>
          <a:bodyPr wrap="square" lIns="0" tIns="0" rIns="0" bIns="0" anchor="t">
            <a:spAutoFit/>
          </a:bodyPr>
          <a:lstStyle/>
          <a:p>
            <a:pPr algn="l">
              <a:lnSpc>
                <a:spcPct val="112000"/>
              </a:lnSpc>
              <a:spcAft>
                <a:spcPts val="0"/>
              </a:spcAft>
            </a:pPr>
            <a:r>
              <a:rPr sz="1100" b="0" i="0">
                <a:solidFill>
                  <a:srgbClr val="4AD991"/>
                </a:solidFill>
                <a:latin typeface="Consolas"/>
              </a:rPr>
              <a:t>Versioned</a:t>
            </a:r>
          </a:p>
        </p:txBody>
      </p:sp>
      <p:sp>
        <p:nvSpPr>
          <p:cNvPr id="47" name="TextBox 46"/>
          <p:cNvSpPr txBox="1"/>
          <p:nvPr/>
        </p:nvSpPr>
        <p:spPr>
          <a:xfrm>
            <a:off x="640080" y="5961888"/>
            <a:ext cx="3474720" cy="237744"/>
          </a:xfrm>
          <a:prstGeom prst="rect">
            <a:avLst/>
          </a:prstGeom>
          <a:noFill/>
        </p:spPr>
        <p:txBody>
          <a:bodyPr wrap="square" lIns="0" tIns="0" rIns="0" bIns="0" anchor="t">
            <a:spAutoFit/>
          </a:bodyPr>
          <a:lstStyle/>
          <a:p>
            <a:pPr algn="l">
              <a:lnSpc>
                <a:spcPct val="112000"/>
              </a:lnSpc>
              <a:spcAft>
                <a:spcPts val="0"/>
              </a:spcAft>
            </a:pPr>
            <a:r>
              <a:rPr sz="1000" b="0" i="0">
                <a:solidFill>
                  <a:srgbClr val="8494A6"/>
                </a:solidFill>
                <a:latin typeface="Segoe UI"/>
              </a:rPr>
              <a:t>every v2 payload carries "v": 2 — the legacy topics carry none and are v1 by definition</a:t>
            </a:r>
          </a:p>
        </p:txBody>
      </p:sp>
      <p:sp>
        <p:nvSpPr>
          <p:cNvPr id="48" name="TextBox 47"/>
          <p:cNvSpPr txBox="1"/>
          <p:nvPr/>
        </p:nvSpPr>
        <p:spPr>
          <a:xfrm>
            <a:off x="4315968" y="5705856"/>
            <a:ext cx="3474720" cy="237744"/>
          </a:xfrm>
          <a:prstGeom prst="rect">
            <a:avLst/>
          </a:prstGeom>
          <a:noFill/>
        </p:spPr>
        <p:txBody>
          <a:bodyPr wrap="square" lIns="0" tIns="0" rIns="0" bIns="0" anchor="t">
            <a:spAutoFit/>
          </a:bodyPr>
          <a:lstStyle/>
          <a:p>
            <a:pPr algn="l">
              <a:lnSpc>
                <a:spcPct val="112000"/>
              </a:lnSpc>
              <a:spcAft>
                <a:spcPts val="0"/>
              </a:spcAft>
            </a:pPr>
            <a:r>
              <a:rPr sz="1100" b="0" i="0">
                <a:solidFill>
                  <a:srgbClr val="4AD991"/>
                </a:solidFill>
                <a:latin typeface="Consolas"/>
              </a:rPr>
              <a:t>Backward compatible</a:t>
            </a:r>
          </a:p>
        </p:txBody>
      </p:sp>
      <p:sp>
        <p:nvSpPr>
          <p:cNvPr id="49" name="TextBox 48"/>
          <p:cNvSpPr txBox="1"/>
          <p:nvPr/>
        </p:nvSpPr>
        <p:spPr>
          <a:xfrm>
            <a:off x="4315968" y="5961888"/>
            <a:ext cx="3474720" cy="237744"/>
          </a:xfrm>
          <a:prstGeom prst="rect">
            <a:avLst/>
          </a:prstGeom>
          <a:noFill/>
        </p:spPr>
        <p:txBody>
          <a:bodyPr wrap="square" lIns="0" tIns="0" rIns="0" bIns="0" anchor="t">
            <a:spAutoFit/>
          </a:bodyPr>
          <a:lstStyle/>
          <a:p>
            <a:pPr algn="l">
              <a:lnSpc>
                <a:spcPct val="112000"/>
              </a:lnSpc>
              <a:spcAft>
                <a:spcPts val="0"/>
              </a:spcAft>
            </a:pPr>
            <a:r>
              <a:rPr sz="1000" b="0" i="0">
                <a:solidFill>
                  <a:srgbClr val="8494A6"/>
                </a:solidFill>
                <a:latin typeface="Segoe UI"/>
              </a:rPr>
              <a:t>the old gateway still renders, tagged v1, with no special case in the reducer</a:t>
            </a:r>
          </a:p>
        </p:txBody>
      </p:sp>
      <p:sp>
        <p:nvSpPr>
          <p:cNvPr id="50" name="TextBox 49"/>
          <p:cNvSpPr txBox="1"/>
          <p:nvPr/>
        </p:nvSpPr>
        <p:spPr>
          <a:xfrm>
            <a:off x="7991855" y="5705856"/>
            <a:ext cx="3474720" cy="237744"/>
          </a:xfrm>
          <a:prstGeom prst="rect">
            <a:avLst/>
          </a:prstGeom>
          <a:noFill/>
        </p:spPr>
        <p:txBody>
          <a:bodyPr wrap="square" lIns="0" tIns="0" rIns="0" bIns="0" anchor="t">
            <a:spAutoFit/>
          </a:bodyPr>
          <a:lstStyle/>
          <a:p>
            <a:pPr algn="l">
              <a:lnSpc>
                <a:spcPct val="112000"/>
              </a:lnSpc>
              <a:spcAft>
                <a:spcPts val="0"/>
              </a:spcAft>
            </a:pPr>
            <a:r>
              <a:rPr sz="1100" b="0" i="0">
                <a:solidFill>
                  <a:srgbClr val="4AD991"/>
                </a:solidFill>
                <a:latin typeface="Consolas"/>
              </a:rPr>
              <a:t>Free rollback</a:t>
            </a:r>
          </a:p>
        </p:txBody>
      </p:sp>
      <p:sp>
        <p:nvSpPr>
          <p:cNvPr id="51" name="TextBox 50"/>
          <p:cNvSpPr txBox="1"/>
          <p:nvPr/>
        </p:nvSpPr>
        <p:spPr>
          <a:xfrm>
            <a:off x="7991855" y="5961888"/>
            <a:ext cx="3474720" cy="237744"/>
          </a:xfrm>
          <a:prstGeom prst="rect">
            <a:avLst/>
          </a:prstGeom>
          <a:noFill/>
        </p:spPr>
        <p:txBody>
          <a:bodyPr wrap="square" lIns="0" tIns="0" rIns="0" bIns="0" anchor="t">
            <a:spAutoFit/>
          </a:bodyPr>
          <a:lstStyle/>
          <a:p>
            <a:pPr algn="l">
              <a:lnSpc>
                <a:spcPct val="112000"/>
              </a:lnSpc>
              <a:spcAft>
                <a:spcPts val="0"/>
              </a:spcAft>
            </a:pPr>
            <a:r>
              <a:rPr sz="1000" b="0" i="0">
                <a:solidFill>
                  <a:srgbClr val="8494A6"/>
                </a:solidFill>
                <a:latin typeface="Segoe UI"/>
              </a:rPr>
              <a:t>if the flash goes wrong the demo degrades to v1 rather than dying</a:t>
            </a:r>
          </a:p>
        </p:txBody>
      </p:sp>
      <p:sp>
        <p:nvSpPr>
          <p:cNvPr id="52" name="Rectangle 51"/>
          <p:cNvSpPr/>
          <p:nvPr/>
        </p:nvSpPr>
        <p:spPr>
          <a:xfrm>
            <a:off x="640080" y="6382512"/>
            <a:ext cx="10908792" cy="9525"/>
          </a:xfrm>
          <a:prstGeom prst="rect">
            <a:avLst/>
          </a:prstGeom>
          <a:solidFill>
            <a:srgbClr val="2C364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3" name="TextBox 52"/>
          <p:cNvSpPr txBox="1"/>
          <p:nvPr/>
        </p:nvSpPr>
        <p:spPr>
          <a:xfrm>
            <a:off x="640080" y="6492240"/>
            <a:ext cx="7315200" cy="237744"/>
          </a:xfrm>
          <a:prstGeom prst="rect">
            <a:avLst/>
          </a:prstGeom>
          <a:noFill/>
        </p:spPr>
        <p:txBody>
          <a:bodyPr wrap="square" lIns="0" tIns="0" rIns="0" bIns="0" anchor="t">
            <a:spAutoFit/>
          </a:bodyPr>
          <a:lstStyle/>
          <a:p>
            <a:pPr algn="l">
              <a:lnSpc>
                <a:spcPct val="112000"/>
              </a:lnSpc>
              <a:spcAft>
                <a:spcPts val="0"/>
              </a:spcAft>
            </a:pPr>
            <a:r>
              <a:rPr sz="850" b="0" i="0">
                <a:solidFill>
                  <a:srgbClr val="5A6878"/>
                </a:solidFill>
                <a:latin typeface="Consolas"/>
              </a:rPr>
              <a:t>OSOS · DKM-440 remote meter reading</a:t>
            </a:r>
          </a:p>
        </p:txBody>
      </p:sp>
      <p:sp>
        <p:nvSpPr>
          <p:cNvPr id="54" name="TextBox 53"/>
          <p:cNvSpPr txBox="1"/>
          <p:nvPr/>
        </p:nvSpPr>
        <p:spPr>
          <a:xfrm>
            <a:off x="10177272" y="6492240"/>
            <a:ext cx="1371600" cy="237744"/>
          </a:xfrm>
          <a:prstGeom prst="rect">
            <a:avLst/>
          </a:prstGeom>
          <a:noFill/>
        </p:spPr>
        <p:txBody>
          <a:bodyPr wrap="square" lIns="0" tIns="0" rIns="0" bIns="0" anchor="t">
            <a:spAutoFit/>
          </a:bodyPr>
          <a:lstStyle/>
          <a:p>
            <a:pPr algn="r">
              <a:lnSpc>
                <a:spcPct val="112000"/>
              </a:lnSpc>
              <a:spcAft>
                <a:spcPts val="0"/>
              </a:spcAft>
            </a:pPr>
            <a:r>
              <a:rPr sz="850" b="0" i="0">
                <a:solidFill>
                  <a:srgbClr val="5A6878"/>
                </a:solidFill>
                <a:latin typeface="Consolas"/>
              </a:rPr>
              <a:t>12</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D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274320"/>
            <a:ext cx="5852160" cy="219456"/>
          </a:xfrm>
          <a:prstGeom prst="rect">
            <a:avLst/>
          </a:prstGeom>
          <a:noFill/>
        </p:spPr>
        <p:txBody>
          <a:bodyPr wrap="square" lIns="0" tIns="0" rIns="0" bIns="0" anchor="t">
            <a:spAutoFit/>
          </a:bodyPr>
          <a:lstStyle/>
          <a:p>
            <a:pPr algn="l">
              <a:lnSpc>
                <a:spcPct val="100000"/>
              </a:lnSpc>
              <a:spcAft>
                <a:spcPts val="0"/>
              </a:spcAft>
            </a:pPr>
            <a:r>
              <a:rPr sz="900" b="0" i="0">
                <a:solidFill>
                  <a:srgbClr val="FFA928"/>
                </a:solidFill>
                <a:latin typeface="Consolas"/>
              </a:rPr>
              <a:t>CONFIG/COMMANDS.JSON IS THE SINGLE SOURCE OF TRUTH</a:t>
            </a:r>
          </a:p>
        </p:txBody>
      </p:sp>
      <p:sp>
        <p:nvSpPr>
          <p:cNvPr id="4" name="TextBox 3"/>
          <p:cNvSpPr txBox="1"/>
          <p:nvPr/>
        </p:nvSpPr>
        <p:spPr>
          <a:xfrm>
            <a:off x="640080" y="493776"/>
            <a:ext cx="5870448" cy="640080"/>
          </a:xfrm>
          <a:prstGeom prst="rect">
            <a:avLst/>
          </a:prstGeom>
          <a:noFill/>
        </p:spPr>
        <p:txBody>
          <a:bodyPr wrap="square" lIns="0" tIns="0" rIns="0" bIns="0" anchor="b">
            <a:spAutoFit/>
          </a:bodyPr>
          <a:lstStyle/>
          <a:p>
            <a:pPr algn="l">
              <a:lnSpc>
                <a:spcPct val="100000"/>
              </a:lnSpc>
              <a:spcAft>
                <a:spcPts val="0"/>
              </a:spcAft>
            </a:pPr>
            <a:r>
              <a:rPr sz="2700" b="0" i="0">
                <a:solidFill>
                  <a:srgbClr val="E6EDF3"/>
                </a:solidFill>
                <a:latin typeface="Bahnschrift SemiBold"/>
              </a:rPr>
              <a:t>A drawing becomes a command</a:t>
            </a:r>
          </a:p>
        </p:txBody>
      </p:sp>
      <p:sp>
        <p:nvSpPr>
          <p:cNvPr id="5" name="Rectangle 4"/>
          <p:cNvSpPr/>
          <p:nvPr/>
        </p:nvSpPr>
        <p:spPr>
          <a:xfrm>
            <a:off x="6726783" y="583844"/>
            <a:ext cx="1083106" cy="12700"/>
          </a:xfrm>
          <a:prstGeom prst="rect">
            <a:avLst/>
          </a:prstGeom>
          <a:solidFill>
            <a:srgbClr val="2C364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Rectangle 5"/>
          <p:cNvSpPr/>
          <p:nvPr/>
        </p:nvSpPr>
        <p:spPr>
          <a:xfrm>
            <a:off x="6617970" y="548640"/>
            <a:ext cx="77724" cy="77724"/>
          </a:xfrm>
          <a:prstGeom prst="rect">
            <a:avLst/>
          </a:prstGeom>
          <a:solidFill>
            <a:srgbClr val="0D1117"/>
          </a:solidFill>
          <a:ln w="12700">
            <a:solidFill>
              <a:srgbClr val="3D4A5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6045327" y="694944"/>
            <a:ext cx="1223010" cy="201168"/>
          </a:xfrm>
          <a:prstGeom prst="rect">
            <a:avLst/>
          </a:prstGeom>
          <a:noFill/>
        </p:spPr>
        <p:txBody>
          <a:bodyPr wrap="square" lIns="0" tIns="0" rIns="0" bIns="0" anchor="t">
            <a:spAutoFit/>
          </a:bodyPr>
          <a:lstStyle/>
          <a:p>
            <a:pPr algn="ctr">
              <a:lnSpc>
                <a:spcPct val="100000"/>
              </a:lnSpc>
              <a:spcAft>
                <a:spcPts val="0"/>
              </a:spcAft>
            </a:pPr>
            <a:r>
              <a:rPr sz="750" b="0" i="0">
                <a:solidFill>
                  <a:srgbClr val="5A6878"/>
                </a:solidFill>
                <a:latin typeface="Bahnschrift SemiBold"/>
              </a:rPr>
              <a:t>METER</a:t>
            </a:r>
          </a:p>
        </p:txBody>
      </p:sp>
      <p:sp>
        <p:nvSpPr>
          <p:cNvPr id="8" name="Rectangle 7"/>
          <p:cNvSpPr/>
          <p:nvPr/>
        </p:nvSpPr>
        <p:spPr>
          <a:xfrm>
            <a:off x="7949793" y="583844"/>
            <a:ext cx="1083106" cy="12700"/>
          </a:xfrm>
          <a:prstGeom prst="rect">
            <a:avLst/>
          </a:prstGeom>
          <a:solidFill>
            <a:srgbClr val="2C364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Rectangle 8"/>
          <p:cNvSpPr/>
          <p:nvPr/>
        </p:nvSpPr>
        <p:spPr>
          <a:xfrm>
            <a:off x="7840979" y="548640"/>
            <a:ext cx="77724" cy="77724"/>
          </a:xfrm>
          <a:prstGeom prst="rect">
            <a:avLst/>
          </a:prstGeom>
          <a:solidFill>
            <a:srgbClr val="63D2E8"/>
          </a:solidFill>
          <a:ln w="12700">
            <a:solidFill>
              <a:srgbClr val="63D2E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TextBox 9"/>
          <p:cNvSpPr txBox="1"/>
          <p:nvPr/>
        </p:nvSpPr>
        <p:spPr>
          <a:xfrm>
            <a:off x="7268337" y="694944"/>
            <a:ext cx="1223010" cy="201168"/>
          </a:xfrm>
          <a:prstGeom prst="rect">
            <a:avLst/>
          </a:prstGeom>
          <a:noFill/>
        </p:spPr>
        <p:txBody>
          <a:bodyPr wrap="square" lIns="0" tIns="0" rIns="0" bIns="0" anchor="t">
            <a:spAutoFit/>
          </a:bodyPr>
          <a:lstStyle/>
          <a:p>
            <a:pPr algn="ctr">
              <a:lnSpc>
                <a:spcPct val="100000"/>
              </a:lnSpc>
              <a:spcAft>
                <a:spcPts val="0"/>
              </a:spcAft>
            </a:pPr>
            <a:r>
              <a:rPr sz="750" b="0" i="0">
                <a:solidFill>
                  <a:srgbClr val="63D2E8"/>
                </a:solidFill>
                <a:latin typeface="Bahnschrift SemiBold"/>
              </a:rPr>
              <a:t>GATEWAY</a:t>
            </a:r>
          </a:p>
        </p:txBody>
      </p:sp>
      <p:sp>
        <p:nvSpPr>
          <p:cNvPr id="11" name="Rectangle 10"/>
          <p:cNvSpPr/>
          <p:nvPr/>
        </p:nvSpPr>
        <p:spPr>
          <a:xfrm>
            <a:off x="9172803" y="583844"/>
            <a:ext cx="1083106" cy="12700"/>
          </a:xfrm>
          <a:prstGeom prst="rect">
            <a:avLst/>
          </a:prstGeom>
          <a:solidFill>
            <a:srgbClr val="2C364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Rectangle 11"/>
          <p:cNvSpPr/>
          <p:nvPr/>
        </p:nvSpPr>
        <p:spPr>
          <a:xfrm>
            <a:off x="9063990" y="548640"/>
            <a:ext cx="77724" cy="77724"/>
          </a:xfrm>
          <a:prstGeom prst="rect">
            <a:avLst/>
          </a:prstGeom>
          <a:solidFill>
            <a:srgbClr val="0D1117"/>
          </a:solidFill>
          <a:ln w="12700">
            <a:solidFill>
              <a:srgbClr val="3D4A5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8491347" y="694944"/>
            <a:ext cx="1223010" cy="201168"/>
          </a:xfrm>
          <a:prstGeom prst="rect">
            <a:avLst/>
          </a:prstGeom>
          <a:noFill/>
        </p:spPr>
        <p:txBody>
          <a:bodyPr wrap="square" lIns="0" tIns="0" rIns="0" bIns="0" anchor="t">
            <a:spAutoFit/>
          </a:bodyPr>
          <a:lstStyle/>
          <a:p>
            <a:pPr algn="ctr">
              <a:lnSpc>
                <a:spcPct val="100000"/>
              </a:lnSpc>
              <a:spcAft>
                <a:spcPts val="0"/>
              </a:spcAft>
            </a:pPr>
            <a:r>
              <a:rPr sz="750" b="0" i="0">
                <a:solidFill>
                  <a:srgbClr val="5A6878"/>
                </a:solidFill>
                <a:latin typeface="Bahnschrift SemiBold"/>
              </a:rPr>
              <a:t>BROKER</a:t>
            </a:r>
          </a:p>
        </p:txBody>
      </p:sp>
      <p:sp>
        <p:nvSpPr>
          <p:cNvPr id="14" name="Rectangle 13"/>
          <p:cNvSpPr/>
          <p:nvPr/>
        </p:nvSpPr>
        <p:spPr>
          <a:xfrm>
            <a:off x="10395813" y="583844"/>
            <a:ext cx="1083106" cy="12700"/>
          </a:xfrm>
          <a:prstGeom prst="rect">
            <a:avLst/>
          </a:prstGeom>
          <a:solidFill>
            <a:srgbClr val="2C364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Rectangle 14"/>
          <p:cNvSpPr/>
          <p:nvPr/>
        </p:nvSpPr>
        <p:spPr>
          <a:xfrm>
            <a:off x="10287000" y="548640"/>
            <a:ext cx="77724" cy="77724"/>
          </a:xfrm>
          <a:prstGeom prst="rect">
            <a:avLst/>
          </a:prstGeom>
          <a:solidFill>
            <a:srgbClr val="63D2E8"/>
          </a:solidFill>
          <a:ln w="12700">
            <a:solidFill>
              <a:srgbClr val="63D2E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TextBox 15"/>
          <p:cNvSpPr txBox="1"/>
          <p:nvPr/>
        </p:nvSpPr>
        <p:spPr>
          <a:xfrm>
            <a:off x="9714357" y="694944"/>
            <a:ext cx="1223010" cy="201168"/>
          </a:xfrm>
          <a:prstGeom prst="rect">
            <a:avLst/>
          </a:prstGeom>
          <a:noFill/>
        </p:spPr>
        <p:txBody>
          <a:bodyPr wrap="square" lIns="0" tIns="0" rIns="0" bIns="0" anchor="t">
            <a:spAutoFit/>
          </a:bodyPr>
          <a:lstStyle/>
          <a:p>
            <a:pPr algn="ctr">
              <a:lnSpc>
                <a:spcPct val="100000"/>
              </a:lnSpc>
              <a:spcAft>
                <a:spcPts val="0"/>
              </a:spcAft>
            </a:pPr>
            <a:r>
              <a:rPr sz="750" b="0" i="0">
                <a:solidFill>
                  <a:srgbClr val="63D2E8"/>
                </a:solidFill>
                <a:latin typeface="Bahnschrift SemiBold"/>
              </a:rPr>
              <a:t>PHONE</a:t>
            </a:r>
          </a:p>
        </p:txBody>
      </p:sp>
      <p:sp>
        <p:nvSpPr>
          <p:cNvPr id="17" name="Rectangle 16"/>
          <p:cNvSpPr/>
          <p:nvPr/>
        </p:nvSpPr>
        <p:spPr>
          <a:xfrm>
            <a:off x="11510009" y="548640"/>
            <a:ext cx="77724" cy="77724"/>
          </a:xfrm>
          <a:prstGeom prst="rect">
            <a:avLst/>
          </a:prstGeom>
          <a:solidFill>
            <a:srgbClr val="0D1117"/>
          </a:solidFill>
          <a:ln w="12700">
            <a:solidFill>
              <a:srgbClr val="3D4A5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TextBox 17"/>
          <p:cNvSpPr txBox="1"/>
          <p:nvPr/>
        </p:nvSpPr>
        <p:spPr>
          <a:xfrm>
            <a:off x="10937367" y="694944"/>
            <a:ext cx="1223010" cy="201168"/>
          </a:xfrm>
          <a:prstGeom prst="rect">
            <a:avLst/>
          </a:prstGeom>
          <a:noFill/>
        </p:spPr>
        <p:txBody>
          <a:bodyPr wrap="square" lIns="0" tIns="0" rIns="0" bIns="0" anchor="t">
            <a:spAutoFit/>
          </a:bodyPr>
          <a:lstStyle/>
          <a:p>
            <a:pPr algn="ctr">
              <a:lnSpc>
                <a:spcPct val="100000"/>
              </a:lnSpc>
              <a:spcAft>
                <a:spcPts val="0"/>
              </a:spcAft>
            </a:pPr>
            <a:r>
              <a:rPr sz="750" b="0" i="0">
                <a:solidFill>
                  <a:srgbClr val="5A6878"/>
                </a:solidFill>
                <a:latin typeface="Bahnschrift SemiBold"/>
              </a:rPr>
              <a:t>NET</a:t>
            </a:r>
          </a:p>
        </p:txBody>
      </p:sp>
      <p:sp>
        <p:nvSpPr>
          <p:cNvPr id="19" name="Rectangle 18"/>
          <p:cNvSpPr/>
          <p:nvPr/>
        </p:nvSpPr>
        <p:spPr>
          <a:xfrm>
            <a:off x="640080" y="1225296"/>
            <a:ext cx="10908792" cy="9525"/>
          </a:xfrm>
          <a:prstGeom prst="rect">
            <a:avLst/>
          </a:prstGeom>
          <a:solidFill>
            <a:srgbClr val="2C364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Rectangle 19"/>
          <p:cNvSpPr/>
          <p:nvPr/>
        </p:nvSpPr>
        <p:spPr>
          <a:xfrm>
            <a:off x="640080" y="1220724"/>
            <a:ext cx="566928" cy="25400"/>
          </a:xfrm>
          <a:prstGeom prst="rect">
            <a:avLst/>
          </a:prstGeom>
          <a:solidFill>
            <a:srgbClr val="FFA92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1" name="Rectangle 20"/>
          <p:cNvSpPr/>
          <p:nvPr/>
        </p:nvSpPr>
        <p:spPr>
          <a:xfrm>
            <a:off x="640080" y="1517904"/>
            <a:ext cx="5577840" cy="2834640"/>
          </a:xfrm>
          <a:prstGeom prst="rect">
            <a:avLst/>
          </a:prstGeom>
          <a:solidFill>
            <a:srgbClr val="0A0E13"/>
          </a:solidFill>
          <a:ln w="12700">
            <a:solidFill>
              <a:srgbClr val="2C364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2" name="Rectangle 21"/>
          <p:cNvSpPr/>
          <p:nvPr/>
        </p:nvSpPr>
        <p:spPr>
          <a:xfrm>
            <a:off x="640080" y="1517904"/>
            <a:ext cx="25400" cy="2834640"/>
          </a:xfrm>
          <a:prstGeom prst="rect">
            <a:avLst/>
          </a:prstGeom>
          <a:solidFill>
            <a:srgbClr val="63D2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3" name="TextBox 22"/>
          <p:cNvSpPr txBox="1"/>
          <p:nvPr/>
        </p:nvSpPr>
        <p:spPr>
          <a:xfrm>
            <a:off x="841247" y="1645919"/>
            <a:ext cx="5175503" cy="201168"/>
          </a:xfrm>
          <a:prstGeom prst="rect">
            <a:avLst/>
          </a:prstGeom>
          <a:noFill/>
        </p:spPr>
        <p:txBody>
          <a:bodyPr wrap="square" lIns="0" tIns="0" rIns="0" bIns="0" anchor="t">
            <a:spAutoFit/>
          </a:bodyPr>
          <a:lstStyle/>
          <a:p>
            <a:pPr algn="l">
              <a:lnSpc>
                <a:spcPct val="100000"/>
              </a:lnSpc>
              <a:spcAft>
                <a:spcPts val="0"/>
              </a:spcAft>
            </a:pPr>
            <a:r>
              <a:rPr sz="850" b="0" i="0">
                <a:solidFill>
                  <a:srgbClr val="63D2E8"/>
                </a:solidFill>
                <a:latin typeface="Bahnschrift SemiBold"/>
              </a:rPr>
              <a:t>config/commands.json</a:t>
            </a:r>
          </a:p>
        </p:txBody>
      </p:sp>
      <p:sp>
        <p:nvSpPr>
          <p:cNvPr id="24" name="TextBox 23"/>
          <p:cNvSpPr txBox="1"/>
          <p:nvPr/>
        </p:nvSpPr>
        <p:spPr>
          <a:xfrm>
            <a:off x="841247" y="1920239"/>
            <a:ext cx="5175503" cy="2322576"/>
          </a:xfrm>
          <a:prstGeom prst="rect">
            <a:avLst/>
          </a:prstGeom>
          <a:noFill/>
        </p:spPr>
        <p:txBody>
          <a:bodyPr wrap="square" lIns="0" tIns="0" rIns="0" bIns="0">
            <a:spAutoFit/>
          </a:bodyPr>
          <a:lstStyle/>
          <a:p>
            <a:pPr algn="l">
              <a:lnSpc>
                <a:spcPct val="130000"/>
              </a:lnSpc>
              <a:spcAft>
                <a:spcPts val="0"/>
              </a:spcAft>
            </a:pPr>
            <a:r>
              <a:rPr sz="1000" b="0">
                <a:solidFill>
                  <a:srgbClr val="E6EDF3"/>
                </a:solidFill>
                <a:latin typeface="Consolas"/>
              </a:rPr>
              <a:t>{</a:t>
            </a:r>
          </a:p>
          <a:p>
            <a:pPr algn="l">
              <a:lnSpc>
                <a:spcPct val="130000"/>
              </a:lnSpc>
              <a:spcAft>
                <a:spcPts val="0"/>
              </a:spcAft>
            </a:pPr>
            <a:r>
              <a:rPr sz="1000" b="0">
                <a:solidFill>
                  <a:srgbClr val="8494A6"/>
                </a:solidFill>
                <a:latin typeface="Consolas"/>
              </a:rPr>
              <a:t>  "digits": {</a:t>
            </a:r>
          </a:p>
          <a:p>
            <a:pPr algn="l">
              <a:lnSpc>
                <a:spcPct val="130000"/>
              </a:lnSpc>
              <a:spcAft>
                <a:spcPts val="0"/>
              </a:spcAft>
            </a:pPr>
            <a:r>
              <a:rPr sz="1000" b="0">
                <a:solidFill>
                  <a:srgbClr val="FFA928"/>
                </a:solidFill>
                <a:latin typeface="Consolas"/>
              </a:rPr>
              <a:t>    "0": { "scope": "gateway", "action": "ping" },</a:t>
            </a:r>
          </a:p>
          <a:p>
            <a:pPr algn="l">
              <a:lnSpc>
                <a:spcPct val="130000"/>
              </a:lnSpc>
              <a:spcAft>
                <a:spcPts val="0"/>
              </a:spcAft>
            </a:pPr>
            <a:r>
              <a:rPr sz="1000" b="0">
                <a:solidFill>
                  <a:srgbClr val="FFA928"/>
                </a:solidFill>
                <a:latin typeface="Consolas"/>
              </a:rPr>
              <a:t>    "1": { "scope": "gateway", "action": "read_now" },</a:t>
            </a:r>
          </a:p>
          <a:p>
            <a:pPr algn="l">
              <a:lnSpc>
                <a:spcPct val="130000"/>
              </a:lnSpc>
              <a:spcAft>
                <a:spcPts val="0"/>
              </a:spcAft>
            </a:pPr>
            <a:r>
              <a:rPr sz="1000" b="0">
                <a:solidFill>
                  <a:srgbClr val="FFA928"/>
                </a:solidFill>
                <a:latin typeface="Consolas"/>
              </a:rPr>
              <a:t>    "2": { "scope": "gateway", "action": "set_interval",</a:t>
            </a:r>
          </a:p>
          <a:p>
            <a:pPr algn="l">
              <a:lnSpc>
                <a:spcPct val="130000"/>
              </a:lnSpc>
              <a:spcAft>
                <a:spcPts val="0"/>
              </a:spcAft>
            </a:pPr>
            <a:r>
              <a:rPr sz="1000" b="0">
                <a:solidFill>
                  <a:srgbClr val="FFA928"/>
                </a:solidFill>
                <a:latin typeface="Consolas"/>
              </a:rPr>
              <a:t>           "args": { "seconds": 2 } },</a:t>
            </a:r>
          </a:p>
          <a:p>
            <a:pPr algn="l">
              <a:lnSpc>
                <a:spcPct val="130000"/>
              </a:lnSpc>
              <a:spcAft>
                <a:spcPts val="0"/>
              </a:spcAft>
            </a:pPr>
            <a:r>
              <a:rPr sz="1000" b="0">
                <a:solidFill>
                  <a:srgbClr val="63D2E8"/>
                </a:solidFill>
                <a:latin typeface="Consolas"/>
              </a:rPr>
              <a:t>    "4": { "scope": "local", "action": "view",</a:t>
            </a:r>
          </a:p>
          <a:p>
            <a:pPr algn="l">
              <a:lnSpc>
                <a:spcPct val="130000"/>
              </a:lnSpc>
              <a:spcAft>
                <a:spcPts val="0"/>
              </a:spcAft>
            </a:pPr>
            <a:r>
              <a:rPr sz="1000" b="0">
                <a:solidFill>
                  <a:srgbClr val="63D2E8"/>
                </a:solidFill>
                <a:latin typeface="Consolas"/>
              </a:rPr>
              <a:t>           "args": { "page": "L1" } },</a:t>
            </a:r>
          </a:p>
          <a:p>
            <a:pPr algn="l">
              <a:lnSpc>
                <a:spcPct val="130000"/>
              </a:lnSpc>
              <a:spcAft>
                <a:spcPts val="0"/>
              </a:spcAft>
            </a:pPr>
            <a:r>
              <a:rPr sz="1000" b="0">
                <a:solidFill>
                  <a:srgbClr val="5A6878"/>
                </a:solidFill>
                <a:latin typeface="Consolas"/>
              </a:rPr>
              <a:t>    "9": { "scope": "none", "action": "unassigned" }</a:t>
            </a:r>
          </a:p>
          <a:p>
            <a:pPr algn="l">
              <a:lnSpc>
                <a:spcPct val="130000"/>
              </a:lnSpc>
              <a:spcAft>
                <a:spcPts val="0"/>
              </a:spcAft>
            </a:pPr>
            <a:r>
              <a:rPr sz="1000" b="0">
                <a:solidFill>
                  <a:srgbClr val="E6EDF3"/>
                </a:solidFill>
                <a:latin typeface="Consolas"/>
              </a:rPr>
              <a:t>  }</a:t>
            </a:r>
          </a:p>
          <a:p>
            <a:pPr algn="l">
              <a:lnSpc>
                <a:spcPct val="130000"/>
              </a:lnSpc>
              <a:spcAft>
                <a:spcPts val="0"/>
              </a:spcAft>
            </a:pPr>
            <a:r>
              <a:rPr sz="1000" b="0">
                <a:solidFill>
                  <a:srgbClr val="E6EDF3"/>
                </a:solidFill>
                <a:latin typeface="Consolas"/>
              </a:rPr>
              <a:t>}</a:t>
            </a:r>
          </a:p>
        </p:txBody>
      </p:sp>
      <p:sp>
        <p:nvSpPr>
          <p:cNvPr id="25" name="TextBox 24"/>
          <p:cNvSpPr txBox="1"/>
          <p:nvPr/>
        </p:nvSpPr>
        <p:spPr>
          <a:xfrm>
            <a:off x="640080" y="4498848"/>
            <a:ext cx="5577840" cy="668003"/>
          </a:xfrm>
          <a:prstGeom prst="rect">
            <a:avLst/>
          </a:prstGeom>
          <a:noFill/>
        </p:spPr>
        <p:txBody>
          <a:bodyPr wrap="square" lIns="0" tIns="0" rIns="0" bIns="0" anchor="t">
            <a:spAutoFit/>
          </a:bodyPr>
          <a:lstStyle/>
          <a:p>
            <a:pPr algn="l">
              <a:lnSpc>
                <a:spcPct val="138000"/>
              </a:lnSpc>
              <a:spcAft>
                <a:spcPts val="0"/>
              </a:spcAft>
            </a:pPr>
            <a:r>
              <a:rPr sz="1050" b="0" i="0">
                <a:solidFill>
                  <a:srgbClr val="8494A6"/>
                </a:solidFill>
                <a:latin typeface="Segoe UI"/>
              </a:rPr>
              <a:t>To add one: pick a free digit — 9 is reserved and unassigned — choose a scope, name an action the firmware already keys off, and regenerate the assets. The same file is bundled into the app and served to the browser HMI, so the two cannot disagree.</a:t>
            </a:r>
          </a:p>
        </p:txBody>
      </p:sp>
      <p:sp>
        <p:nvSpPr>
          <p:cNvPr id="26" name="Rectangle 25"/>
          <p:cNvSpPr/>
          <p:nvPr/>
        </p:nvSpPr>
        <p:spPr>
          <a:xfrm>
            <a:off x="640080" y="5175504"/>
            <a:ext cx="2706624" cy="1097280"/>
          </a:xfrm>
          <a:prstGeom prst="rect">
            <a:avLst/>
          </a:prstGeom>
          <a:solidFill>
            <a:srgbClr val="161C24"/>
          </a:solidFill>
          <a:ln w="12700">
            <a:solidFill>
              <a:srgbClr val="2C364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7" name="Rectangle 26"/>
          <p:cNvSpPr/>
          <p:nvPr/>
        </p:nvSpPr>
        <p:spPr>
          <a:xfrm>
            <a:off x="640080" y="5175504"/>
            <a:ext cx="2706624" cy="31750"/>
          </a:xfrm>
          <a:prstGeom prst="rect">
            <a:avLst/>
          </a:prstGeom>
          <a:solidFill>
            <a:srgbClr val="63D2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8" name="TextBox 27"/>
          <p:cNvSpPr txBox="1"/>
          <p:nvPr/>
        </p:nvSpPr>
        <p:spPr>
          <a:xfrm>
            <a:off x="822960" y="5340096"/>
            <a:ext cx="2377440" cy="237744"/>
          </a:xfrm>
          <a:prstGeom prst="rect">
            <a:avLst/>
          </a:prstGeom>
          <a:noFill/>
        </p:spPr>
        <p:txBody>
          <a:bodyPr wrap="square" lIns="0" tIns="0" rIns="0" bIns="0" anchor="t">
            <a:spAutoFit/>
          </a:bodyPr>
          <a:lstStyle/>
          <a:p>
            <a:pPr algn="l">
              <a:lnSpc>
                <a:spcPct val="112000"/>
              </a:lnSpc>
              <a:spcAft>
                <a:spcPts val="0"/>
              </a:spcAft>
            </a:pPr>
            <a:r>
              <a:rPr sz="1100" b="0" i="0">
                <a:solidFill>
                  <a:srgbClr val="63D2E8"/>
                </a:solidFill>
                <a:latin typeface="Consolas"/>
              </a:rPr>
              <a:t>scope = local</a:t>
            </a:r>
          </a:p>
        </p:txBody>
      </p:sp>
      <p:sp>
        <p:nvSpPr>
          <p:cNvPr id="29" name="TextBox 28"/>
          <p:cNvSpPr txBox="1"/>
          <p:nvPr/>
        </p:nvSpPr>
        <p:spPr>
          <a:xfrm>
            <a:off x="822960" y="5596128"/>
            <a:ext cx="2377440" cy="586865"/>
          </a:xfrm>
          <a:prstGeom prst="rect">
            <a:avLst/>
          </a:prstGeom>
          <a:noFill/>
        </p:spPr>
        <p:txBody>
          <a:bodyPr wrap="square" lIns="0" tIns="0" rIns="0" bIns="0" anchor="t">
            <a:spAutoFit/>
          </a:bodyPr>
          <a:lstStyle/>
          <a:p>
            <a:pPr algn="l">
              <a:lnSpc>
                <a:spcPct val="134000"/>
              </a:lnSpc>
              <a:spcAft>
                <a:spcPts val="0"/>
              </a:spcAft>
            </a:pPr>
            <a:r>
              <a:rPr sz="950" b="0" i="0">
                <a:solidFill>
                  <a:srgbClr val="8494A6"/>
                </a:solidFill>
                <a:latin typeface="Segoe UI"/>
              </a:rPr>
              <a:t>Fires straight from the prediction. A misread switches to the wrong tile — harmless, and obvious.</a:t>
            </a:r>
          </a:p>
        </p:txBody>
      </p:sp>
      <p:sp>
        <p:nvSpPr>
          <p:cNvPr id="30" name="Rectangle 29"/>
          <p:cNvSpPr/>
          <p:nvPr/>
        </p:nvSpPr>
        <p:spPr>
          <a:xfrm>
            <a:off x="3511296" y="5175504"/>
            <a:ext cx="2706624" cy="1097280"/>
          </a:xfrm>
          <a:prstGeom prst="rect">
            <a:avLst/>
          </a:prstGeom>
          <a:solidFill>
            <a:srgbClr val="161C24"/>
          </a:solidFill>
          <a:ln w="12700">
            <a:solidFill>
              <a:srgbClr val="2C364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1" name="Rectangle 30"/>
          <p:cNvSpPr/>
          <p:nvPr/>
        </p:nvSpPr>
        <p:spPr>
          <a:xfrm>
            <a:off x="3511296" y="5175504"/>
            <a:ext cx="2706624" cy="31750"/>
          </a:xfrm>
          <a:prstGeom prst="rect">
            <a:avLst/>
          </a:prstGeom>
          <a:solidFill>
            <a:srgbClr val="FFA92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2" name="TextBox 31"/>
          <p:cNvSpPr txBox="1"/>
          <p:nvPr/>
        </p:nvSpPr>
        <p:spPr>
          <a:xfrm>
            <a:off x="3694176" y="5340096"/>
            <a:ext cx="2377440" cy="237744"/>
          </a:xfrm>
          <a:prstGeom prst="rect">
            <a:avLst/>
          </a:prstGeom>
          <a:noFill/>
        </p:spPr>
        <p:txBody>
          <a:bodyPr wrap="square" lIns="0" tIns="0" rIns="0" bIns="0" anchor="t">
            <a:spAutoFit/>
          </a:bodyPr>
          <a:lstStyle/>
          <a:p>
            <a:pPr algn="l">
              <a:lnSpc>
                <a:spcPct val="112000"/>
              </a:lnSpc>
              <a:spcAft>
                <a:spcPts val="0"/>
              </a:spcAft>
            </a:pPr>
            <a:r>
              <a:rPr sz="1100" b="0" i="0">
                <a:solidFill>
                  <a:srgbClr val="FFA928"/>
                </a:solidFill>
                <a:latin typeface="Consolas"/>
              </a:rPr>
              <a:t>scope = gateway</a:t>
            </a:r>
          </a:p>
        </p:txBody>
      </p:sp>
      <p:sp>
        <p:nvSpPr>
          <p:cNvPr id="33" name="TextBox 32"/>
          <p:cNvSpPr txBox="1"/>
          <p:nvPr/>
        </p:nvSpPr>
        <p:spPr>
          <a:xfrm>
            <a:off x="3694176" y="5596128"/>
            <a:ext cx="2377440" cy="391243"/>
          </a:xfrm>
          <a:prstGeom prst="rect">
            <a:avLst/>
          </a:prstGeom>
          <a:noFill/>
        </p:spPr>
        <p:txBody>
          <a:bodyPr wrap="square" lIns="0" tIns="0" rIns="0" bIns="0" anchor="t">
            <a:spAutoFit/>
          </a:bodyPr>
          <a:lstStyle/>
          <a:p>
            <a:pPr algn="l">
              <a:lnSpc>
                <a:spcPct val="134000"/>
              </a:lnSpc>
              <a:spcAft>
                <a:spcPts val="0"/>
              </a:spcAft>
            </a:pPr>
            <a:r>
              <a:rPr sz="950" b="0" i="0">
                <a:solidFill>
                  <a:srgbClr val="8494A6"/>
                </a:solidFill>
                <a:latin typeface="Segoe UI"/>
              </a:rPr>
              <a:t>Leaves the phone and reaches an industrial device. Never fires on recognition alone.</a:t>
            </a:r>
          </a:p>
        </p:txBody>
      </p:sp>
      <p:sp>
        <p:nvSpPr>
          <p:cNvPr id="34" name="TextBox 33"/>
          <p:cNvSpPr txBox="1"/>
          <p:nvPr/>
        </p:nvSpPr>
        <p:spPr>
          <a:xfrm>
            <a:off x="6492240" y="1517904"/>
            <a:ext cx="5056632" cy="731520"/>
          </a:xfrm>
          <a:prstGeom prst="rect">
            <a:avLst/>
          </a:prstGeom>
          <a:noFill/>
        </p:spPr>
        <p:txBody>
          <a:bodyPr wrap="square" lIns="0" tIns="0" rIns="0" bIns="0" anchor="t">
            <a:spAutoFit/>
          </a:bodyPr>
          <a:lstStyle/>
          <a:p>
            <a:pPr algn="l">
              <a:lnSpc>
                <a:spcPct val="112000"/>
              </a:lnSpc>
              <a:spcAft>
                <a:spcPts val="0"/>
              </a:spcAft>
            </a:pPr>
            <a:r>
              <a:rPr sz="2100" b="0" i="0">
                <a:solidFill>
                  <a:srgbClr val="E6EDF3"/>
                </a:solidFill>
                <a:latin typeface="Bahnschrift SemiBold"/>
              </a:rPr>
              <a:t>Recognition never actuates.</a:t>
            </a:r>
          </a:p>
          <a:p>
            <a:pPr algn="l">
              <a:lnSpc>
                <a:spcPct val="112000"/>
              </a:lnSpc>
              <a:spcAft>
                <a:spcPts val="0"/>
              </a:spcAft>
            </a:pPr>
            <a:r>
              <a:rPr sz="2100" b="0" i="0">
                <a:solidFill>
                  <a:srgbClr val="E6EDF3"/>
                </a:solidFill>
                <a:latin typeface="Bahnschrift SemiBold"/>
              </a:rPr>
              <a:t>It only ever proposes.</a:t>
            </a:r>
          </a:p>
        </p:txBody>
      </p:sp>
      <p:sp>
        <p:nvSpPr>
          <p:cNvPr id="35" name="Rectangle 34"/>
          <p:cNvSpPr/>
          <p:nvPr/>
        </p:nvSpPr>
        <p:spPr>
          <a:xfrm>
            <a:off x="6492240" y="2432304"/>
            <a:ext cx="5056632" cy="1115568"/>
          </a:xfrm>
          <a:prstGeom prst="rect">
            <a:avLst/>
          </a:prstGeom>
          <a:solidFill>
            <a:srgbClr val="161C24"/>
          </a:solidFill>
          <a:ln w="12700">
            <a:solidFill>
              <a:srgbClr val="2C364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6" name="Rectangle 35"/>
          <p:cNvSpPr/>
          <p:nvPr/>
        </p:nvSpPr>
        <p:spPr>
          <a:xfrm>
            <a:off x="6492240" y="2432304"/>
            <a:ext cx="5056632" cy="31750"/>
          </a:xfrm>
          <a:prstGeom prst="rect">
            <a:avLst/>
          </a:prstGeom>
          <a:solidFill>
            <a:srgbClr val="63D2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7" name="TextBox 36"/>
          <p:cNvSpPr txBox="1"/>
          <p:nvPr/>
        </p:nvSpPr>
        <p:spPr>
          <a:xfrm>
            <a:off x="6693408" y="2651760"/>
            <a:ext cx="365760" cy="365760"/>
          </a:xfrm>
          <a:prstGeom prst="rect">
            <a:avLst/>
          </a:prstGeom>
          <a:noFill/>
        </p:spPr>
        <p:txBody>
          <a:bodyPr wrap="square" lIns="0" tIns="0" rIns="0" bIns="0" anchor="t">
            <a:spAutoFit/>
          </a:bodyPr>
          <a:lstStyle/>
          <a:p>
            <a:pPr algn="l">
              <a:lnSpc>
                <a:spcPct val="112000"/>
              </a:lnSpc>
              <a:spcAft>
                <a:spcPts val="0"/>
              </a:spcAft>
            </a:pPr>
            <a:r>
              <a:rPr sz="1900" b="0" i="0">
                <a:solidFill>
                  <a:srgbClr val="63D2E8"/>
                </a:solidFill>
                <a:latin typeface="Consolas"/>
              </a:rPr>
              <a:t>1</a:t>
            </a:r>
          </a:p>
        </p:txBody>
      </p:sp>
      <p:sp>
        <p:nvSpPr>
          <p:cNvPr id="38" name="TextBox 37"/>
          <p:cNvSpPr txBox="1"/>
          <p:nvPr/>
        </p:nvSpPr>
        <p:spPr>
          <a:xfrm>
            <a:off x="7223760" y="2615184"/>
            <a:ext cx="4114800" cy="256032"/>
          </a:xfrm>
          <a:prstGeom prst="rect">
            <a:avLst/>
          </a:prstGeom>
          <a:noFill/>
        </p:spPr>
        <p:txBody>
          <a:bodyPr wrap="square" lIns="0" tIns="0" rIns="0" bIns="0" anchor="t">
            <a:spAutoFit/>
          </a:bodyPr>
          <a:lstStyle/>
          <a:p>
            <a:pPr algn="l">
              <a:lnSpc>
                <a:spcPct val="112000"/>
              </a:lnSpc>
              <a:spcAft>
                <a:spcPts val="0"/>
              </a:spcAft>
            </a:pPr>
            <a:r>
              <a:rPr sz="1300" b="0" i="0">
                <a:solidFill>
                  <a:srgbClr val="E6EDF3"/>
                </a:solidFill>
                <a:latin typeface="Bahnschrift SemiBold"/>
              </a:rPr>
              <a:t>Confidence gate</a:t>
            </a:r>
          </a:p>
        </p:txBody>
      </p:sp>
      <p:sp>
        <p:nvSpPr>
          <p:cNvPr id="39" name="TextBox 38"/>
          <p:cNvSpPr txBox="1"/>
          <p:nvPr/>
        </p:nvSpPr>
        <p:spPr>
          <a:xfrm>
            <a:off x="7223760" y="2907792"/>
            <a:ext cx="4114800" cy="411835"/>
          </a:xfrm>
          <a:prstGeom prst="rect">
            <a:avLst/>
          </a:prstGeom>
          <a:noFill/>
        </p:spPr>
        <p:txBody>
          <a:bodyPr wrap="square" lIns="0" tIns="0" rIns="0" bIns="0" anchor="t">
            <a:spAutoFit/>
          </a:bodyPr>
          <a:lstStyle/>
          <a:p>
            <a:pPr algn="l">
              <a:lnSpc>
                <a:spcPct val="134000"/>
              </a:lnSpc>
              <a:spcAft>
                <a:spcPts val="0"/>
              </a:spcAft>
            </a:pPr>
            <a:r>
              <a:rPr sz="1000" b="0" i="0">
                <a:solidFill>
                  <a:srgbClr val="8494A6"/>
                </a:solidFill>
                <a:latin typeface="Segoe UI"/>
              </a:rPr>
              <a:t>softmax ≥ 0.90 for digits · head ≥ 0.85 with a cosine ≥ 0.80 check for custom symbols</a:t>
            </a:r>
          </a:p>
        </p:txBody>
      </p:sp>
      <p:sp>
        <p:nvSpPr>
          <p:cNvPr id="40" name="Rectangle 39"/>
          <p:cNvSpPr/>
          <p:nvPr/>
        </p:nvSpPr>
        <p:spPr>
          <a:xfrm>
            <a:off x="6492240" y="3621024"/>
            <a:ext cx="5056632" cy="1115568"/>
          </a:xfrm>
          <a:prstGeom prst="rect">
            <a:avLst/>
          </a:prstGeom>
          <a:solidFill>
            <a:srgbClr val="161C24"/>
          </a:solidFill>
          <a:ln w="12700">
            <a:solidFill>
              <a:srgbClr val="2C364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1" name="Rectangle 40"/>
          <p:cNvSpPr/>
          <p:nvPr/>
        </p:nvSpPr>
        <p:spPr>
          <a:xfrm>
            <a:off x="6492240" y="3621024"/>
            <a:ext cx="5056632" cy="31750"/>
          </a:xfrm>
          <a:prstGeom prst="rect">
            <a:avLst/>
          </a:prstGeom>
          <a:solidFill>
            <a:srgbClr val="FFA92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2" name="TextBox 41"/>
          <p:cNvSpPr txBox="1"/>
          <p:nvPr/>
        </p:nvSpPr>
        <p:spPr>
          <a:xfrm>
            <a:off x="6693408" y="3840480"/>
            <a:ext cx="365760" cy="365760"/>
          </a:xfrm>
          <a:prstGeom prst="rect">
            <a:avLst/>
          </a:prstGeom>
          <a:noFill/>
        </p:spPr>
        <p:txBody>
          <a:bodyPr wrap="square" lIns="0" tIns="0" rIns="0" bIns="0" anchor="t">
            <a:spAutoFit/>
          </a:bodyPr>
          <a:lstStyle/>
          <a:p>
            <a:pPr algn="l">
              <a:lnSpc>
                <a:spcPct val="112000"/>
              </a:lnSpc>
              <a:spcAft>
                <a:spcPts val="0"/>
              </a:spcAft>
            </a:pPr>
            <a:r>
              <a:rPr sz="1900" b="0" i="0">
                <a:solidFill>
                  <a:srgbClr val="FFA928"/>
                </a:solidFill>
                <a:latin typeface="Consolas"/>
              </a:rPr>
              <a:t>2</a:t>
            </a:r>
          </a:p>
        </p:txBody>
      </p:sp>
      <p:sp>
        <p:nvSpPr>
          <p:cNvPr id="43" name="TextBox 42"/>
          <p:cNvSpPr txBox="1"/>
          <p:nvPr/>
        </p:nvSpPr>
        <p:spPr>
          <a:xfrm>
            <a:off x="7223760" y="3803904"/>
            <a:ext cx="4114800" cy="256032"/>
          </a:xfrm>
          <a:prstGeom prst="rect">
            <a:avLst/>
          </a:prstGeom>
          <a:noFill/>
        </p:spPr>
        <p:txBody>
          <a:bodyPr wrap="square" lIns="0" tIns="0" rIns="0" bIns="0" anchor="t">
            <a:spAutoFit/>
          </a:bodyPr>
          <a:lstStyle/>
          <a:p>
            <a:pPr algn="l">
              <a:lnSpc>
                <a:spcPct val="112000"/>
              </a:lnSpc>
              <a:spcAft>
                <a:spcPts val="0"/>
              </a:spcAft>
            </a:pPr>
            <a:r>
              <a:rPr sz="1300" b="0" i="0">
                <a:solidFill>
                  <a:srgbClr val="E6EDF3"/>
                </a:solidFill>
                <a:latin typeface="Bahnschrift SemiBold"/>
              </a:rPr>
              <a:t>Human gate</a:t>
            </a:r>
          </a:p>
        </p:txBody>
      </p:sp>
      <p:sp>
        <p:nvSpPr>
          <p:cNvPr id="44" name="TextBox 43"/>
          <p:cNvSpPr txBox="1"/>
          <p:nvPr/>
        </p:nvSpPr>
        <p:spPr>
          <a:xfrm>
            <a:off x="7223760" y="4096512"/>
            <a:ext cx="4114800" cy="411835"/>
          </a:xfrm>
          <a:prstGeom prst="rect">
            <a:avLst/>
          </a:prstGeom>
          <a:noFill/>
        </p:spPr>
        <p:txBody>
          <a:bodyPr wrap="square" lIns="0" tIns="0" rIns="0" bIns="0" anchor="t">
            <a:spAutoFit/>
          </a:bodyPr>
          <a:lstStyle/>
          <a:p>
            <a:pPr algn="l">
              <a:lnSpc>
                <a:spcPct val="134000"/>
              </a:lnSpc>
              <a:spcAft>
                <a:spcPts val="0"/>
              </a:spcAft>
            </a:pPr>
            <a:r>
              <a:rPr sz="1000" b="0" i="0">
                <a:solidFill>
                  <a:srgbClr val="8494A6"/>
                </a:solidFill>
                <a:latin typeface="Segoe UI"/>
              </a:rPr>
              <a:t>a gateway command arms a confirm bar and is published only after an explicit Send tap</a:t>
            </a:r>
          </a:p>
        </p:txBody>
      </p:sp>
      <p:sp>
        <p:nvSpPr>
          <p:cNvPr id="45" name="Rectangle 44"/>
          <p:cNvSpPr/>
          <p:nvPr/>
        </p:nvSpPr>
        <p:spPr>
          <a:xfrm>
            <a:off x="6492240" y="4809744"/>
            <a:ext cx="5056632" cy="1115568"/>
          </a:xfrm>
          <a:prstGeom prst="rect">
            <a:avLst/>
          </a:prstGeom>
          <a:solidFill>
            <a:srgbClr val="161C24"/>
          </a:solidFill>
          <a:ln w="12700">
            <a:solidFill>
              <a:srgbClr val="2C364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6" name="Rectangle 45"/>
          <p:cNvSpPr/>
          <p:nvPr/>
        </p:nvSpPr>
        <p:spPr>
          <a:xfrm>
            <a:off x="6492240" y="4809744"/>
            <a:ext cx="5056632" cy="31750"/>
          </a:xfrm>
          <a:prstGeom prst="rect">
            <a:avLst/>
          </a:prstGeom>
          <a:solidFill>
            <a:srgbClr val="FF443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7" name="TextBox 46"/>
          <p:cNvSpPr txBox="1"/>
          <p:nvPr/>
        </p:nvSpPr>
        <p:spPr>
          <a:xfrm>
            <a:off x="6693408" y="5029200"/>
            <a:ext cx="365760" cy="365760"/>
          </a:xfrm>
          <a:prstGeom prst="rect">
            <a:avLst/>
          </a:prstGeom>
          <a:noFill/>
        </p:spPr>
        <p:txBody>
          <a:bodyPr wrap="square" lIns="0" tIns="0" rIns="0" bIns="0" anchor="t">
            <a:spAutoFit/>
          </a:bodyPr>
          <a:lstStyle/>
          <a:p>
            <a:pPr algn="l">
              <a:lnSpc>
                <a:spcPct val="112000"/>
              </a:lnSpc>
              <a:spcAft>
                <a:spcPts val="0"/>
              </a:spcAft>
            </a:pPr>
            <a:r>
              <a:rPr sz="1900" b="0" i="0">
                <a:solidFill>
                  <a:srgbClr val="FF4438"/>
                </a:solidFill>
                <a:latin typeface="Consolas"/>
              </a:rPr>
              <a:t>3</a:t>
            </a:r>
          </a:p>
        </p:txBody>
      </p:sp>
      <p:sp>
        <p:nvSpPr>
          <p:cNvPr id="48" name="TextBox 47"/>
          <p:cNvSpPr txBox="1"/>
          <p:nvPr/>
        </p:nvSpPr>
        <p:spPr>
          <a:xfrm>
            <a:off x="7223760" y="4992624"/>
            <a:ext cx="4114800" cy="256032"/>
          </a:xfrm>
          <a:prstGeom prst="rect">
            <a:avLst/>
          </a:prstGeom>
          <a:noFill/>
        </p:spPr>
        <p:txBody>
          <a:bodyPr wrap="square" lIns="0" tIns="0" rIns="0" bIns="0" anchor="t">
            <a:spAutoFit/>
          </a:bodyPr>
          <a:lstStyle/>
          <a:p>
            <a:pPr algn="l">
              <a:lnSpc>
                <a:spcPct val="112000"/>
              </a:lnSpc>
              <a:spcAft>
                <a:spcPts val="0"/>
              </a:spcAft>
            </a:pPr>
            <a:r>
              <a:rPr sz="1300" b="0" i="0">
                <a:solidFill>
                  <a:srgbClr val="E6EDF3"/>
                </a:solidFill>
                <a:latin typeface="Bahnschrift SemiBold"/>
              </a:rPr>
              <a:t>Structural gate</a:t>
            </a:r>
          </a:p>
        </p:txBody>
      </p:sp>
      <p:sp>
        <p:nvSpPr>
          <p:cNvPr id="49" name="TextBox 48"/>
          <p:cNvSpPr txBox="1"/>
          <p:nvPr/>
        </p:nvSpPr>
        <p:spPr>
          <a:xfrm>
            <a:off x="7223760" y="5285231"/>
            <a:ext cx="4114800" cy="411835"/>
          </a:xfrm>
          <a:prstGeom prst="rect">
            <a:avLst/>
          </a:prstGeom>
          <a:noFill/>
        </p:spPr>
        <p:txBody>
          <a:bodyPr wrap="square" lIns="0" tIns="0" rIns="0" bIns="0" anchor="t">
            <a:spAutoFit/>
          </a:bodyPr>
          <a:lstStyle/>
          <a:p>
            <a:pPr algn="l">
              <a:lnSpc>
                <a:spcPct val="134000"/>
              </a:lnSpc>
              <a:spcAft>
                <a:spcPts val="0"/>
              </a:spcAft>
            </a:pPr>
            <a:r>
              <a:rPr sz="1000" b="0" i="0">
                <a:solidFill>
                  <a:srgbClr val="8494A6"/>
                </a:solidFill>
                <a:latin typeface="Segoe UI"/>
              </a:rPr>
              <a:t>relay and dkm_write are absent from the firmware source — not flag-disabled, not commented out, absent</a:t>
            </a:r>
          </a:p>
        </p:txBody>
      </p:sp>
      <p:sp>
        <p:nvSpPr>
          <p:cNvPr id="50" name="TextBox 49"/>
          <p:cNvSpPr txBox="1"/>
          <p:nvPr/>
        </p:nvSpPr>
        <p:spPr>
          <a:xfrm>
            <a:off x="6492240" y="6016752"/>
            <a:ext cx="5056632" cy="189782"/>
          </a:xfrm>
          <a:prstGeom prst="rect">
            <a:avLst/>
          </a:prstGeom>
          <a:noFill/>
        </p:spPr>
        <p:txBody>
          <a:bodyPr wrap="square" lIns="0" tIns="0" rIns="0" bIns="0" anchor="t">
            <a:spAutoFit/>
          </a:bodyPr>
          <a:lstStyle/>
          <a:p>
            <a:pPr algn="l">
              <a:lnSpc>
                <a:spcPct val="130000"/>
              </a:lnSpc>
              <a:spcAft>
                <a:spcPts val="0"/>
              </a:spcAft>
            </a:pPr>
            <a:r>
              <a:rPr sz="950" b="0" i="0">
                <a:solidFill>
                  <a:srgbClr val="5A6878"/>
                </a:solidFill>
                <a:latin typeface="Segoe UI"/>
              </a:rPr>
              <a:t>The first two gates are policy; the third cannot be reached by any configuration.</a:t>
            </a:r>
          </a:p>
        </p:txBody>
      </p:sp>
      <p:sp>
        <p:nvSpPr>
          <p:cNvPr id="51" name="Rectangle 50"/>
          <p:cNvSpPr/>
          <p:nvPr/>
        </p:nvSpPr>
        <p:spPr>
          <a:xfrm>
            <a:off x="640080" y="6382512"/>
            <a:ext cx="10908792" cy="9525"/>
          </a:xfrm>
          <a:prstGeom prst="rect">
            <a:avLst/>
          </a:prstGeom>
          <a:solidFill>
            <a:srgbClr val="2C364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2" name="TextBox 51"/>
          <p:cNvSpPr txBox="1"/>
          <p:nvPr/>
        </p:nvSpPr>
        <p:spPr>
          <a:xfrm>
            <a:off x="640080" y="6492240"/>
            <a:ext cx="7315200" cy="237744"/>
          </a:xfrm>
          <a:prstGeom prst="rect">
            <a:avLst/>
          </a:prstGeom>
          <a:noFill/>
        </p:spPr>
        <p:txBody>
          <a:bodyPr wrap="square" lIns="0" tIns="0" rIns="0" bIns="0" anchor="t">
            <a:spAutoFit/>
          </a:bodyPr>
          <a:lstStyle/>
          <a:p>
            <a:pPr algn="l">
              <a:lnSpc>
                <a:spcPct val="112000"/>
              </a:lnSpc>
              <a:spcAft>
                <a:spcPts val="0"/>
              </a:spcAft>
            </a:pPr>
            <a:r>
              <a:rPr sz="850" b="0" i="0">
                <a:solidFill>
                  <a:srgbClr val="5A6878"/>
                </a:solidFill>
                <a:latin typeface="Consolas"/>
              </a:rPr>
              <a:t>OSOS · DKM-440 remote meter reading</a:t>
            </a:r>
          </a:p>
        </p:txBody>
      </p:sp>
      <p:sp>
        <p:nvSpPr>
          <p:cNvPr id="53" name="TextBox 52"/>
          <p:cNvSpPr txBox="1"/>
          <p:nvPr/>
        </p:nvSpPr>
        <p:spPr>
          <a:xfrm>
            <a:off x="10177272" y="6492240"/>
            <a:ext cx="1371600" cy="237744"/>
          </a:xfrm>
          <a:prstGeom prst="rect">
            <a:avLst/>
          </a:prstGeom>
          <a:noFill/>
        </p:spPr>
        <p:txBody>
          <a:bodyPr wrap="square" lIns="0" tIns="0" rIns="0" bIns="0" anchor="t">
            <a:spAutoFit/>
          </a:bodyPr>
          <a:lstStyle/>
          <a:p>
            <a:pPr algn="r">
              <a:lnSpc>
                <a:spcPct val="112000"/>
              </a:lnSpc>
              <a:spcAft>
                <a:spcPts val="0"/>
              </a:spcAft>
            </a:pPr>
            <a:r>
              <a:rPr sz="850" b="0" i="0">
                <a:solidFill>
                  <a:srgbClr val="5A6878"/>
                </a:solidFill>
                <a:latin typeface="Consolas"/>
              </a:rPr>
              <a:t>13</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D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274320"/>
            <a:ext cx="5852160" cy="219456"/>
          </a:xfrm>
          <a:prstGeom prst="rect">
            <a:avLst/>
          </a:prstGeom>
          <a:noFill/>
        </p:spPr>
        <p:txBody>
          <a:bodyPr wrap="square" lIns="0" tIns="0" rIns="0" bIns="0" anchor="t">
            <a:spAutoFit/>
          </a:bodyPr>
          <a:lstStyle/>
          <a:p>
            <a:pPr algn="l">
              <a:lnSpc>
                <a:spcPct val="100000"/>
              </a:lnSpc>
              <a:spcAft>
                <a:spcPts val="0"/>
              </a:spcAft>
            </a:pPr>
            <a:r>
              <a:rPr sz="900" b="0" i="0">
                <a:solidFill>
                  <a:srgbClr val="63D2E8"/>
                </a:solidFill>
                <a:latin typeface="Consolas"/>
              </a:rPr>
              <a:t>ON-DEVICE LEARNING AND ALARM RULES · BOTH SIT HERE BECAUSE OF A GATEWAY CONSTRAINT</a:t>
            </a:r>
          </a:p>
        </p:txBody>
      </p:sp>
      <p:sp>
        <p:nvSpPr>
          <p:cNvPr id="4" name="TextBox 3"/>
          <p:cNvSpPr txBox="1"/>
          <p:nvPr/>
        </p:nvSpPr>
        <p:spPr>
          <a:xfrm>
            <a:off x="640080" y="493776"/>
            <a:ext cx="5870448" cy="640080"/>
          </a:xfrm>
          <a:prstGeom prst="rect">
            <a:avLst/>
          </a:prstGeom>
          <a:noFill/>
        </p:spPr>
        <p:txBody>
          <a:bodyPr wrap="square" lIns="0" tIns="0" rIns="0" bIns="0" anchor="b">
            <a:spAutoFit/>
          </a:bodyPr>
          <a:lstStyle/>
          <a:p>
            <a:pPr algn="l">
              <a:lnSpc>
                <a:spcPct val="100000"/>
              </a:lnSpc>
              <a:spcAft>
                <a:spcPts val="0"/>
              </a:spcAft>
            </a:pPr>
            <a:r>
              <a:rPr sz="2100" b="0" i="0">
                <a:solidFill>
                  <a:srgbClr val="E6EDF3"/>
                </a:solidFill>
                <a:latin typeface="Bahnschrift SemiBold"/>
              </a:rPr>
              <a:t>What the phone does that the gateway cannot</a:t>
            </a:r>
          </a:p>
        </p:txBody>
      </p:sp>
      <p:sp>
        <p:nvSpPr>
          <p:cNvPr id="5" name="Rectangle 4"/>
          <p:cNvSpPr/>
          <p:nvPr/>
        </p:nvSpPr>
        <p:spPr>
          <a:xfrm>
            <a:off x="6726783" y="583844"/>
            <a:ext cx="1083106" cy="12700"/>
          </a:xfrm>
          <a:prstGeom prst="rect">
            <a:avLst/>
          </a:prstGeom>
          <a:solidFill>
            <a:srgbClr val="2C364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Rectangle 5"/>
          <p:cNvSpPr/>
          <p:nvPr/>
        </p:nvSpPr>
        <p:spPr>
          <a:xfrm>
            <a:off x="6617970" y="548640"/>
            <a:ext cx="77724" cy="77724"/>
          </a:xfrm>
          <a:prstGeom prst="rect">
            <a:avLst/>
          </a:prstGeom>
          <a:solidFill>
            <a:srgbClr val="0D1117"/>
          </a:solidFill>
          <a:ln w="12700">
            <a:solidFill>
              <a:srgbClr val="3D4A5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6045327" y="694944"/>
            <a:ext cx="1223010" cy="201168"/>
          </a:xfrm>
          <a:prstGeom prst="rect">
            <a:avLst/>
          </a:prstGeom>
          <a:noFill/>
        </p:spPr>
        <p:txBody>
          <a:bodyPr wrap="square" lIns="0" tIns="0" rIns="0" bIns="0" anchor="t">
            <a:spAutoFit/>
          </a:bodyPr>
          <a:lstStyle/>
          <a:p>
            <a:pPr algn="ctr">
              <a:lnSpc>
                <a:spcPct val="100000"/>
              </a:lnSpc>
              <a:spcAft>
                <a:spcPts val="0"/>
              </a:spcAft>
            </a:pPr>
            <a:r>
              <a:rPr sz="750" b="0" i="0">
                <a:solidFill>
                  <a:srgbClr val="5A6878"/>
                </a:solidFill>
                <a:latin typeface="Bahnschrift SemiBold"/>
              </a:rPr>
              <a:t>METER</a:t>
            </a:r>
          </a:p>
        </p:txBody>
      </p:sp>
      <p:sp>
        <p:nvSpPr>
          <p:cNvPr id="8" name="Rectangle 7"/>
          <p:cNvSpPr/>
          <p:nvPr/>
        </p:nvSpPr>
        <p:spPr>
          <a:xfrm>
            <a:off x="7949793" y="583844"/>
            <a:ext cx="1083106" cy="12700"/>
          </a:xfrm>
          <a:prstGeom prst="rect">
            <a:avLst/>
          </a:prstGeom>
          <a:solidFill>
            <a:srgbClr val="2C364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Rectangle 8"/>
          <p:cNvSpPr/>
          <p:nvPr/>
        </p:nvSpPr>
        <p:spPr>
          <a:xfrm>
            <a:off x="7840979" y="548640"/>
            <a:ext cx="77724" cy="77724"/>
          </a:xfrm>
          <a:prstGeom prst="rect">
            <a:avLst/>
          </a:prstGeom>
          <a:solidFill>
            <a:srgbClr val="0D1117"/>
          </a:solidFill>
          <a:ln w="12700">
            <a:solidFill>
              <a:srgbClr val="3D4A5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TextBox 9"/>
          <p:cNvSpPr txBox="1"/>
          <p:nvPr/>
        </p:nvSpPr>
        <p:spPr>
          <a:xfrm>
            <a:off x="7268337" y="694944"/>
            <a:ext cx="1223010" cy="201168"/>
          </a:xfrm>
          <a:prstGeom prst="rect">
            <a:avLst/>
          </a:prstGeom>
          <a:noFill/>
        </p:spPr>
        <p:txBody>
          <a:bodyPr wrap="square" lIns="0" tIns="0" rIns="0" bIns="0" anchor="t">
            <a:spAutoFit/>
          </a:bodyPr>
          <a:lstStyle/>
          <a:p>
            <a:pPr algn="ctr">
              <a:lnSpc>
                <a:spcPct val="100000"/>
              </a:lnSpc>
              <a:spcAft>
                <a:spcPts val="0"/>
              </a:spcAft>
            </a:pPr>
            <a:r>
              <a:rPr sz="750" b="0" i="0">
                <a:solidFill>
                  <a:srgbClr val="5A6878"/>
                </a:solidFill>
                <a:latin typeface="Bahnschrift SemiBold"/>
              </a:rPr>
              <a:t>GATEWAY</a:t>
            </a:r>
          </a:p>
        </p:txBody>
      </p:sp>
      <p:sp>
        <p:nvSpPr>
          <p:cNvPr id="11" name="Rectangle 10"/>
          <p:cNvSpPr/>
          <p:nvPr/>
        </p:nvSpPr>
        <p:spPr>
          <a:xfrm>
            <a:off x="9172803" y="583844"/>
            <a:ext cx="1083106" cy="12700"/>
          </a:xfrm>
          <a:prstGeom prst="rect">
            <a:avLst/>
          </a:prstGeom>
          <a:solidFill>
            <a:srgbClr val="2C364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Rectangle 11"/>
          <p:cNvSpPr/>
          <p:nvPr/>
        </p:nvSpPr>
        <p:spPr>
          <a:xfrm>
            <a:off x="9063990" y="548640"/>
            <a:ext cx="77724" cy="77724"/>
          </a:xfrm>
          <a:prstGeom prst="rect">
            <a:avLst/>
          </a:prstGeom>
          <a:solidFill>
            <a:srgbClr val="0D1117"/>
          </a:solidFill>
          <a:ln w="12700">
            <a:solidFill>
              <a:srgbClr val="3D4A5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8491347" y="694944"/>
            <a:ext cx="1223010" cy="201168"/>
          </a:xfrm>
          <a:prstGeom prst="rect">
            <a:avLst/>
          </a:prstGeom>
          <a:noFill/>
        </p:spPr>
        <p:txBody>
          <a:bodyPr wrap="square" lIns="0" tIns="0" rIns="0" bIns="0" anchor="t">
            <a:spAutoFit/>
          </a:bodyPr>
          <a:lstStyle/>
          <a:p>
            <a:pPr algn="ctr">
              <a:lnSpc>
                <a:spcPct val="100000"/>
              </a:lnSpc>
              <a:spcAft>
                <a:spcPts val="0"/>
              </a:spcAft>
            </a:pPr>
            <a:r>
              <a:rPr sz="750" b="0" i="0">
                <a:solidFill>
                  <a:srgbClr val="5A6878"/>
                </a:solidFill>
                <a:latin typeface="Bahnschrift SemiBold"/>
              </a:rPr>
              <a:t>BROKER</a:t>
            </a:r>
          </a:p>
        </p:txBody>
      </p:sp>
      <p:sp>
        <p:nvSpPr>
          <p:cNvPr id="14" name="Rectangle 13"/>
          <p:cNvSpPr/>
          <p:nvPr/>
        </p:nvSpPr>
        <p:spPr>
          <a:xfrm>
            <a:off x="10395813" y="583844"/>
            <a:ext cx="1083106" cy="12700"/>
          </a:xfrm>
          <a:prstGeom prst="rect">
            <a:avLst/>
          </a:prstGeom>
          <a:solidFill>
            <a:srgbClr val="2E7D8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Rectangle 14"/>
          <p:cNvSpPr/>
          <p:nvPr/>
        </p:nvSpPr>
        <p:spPr>
          <a:xfrm>
            <a:off x="10287000" y="548640"/>
            <a:ext cx="77724" cy="77724"/>
          </a:xfrm>
          <a:prstGeom prst="rect">
            <a:avLst/>
          </a:prstGeom>
          <a:solidFill>
            <a:srgbClr val="63D2E8"/>
          </a:solidFill>
          <a:ln w="12700">
            <a:solidFill>
              <a:srgbClr val="63D2E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TextBox 15"/>
          <p:cNvSpPr txBox="1"/>
          <p:nvPr/>
        </p:nvSpPr>
        <p:spPr>
          <a:xfrm>
            <a:off x="9714357" y="694944"/>
            <a:ext cx="1223010" cy="201168"/>
          </a:xfrm>
          <a:prstGeom prst="rect">
            <a:avLst/>
          </a:prstGeom>
          <a:noFill/>
        </p:spPr>
        <p:txBody>
          <a:bodyPr wrap="square" lIns="0" tIns="0" rIns="0" bIns="0" anchor="t">
            <a:spAutoFit/>
          </a:bodyPr>
          <a:lstStyle/>
          <a:p>
            <a:pPr algn="ctr">
              <a:lnSpc>
                <a:spcPct val="100000"/>
              </a:lnSpc>
              <a:spcAft>
                <a:spcPts val="0"/>
              </a:spcAft>
            </a:pPr>
            <a:r>
              <a:rPr sz="750" b="0" i="0">
                <a:solidFill>
                  <a:srgbClr val="63D2E8"/>
                </a:solidFill>
                <a:latin typeface="Bahnschrift SemiBold"/>
              </a:rPr>
              <a:t>PHONE</a:t>
            </a:r>
          </a:p>
        </p:txBody>
      </p:sp>
      <p:sp>
        <p:nvSpPr>
          <p:cNvPr id="17" name="Rectangle 16"/>
          <p:cNvSpPr/>
          <p:nvPr/>
        </p:nvSpPr>
        <p:spPr>
          <a:xfrm>
            <a:off x="11510009" y="548640"/>
            <a:ext cx="77724" cy="77724"/>
          </a:xfrm>
          <a:prstGeom prst="rect">
            <a:avLst/>
          </a:prstGeom>
          <a:solidFill>
            <a:srgbClr val="63D2E8"/>
          </a:solidFill>
          <a:ln w="12700">
            <a:solidFill>
              <a:srgbClr val="63D2E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TextBox 17"/>
          <p:cNvSpPr txBox="1"/>
          <p:nvPr/>
        </p:nvSpPr>
        <p:spPr>
          <a:xfrm>
            <a:off x="10937367" y="694944"/>
            <a:ext cx="1223010" cy="201168"/>
          </a:xfrm>
          <a:prstGeom prst="rect">
            <a:avLst/>
          </a:prstGeom>
          <a:noFill/>
        </p:spPr>
        <p:txBody>
          <a:bodyPr wrap="square" lIns="0" tIns="0" rIns="0" bIns="0" anchor="t">
            <a:spAutoFit/>
          </a:bodyPr>
          <a:lstStyle/>
          <a:p>
            <a:pPr algn="ctr">
              <a:lnSpc>
                <a:spcPct val="100000"/>
              </a:lnSpc>
              <a:spcAft>
                <a:spcPts val="0"/>
              </a:spcAft>
            </a:pPr>
            <a:r>
              <a:rPr sz="750" b="0" i="0">
                <a:solidFill>
                  <a:srgbClr val="63D2E8"/>
                </a:solidFill>
                <a:latin typeface="Bahnschrift SemiBold"/>
              </a:rPr>
              <a:t>NET</a:t>
            </a:r>
          </a:p>
        </p:txBody>
      </p:sp>
      <p:sp>
        <p:nvSpPr>
          <p:cNvPr id="19" name="Rectangle 18"/>
          <p:cNvSpPr/>
          <p:nvPr/>
        </p:nvSpPr>
        <p:spPr>
          <a:xfrm>
            <a:off x="640080" y="1225296"/>
            <a:ext cx="10908792" cy="9525"/>
          </a:xfrm>
          <a:prstGeom prst="rect">
            <a:avLst/>
          </a:prstGeom>
          <a:solidFill>
            <a:srgbClr val="2C364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Rectangle 19"/>
          <p:cNvSpPr/>
          <p:nvPr/>
        </p:nvSpPr>
        <p:spPr>
          <a:xfrm>
            <a:off x="640080" y="1220724"/>
            <a:ext cx="566928" cy="25400"/>
          </a:xfrm>
          <a:prstGeom prst="rect">
            <a:avLst/>
          </a:prstGeom>
          <a:solidFill>
            <a:srgbClr val="63D2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1" name="TextBox 20"/>
          <p:cNvSpPr txBox="1"/>
          <p:nvPr/>
        </p:nvSpPr>
        <p:spPr>
          <a:xfrm>
            <a:off x="640080" y="1463040"/>
            <a:ext cx="5349240" cy="237744"/>
          </a:xfrm>
          <a:prstGeom prst="rect">
            <a:avLst/>
          </a:prstGeom>
          <a:noFill/>
        </p:spPr>
        <p:txBody>
          <a:bodyPr wrap="square" lIns="0" tIns="0" rIns="0" bIns="0" anchor="t">
            <a:spAutoFit/>
          </a:bodyPr>
          <a:lstStyle/>
          <a:p>
            <a:pPr algn="l">
              <a:lnSpc>
                <a:spcPct val="112000"/>
              </a:lnSpc>
              <a:spcAft>
                <a:spcPts val="0"/>
              </a:spcAft>
            </a:pPr>
            <a:r>
              <a:rPr sz="900" b="0" i="0">
                <a:solidFill>
                  <a:srgbClr val="C89A5B"/>
                </a:solidFill>
                <a:latin typeface="Bahnschrift SemiBold"/>
              </a:rPr>
              <a:t>TEACHING IT YOUR OWN SYMBOL</a:t>
            </a:r>
          </a:p>
        </p:txBody>
      </p:sp>
      <p:sp>
        <p:nvSpPr>
          <p:cNvPr id="22" name="Rectangle 21"/>
          <p:cNvSpPr/>
          <p:nvPr/>
        </p:nvSpPr>
        <p:spPr>
          <a:xfrm>
            <a:off x="640080" y="1719072"/>
            <a:ext cx="5349240" cy="9525"/>
          </a:xfrm>
          <a:prstGeom prst="rect">
            <a:avLst/>
          </a:prstGeom>
          <a:solidFill>
            <a:srgbClr val="3D4A5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3" name="TextBox 22"/>
          <p:cNvSpPr txBox="1"/>
          <p:nvPr/>
        </p:nvSpPr>
        <p:spPr>
          <a:xfrm>
            <a:off x="640080" y="1828800"/>
            <a:ext cx="5349240" cy="438881"/>
          </a:xfrm>
          <a:prstGeom prst="rect">
            <a:avLst/>
          </a:prstGeom>
          <a:noFill/>
        </p:spPr>
        <p:txBody>
          <a:bodyPr wrap="square" lIns="0" tIns="0" rIns="0" bIns="0" anchor="t">
            <a:spAutoFit/>
          </a:bodyPr>
          <a:lstStyle/>
          <a:p>
            <a:pPr algn="l">
              <a:lnSpc>
                <a:spcPct val="136000"/>
              </a:lnSpc>
              <a:spcAft>
                <a:spcPts val="0"/>
              </a:spcAft>
            </a:pPr>
            <a:r>
              <a:rPr sz="1050" b="0" i="0">
                <a:solidFill>
                  <a:srgbClr val="8494A6"/>
                </a:solidFill>
                <a:latin typeface="Segoe UI"/>
              </a:rPr>
              <a:t>There is no headroom on an ESP8266 for a model, so learning happens where the samples are drawn.</a:t>
            </a:r>
          </a:p>
        </p:txBody>
      </p:sp>
      <p:sp>
        <p:nvSpPr>
          <p:cNvPr id="24" name="TextBox 23"/>
          <p:cNvSpPr txBox="1"/>
          <p:nvPr/>
        </p:nvSpPr>
        <p:spPr>
          <a:xfrm>
            <a:off x="640080" y="2313432"/>
            <a:ext cx="320040" cy="256032"/>
          </a:xfrm>
          <a:prstGeom prst="rect">
            <a:avLst/>
          </a:prstGeom>
          <a:noFill/>
        </p:spPr>
        <p:txBody>
          <a:bodyPr wrap="square" lIns="0" tIns="0" rIns="0" bIns="0" anchor="t">
            <a:spAutoFit/>
          </a:bodyPr>
          <a:lstStyle/>
          <a:p>
            <a:pPr algn="l">
              <a:lnSpc>
                <a:spcPct val="112000"/>
              </a:lnSpc>
              <a:spcAft>
                <a:spcPts val="0"/>
              </a:spcAft>
            </a:pPr>
            <a:r>
              <a:rPr sz="1200" b="0" i="0">
                <a:solidFill>
                  <a:srgbClr val="C89A5B"/>
                </a:solidFill>
                <a:latin typeface="Consolas"/>
              </a:rPr>
              <a:t>1</a:t>
            </a:r>
          </a:p>
        </p:txBody>
      </p:sp>
      <p:sp>
        <p:nvSpPr>
          <p:cNvPr id="25" name="TextBox 24"/>
          <p:cNvSpPr txBox="1"/>
          <p:nvPr/>
        </p:nvSpPr>
        <p:spPr>
          <a:xfrm>
            <a:off x="1005840" y="2304288"/>
            <a:ext cx="4983480" cy="256032"/>
          </a:xfrm>
          <a:prstGeom prst="rect">
            <a:avLst/>
          </a:prstGeom>
          <a:noFill/>
        </p:spPr>
        <p:txBody>
          <a:bodyPr wrap="square" lIns="0" tIns="0" rIns="0" bIns="0" anchor="t">
            <a:spAutoFit/>
          </a:bodyPr>
          <a:lstStyle/>
          <a:p>
            <a:pPr algn="l">
              <a:lnSpc>
                <a:spcPct val="112000"/>
              </a:lnSpc>
              <a:spcAft>
                <a:spcPts val="0"/>
              </a:spcAft>
            </a:pPr>
            <a:r>
              <a:rPr sz="1200" b="0" i="0">
                <a:solidFill>
                  <a:srgbClr val="E6EDF3"/>
                </a:solidFill>
                <a:latin typeface="Bahnschrift SemiBold"/>
              </a:rPr>
              <a:t>Freeze the MLP</a:t>
            </a:r>
          </a:p>
        </p:txBody>
      </p:sp>
      <p:sp>
        <p:nvSpPr>
          <p:cNvPr id="26" name="TextBox 25"/>
          <p:cNvSpPr txBox="1"/>
          <p:nvPr/>
        </p:nvSpPr>
        <p:spPr>
          <a:xfrm>
            <a:off x="1005840" y="2560320"/>
            <a:ext cx="4983480" cy="417982"/>
          </a:xfrm>
          <a:prstGeom prst="rect">
            <a:avLst/>
          </a:prstGeom>
          <a:noFill/>
        </p:spPr>
        <p:txBody>
          <a:bodyPr wrap="square" lIns="0" tIns="0" rIns="0" bIns="0" anchor="t">
            <a:spAutoFit/>
          </a:bodyPr>
          <a:lstStyle/>
          <a:p>
            <a:pPr algn="l">
              <a:lnSpc>
                <a:spcPct val="136000"/>
              </a:lnSpc>
              <a:spcAft>
                <a:spcPts val="0"/>
              </a:spcAft>
            </a:pPr>
            <a:r>
              <a:rPr sz="1000" b="0" i="0">
                <a:solidFill>
                  <a:srgbClr val="8494A6"/>
                </a:solidFill>
                <a:latin typeface="Segoe UI"/>
              </a:rPr>
              <a:t>the 784-128-10 network is not retrained; its 128-unit ReLU layer is reused as an embedding</a:t>
            </a:r>
          </a:p>
        </p:txBody>
      </p:sp>
      <p:sp>
        <p:nvSpPr>
          <p:cNvPr id="27" name="TextBox 26"/>
          <p:cNvSpPr txBox="1"/>
          <p:nvPr/>
        </p:nvSpPr>
        <p:spPr>
          <a:xfrm>
            <a:off x="640080" y="3188614"/>
            <a:ext cx="320040" cy="256032"/>
          </a:xfrm>
          <a:prstGeom prst="rect">
            <a:avLst/>
          </a:prstGeom>
          <a:noFill/>
        </p:spPr>
        <p:txBody>
          <a:bodyPr wrap="square" lIns="0" tIns="0" rIns="0" bIns="0" anchor="t">
            <a:spAutoFit/>
          </a:bodyPr>
          <a:lstStyle/>
          <a:p>
            <a:pPr algn="l">
              <a:lnSpc>
                <a:spcPct val="112000"/>
              </a:lnSpc>
              <a:spcAft>
                <a:spcPts val="0"/>
              </a:spcAft>
            </a:pPr>
            <a:r>
              <a:rPr sz="1200" b="0" i="0">
                <a:solidFill>
                  <a:srgbClr val="C89A5B"/>
                </a:solidFill>
                <a:latin typeface="Consolas"/>
              </a:rPr>
              <a:t>2</a:t>
            </a:r>
          </a:p>
        </p:txBody>
      </p:sp>
      <p:sp>
        <p:nvSpPr>
          <p:cNvPr id="28" name="TextBox 27"/>
          <p:cNvSpPr txBox="1"/>
          <p:nvPr/>
        </p:nvSpPr>
        <p:spPr>
          <a:xfrm>
            <a:off x="1005840" y="3179470"/>
            <a:ext cx="4983480" cy="256032"/>
          </a:xfrm>
          <a:prstGeom prst="rect">
            <a:avLst/>
          </a:prstGeom>
          <a:noFill/>
        </p:spPr>
        <p:txBody>
          <a:bodyPr wrap="square" lIns="0" tIns="0" rIns="0" bIns="0" anchor="t">
            <a:spAutoFit/>
          </a:bodyPr>
          <a:lstStyle/>
          <a:p>
            <a:pPr algn="l">
              <a:lnSpc>
                <a:spcPct val="112000"/>
              </a:lnSpc>
              <a:spcAft>
                <a:spcPts val="0"/>
              </a:spcAft>
            </a:pPr>
            <a:r>
              <a:rPr sz="1200" b="0" i="0">
                <a:solidFill>
                  <a:srgbClr val="E6EDF3"/>
                </a:solidFill>
                <a:latin typeface="Bahnschrift SemiBold"/>
              </a:rPr>
              <a:t>Augment ×5</a:t>
            </a:r>
          </a:p>
        </p:txBody>
      </p:sp>
      <p:sp>
        <p:nvSpPr>
          <p:cNvPr id="29" name="TextBox 28"/>
          <p:cNvSpPr txBox="1"/>
          <p:nvPr/>
        </p:nvSpPr>
        <p:spPr>
          <a:xfrm>
            <a:off x="1005840" y="3435502"/>
            <a:ext cx="4983480" cy="208991"/>
          </a:xfrm>
          <a:prstGeom prst="rect">
            <a:avLst/>
          </a:prstGeom>
          <a:noFill/>
        </p:spPr>
        <p:txBody>
          <a:bodyPr wrap="square" lIns="0" tIns="0" rIns="0" bIns="0" anchor="t">
            <a:spAutoFit/>
          </a:bodyPr>
          <a:lstStyle/>
          <a:p>
            <a:pPr algn="l">
              <a:lnSpc>
                <a:spcPct val="136000"/>
              </a:lnSpc>
              <a:spcAft>
                <a:spcPts val="0"/>
              </a:spcAft>
            </a:pPr>
            <a:r>
              <a:rPr sz="1000" b="0" i="0">
                <a:solidFill>
                  <a:srgbClr val="8494A6"/>
                </a:solidFill>
                <a:latin typeface="Segoe UI"/>
              </a:rPr>
              <a:t>±1 and ±2 px shifts turn 10–15 samples into 50–75 training vectors for free</a:t>
            </a:r>
          </a:p>
        </p:txBody>
      </p:sp>
      <p:sp>
        <p:nvSpPr>
          <p:cNvPr id="30" name="TextBox 29"/>
          <p:cNvSpPr txBox="1"/>
          <p:nvPr/>
        </p:nvSpPr>
        <p:spPr>
          <a:xfrm>
            <a:off x="640080" y="3854805"/>
            <a:ext cx="320040" cy="256032"/>
          </a:xfrm>
          <a:prstGeom prst="rect">
            <a:avLst/>
          </a:prstGeom>
          <a:noFill/>
        </p:spPr>
        <p:txBody>
          <a:bodyPr wrap="square" lIns="0" tIns="0" rIns="0" bIns="0" anchor="t">
            <a:spAutoFit/>
          </a:bodyPr>
          <a:lstStyle/>
          <a:p>
            <a:pPr algn="l">
              <a:lnSpc>
                <a:spcPct val="112000"/>
              </a:lnSpc>
              <a:spcAft>
                <a:spcPts val="0"/>
              </a:spcAft>
            </a:pPr>
            <a:r>
              <a:rPr sz="1200" b="0" i="0">
                <a:solidFill>
                  <a:srgbClr val="C89A5B"/>
                </a:solidFill>
                <a:latin typeface="Consolas"/>
              </a:rPr>
              <a:t>3</a:t>
            </a:r>
          </a:p>
        </p:txBody>
      </p:sp>
      <p:sp>
        <p:nvSpPr>
          <p:cNvPr id="31" name="TextBox 30"/>
          <p:cNvSpPr txBox="1"/>
          <p:nvPr/>
        </p:nvSpPr>
        <p:spPr>
          <a:xfrm>
            <a:off x="1005840" y="3845661"/>
            <a:ext cx="4983480" cy="256032"/>
          </a:xfrm>
          <a:prstGeom prst="rect">
            <a:avLst/>
          </a:prstGeom>
          <a:noFill/>
        </p:spPr>
        <p:txBody>
          <a:bodyPr wrap="square" lIns="0" tIns="0" rIns="0" bIns="0" anchor="t">
            <a:spAutoFit/>
          </a:bodyPr>
          <a:lstStyle/>
          <a:p>
            <a:pPr algn="l">
              <a:lnSpc>
                <a:spcPct val="112000"/>
              </a:lnSpc>
              <a:spcAft>
                <a:spcPts val="0"/>
              </a:spcAft>
            </a:pPr>
            <a:r>
              <a:rPr sz="1200" b="0" i="0">
                <a:solidFill>
                  <a:srgbClr val="E6EDF3"/>
                </a:solidFill>
                <a:latin typeface="Bahnschrift SemiBold"/>
              </a:rPr>
              <a:t>Train a head</a:t>
            </a:r>
          </a:p>
        </p:txBody>
      </p:sp>
      <p:sp>
        <p:nvSpPr>
          <p:cNvPr id="32" name="TextBox 31"/>
          <p:cNvSpPr txBox="1"/>
          <p:nvPr/>
        </p:nvSpPr>
        <p:spPr>
          <a:xfrm>
            <a:off x="1005840" y="4101693"/>
            <a:ext cx="4983480" cy="417982"/>
          </a:xfrm>
          <a:prstGeom prst="rect">
            <a:avLst/>
          </a:prstGeom>
          <a:noFill/>
        </p:spPr>
        <p:txBody>
          <a:bodyPr wrap="square" lIns="0" tIns="0" rIns="0" bIns="0" anchor="t">
            <a:spAutoFit/>
          </a:bodyPr>
          <a:lstStyle/>
          <a:p>
            <a:pPr algn="l">
              <a:lnSpc>
                <a:spcPct val="136000"/>
              </a:lnSpc>
              <a:spcAft>
                <a:spcPts val="0"/>
              </a:spcAft>
            </a:pPr>
            <a:r>
              <a:rPr sz="1000" b="0" i="0">
                <a:solidFill>
                  <a:srgbClr val="8494A6"/>
                </a:solidFill>
                <a:latin typeface="Segoe UI"/>
              </a:rPr>
              <a:t>logistic regression 128 → N by SGD with L2, finishing in milliseconds and rerunning whenever samples change</a:t>
            </a:r>
          </a:p>
        </p:txBody>
      </p:sp>
      <p:sp>
        <p:nvSpPr>
          <p:cNvPr id="33" name="TextBox 32"/>
          <p:cNvSpPr txBox="1"/>
          <p:nvPr/>
        </p:nvSpPr>
        <p:spPr>
          <a:xfrm>
            <a:off x="640080" y="4729987"/>
            <a:ext cx="320040" cy="256032"/>
          </a:xfrm>
          <a:prstGeom prst="rect">
            <a:avLst/>
          </a:prstGeom>
          <a:noFill/>
        </p:spPr>
        <p:txBody>
          <a:bodyPr wrap="square" lIns="0" tIns="0" rIns="0" bIns="0" anchor="t">
            <a:spAutoFit/>
          </a:bodyPr>
          <a:lstStyle/>
          <a:p>
            <a:pPr algn="l">
              <a:lnSpc>
                <a:spcPct val="112000"/>
              </a:lnSpc>
              <a:spcAft>
                <a:spcPts val="0"/>
              </a:spcAft>
            </a:pPr>
            <a:r>
              <a:rPr sz="1200" b="0" i="0">
                <a:solidFill>
                  <a:srgbClr val="C89A5B"/>
                </a:solidFill>
                <a:latin typeface="Consolas"/>
              </a:rPr>
              <a:t>4</a:t>
            </a:r>
          </a:p>
        </p:txBody>
      </p:sp>
      <p:sp>
        <p:nvSpPr>
          <p:cNvPr id="34" name="TextBox 33"/>
          <p:cNvSpPr txBox="1"/>
          <p:nvPr/>
        </p:nvSpPr>
        <p:spPr>
          <a:xfrm>
            <a:off x="1005840" y="4720844"/>
            <a:ext cx="4983480" cy="256032"/>
          </a:xfrm>
          <a:prstGeom prst="rect">
            <a:avLst/>
          </a:prstGeom>
          <a:noFill/>
        </p:spPr>
        <p:txBody>
          <a:bodyPr wrap="square" lIns="0" tIns="0" rIns="0" bIns="0" anchor="t">
            <a:spAutoFit/>
          </a:bodyPr>
          <a:lstStyle/>
          <a:p>
            <a:pPr algn="l">
              <a:lnSpc>
                <a:spcPct val="112000"/>
              </a:lnSpc>
              <a:spcAft>
                <a:spcPts val="0"/>
              </a:spcAft>
            </a:pPr>
            <a:r>
              <a:rPr sz="1200" b="0" i="0">
                <a:solidFill>
                  <a:srgbClr val="E6EDF3"/>
                </a:solidFill>
                <a:latin typeface="Bahnschrift SemiBold"/>
              </a:rPr>
              <a:t>Gate twice</a:t>
            </a:r>
          </a:p>
        </p:txBody>
      </p:sp>
      <p:sp>
        <p:nvSpPr>
          <p:cNvPr id="35" name="TextBox 34"/>
          <p:cNvSpPr txBox="1"/>
          <p:nvPr/>
        </p:nvSpPr>
        <p:spPr>
          <a:xfrm>
            <a:off x="1005840" y="4976876"/>
            <a:ext cx="4983480" cy="417982"/>
          </a:xfrm>
          <a:prstGeom prst="rect">
            <a:avLst/>
          </a:prstGeom>
          <a:noFill/>
        </p:spPr>
        <p:txBody>
          <a:bodyPr wrap="square" lIns="0" tIns="0" rIns="0" bIns="0" anchor="t">
            <a:spAutoFit/>
          </a:bodyPr>
          <a:lstStyle/>
          <a:p>
            <a:pPr algn="l">
              <a:lnSpc>
                <a:spcPct val="136000"/>
              </a:lnSpc>
              <a:spcAft>
                <a:spcPts val="0"/>
              </a:spcAft>
            </a:pPr>
            <a:r>
              <a:rPr sz="1000" b="0" i="0">
                <a:solidFill>
                  <a:srgbClr val="8494A6"/>
                </a:solidFill>
                <a:latin typeface="Segoe UI"/>
              </a:rPr>
              <a:t>head softmax ≥ 0.85 and best-sample cosine ≥ 0.80; under 10 samples the head is not trusted at all</a:t>
            </a:r>
          </a:p>
        </p:txBody>
      </p:sp>
      <p:sp>
        <p:nvSpPr>
          <p:cNvPr id="36" name="Rectangle 35"/>
          <p:cNvSpPr/>
          <p:nvPr/>
        </p:nvSpPr>
        <p:spPr>
          <a:xfrm>
            <a:off x="640080" y="5705856"/>
            <a:ext cx="5349240" cy="9525"/>
          </a:xfrm>
          <a:prstGeom prst="rect">
            <a:avLst/>
          </a:prstGeom>
          <a:solidFill>
            <a:srgbClr val="2C364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7" name="TextBox 36"/>
          <p:cNvSpPr txBox="1"/>
          <p:nvPr/>
        </p:nvSpPr>
        <p:spPr>
          <a:xfrm>
            <a:off x="640080" y="5833872"/>
            <a:ext cx="5349240" cy="385404"/>
          </a:xfrm>
          <a:prstGeom prst="rect">
            <a:avLst/>
          </a:prstGeom>
          <a:noFill/>
        </p:spPr>
        <p:txBody>
          <a:bodyPr wrap="square" lIns="0" tIns="0" rIns="0" bIns="0" anchor="t">
            <a:spAutoFit/>
          </a:bodyPr>
          <a:lstStyle/>
          <a:p>
            <a:pPr algn="l">
              <a:lnSpc>
                <a:spcPct val="132000"/>
              </a:lnSpc>
              <a:spcAft>
                <a:spcPts val="0"/>
              </a:spcAft>
            </a:pPr>
            <a:r>
              <a:rPr sz="950" b="0" i="0">
                <a:solidFill>
                  <a:srgbClr val="C89A5B"/>
                </a:solidFill>
                <a:latin typeface="Segoe UI"/>
              </a:rPr>
              <a:t>The inspector shows head softmax, per-class cosine and the digit MLP's top-3 after every recognition — a match is never a black box.</a:t>
            </a:r>
          </a:p>
        </p:txBody>
      </p:sp>
      <p:sp>
        <p:nvSpPr>
          <p:cNvPr id="38" name="TextBox 37"/>
          <p:cNvSpPr txBox="1"/>
          <p:nvPr/>
        </p:nvSpPr>
        <p:spPr>
          <a:xfrm>
            <a:off x="6199632" y="1463040"/>
            <a:ext cx="5349240" cy="237744"/>
          </a:xfrm>
          <a:prstGeom prst="rect">
            <a:avLst/>
          </a:prstGeom>
          <a:noFill/>
        </p:spPr>
        <p:txBody>
          <a:bodyPr wrap="square" lIns="0" tIns="0" rIns="0" bIns="0" anchor="t">
            <a:spAutoFit/>
          </a:bodyPr>
          <a:lstStyle/>
          <a:p>
            <a:pPr algn="l">
              <a:lnSpc>
                <a:spcPct val="112000"/>
              </a:lnSpc>
              <a:spcAft>
                <a:spcPts val="0"/>
              </a:spcAft>
            </a:pPr>
            <a:r>
              <a:rPr sz="900" b="0" i="0">
                <a:solidFill>
                  <a:srgbClr val="FF4438"/>
                </a:solidFill>
                <a:latin typeface="Bahnschrift SemiBold"/>
              </a:rPr>
              <a:t>ADDING AN ALARM</a:t>
            </a:r>
          </a:p>
        </p:txBody>
      </p:sp>
      <p:sp>
        <p:nvSpPr>
          <p:cNvPr id="39" name="Rectangle 38"/>
          <p:cNvSpPr/>
          <p:nvPr/>
        </p:nvSpPr>
        <p:spPr>
          <a:xfrm>
            <a:off x="6199632" y="1719072"/>
            <a:ext cx="5349240" cy="9525"/>
          </a:xfrm>
          <a:prstGeom prst="rect">
            <a:avLst/>
          </a:prstGeom>
          <a:solidFill>
            <a:srgbClr val="3D4A5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0" name="TextBox 39"/>
          <p:cNvSpPr txBox="1"/>
          <p:nvPr/>
        </p:nvSpPr>
        <p:spPr>
          <a:xfrm>
            <a:off x="6199632" y="1828800"/>
            <a:ext cx="5349240" cy="658322"/>
          </a:xfrm>
          <a:prstGeom prst="rect">
            <a:avLst/>
          </a:prstGeom>
          <a:noFill/>
        </p:spPr>
        <p:txBody>
          <a:bodyPr wrap="square" lIns="0" tIns="0" rIns="0" bIns="0" anchor="t">
            <a:spAutoFit/>
          </a:bodyPr>
          <a:lstStyle/>
          <a:p>
            <a:pPr algn="l">
              <a:lnSpc>
                <a:spcPct val="136000"/>
              </a:lnSpc>
              <a:spcAft>
                <a:spcPts val="0"/>
              </a:spcAft>
            </a:pPr>
            <a:r>
              <a:rPr sz="1050" b="0" i="0">
                <a:solidFill>
                  <a:srgbClr val="8494A6"/>
                </a:solidFill>
                <a:latin typeface="Segoe UI"/>
              </a:rPr>
              <a:t>The Modbus read budget is fixed by the report interval, so a threshold cannot be polled faster without breaking the polite-master rule. Rules are evaluated on the telemetry stream instead, and cost zero extra reads.</a:t>
            </a:r>
          </a:p>
        </p:txBody>
      </p:sp>
      <p:sp>
        <p:nvSpPr>
          <p:cNvPr id="41" name="TextBox 40"/>
          <p:cNvSpPr txBox="1"/>
          <p:nvPr/>
        </p:nvSpPr>
        <p:spPr>
          <a:xfrm>
            <a:off x="6199632" y="2798064"/>
            <a:ext cx="5349240" cy="237744"/>
          </a:xfrm>
          <a:prstGeom prst="rect">
            <a:avLst/>
          </a:prstGeom>
          <a:noFill/>
        </p:spPr>
        <p:txBody>
          <a:bodyPr wrap="square" lIns="0" tIns="0" rIns="0" bIns="0" anchor="t">
            <a:spAutoFit/>
          </a:bodyPr>
          <a:lstStyle/>
          <a:p>
            <a:pPr algn="l">
              <a:lnSpc>
                <a:spcPct val="112000"/>
              </a:lnSpc>
              <a:spcAft>
                <a:spcPts val="0"/>
              </a:spcAft>
            </a:pPr>
            <a:r>
              <a:rPr sz="900" b="0" i="0">
                <a:solidFill>
                  <a:srgbClr val="63D2E8"/>
                </a:solidFill>
                <a:latin typeface="Bahnschrift SemiBold"/>
              </a:rPr>
              <a:t>A RULE IS FOUR FIELDS</a:t>
            </a:r>
          </a:p>
        </p:txBody>
      </p:sp>
      <p:sp>
        <p:nvSpPr>
          <p:cNvPr id="42" name="Rectangle 41"/>
          <p:cNvSpPr/>
          <p:nvPr/>
        </p:nvSpPr>
        <p:spPr>
          <a:xfrm>
            <a:off x="6199632" y="3054096"/>
            <a:ext cx="5349240" cy="9525"/>
          </a:xfrm>
          <a:prstGeom prst="rect">
            <a:avLst/>
          </a:prstGeom>
          <a:solidFill>
            <a:srgbClr val="3D4A5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3" name="TextBox 42"/>
          <p:cNvSpPr txBox="1"/>
          <p:nvPr/>
        </p:nvSpPr>
        <p:spPr>
          <a:xfrm>
            <a:off x="6199632" y="3200400"/>
            <a:ext cx="1371600" cy="237744"/>
          </a:xfrm>
          <a:prstGeom prst="rect">
            <a:avLst/>
          </a:prstGeom>
          <a:noFill/>
        </p:spPr>
        <p:txBody>
          <a:bodyPr wrap="square" lIns="0" tIns="0" rIns="0" bIns="0" anchor="t">
            <a:spAutoFit/>
          </a:bodyPr>
          <a:lstStyle/>
          <a:p>
            <a:pPr algn="l">
              <a:lnSpc>
                <a:spcPct val="112000"/>
              </a:lnSpc>
              <a:spcAft>
                <a:spcPts val="0"/>
              </a:spcAft>
            </a:pPr>
            <a:r>
              <a:rPr sz="1050" b="0" i="0">
                <a:solidFill>
                  <a:srgbClr val="63D2E8"/>
                </a:solidFill>
                <a:latin typeface="Consolas"/>
              </a:rPr>
              <a:t>key</a:t>
            </a:r>
          </a:p>
        </p:txBody>
      </p:sp>
      <p:sp>
        <p:nvSpPr>
          <p:cNvPr id="44" name="TextBox 43"/>
          <p:cNvSpPr txBox="1"/>
          <p:nvPr/>
        </p:nvSpPr>
        <p:spPr>
          <a:xfrm>
            <a:off x="7626096" y="3218688"/>
            <a:ext cx="2194560" cy="237744"/>
          </a:xfrm>
          <a:prstGeom prst="rect">
            <a:avLst/>
          </a:prstGeom>
          <a:noFill/>
        </p:spPr>
        <p:txBody>
          <a:bodyPr wrap="square" lIns="0" tIns="0" rIns="0" bIns="0" anchor="t">
            <a:spAutoFit/>
          </a:bodyPr>
          <a:lstStyle/>
          <a:p>
            <a:pPr algn="l">
              <a:lnSpc>
                <a:spcPct val="112000"/>
              </a:lnSpc>
              <a:spcAft>
                <a:spcPts val="0"/>
              </a:spcAft>
            </a:pPr>
            <a:r>
              <a:rPr sz="1000" b="0" i="0">
                <a:solidFill>
                  <a:srgbClr val="8494A6"/>
                </a:solidFill>
                <a:latin typeface="Segoe UI"/>
              </a:rPr>
              <a:t>which telemetry value</a:t>
            </a:r>
          </a:p>
        </p:txBody>
      </p:sp>
      <p:sp>
        <p:nvSpPr>
          <p:cNvPr id="45" name="TextBox 44"/>
          <p:cNvSpPr txBox="1"/>
          <p:nvPr/>
        </p:nvSpPr>
        <p:spPr>
          <a:xfrm>
            <a:off x="9875520" y="3200400"/>
            <a:ext cx="1673352" cy="237744"/>
          </a:xfrm>
          <a:prstGeom prst="rect">
            <a:avLst/>
          </a:prstGeom>
          <a:noFill/>
        </p:spPr>
        <p:txBody>
          <a:bodyPr wrap="square" lIns="0" tIns="0" rIns="0" bIns="0" anchor="t">
            <a:spAutoFit/>
          </a:bodyPr>
          <a:lstStyle/>
          <a:p>
            <a:pPr algn="l">
              <a:lnSpc>
                <a:spcPct val="112000"/>
              </a:lnSpc>
              <a:spcAft>
                <a:spcPts val="0"/>
              </a:spcAft>
            </a:pPr>
            <a:r>
              <a:rPr sz="1000" b="0" i="0">
                <a:solidFill>
                  <a:srgbClr val="E6EDF3"/>
                </a:solidFill>
                <a:latin typeface="Consolas"/>
              </a:rPr>
              <a:t>MainBus_Voltage_L1</a:t>
            </a:r>
          </a:p>
        </p:txBody>
      </p:sp>
      <p:sp>
        <p:nvSpPr>
          <p:cNvPr id="46" name="TextBox 45"/>
          <p:cNvSpPr txBox="1"/>
          <p:nvPr/>
        </p:nvSpPr>
        <p:spPr>
          <a:xfrm>
            <a:off x="6199632" y="3511296"/>
            <a:ext cx="1371600" cy="237744"/>
          </a:xfrm>
          <a:prstGeom prst="rect">
            <a:avLst/>
          </a:prstGeom>
          <a:noFill/>
        </p:spPr>
        <p:txBody>
          <a:bodyPr wrap="square" lIns="0" tIns="0" rIns="0" bIns="0" anchor="t">
            <a:spAutoFit/>
          </a:bodyPr>
          <a:lstStyle/>
          <a:p>
            <a:pPr algn="l">
              <a:lnSpc>
                <a:spcPct val="112000"/>
              </a:lnSpc>
              <a:spcAft>
                <a:spcPts val="0"/>
              </a:spcAft>
            </a:pPr>
            <a:r>
              <a:rPr sz="1050" b="0" i="0">
                <a:solidFill>
                  <a:srgbClr val="63D2E8"/>
                </a:solidFill>
                <a:latin typeface="Consolas"/>
              </a:rPr>
              <a:t>min / max</a:t>
            </a:r>
          </a:p>
        </p:txBody>
      </p:sp>
      <p:sp>
        <p:nvSpPr>
          <p:cNvPr id="47" name="TextBox 46"/>
          <p:cNvSpPr txBox="1"/>
          <p:nvPr/>
        </p:nvSpPr>
        <p:spPr>
          <a:xfrm>
            <a:off x="7626096" y="3529584"/>
            <a:ext cx="2194560" cy="237744"/>
          </a:xfrm>
          <a:prstGeom prst="rect">
            <a:avLst/>
          </a:prstGeom>
          <a:noFill/>
        </p:spPr>
        <p:txBody>
          <a:bodyPr wrap="square" lIns="0" tIns="0" rIns="0" bIns="0" anchor="t">
            <a:spAutoFit/>
          </a:bodyPr>
          <a:lstStyle/>
          <a:p>
            <a:pPr algn="l">
              <a:lnSpc>
                <a:spcPct val="112000"/>
              </a:lnSpc>
              <a:spcAft>
                <a:spcPts val="0"/>
              </a:spcAft>
            </a:pPr>
            <a:r>
              <a:rPr sz="1000" b="0" i="0">
                <a:solidFill>
                  <a:srgbClr val="8494A6"/>
                </a:solidFill>
                <a:latin typeface="Segoe UI"/>
              </a:rPr>
              <a:t>the acceptable band</a:t>
            </a:r>
          </a:p>
        </p:txBody>
      </p:sp>
      <p:sp>
        <p:nvSpPr>
          <p:cNvPr id="48" name="TextBox 47"/>
          <p:cNvSpPr txBox="1"/>
          <p:nvPr/>
        </p:nvSpPr>
        <p:spPr>
          <a:xfrm>
            <a:off x="9875520" y="3511296"/>
            <a:ext cx="1673352" cy="237744"/>
          </a:xfrm>
          <a:prstGeom prst="rect">
            <a:avLst/>
          </a:prstGeom>
          <a:noFill/>
        </p:spPr>
        <p:txBody>
          <a:bodyPr wrap="square" lIns="0" tIns="0" rIns="0" bIns="0" anchor="t">
            <a:spAutoFit/>
          </a:bodyPr>
          <a:lstStyle/>
          <a:p>
            <a:pPr algn="l">
              <a:lnSpc>
                <a:spcPct val="112000"/>
              </a:lnSpc>
              <a:spcAft>
                <a:spcPts val="0"/>
              </a:spcAft>
            </a:pPr>
            <a:r>
              <a:rPr sz="1000" b="0" i="0">
                <a:solidFill>
                  <a:srgbClr val="E6EDF3"/>
                </a:solidFill>
                <a:latin typeface="Consolas"/>
              </a:rPr>
              <a:t>207.00…253.00</a:t>
            </a:r>
          </a:p>
        </p:txBody>
      </p:sp>
      <p:sp>
        <p:nvSpPr>
          <p:cNvPr id="49" name="TextBox 48"/>
          <p:cNvSpPr txBox="1"/>
          <p:nvPr/>
        </p:nvSpPr>
        <p:spPr>
          <a:xfrm>
            <a:off x="6199632" y="3822191"/>
            <a:ext cx="1371600" cy="237744"/>
          </a:xfrm>
          <a:prstGeom prst="rect">
            <a:avLst/>
          </a:prstGeom>
          <a:noFill/>
        </p:spPr>
        <p:txBody>
          <a:bodyPr wrap="square" lIns="0" tIns="0" rIns="0" bIns="0" anchor="t">
            <a:spAutoFit/>
          </a:bodyPr>
          <a:lstStyle/>
          <a:p>
            <a:pPr algn="l">
              <a:lnSpc>
                <a:spcPct val="112000"/>
              </a:lnSpc>
              <a:spcAft>
                <a:spcPts val="0"/>
              </a:spcAft>
            </a:pPr>
            <a:r>
              <a:rPr sz="1050" b="0" i="0">
                <a:solidFill>
                  <a:srgbClr val="63D2E8"/>
                </a:solidFill>
                <a:latin typeface="Consolas"/>
              </a:rPr>
              <a:t>holdSec</a:t>
            </a:r>
          </a:p>
        </p:txBody>
      </p:sp>
      <p:sp>
        <p:nvSpPr>
          <p:cNvPr id="50" name="TextBox 49"/>
          <p:cNvSpPr txBox="1"/>
          <p:nvPr/>
        </p:nvSpPr>
        <p:spPr>
          <a:xfrm>
            <a:off x="7626096" y="3840479"/>
            <a:ext cx="2194560" cy="237744"/>
          </a:xfrm>
          <a:prstGeom prst="rect">
            <a:avLst/>
          </a:prstGeom>
          <a:noFill/>
        </p:spPr>
        <p:txBody>
          <a:bodyPr wrap="square" lIns="0" tIns="0" rIns="0" bIns="0" anchor="t">
            <a:spAutoFit/>
          </a:bodyPr>
          <a:lstStyle/>
          <a:p>
            <a:pPr algn="l">
              <a:lnSpc>
                <a:spcPct val="112000"/>
              </a:lnSpc>
              <a:spcAft>
                <a:spcPts val="0"/>
              </a:spcAft>
            </a:pPr>
            <a:r>
              <a:rPr sz="1000" b="0" i="0">
                <a:solidFill>
                  <a:srgbClr val="8494A6"/>
                </a:solidFill>
                <a:latin typeface="Segoe UI"/>
              </a:rPr>
              <a:t>how long it must stay out</a:t>
            </a:r>
          </a:p>
        </p:txBody>
      </p:sp>
      <p:sp>
        <p:nvSpPr>
          <p:cNvPr id="51" name="TextBox 50"/>
          <p:cNvSpPr txBox="1"/>
          <p:nvPr/>
        </p:nvSpPr>
        <p:spPr>
          <a:xfrm>
            <a:off x="9875520" y="3822191"/>
            <a:ext cx="1673352" cy="237744"/>
          </a:xfrm>
          <a:prstGeom prst="rect">
            <a:avLst/>
          </a:prstGeom>
          <a:noFill/>
        </p:spPr>
        <p:txBody>
          <a:bodyPr wrap="square" lIns="0" tIns="0" rIns="0" bIns="0" anchor="t">
            <a:spAutoFit/>
          </a:bodyPr>
          <a:lstStyle/>
          <a:p>
            <a:pPr algn="l">
              <a:lnSpc>
                <a:spcPct val="112000"/>
              </a:lnSpc>
              <a:spcAft>
                <a:spcPts val="0"/>
              </a:spcAft>
            </a:pPr>
            <a:r>
              <a:rPr sz="1000" b="0" i="0">
                <a:solidFill>
                  <a:srgbClr val="E6EDF3"/>
                </a:solidFill>
                <a:latin typeface="Consolas"/>
              </a:rPr>
              <a:t>30</a:t>
            </a:r>
          </a:p>
        </p:txBody>
      </p:sp>
      <p:sp>
        <p:nvSpPr>
          <p:cNvPr id="52" name="TextBox 51"/>
          <p:cNvSpPr txBox="1"/>
          <p:nvPr/>
        </p:nvSpPr>
        <p:spPr>
          <a:xfrm>
            <a:off x="6199632" y="4133087"/>
            <a:ext cx="1371600" cy="237744"/>
          </a:xfrm>
          <a:prstGeom prst="rect">
            <a:avLst/>
          </a:prstGeom>
          <a:noFill/>
        </p:spPr>
        <p:txBody>
          <a:bodyPr wrap="square" lIns="0" tIns="0" rIns="0" bIns="0" anchor="t">
            <a:spAutoFit/>
          </a:bodyPr>
          <a:lstStyle/>
          <a:p>
            <a:pPr algn="l">
              <a:lnSpc>
                <a:spcPct val="112000"/>
              </a:lnSpc>
              <a:spcAft>
                <a:spcPts val="0"/>
              </a:spcAft>
            </a:pPr>
            <a:r>
              <a:rPr sz="1050" b="0" i="0">
                <a:solidFill>
                  <a:srgbClr val="63D2E8"/>
                </a:solidFill>
                <a:latin typeface="Consolas"/>
              </a:rPr>
              <a:t>enabled</a:t>
            </a:r>
          </a:p>
        </p:txBody>
      </p:sp>
      <p:sp>
        <p:nvSpPr>
          <p:cNvPr id="53" name="TextBox 52"/>
          <p:cNvSpPr txBox="1"/>
          <p:nvPr/>
        </p:nvSpPr>
        <p:spPr>
          <a:xfrm>
            <a:off x="7626096" y="4151375"/>
            <a:ext cx="2194560" cy="237744"/>
          </a:xfrm>
          <a:prstGeom prst="rect">
            <a:avLst/>
          </a:prstGeom>
          <a:noFill/>
        </p:spPr>
        <p:txBody>
          <a:bodyPr wrap="square" lIns="0" tIns="0" rIns="0" bIns="0" anchor="t">
            <a:spAutoFit/>
          </a:bodyPr>
          <a:lstStyle/>
          <a:p>
            <a:pPr algn="l">
              <a:lnSpc>
                <a:spcPct val="112000"/>
              </a:lnSpc>
              <a:spcAft>
                <a:spcPts val="0"/>
              </a:spcAft>
            </a:pPr>
            <a:r>
              <a:rPr sz="1000" b="0" i="0">
                <a:solidFill>
                  <a:srgbClr val="8494A6"/>
                </a:solidFill>
                <a:latin typeface="Segoe UI"/>
              </a:rPr>
              <a:t>armed or not</a:t>
            </a:r>
          </a:p>
        </p:txBody>
      </p:sp>
      <p:sp>
        <p:nvSpPr>
          <p:cNvPr id="54" name="TextBox 53"/>
          <p:cNvSpPr txBox="1"/>
          <p:nvPr/>
        </p:nvSpPr>
        <p:spPr>
          <a:xfrm>
            <a:off x="9875520" y="4133087"/>
            <a:ext cx="1673352" cy="237744"/>
          </a:xfrm>
          <a:prstGeom prst="rect">
            <a:avLst/>
          </a:prstGeom>
          <a:noFill/>
        </p:spPr>
        <p:txBody>
          <a:bodyPr wrap="square" lIns="0" tIns="0" rIns="0" bIns="0" anchor="t">
            <a:spAutoFit/>
          </a:bodyPr>
          <a:lstStyle/>
          <a:p>
            <a:pPr algn="l">
              <a:lnSpc>
                <a:spcPct val="112000"/>
              </a:lnSpc>
              <a:spcAft>
                <a:spcPts val="0"/>
              </a:spcAft>
            </a:pPr>
            <a:r>
              <a:rPr sz="1000" b="0" i="0">
                <a:solidFill>
                  <a:srgbClr val="E6EDF3"/>
                </a:solidFill>
                <a:latin typeface="Consolas"/>
              </a:rPr>
              <a:t>true</a:t>
            </a:r>
          </a:p>
        </p:txBody>
      </p:sp>
      <p:sp>
        <p:nvSpPr>
          <p:cNvPr id="55" name="TextBox 54"/>
          <p:cNvSpPr txBox="1"/>
          <p:nvPr/>
        </p:nvSpPr>
        <p:spPr>
          <a:xfrm>
            <a:off x="6199632" y="4480559"/>
            <a:ext cx="5349240" cy="192702"/>
          </a:xfrm>
          <a:prstGeom prst="rect">
            <a:avLst/>
          </a:prstGeom>
          <a:noFill/>
        </p:spPr>
        <p:txBody>
          <a:bodyPr wrap="square" lIns="0" tIns="0" rIns="0" bIns="0" anchor="t">
            <a:spAutoFit/>
          </a:bodyPr>
          <a:lstStyle/>
          <a:p>
            <a:pPr algn="l">
              <a:lnSpc>
                <a:spcPct val="132000"/>
              </a:lnSpc>
              <a:spcAft>
                <a:spcPts val="0"/>
              </a:spcAft>
            </a:pPr>
            <a:r>
              <a:rPr sz="950" b="0" i="0">
                <a:solidFill>
                  <a:srgbClr val="5A6878"/>
                </a:solidFill>
                <a:latin typeface="Segoe UI"/>
              </a:rPr>
              <a:t>The hold timer is what makes it usable: one noisy frame will not wake anyone at 3 a.m.</a:t>
            </a:r>
          </a:p>
        </p:txBody>
      </p:sp>
      <p:sp>
        <p:nvSpPr>
          <p:cNvPr id="56" name="TextBox 55"/>
          <p:cNvSpPr txBox="1"/>
          <p:nvPr/>
        </p:nvSpPr>
        <p:spPr>
          <a:xfrm>
            <a:off x="6199632" y="5138928"/>
            <a:ext cx="5349240" cy="237744"/>
          </a:xfrm>
          <a:prstGeom prst="rect">
            <a:avLst/>
          </a:prstGeom>
          <a:noFill/>
        </p:spPr>
        <p:txBody>
          <a:bodyPr wrap="square" lIns="0" tIns="0" rIns="0" bIns="0" anchor="t">
            <a:spAutoFit/>
          </a:bodyPr>
          <a:lstStyle/>
          <a:p>
            <a:pPr algn="l">
              <a:lnSpc>
                <a:spcPct val="112000"/>
              </a:lnSpc>
              <a:spcAft>
                <a:spcPts val="0"/>
              </a:spcAft>
            </a:pPr>
            <a:r>
              <a:rPr sz="900" b="0" i="0">
                <a:solidFill>
                  <a:srgbClr val="63D2E8"/>
                </a:solidFill>
                <a:latin typeface="Bahnschrift SemiBold"/>
              </a:rPr>
              <a:t>THREE RULES YOU DO NOT HAVE TO WRITE</a:t>
            </a:r>
          </a:p>
        </p:txBody>
      </p:sp>
      <p:sp>
        <p:nvSpPr>
          <p:cNvPr id="57" name="Rectangle 56"/>
          <p:cNvSpPr/>
          <p:nvPr/>
        </p:nvSpPr>
        <p:spPr>
          <a:xfrm>
            <a:off x="6199632" y="5394960"/>
            <a:ext cx="5349240" cy="9525"/>
          </a:xfrm>
          <a:prstGeom prst="rect">
            <a:avLst/>
          </a:prstGeom>
          <a:solidFill>
            <a:srgbClr val="3D4A5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8" name="TextBox 57"/>
          <p:cNvSpPr txBox="1"/>
          <p:nvPr/>
        </p:nvSpPr>
        <p:spPr>
          <a:xfrm>
            <a:off x="6199632" y="5522976"/>
            <a:ext cx="2103120" cy="237744"/>
          </a:xfrm>
          <a:prstGeom prst="rect">
            <a:avLst/>
          </a:prstGeom>
          <a:noFill/>
        </p:spPr>
        <p:txBody>
          <a:bodyPr wrap="square" lIns="0" tIns="0" rIns="0" bIns="0" anchor="t">
            <a:spAutoFit/>
          </a:bodyPr>
          <a:lstStyle/>
          <a:p>
            <a:pPr algn="l">
              <a:lnSpc>
                <a:spcPct val="112000"/>
              </a:lnSpc>
              <a:spcAft>
                <a:spcPts val="0"/>
              </a:spcAft>
            </a:pPr>
            <a:r>
              <a:rPr sz="1000" b="0" i="0">
                <a:solidFill>
                  <a:srgbClr val="FF4438"/>
                </a:solidFill>
                <a:latin typeface="Consolas"/>
              </a:rPr>
              <a:t>meter_ok == false</a:t>
            </a:r>
          </a:p>
        </p:txBody>
      </p:sp>
      <p:sp>
        <p:nvSpPr>
          <p:cNvPr id="59" name="TextBox 58"/>
          <p:cNvSpPr txBox="1"/>
          <p:nvPr/>
        </p:nvSpPr>
        <p:spPr>
          <a:xfrm>
            <a:off x="8412480" y="5532120"/>
            <a:ext cx="3136392" cy="237744"/>
          </a:xfrm>
          <a:prstGeom prst="rect">
            <a:avLst/>
          </a:prstGeom>
          <a:noFill/>
        </p:spPr>
        <p:txBody>
          <a:bodyPr wrap="square" lIns="0" tIns="0" rIns="0" bIns="0" anchor="t">
            <a:spAutoFit/>
          </a:bodyPr>
          <a:lstStyle/>
          <a:p>
            <a:pPr algn="l">
              <a:lnSpc>
                <a:spcPct val="112000"/>
              </a:lnSpc>
              <a:spcAft>
                <a:spcPts val="0"/>
              </a:spcAft>
            </a:pPr>
            <a:r>
              <a:rPr sz="950" b="0" i="0">
                <a:solidFill>
                  <a:srgbClr val="8494A6"/>
                </a:solidFill>
                <a:latin typeface="Segoe UI"/>
              </a:rPr>
              <a:t>for ≥ 30 s</a:t>
            </a:r>
          </a:p>
        </p:txBody>
      </p:sp>
      <p:sp>
        <p:nvSpPr>
          <p:cNvPr id="60" name="TextBox 59"/>
          <p:cNvSpPr txBox="1"/>
          <p:nvPr/>
        </p:nvSpPr>
        <p:spPr>
          <a:xfrm>
            <a:off x="6199632" y="5797296"/>
            <a:ext cx="2103120" cy="237744"/>
          </a:xfrm>
          <a:prstGeom prst="rect">
            <a:avLst/>
          </a:prstGeom>
          <a:noFill/>
        </p:spPr>
        <p:txBody>
          <a:bodyPr wrap="square" lIns="0" tIns="0" rIns="0" bIns="0" anchor="t">
            <a:spAutoFit/>
          </a:bodyPr>
          <a:lstStyle/>
          <a:p>
            <a:pPr algn="l">
              <a:lnSpc>
                <a:spcPct val="112000"/>
              </a:lnSpc>
              <a:spcAft>
                <a:spcPts val="0"/>
              </a:spcAft>
            </a:pPr>
            <a:r>
              <a:rPr sz="1000" b="0" i="0">
                <a:solidFill>
                  <a:srgbClr val="FF4438"/>
                </a:solidFill>
                <a:latin typeface="Consolas"/>
              </a:rPr>
              <a:t>gateway LWT</a:t>
            </a:r>
          </a:p>
        </p:txBody>
      </p:sp>
      <p:sp>
        <p:nvSpPr>
          <p:cNvPr id="61" name="TextBox 60"/>
          <p:cNvSpPr txBox="1"/>
          <p:nvPr/>
        </p:nvSpPr>
        <p:spPr>
          <a:xfrm>
            <a:off x="8412480" y="5806440"/>
            <a:ext cx="3136392" cy="237744"/>
          </a:xfrm>
          <a:prstGeom prst="rect">
            <a:avLst/>
          </a:prstGeom>
          <a:noFill/>
        </p:spPr>
        <p:txBody>
          <a:bodyPr wrap="square" lIns="0" tIns="0" rIns="0" bIns="0" anchor="t">
            <a:spAutoFit/>
          </a:bodyPr>
          <a:lstStyle/>
          <a:p>
            <a:pPr algn="l">
              <a:lnSpc>
                <a:spcPct val="112000"/>
              </a:lnSpc>
              <a:spcAft>
                <a:spcPts val="0"/>
              </a:spcAft>
            </a:pPr>
            <a:r>
              <a:rPr sz="950" b="0" i="0">
                <a:solidFill>
                  <a:srgbClr val="8494A6"/>
                </a:solidFill>
                <a:latin typeface="Segoe UI"/>
              </a:rPr>
              <a:t>retained status says offline</a:t>
            </a:r>
          </a:p>
        </p:txBody>
      </p:sp>
      <p:sp>
        <p:nvSpPr>
          <p:cNvPr id="62" name="TextBox 61"/>
          <p:cNvSpPr txBox="1"/>
          <p:nvPr/>
        </p:nvSpPr>
        <p:spPr>
          <a:xfrm>
            <a:off x="6199632" y="6071616"/>
            <a:ext cx="2103120" cy="237744"/>
          </a:xfrm>
          <a:prstGeom prst="rect">
            <a:avLst/>
          </a:prstGeom>
          <a:noFill/>
        </p:spPr>
        <p:txBody>
          <a:bodyPr wrap="square" lIns="0" tIns="0" rIns="0" bIns="0" anchor="t">
            <a:spAutoFit/>
          </a:bodyPr>
          <a:lstStyle/>
          <a:p>
            <a:pPr algn="l">
              <a:lnSpc>
                <a:spcPct val="112000"/>
              </a:lnSpc>
              <a:spcAft>
                <a:spcPts val="0"/>
              </a:spcAft>
            </a:pPr>
            <a:r>
              <a:rPr sz="1000" b="0" i="0">
                <a:solidFill>
                  <a:srgbClr val="FF4438"/>
                </a:solidFill>
                <a:latin typeface="Consolas"/>
              </a:rPr>
              <a:t>telemetry silence</a:t>
            </a:r>
          </a:p>
        </p:txBody>
      </p:sp>
      <p:sp>
        <p:nvSpPr>
          <p:cNvPr id="63" name="TextBox 62"/>
          <p:cNvSpPr txBox="1"/>
          <p:nvPr/>
        </p:nvSpPr>
        <p:spPr>
          <a:xfrm>
            <a:off x="8412480" y="6080759"/>
            <a:ext cx="3136392" cy="237744"/>
          </a:xfrm>
          <a:prstGeom prst="rect">
            <a:avLst/>
          </a:prstGeom>
          <a:noFill/>
        </p:spPr>
        <p:txBody>
          <a:bodyPr wrap="square" lIns="0" tIns="0" rIns="0" bIns="0" anchor="t">
            <a:spAutoFit/>
          </a:bodyPr>
          <a:lstStyle/>
          <a:p>
            <a:pPr algn="l">
              <a:lnSpc>
                <a:spcPct val="112000"/>
              </a:lnSpc>
              <a:spcAft>
                <a:spcPts val="0"/>
              </a:spcAft>
            </a:pPr>
            <a:r>
              <a:rPr sz="950" b="0" i="0">
                <a:solidFill>
                  <a:srgbClr val="8494A6"/>
                </a:solidFill>
                <a:latin typeface="Segoe UI"/>
              </a:rPr>
              <a:t>no frame for &gt; 3× the interval</a:t>
            </a:r>
          </a:p>
        </p:txBody>
      </p:sp>
      <p:sp>
        <p:nvSpPr>
          <p:cNvPr id="64" name="Rectangle 63"/>
          <p:cNvSpPr/>
          <p:nvPr/>
        </p:nvSpPr>
        <p:spPr>
          <a:xfrm>
            <a:off x="640080" y="6382512"/>
            <a:ext cx="10908792" cy="9525"/>
          </a:xfrm>
          <a:prstGeom prst="rect">
            <a:avLst/>
          </a:prstGeom>
          <a:solidFill>
            <a:srgbClr val="2C364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5" name="TextBox 64"/>
          <p:cNvSpPr txBox="1"/>
          <p:nvPr/>
        </p:nvSpPr>
        <p:spPr>
          <a:xfrm>
            <a:off x="640080" y="6492240"/>
            <a:ext cx="7315200" cy="237744"/>
          </a:xfrm>
          <a:prstGeom prst="rect">
            <a:avLst/>
          </a:prstGeom>
          <a:noFill/>
        </p:spPr>
        <p:txBody>
          <a:bodyPr wrap="square" lIns="0" tIns="0" rIns="0" bIns="0" anchor="t">
            <a:spAutoFit/>
          </a:bodyPr>
          <a:lstStyle/>
          <a:p>
            <a:pPr algn="l">
              <a:lnSpc>
                <a:spcPct val="112000"/>
              </a:lnSpc>
              <a:spcAft>
                <a:spcPts val="0"/>
              </a:spcAft>
            </a:pPr>
            <a:r>
              <a:rPr sz="850" b="0" i="0">
                <a:solidFill>
                  <a:srgbClr val="5A6878"/>
                </a:solidFill>
                <a:latin typeface="Consolas"/>
              </a:rPr>
              <a:t>OSOS · DKM-440 remote meter reading</a:t>
            </a:r>
          </a:p>
        </p:txBody>
      </p:sp>
      <p:sp>
        <p:nvSpPr>
          <p:cNvPr id="66" name="TextBox 65"/>
          <p:cNvSpPr txBox="1"/>
          <p:nvPr/>
        </p:nvSpPr>
        <p:spPr>
          <a:xfrm>
            <a:off x="10177272" y="6492240"/>
            <a:ext cx="1371600" cy="237744"/>
          </a:xfrm>
          <a:prstGeom prst="rect">
            <a:avLst/>
          </a:prstGeom>
          <a:noFill/>
        </p:spPr>
        <p:txBody>
          <a:bodyPr wrap="square" lIns="0" tIns="0" rIns="0" bIns="0" anchor="t">
            <a:spAutoFit/>
          </a:bodyPr>
          <a:lstStyle/>
          <a:p>
            <a:pPr algn="r">
              <a:lnSpc>
                <a:spcPct val="112000"/>
              </a:lnSpc>
              <a:spcAft>
                <a:spcPts val="0"/>
              </a:spcAft>
            </a:pPr>
            <a:r>
              <a:rPr sz="850" b="0" i="0">
                <a:solidFill>
                  <a:srgbClr val="5A6878"/>
                </a:solidFill>
                <a:latin typeface="Consolas"/>
              </a:rPr>
              <a:t>14</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D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274320"/>
            <a:ext cx="5852160" cy="219456"/>
          </a:xfrm>
          <a:prstGeom prst="rect">
            <a:avLst/>
          </a:prstGeom>
          <a:noFill/>
        </p:spPr>
        <p:txBody>
          <a:bodyPr wrap="square" lIns="0" tIns="0" rIns="0" bIns="0" anchor="t">
            <a:spAutoFit/>
          </a:bodyPr>
          <a:lstStyle/>
          <a:p>
            <a:pPr algn="l">
              <a:lnSpc>
                <a:spcPct val="100000"/>
              </a:lnSpc>
              <a:spcAft>
                <a:spcPts val="0"/>
              </a:spcAft>
            </a:pPr>
            <a:r>
              <a:rPr sz="900" b="0" i="0">
                <a:solidFill>
                  <a:srgbClr val="63D2E8"/>
                </a:solidFill>
                <a:latin typeface="Consolas"/>
              </a:rPr>
              <a:t>EVIDENCE-BASED · NOTHING HERE IS ROUNDED UP</a:t>
            </a:r>
          </a:p>
        </p:txBody>
      </p:sp>
      <p:sp>
        <p:nvSpPr>
          <p:cNvPr id="4" name="TextBox 3"/>
          <p:cNvSpPr txBox="1"/>
          <p:nvPr/>
        </p:nvSpPr>
        <p:spPr>
          <a:xfrm>
            <a:off x="640080" y="493776"/>
            <a:ext cx="5870448" cy="640080"/>
          </a:xfrm>
          <a:prstGeom prst="rect">
            <a:avLst/>
          </a:prstGeom>
          <a:noFill/>
        </p:spPr>
        <p:txBody>
          <a:bodyPr wrap="square" lIns="0" tIns="0" rIns="0" bIns="0" anchor="b">
            <a:spAutoFit/>
          </a:bodyPr>
          <a:lstStyle/>
          <a:p>
            <a:pPr algn="l">
              <a:lnSpc>
                <a:spcPct val="100000"/>
              </a:lnSpc>
              <a:spcAft>
                <a:spcPts val="0"/>
              </a:spcAft>
            </a:pPr>
            <a:r>
              <a:rPr sz="2700" b="0" i="0">
                <a:solidFill>
                  <a:srgbClr val="E6EDF3"/>
                </a:solidFill>
                <a:latin typeface="Bahnschrift SemiBold"/>
              </a:rPr>
              <a:t>Where it actually stands</a:t>
            </a:r>
          </a:p>
        </p:txBody>
      </p:sp>
      <p:sp>
        <p:nvSpPr>
          <p:cNvPr id="5" name="Rectangle 4"/>
          <p:cNvSpPr/>
          <p:nvPr/>
        </p:nvSpPr>
        <p:spPr>
          <a:xfrm>
            <a:off x="6726783" y="583844"/>
            <a:ext cx="1083106" cy="12700"/>
          </a:xfrm>
          <a:prstGeom prst="rect">
            <a:avLst/>
          </a:prstGeom>
          <a:solidFill>
            <a:srgbClr val="2E7D8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Rectangle 5"/>
          <p:cNvSpPr/>
          <p:nvPr/>
        </p:nvSpPr>
        <p:spPr>
          <a:xfrm>
            <a:off x="6617970" y="548640"/>
            <a:ext cx="77724" cy="77724"/>
          </a:xfrm>
          <a:prstGeom prst="rect">
            <a:avLst/>
          </a:prstGeom>
          <a:solidFill>
            <a:srgbClr val="63D2E8"/>
          </a:solidFill>
          <a:ln w="12700">
            <a:solidFill>
              <a:srgbClr val="63D2E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6045327" y="694944"/>
            <a:ext cx="1223010" cy="201168"/>
          </a:xfrm>
          <a:prstGeom prst="rect">
            <a:avLst/>
          </a:prstGeom>
          <a:noFill/>
        </p:spPr>
        <p:txBody>
          <a:bodyPr wrap="square" lIns="0" tIns="0" rIns="0" bIns="0" anchor="t">
            <a:spAutoFit/>
          </a:bodyPr>
          <a:lstStyle/>
          <a:p>
            <a:pPr algn="ctr">
              <a:lnSpc>
                <a:spcPct val="100000"/>
              </a:lnSpc>
              <a:spcAft>
                <a:spcPts val="0"/>
              </a:spcAft>
            </a:pPr>
            <a:r>
              <a:rPr sz="750" b="0" i="0">
                <a:solidFill>
                  <a:srgbClr val="63D2E8"/>
                </a:solidFill>
                <a:latin typeface="Bahnschrift SemiBold"/>
              </a:rPr>
              <a:t>METER</a:t>
            </a:r>
          </a:p>
        </p:txBody>
      </p:sp>
      <p:sp>
        <p:nvSpPr>
          <p:cNvPr id="8" name="Rectangle 7"/>
          <p:cNvSpPr/>
          <p:nvPr/>
        </p:nvSpPr>
        <p:spPr>
          <a:xfrm>
            <a:off x="7949793" y="583844"/>
            <a:ext cx="1083106" cy="12700"/>
          </a:xfrm>
          <a:prstGeom prst="rect">
            <a:avLst/>
          </a:prstGeom>
          <a:solidFill>
            <a:srgbClr val="2E7D8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Rectangle 8"/>
          <p:cNvSpPr/>
          <p:nvPr/>
        </p:nvSpPr>
        <p:spPr>
          <a:xfrm>
            <a:off x="7840979" y="548640"/>
            <a:ext cx="77724" cy="77724"/>
          </a:xfrm>
          <a:prstGeom prst="rect">
            <a:avLst/>
          </a:prstGeom>
          <a:solidFill>
            <a:srgbClr val="63D2E8"/>
          </a:solidFill>
          <a:ln w="12700">
            <a:solidFill>
              <a:srgbClr val="63D2E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TextBox 9"/>
          <p:cNvSpPr txBox="1"/>
          <p:nvPr/>
        </p:nvSpPr>
        <p:spPr>
          <a:xfrm>
            <a:off x="7268337" y="694944"/>
            <a:ext cx="1223010" cy="201168"/>
          </a:xfrm>
          <a:prstGeom prst="rect">
            <a:avLst/>
          </a:prstGeom>
          <a:noFill/>
        </p:spPr>
        <p:txBody>
          <a:bodyPr wrap="square" lIns="0" tIns="0" rIns="0" bIns="0" anchor="t">
            <a:spAutoFit/>
          </a:bodyPr>
          <a:lstStyle/>
          <a:p>
            <a:pPr algn="ctr">
              <a:lnSpc>
                <a:spcPct val="100000"/>
              </a:lnSpc>
              <a:spcAft>
                <a:spcPts val="0"/>
              </a:spcAft>
            </a:pPr>
            <a:r>
              <a:rPr sz="750" b="0" i="0">
                <a:solidFill>
                  <a:srgbClr val="63D2E8"/>
                </a:solidFill>
                <a:latin typeface="Bahnschrift SemiBold"/>
              </a:rPr>
              <a:t>GATEWAY</a:t>
            </a:r>
          </a:p>
        </p:txBody>
      </p:sp>
      <p:sp>
        <p:nvSpPr>
          <p:cNvPr id="11" name="Rectangle 10"/>
          <p:cNvSpPr/>
          <p:nvPr/>
        </p:nvSpPr>
        <p:spPr>
          <a:xfrm>
            <a:off x="9172803" y="583844"/>
            <a:ext cx="1083106" cy="12700"/>
          </a:xfrm>
          <a:prstGeom prst="rect">
            <a:avLst/>
          </a:prstGeom>
          <a:solidFill>
            <a:srgbClr val="2E7D8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Rectangle 11"/>
          <p:cNvSpPr/>
          <p:nvPr/>
        </p:nvSpPr>
        <p:spPr>
          <a:xfrm>
            <a:off x="9063990" y="548640"/>
            <a:ext cx="77724" cy="77724"/>
          </a:xfrm>
          <a:prstGeom prst="rect">
            <a:avLst/>
          </a:prstGeom>
          <a:solidFill>
            <a:srgbClr val="63D2E8"/>
          </a:solidFill>
          <a:ln w="12700">
            <a:solidFill>
              <a:srgbClr val="63D2E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8491347" y="694944"/>
            <a:ext cx="1223010" cy="201168"/>
          </a:xfrm>
          <a:prstGeom prst="rect">
            <a:avLst/>
          </a:prstGeom>
          <a:noFill/>
        </p:spPr>
        <p:txBody>
          <a:bodyPr wrap="square" lIns="0" tIns="0" rIns="0" bIns="0" anchor="t">
            <a:spAutoFit/>
          </a:bodyPr>
          <a:lstStyle/>
          <a:p>
            <a:pPr algn="ctr">
              <a:lnSpc>
                <a:spcPct val="100000"/>
              </a:lnSpc>
              <a:spcAft>
                <a:spcPts val="0"/>
              </a:spcAft>
            </a:pPr>
            <a:r>
              <a:rPr sz="750" b="0" i="0">
                <a:solidFill>
                  <a:srgbClr val="63D2E8"/>
                </a:solidFill>
                <a:latin typeface="Bahnschrift SemiBold"/>
              </a:rPr>
              <a:t>BROKER</a:t>
            </a:r>
          </a:p>
        </p:txBody>
      </p:sp>
      <p:sp>
        <p:nvSpPr>
          <p:cNvPr id="14" name="Rectangle 13"/>
          <p:cNvSpPr/>
          <p:nvPr/>
        </p:nvSpPr>
        <p:spPr>
          <a:xfrm>
            <a:off x="10395813" y="583844"/>
            <a:ext cx="1083106" cy="12700"/>
          </a:xfrm>
          <a:prstGeom prst="rect">
            <a:avLst/>
          </a:prstGeom>
          <a:solidFill>
            <a:srgbClr val="2E7D8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Rectangle 14"/>
          <p:cNvSpPr/>
          <p:nvPr/>
        </p:nvSpPr>
        <p:spPr>
          <a:xfrm>
            <a:off x="10287000" y="548640"/>
            <a:ext cx="77724" cy="77724"/>
          </a:xfrm>
          <a:prstGeom prst="rect">
            <a:avLst/>
          </a:prstGeom>
          <a:solidFill>
            <a:srgbClr val="63D2E8"/>
          </a:solidFill>
          <a:ln w="12700">
            <a:solidFill>
              <a:srgbClr val="63D2E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TextBox 15"/>
          <p:cNvSpPr txBox="1"/>
          <p:nvPr/>
        </p:nvSpPr>
        <p:spPr>
          <a:xfrm>
            <a:off x="9714357" y="694944"/>
            <a:ext cx="1223010" cy="201168"/>
          </a:xfrm>
          <a:prstGeom prst="rect">
            <a:avLst/>
          </a:prstGeom>
          <a:noFill/>
        </p:spPr>
        <p:txBody>
          <a:bodyPr wrap="square" lIns="0" tIns="0" rIns="0" bIns="0" anchor="t">
            <a:spAutoFit/>
          </a:bodyPr>
          <a:lstStyle/>
          <a:p>
            <a:pPr algn="ctr">
              <a:lnSpc>
                <a:spcPct val="100000"/>
              </a:lnSpc>
              <a:spcAft>
                <a:spcPts val="0"/>
              </a:spcAft>
            </a:pPr>
            <a:r>
              <a:rPr sz="750" b="0" i="0">
                <a:solidFill>
                  <a:srgbClr val="63D2E8"/>
                </a:solidFill>
                <a:latin typeface="Bahnschrift SemiBold"/>
              </a:rPr>
              <a:t>PHONE</a:t>
            </a:r>
          </a:p>
        </p:txBody>
      </p:sp>
      <p:sp>
        <p:nvSpPr>
          <p:cNvPr id="17" name="Rectangle 16"/>
          <p:cNvSpPr/>
          <p:nvPr/>
        </p:nvSpPr>
        <p:spPr>
          <a:xfrm>
            <a:off x="11510009" y="548640"/>
            <a:ext cx="77724" cy="77724"/>
          </a:xfrm>
          <a:prstGeom prst="rect">
            <a:avLst/>
          </a:prstGeom>
          <a:solidFill>
            <a:srgbClr val="63D2E8"/>
          </a:solidFill>
          <a:ln w="12700">
            <a:solidFill>
              <a:srgbClr val="63D2E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TextBox 17"/>
          <p:cNvSpPr txBox="1"/>
          <p:nvPr/>
        </p:nvSpPr>
        <p:spPr>
          <a:xfrm>
            <a:off x="10937367" y="694944"/>
            <a:ext cx="1223010" cy="201168"/>
          </a:xfrm>
          <a:prstGeom prst="rect">
            <a:avLst/>
          </a:prstGeom>
          <a:noFill/>
        </p:spPr>
        <p:txBody>
          <a:bodyPr wrap="square" lIns="0" tIns="0" rIns="0" bIns="0" anchor="t">
            <a:spAutoFit/>
          </a:bodyPr>
          <a:lstStyle/>
          <a:p>
            <a:pPr algn="ctr">
              <a:lnSpc>
                <a:spcPct val="100000"/>
              </a:lnSpc>
              <a:spcAft>
                <a:spcPts val="0"/>
              </a:spcAft>
            </a:pPr>
            <a:r>
              <a:rPr sz="750" b="0" i="0">
                <a:solidFill>
                  <a:srgbClr val="63D2E8"/>
                </a:solidFill>
                <a:latin typeface="Bahnschrift SemiBold"/>
              </a:rPr>
              <a:t>NET</a:t>
            </a:r>
          </a:p>
        </p:txBody>
      </p:sp>
      <p:sp>
        <p:nvSpPr>
          <p:cNvPr id="19" name="Rectangle 18"/>
          <p:cNvSpPr/>
          <p:nvPr/>
        </p:nvSpPr>
        <p:spPr>
          <a:xfrm>
            <a:off x="640080" y="1225296"/>
            <a:ext cx="10908792" cy="9525"/>
          </a:xfrm>
          <a:prstGeom prst="rect">
            <a:avLst/>
          </a:prstGeom>
          <a:solidFill>
            <a:srgbClr val="2C364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Rectangle 19"/>
          <p:cNvSpPr/>
          <p:nvPr/>
        </p:nvSpPr>
        <p:spPr>
          <a:xfrm>
            <a:off x="640080" y="1220724"/>
            <a:ext cx="566928" cy="25400"/>
          </a:xfrm>
          <a:prstGeom prst="rect">
            <a:avLst/>
          </a:prstGeom>
          <a:solidFill>
            <a:srgbClr val="63D2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1" name="Rectangle 20"/>
          <p:cNvSpPr/>
          <p:nvPr/>
        </p:nvSpPr>
        <p:spPr>
          <a:xfrm>
            <a:off x="640080" y="1572768"/>
            <a:ext cx="3557016" cy="3913632"/>
          </a:xfrm>
          <a:prstGeom prst="rect">
            <a:avLst/>
          </a:prstGeom>
          <a:solidFill>
            <a:srgbClr val="161C24"/>
          </a:solidFill>
          <a:ln w="12700">
            <a:solidFill>
              <a:srgbClr val="2C364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2" name="Rectangle 21"/>
          <p:cNvSpPr/>
          <p:nvPr/>
        </p:nvSpPr>
        <p:spPr>
          <a:xfrm>
            <a:off x="640080" y="1572768"/>
            <a:ext cx="3557016" cy="31750"/>
          </a:xfrm>
          <a:prstGeom prst="rect">
            <a:avLst/>
          </a:prstGeom>
          <a:solidFill>
            <a:srgbClr val="4AD99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3" name="TextBox 22"/>
          <p:cNvSpPr txBox="1"/>
          <p:nvPr/>
        </p:nvSpPr>
        <p:spPr>
          <a:xfrm>
            <a:off x="841247" y="1792224"/>
            <a:ext cx="3108960" cy="237744"/>
          </a:xfrm>
          <a:prstGeom prst="rect">
            <a:avLst/>
          </a:prstGeom>
          <a:noFill/>
        </p:spPr>
        <p:txBody>
          <a:bodyPr wrap="square" lIns="0" tIns="0" rIns="0" bIns="0" anchor="t">
            <a:spAutoFit/>
          </a:bodyPr>
          <a:lstStyle/>
          <a:p>
            <a:pPr algn="l">
              <a:lnSpc>
                <a:spcPct val="112000"/>
              </a:lnSpc>
              <a:spcAft>
                <a:spcPts val="0"/>
              </a:spcAft>
            </a:pPr>
            <a:r>
              <a:rPr sz="900" b="0" i="0">
                <a:solidFill>
                  <a:srgbClr val="4AD991"/>
                </a:solidFill>
                <a:latin typeface="Bahnschrift SemiBold"/>
              </a:rPr>
              <a:t>PROVEN ON HARDWARE</a:t>
            </a:r>
          </a:p>
        </p:txBody>
      </p:sp>
      <p:sp>
        <p:nvSpPr>
          <p:cNvPr id="24" name="Rectangle 23"/>
          <p:cNvSpPr/>
          <p:nvPr/>
        </p:nvSpPr>
        <p:spPr>
          <a:xfrm>
            <a:off x="841247" y="2066543"/>
            <a:ext cx="3154680" cy="9525"/>
          </a:xfrm>
          <a:prstGeom prst="rect">
            <a:avLst/>
          </a:prstGeom>
          <a:solidFill>
            <a:srgbClr val="3D4A5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5" name="Rectangle 24"/>
          <p:cNvSpPr/>
          <p:nvPr/>
        </p:nvSpPr>
        <p:spPr>
          <a:xfrm>
            <a:off x="841247" y="2313432"/>
            <a:ext cx="64008" cy="64008"/>
          </a:xfrm>
          <a:prstGeom prst="rect">
            <a:avLst/>
          </a:prstGeom>
          <a:solidFill>
            <a:srgbClr val="4AD99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6" name="TextBox 25"/>
          <p:cNvSpPr txBox="1"/>
          <p:nvPr/>
        </p:nvSpPr>
        <p:spPr>
          <a:xfrm>
            <a:off x="1042415" y="2249424"/>
            <a:ext cx="2962656" cy="457200"/>
          </a:xfrm>
          <a:prstGeom prst="rect">
            <a:avLst/>
          </a:prstGeom>
          <a:noFill/>
        </p:spPr>
        <p:txBody>
          <a:bodyPr wrap="square" lIns="0" tIns="0" rIns="0" bIns="0" anchor="t">
            <a:spAutoFit/>
          </a:bodyPr>
          <a:lstStyle/>
          <a:p>
            <a:pPr algn="l">
              <a:lnSpc>
                <a:spcPct val="130000"/>
              </a:lnSpc>
              <a:spcAft>
                <a:spcPts val="0"/>
              </a:spcAft>
            </a:pPr>
            <a:r>
              <a:rPr sz="1050" b="0" i="0">
                <a:solidFill>
                  <a:srgbClr val="8494A6"/>
                </a:solidFill>
                <a:latin typeface="Segoe UI"/>
              </a:rPr>
              <a:t>22/22 registers, 15 consecutive cycles</a:t>
            </a:r>
          </a:p>
        </p:txBody>
      </p:sp>
      <p:sp>
        <p:nvSpPr>
          <p:cNvPr id="27" name="Rectangle 26"/>
          <p:cNvSpPr/>
          <p:nvPr/>
        </p:nvSpPr>
        <p:spPr>
          <a:xfrm>
            <a:off x="841247" y="2770632"/>
            <a:ext cx="64008" cy="64008"/>
          </a:xfrm>
          <a:prstGeom prst="rect">
            <a:avLst/>
          </a:prstGeom>
          <a:solidFill>
            <a:srgbClr val="4AD99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8" name="TextBox 27"/>
          <p:cNvSpPr txBox="1"/>
          <p:nvPr/>
        </p:nvSpPr>
        <p:spPr>
          <a:xfrm>
            <a:off x="1042415" y="2706624"/>
            <a:ext cx="2962656" cy="457200"/>
          </a:xfrm>
          <a:prstGeom prst="rect">
            <a:avLst/>
          </a:prstGeom>
          <a:noFill/>
        </p:spPr>
        <p:txBody>
          <a:bodyPr wrap="square" lIns="0" tIns="0" rIns="0" bIns="0" anchor="t">
            <a:spAutoFit/>
          </a:bodyPr>
          <a:lstStyle/>
          <a:p>
            <a:pPr algn="l">
              <a:lnSpc>
                <a:spcPct val="130000"/>
              </a:lnSpc>
              <a:spcAft>
                <a:spcPts val="0"/>
              </a:spcAft>
            </a:pPr>
            <a:r>
              <a:rPr sz="1050" b="0" i="0">
                <a:solidFill>
                  <a:srgbClr val="8494A6"/>
                </a:solidFill>
                <a:latin typeface="Segoe UI"/>
              </a:rPr>
              <a:t>PC client read the same value, same second</a:t>
            </a:r>
          </a:p>
        </p:txBody>
      </p:sp>
      <p:sp>
        <p:nvSpPr>
          <p:cNvPr id="29" name="Rectangle 28"/>
          <p:cNvSpPr/>
          <p:nvPr/>
        </p:nvSpPr>
        <p:spPr>
          <a:xfrm>
            <a:off x="841247" y="3227832"/>
            <a:ext cx="64008" cy="64008"/>
          </a:xfrm>
          <a:prstGeom prst="rect">
            <a:avLst/>
          </a:prstGeom>
          <a:solidFill>
            <a:srgbClr val="4AD99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0" name="TextBox 29"/>
          <p:cNvSpPr txBox="1"/>
          <p:nvPr/>
        </p:nvSpPr>
        <p:spPr>
          <a:xfrm>
            <a:off x="1042415" y="3163824"/>
            <a:ext cx="2962656" cy="457200"/>
          </a:xfrm>
          <a:prstGeom prst="rect">
            <a:avLst/>
          </a:prstGeom>
          <a:noFill/>
        </p:spPr>
        <p:txBody>
          <a:bodyPr wrap="square" lIns="0" tIns="0" rIns="0" bIns="0" anchor="t">
            <a:spAutoFit/>
          </a:bodyPr>
          <a:lstStyle/>
          <a:p>
            <a:pPr algn="l">
              <a:lnSpc>
                <a:spcPct val="130000"/>
              </a:lnSpc>
              <a:spcAft>
                <a:spcPts val="0"/>
              </a:spcAft>
            </a:pPr>
            <a:r>
              <a:rPr sz="1050" b="0" i="0">
                <a:solidFill>
                  <a:srgbClr val="8494A6"/>
                </a:solidFill>
                <a:latin typeface="Segoe UI"/>
              </a:rPr>
              <a:t>TLS 1.3 handshake, server verified (BR-1)</a:t>
            </a:r>
          </a:p>
        </p:txBody>
      </p:sp>
      <p:sp>
        <p:nvSpPr>
          <p:cNvPr id="31" name="Rectangle 30"/>
          <p:cNvSpPr/>
          <p:nvPr/>
        </p:nvSpPr>
        <p:spPr>
          <a:xfrm>
            <a:off x="841247" y="3685032"/>
            <a:ext cx="64008" cy="64008"/>
          </a:xfrm>
          <a:prstGeom prst="rect">
            <a:avLst/>
          </a:prstGeom>
          <a:solidFill>
            <a:srgbClr val="4AD99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2" name="TextBox 31"/>
          <p:cNvSpPr txBox="1"/>
          <p:nvPr/>
        </p:nvSpPr>
        <p:spPr>
          <a:xfrm>
            <a:off x="1042415" y="3621024"/>
            <a:ext cx="2962656" cy="457200"/>
          </a:xfrm>
          <a:prstGeom prst="rect">
            <a:avLst/>
          </a:prstGeom>
          <a:noFill/>
        </p:spPr>
        <p:txBody>
          <a:bodyPr wrap="square" lIns="0" tIns="0" rIns="0" bIns="0" anchor="t">
            <a:spAutoFit/>
          </a:bodyPr>
          <a:lstStyle/>
          <a:p>
            <a:pPr algn="l">
              <a:lnSpc>
                <a:spcPct val="130000"/>
              </a:lnSpc>
              <a:spcAft>
                <a:spcPts val="0"/>
              </a:spcAft>
            </a:pPr>
            <a:r>
              <a:rPr sz="1050" b="0" i="0">
                <a:solidFill>
                  <a:srgbClr val="8494A6"/>
                </a:solidFill>
                <a:latin typeface="Segoe UI"/>
              </a:rPr>
              <a:t>meter address survives a power cycle</a:t>
            </a:r>
          </a:p>
        </p:txBody>
      </p:sp>
      <p:sp>
        <p:nvSpPr>
          <p:cNvPr id="33" name="Rectangle 32"/>
          <p:cNvSpPr/>
          <p:nvPr/>
        </p:nvSpPr>
        <p:spPr>
          <a:xfrm>
            <a:off x="841247" y="4142232"/>
            <a:ext cx="64008" cy="64008"/>
          </a:xfrm>
          <a:prstGeom prst="rect">
            <a:avLst/>
          </a:prstGeom>
          <a:solidFill>
            <a:srgbClr val="4AD99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4" name="TextBox 33"/>
          <p:cNvSpPr txBox="1"/>
          <p:nvPr/>
        </p:nvSpPr>
        <p:spPr>
          <a:xfrm>
            <a:off x="1042415" y="4078224"/>
            <a:ext cx="2962656" cy="457200"/>
          </a:xfrm>
          <a:prstGeom prst="rect">
            <a:avLst/>
          </a:prstGeom>
          <a:noFill/>
        </p:spPr>
        <p:txBody>
          <a:bodyPr wrap="square" lIns="0" tIns="0" rIns="0" bIns="0" anchor="t">
            <a:spAutoFit/>
          </a:bodyPr>
          <a:lstStyle/>
          <a:p>
            <a:pPr algn="l">
              <a:lnSpc>
                <a:spcPct val="130000"/>
              </a:lnSpc>
              <a:spcAft>
                <a:spcPts val="0"/>
              </a:spcAft>
            </a:pPr>
            <a:r>
              <a:rPr sz="1050" b="0" i="0">
                <a:solidFill>
                  <a:srgbClr val="8494A6"/>
                </a:solidFill>
                <a:latin typeface="Segoe UI"/>
              </a:rPr>
              <a:t>fleet tree renders 2 modems + a v1 gateway</a:t>
            </a:r>
          </a:p>
        </p:txBody>
      </p:sp>
      <p:sp>
        <p:nvSpPr>
          <p:cNvPr id="35" name="Rectangle 34"/>
          <p:cNvSpPr/>
          <p:nvPr/>
        </p:nvSpPr>
        <p:spPr>
          <a:xfrm>
            <a:off x="841247" y="4599432"/>
            <a:ext cx="64008" cy="64008"/>
          </a:xfrm>
          <a:prstGeom prst="rect">
            <a:avLst/>
          </a:prstGeom>
          <a:solidFill>
            <a:srgbClr val="4AD99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6" name="TextBox 35"/>
          <p:cNvSpPr txBox="1"/>
          <p:nvPr/>
        </p:nvSpPr>
        <p:spPr>
          <a:xfrm>
            <a:off x="1042415" y="4535424"/>
            <a:ext cx="2962656" cy="457200"/>
          </a:xfrm>
          <a:prstGeom prst="rect">
            <a:avLst/>
          </a:prstGeom>
          <a:noFill/>
        </p:spPr>
        <p:txBody>
          <a:bodyPr wrap="square" lIns="0" tIns="0" rIns="0" bIns="0" anchor="t">
            <a:spAutoFit/>
          </a:bodyPr>
          <a:lstStyle/>
          <a:p>
            <a:pPr algn="l">
              <a:lnSpc>
                <a:spcPct val="130000"/>
              </a:lnSpc>
              <a:spcAft>
                <a:spcPts val="0"/>
              </a:spcAft>
            </a:pPr>
            <a:r>
              <a:rPr sz="1050" b="0" i="0">
                <a:solidFill>
                  <a:srgbClr val="8494A6"/>
                </a:solidFill>
                <a:latin typeface="Segoe UI"/>
              </a:rPr>
              <a:t>gradient check 1e-9 · MNIST 97.65 % (SRS-02)</a:t>
            </a:r>
          </a:p>
        </p:txBody>
      </p:sp>
      <p:sp>
        <p:nvSpPr>
          <p:cNvPr id="37" name="Rectangle 36"/>
          <p:cNvSpPr/>
          <p:nvPr/>
        </p:nvSpPr>
        <p:spPr>
          <a:xfrm>
            <a:off x="841247" y="5056632"/>
            <a:ext cx="64008" cy="64008"/>
          </a:xfrm>
          <a:prstGeom prst="rect">
            <a:avLst/>
          </a:prstGeom>
          <a:solidFill>
            <a:srgbClr val="4AD99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8" name="TextBox 37"/>
          <p:cNvSpPr txBox="1"/>
          <p:nvPr/>
        </p:nvSpPr>
        <p:spPr>
          <a:xfrm>
            <a:off x="1042415" y="4992624"/>
            <a:ext cx="2962656" cy="457200"/>
          </a:xfrm>
          <a:prstGeom prst="rect">
            <a:avLst/>
          </a:prstGeom>
          <a:noFill/>
        </p:spPr>
        <p:txBody>
          <a:bodyPr wrap="square" lIns="0" tIns="0" rIns="0" bIns="0" anchor="t">
            <a:spAutoFit/>
          </a:bodyPr>
          <a:lstStyle/>
          <a:p>
            <a:pPr algn="l">
              <a:lnSpc>
                <a:spcPct val="130000"/>
              </a:lnSpc>
              <a:spcAft>
                <a:spcPts val="0"/>
              </a:spcAft>
            </a:pPr>
            <a:r>
              <a:rPr sz="1050" b="0" i="0">
                <a:solidFill>
                  <a:srgbClr val="8494A6"/>
                </a:solidFill>
                <a:latin typeface="Segoe UI"/>
              </a:rPr>
              <a:t>credentials out of version control</a:t>
            </a:r>
          </a:p>
        </p:txBody>
      </p:sp>
      <p:sp>
        <p:nvSpPr>
          <p:cNvPr id="39" name="Rectangle 38"/>
          <p:cNvSpPr/>
          <p:nvPr/>
        </p:nvSpPr>
        <p:spPr>
          <a:xfrm>
            <a:off x="4315968" y="1572768"/>
            <a:ext cx="3557016" cy="3913632"/>
          </a:xfrm>
          <a:prstGeom prst="rect">
            <a:avLst/>
          </a:prstGeom>
          <a:solidFill>
            <a:srgbClr val="161C24"/>
          </a:solidFill>
          <a:ln w="12700">
            <a:solidFill>
              <a:srgbClr val="2C364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0" name="Rectangle 39"/>
          <p:cNvSpPr/>
          <p:nvPr/>
        </p:nvSpPr>
        <p:spPr>
          <a:xfrm>
            <a:off x="4315968" y="1572768"/>
            <a:ext cx="3557016" cy="31750"/>
          </a:xfrm>
          <a:prstGeom prst="rect">
            <a:avLst/>
          </a:prstGeom>
          <a:solidFill>
            <a:srgbClr val="FFA92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1" name="TextBox 40"/>
          <p:cNvSpPr txBox="1"/>
          <p:nvPr/>
        </p:nvSpPr>
        <p:spPr>
          <a:xfrm>
            <a:off x="4517136" y="1792224"/>
            <a:ext cx="3108960" cy="237744"/>
          </a:xfrm>
          <a:prstGeom prst="rect">
            <a:avLst/>
          </a:prstGeom>
          <a:noFill/>
        </p:spPr>
        <p:txBody>
          <a:bodyPr wrap="square" lIns="0" tIns="0" rIns="0" bIns="0" anchor="t">
            <a:spAutoFit/>
          </a:bodyPr>
          <a:lstStyle/>
          <a:p>
            <a:pPr algn="l">
              <a:lnSpc>
                <a:spcPct val="112000"/>
              </a:lnSpc>
              <a:spcAft>
                <a:spcPts val="0"/>
              </a:spcAft>
            </a:pPr>
            <a:r>
              <a:rPr sz="900" b="0" i="0">
                <a:solidFill>
                  <a:srgbClr val="FFA928"/>
                </a:solidFill>
                <a:latin typeface="Bahnschrift SemiBold"/>
              </a:rPr>
              <a:t>CODE COMPLETE, UNPROVEN</a:t>
            </a:r>
          </a:p>
        </p:txBody>
      </p:sp>
      <p:sp>
        <p:nvSpPr>
          <p:cNvPr id="42" name="Rectangle 41"/>
          <p:cNvSpPr/>
          <p:nvPr/>
        </p:nvSpPr>
        <p:spPr>
          <a:xfrm>
            <a:off x="4517136" y="2066543"/>
            <a:ext cx="3154680" cy="9525"/>
          </a:xfrm>
          <a:prstGeom prst="rect">
            <a:avLst/>
          </a:prstGeom>
          <a:solidFill>
            <a:srgbClr val="3D4A5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3" name="Rectangle 42"/>
          <p:cNvSpPr/>
          <p:nvPr/>
        </p:nvSpPr>
        <p:spPr>
          <a:xfrm>
            <a:off x="4517136" y="2313432"/>
            <a:ext cx="64008" cy="64008"/>
          </a:xfrm>
          <a:prstGeom prst="rect">
            <a:avLst/>
          </a:prstGeom>
          <a:solidFill>
            <a:srgbClr val="FFA92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4" name="TextBox 43"/>
          <p:cNvSpPr txBox="1"/>
          <p:nvPr/>
        </p:nvSpPr>
        <p:spPr>
          <a:xfrm>
            <a:off x="4718304" y="2249424"/>
            <a:ext cx="2962656" cy="457200"/>
          </a:xfrm>
          <a:prstGeom prst="rect">
            <a:avLst/>
          </a:prstGeom>
          <a:noFill/>
        </p:spPr>
        <p:txBody>
          <a:bodyPr wrap="square" lIns="0" tIns="0" rIns="0" bIns="0" anchor="t">
            <a:spAutoFit/>
          </a:bodyPr>
          <a:lstStyle/>
          <a:p>
            <a:pPr algn="l">
              <a:lnSpc>
                <a:spcPct val="130000"/>
              </a:lnSpc>
              <a:spcAft>
                <a:spcPts val="0"/>
              </a:spcAft>
            </a:pPr>
            <a:r>
              <a:rPr sz="1050" b="0" i="0">
                <a:solidFill>
                  <a:srgbClr val="8494A6"/>
                </a:solidFill>
                <a:latin typeface="Segoe UI"/>
              </a:rPr>
              <a:t>cmd/ack on the ESP8266 — compiles, not flashed</a:t>
            </a:r>
          </a:p>
        </p:txBody>
      </p:sp>
      <p:sp>
        <p:nvSpPr>
          <p:cNvPr id="45" name="Rectangle 44"/>
          <p:cNvSpPr/>
          <p:nvPr/>
        </p:nvSpPr>
        <p:spPr>
          <a:xfrm>
            <a:off x="4517136" y="2770632"/>
            <a:ext cx="64008" cy="64008"/>
          </a:xfrm>
          <a:prstGeom prst="rect">
            <a:avLst/>
          </a:prstGeom>
          <a:solidFill>
            <a:srgbClr val="FFA92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6" name="TextBox 45"/>
          <p:cNvSpPr txBox="1"/>
          <p:nvPr/>
        </p:nvSpPr>
        <p:spPr>
          <a:xfrm>
            <a:off x="4718304" y="2706624"/>
            <a:ext cx="2962656" cy="457200"/>
          </a:xfrm>
          <a:prstGeom prst="rect">
            <a:avLst/>
          </a:prstGeom>
          <a:noFill/>
        </p:spPr>
        <p:txBody>
          <a:bodyPr wrap="square" lIns="0" tIns="0" rIns="0" bIns="0" anchor="t">
            <a:spAutoFit/>
          </a:bodyPr>
          <a:lstStyle/>
          <a:p>
            <a:pPr algn="l">
              <a:lnSpc>
                <a:spcPct val="130000"/>
              </a:lnSpc>
              <a:spcAft>
                <a:spcPts val="0"/>
              </a:spcAft>
            </a:pPr>
            <a:r>
              <a:rPr sz="1050" b="0" i="0">
                <a:solidFill>
                  <a:srgbClr val="8494A6"/>
                </a:solidFill>
                <a:latin typeface="Segoe UI"/>
              </a:rPr>
              <a:t>sleep and 4 load channels — same</a:t>
            </a:r>
          </a:p>
        </p:txBody>
      </p:sp>
      <p:sp>
        <p:nvSpPr>
          <p:cNvPr id="47" name="Rectangle 46"/>
          <p:cNvSpPr/>
          <p:nvPr/>
        </p:nvSpPr>
        <p:spPr>
          <a:xfrm>
            <a:off x="4517136" y="3227832"/>
            <a:ext cx="64008" cy="64008"/>
          </a:xfrm>
          <a:prstGeom prst="rect">
            <a:avLst/>
          </a:prstGeom>
          <a:solidFill>
            <a:srgbClr val="FFA92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8" name="TextBox 47"/>
          <p:cNvSpPr txBox="1"/>
          <p:nvPr/>
        </p:nvSpPr>
        <p:spPr>
          <a:xfrm>
            <a:off x="4718304" y="3163824"/>
            <a:ext cx="2962656" cy="457200"/>
          </a:xfrm>
          <a:prstGeom prst="rect">
            <a:avLst/>
          </a:prstGeom>
          <a:noFill/>
        </p:spPr>
        <p:txBody>
          <a:bodyPr wrap="square" lIns="0" tIns="0" rIns="0" bIns="0" anchor="t">
            <a:spAutoFit/>
          </a:bodyPr>
          <a:lstStyle/>
          <a:p>
            <a:pPr algn="l">
              <a:lnSpc>
                <a:spcPct val="130000"/>
              </a:lnSpc>
              <a:spcAft>
                <a:spcPts val="0"/>
              </a:spcAft>
            </a:pPr>
            <a:r>
              <a:rPr sz="1050" b="0" i="0">
                <a:solidFill>
                  <a:srgbClr val="8494A6"/>
                </a:solidFill>
                <a:latin typeface="Segoe UI"/>
              </a:rPr>
              <a:t>power-pull → retained offline (A2)</a:t>
            </a:r>
          </a:p>
        </p:txBody>
      </p:sp>
      <p:sp>
        <p:nvSpPr>
          <p:cNvPr id="49" name="Rectangle 48"/>
          <p:cNvSpPr/>
          <p:nvPr/>
        </p:nvSpPr>
        <p:spPr>
          <a:xfrm>
            <a:off x="4517136" y="3685032"/>
            <a:ext cx="64008" cy="64008"/>
          </a:xfrm>
          <a:prstGeom prst="rect">
            <a:avLst/>
          </a:prstGeom>
          <a:solidFill>
            <a:srgbClr val="FFA92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0" name="TextBox 49"/>
          <p:cNvSpPr txBox="1"/>
          <p:nvPr/>
        </p:nvSpPr>
        <p:spPr>
          <a:xfrm>
            <a:off x="4718304" y="3621024"/>
            <a:ext cx="2962656" cy="457200"/>
          </a:xfrm>
          <a:prstGeom prst="rect">
            <a:avLst/>
          </a:prstGeom>
          <a:noFill/>
        </p:spPr>
        <p:txBody>
          <a:bodyPr wrap="square" lIns="0" tIns="0" rIns="0" bIns="0" anchor="t">
            <a:spAutoFit/>
          </a:bodyPr>
          <a:lstStyle/>
          <a:p>
            <a:pPr algn="l">
              <a:lnSpc>
                <a:spcPct val="130000"/>
              </a:lnSpc>
              <a:spcAft>
                <a:spcPts val="0"/>
              </a:spcAft>
            </a:pPr>
            <a:r>
              <a:rPr sz="1050" b="0" i="0">
                <a:solidFill>
                  <a:srgbClr val="8494A6"/>
                </a:solidFill>
                <a:latin typeface="Segoe UI"/>
              </a:rPr>
              <a:t>&lt; 2 s command latency (NF-1)</a:t>
            </a:r>
          </a:p>
        </p:txBody>
      </p:sp>
      <p:sp>
        <p:nvSpPr>
          <p:cNvPr id="51" name="Rectangle 50"/>
          <p:cNvSpPr/>
          <p:nvPr/>
        </p:nvSpPr>
        <p:spPr>
          <a:xfrm>
            <a:off x="4517136" y="4142232"/>
            <a:ext cx="64008" cy="64008"/>
          </a:xfrm>
          <a:prstGeom prst="rect">
            <a:avLst/>
          </a:prstGeom>
          <a:solidFill>
            <a:srgbClr val="FFA92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2" name="TextBox 51"/>
          <p:cNvSpPr txBox="1"/>
          <p:nvPr/>
        </p:nvSpPr>
        <p:spPr>
          <a:xfrm>
            <a:off x="4718304" y="4078224"/>
            <a:ext cx="2962656" cy="457200"/>
          </a:xfrm>
          <a:prstGeom prst="rect">
            <a:avLst/>
          </a:prstGeom>
          <a:noFill/>
        </p:spPr>
        <p:txBody>
          <a:bodyPr wrap="square" lIns="0" tIns="0" rIns="0" bIns="0" anchor="t">
            <a:spAutoFit/>
          </a:bodyPr>
          <a:lstStyle/>
          <a:p>
            <a:pPr algn="l">
              <a:lnSpc>
                <a:spcPct val="130000"/>
              </a:lnSpc>
              <a:spcAft>
                <a:spcPts val="0"/>
              </a:spcAft>
            </a:pPr>
            <a:r>
              <a:rPr sz="1050" b="0" i="0">
                <a:solidFill>
                  <a:srgbClr val="8494A6"/>
                </a:solidFill>
                <a:latin typeface="Segoe UI"/>
              </a:rPr>
              <a:t>RS-485 gateway — never run on hardware</a:t>
            </a:r>
          </a:p>
        </p:txBody>
      </p:sp>
      <p:sp>
        <p:nvSpPr>
          <p:cNvPr id="53" name="Rectangle 52"/>
          <p:cNvSpPr/>
          <p:nvPr/>
        </p:nvSpPr>
        <p:spPr>
          <a:xfrm>
            <a:off x="4517136" y="4599432"/>
            <a:ext cx="64008" cy="64008"/>
          </a:xfrm>
          <a:prstGeom prst="rect">
            <a:avLst/>
          </a:prstGeom>
          <a:solidFill>
            <a:srgbClr val="FFA92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4" name="TextBox 53"/>
          <p:cNvSpPr txBox="1"/>
          <p:nvPr/>
        </p:nvSpPr>
        <p:spPr>
          <a:xfrm>
            <a:off x="4718304" y="4535424"/>
            <a:ext cx="2962656" cy="457200"/>
          </a:xfrm>
          <a:prstGeom prst="rect">
            <a:avLst/>
          </a:prstGeom>
          <a:noFill/>
        </p:spPr>
        <p:txBody>
          <a:bodyPr wrap="square" lIns="0" tIns="0" rIns="0" bIns="0" anchor="t">
            <a:spAutoFit/>
          </a:bodyPr>
          <a:lstStyle/>
          <a:p>
            <a:pPr algn="l">
              <a:lnSpc>
                <a:spcPct val="130000"/>
              </a:lnSpc>
              <a:spcAft>
                <a:spcPts val="0"/>
              </a:spcAft>
            </a:pPr>
            <a:r>
              <a:rPr sz="1050" b="0" i="0">
                <a:solidFill>
                  <a:srgbClr val="8494A6"/>
                </a:solidFill>
                <a:latin typeface="Segoe UI"/>
              </a:rPr>
              <a:t>overnight soak — not yet attempted</a:t>
            </a:r>
          </a:p>
        </p:txBody>
      </p:sp>
      <p:sp>
        <p:nvSpPr>
          <p:cNvPr id="55" name="Rectangle 54"/>
          <p:cNvSpPr/>
          <p:nvPr/>
        </p:nvSpPr>
        <p:spPr>
          <a:xfrm>
            <a:off x="7991855" y="1572768"/>
            <a:ext cx="3557016" cy="3913632"/>
          </a:xfrm>
          <a:prstGeom prst="rect">
            <a:avLst/>
          </a:prstGeom>
          <a:solidFill>
            <a:srgbClr val="161C24"/>
          </a:solidFill>
          <a:ln w="12700">
            <a:solidFill>
              <a:srgbClr val="2C364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6" name="Rectangle 55"/>
          <p:cNvSpPr/>
          <p:nvPr/>
        </p:nvSpPr>
        <p:spPr>
          <a:xfrm>
            <a:off x="7991855" y="1572768"/>
            <a:ext cx="3557016" cy="31750"/>
          </a:xfrm>
          <a:prstGeom prst="rect">
            <a:avLst/>
          </a:prstGeom>
          <a:solidFill>
            <a:srgbClr val="FF443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7" name="TextBox 56"/>
          <p:cNvSpPr txBox="1"/>
          <p:nvPr/>
        </p:nvSpPr>
        <p:spPr>
          <a:xfrm>
            <a:off x="8193023" y="1792224"/>
            <a:ext cx="3108960" cy="237744"/>
          </a:xfrm>
          <a:prstGeom prst="rect">
            <a:avLst/>
          </a:prstGeom>
          <a:noFill/>
        </p:spPr>
        <p:txBody>
          <a:bodyPr wrap="square" lIns="0" tIns="0" rIns="0" bIns="0" anchor="t">
            <a:spAutoFit/>
          </a:bodyPr>
          <a:lstStyle/>
          <a:p>
            <a:pPr algn="l">
              <a:lnSpc>
                <a:spcPct val="112000"/>
              </a:lnSpc>
              <a:spcAft>
                <a:spcPts val="0"/>
              </a:spcAft>
            </a:pPr>
            <a:r>
              <a:rPr sz="900" b="0" i="0">
                <a:solidFill>
                  <a:srgbClr val="FF4438"/>
                </a:solidFill>
                <a:latin typeface="Bahnschrift SemiBold"/>
              </a:rPr>
              <a:t>OPEN, AND SAID SO</a:t>
            </a:r>
          </a:p>
        </p:txBody>
      </p:sp>
      <p:sp>
        <p:nvSpPr>
          <p:cNvPr id="58" name="Rectangle 57"/>
          <p:cNvSpPr/>
          <p:nvPr/>
        </p:nvSpPr>
        <p:spPr>
          <a:xfrm>
            <a:off x="8193023" y="2066543"/>
            <a:ext cx="3154680" cy="9525"/>
          </a:xfrm>
          <a:prstGeom prst="rect">
            <a:avLst/>
          </a:prstGeom>
          <a:solidFill>
            <a:srgbClr val="3D4A5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9" name="Rectangle 58"/>
          <p:cNvSpPr/>
          <p:nvPr/>
        </p:nvSpPr>
        <p:spPr>
          <a:xfrm>
            <a:off x="8193023" y="2313432"/>
            <a:ext cx="64008" cy="64008"/>
          </a:xfrm>
          <a:prstGeom prst="rect">
            <a:avLst/>
          </a:prstGeom>
          <a:solidFill>
            <a:srgbClr val="FF443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0" name="TextBox 59"/>
          <p:cNvSpPr txBox="1"/>
          <p:nvPr/>
        </p:nvSpPr>
        <p:spPr>
          <a:xfrm>
            <a:off x="8394191" y="2249424"/>
            <a:ext cx="2962656" cy="457200"/>
          </a:xfrm>
          <a:prstGeom prst="rect">
            <a:avLst/>
          </a:prstGeom>
          <a:noFill/>
        </p:spPr>
        <p:txBody>
          <a:bodyPr wrap="square" lIns="0" tIns="0" rIns="0" bIns="0" anchor="t">
            <a:spAutoFit/>
          </a:bodyPr>
          <a:lstStyle/>
          <a:p>
            <a:pPr algn="l">
              <a:lnSpc>
                <a:spcPct val="130000"/>
              </a:lnSpc>
              <a:spcAft>
                <a:spcPts val="0"/>
              </a:spcAft>
            </a:pPr>
            <a:r>
              <a:rPr sz="1050" b="0" i="0">
                <a:solidFill>
                  <a:srgbClr val="8494A6"/>
                </a:solidFill>
                <a:latin typeface="Segoe UI"/>
              </a:rPr>
              <a:t>sleep current never measured on a meter (F-6)</a:t>
            </a:r>
          </a:p>
        </p:txBody>
      </p:sp>
      <p:sp>
        <p:nvSpPr>
          <p:cNvPr id="61" name="Rectangle 60"/>
          <p:cNvSpPr/>
          <p:nvPr/>
        </p:nvSpPr>
        <p:spPr>
          <a:xfrm>
            <a:off x="8193023" y="2770632"/>
            <a:ext cx="64008" cy="64008"/>
          </a:xfrm>
          <a:prstGeom prst="rect">
            <a:avLst/>
          </a:prstGeom>
          <a:solidFill>
            <a:srgbClr val="FF443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2" name="TextBox 61"/>
          <p:cNvSpPr txBox="1"/>
          <p:nvPr/>
        </p:nvSpPr>
        <p:spPr>
          <a:xfrm>
            <a:off x="8394191" y="2706624"/>
            <a:ext cx="2962656" cy="457200"/>
          </a:xfrm>
          <a:prstGeom prst="rect">
            <a:avLst/>
          </a:prstGeom>
          <a:noFill/>
        </p:spPr>
        <p:txBody>
          <a:bodyPr wrap="square" lIns="0" tIns="0" rIns="0" bIns="0" anchor="t">
            <a:spAutoFit/>
          </a:bodyPr>
          <a:lstStyle/>
          <a:p>
            <a:pPr algn="l">
              <a:lnSpc>
                <a:spcPct val="130000"/>
              </a:lnSpc>
              <a:spcAft>
                <a:spcPts val="0"/>
              </a:spcAft>
            </a:pPr>
            <a:r>
              <a:rPr sz="1050" b="0" i="0">
                <a:solidFill>
                  <a:srgbClr val="8494A6"/>
                </a:solidFill>
                <a:latin typeface="Segoe UI"/>
              </a:rPr>
              <a:t>no broker role separation or ACLs (BR-2)</a:t>
            </a:r>
          </a:p>
        </p:txBody>
      </p:sp>
      <p:sp>
        <p:nvSpPr>
          <p:cNvPr id="63" name="Rectangle 62"/>
          <p:cNvSpPr/>
          <p:nvPr/>
        </p:nvSpPr>
        <p:spPr>
          <a:xfrm>
            <a:off x="8193023" y="3227832"/>
            <a:ext cx="64008" cy="64008"/>
          </a:xfrm>
          <a:prstGeom prst="rect">
            <a:avLst/>
          </a:prstGeom>
          <a:solidFill>
            <a:srgbClr val="FF443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4" name="TextBox 63"/>
          <p:cNvSpPr txBox="1"/>
          <p:nvPr/>
        </p:nvSpPr>
        <p:spPr>
          <a:xfrm>
            <a:off x="8394191" y="3163824"/>
            <a:ext cx="2962656" cy="457200"/>
          </a:xfrm>
          <a:prstGeom prst="rect">
            <a:avLst/>
          </a:prstGeom>
          <a:noFill/>
        </p:spPr>
        <p:txBody>
          <a:bodyPr wrap="square" lIns="0" tIns="0" rIns="0" bIns="0" anchor="t">
            <a:spAutoFit/>
          </a:bodyPr>
          <a:lstStyle/>
          <a:p>
            <a:pPr algn="l">
              <a:lnSpc>
                <a:spcPct val="130000"/>
              </a:lnSpc>
              <a:spcAft>
                <a:spcPts val="0"/>
              </a:spcAft>
            </a:pPr>
            <a:r>
              <a:rPr sz="1050" b="0" i="0">
                <a:solidFill>
                  <a:srgbClr val="8494A6"/>
                </a:solidFill>
                <a:latin typeface="Segoe UI"/>
              </a:rPr>
              <a:t>store-and-forward: buffered is always false</a:t>
            </a:r>
          </a:p>
        </p:txBody>
      </p:sp>
      <p:sp>
        <p:nvSpPr>
          <p:cNvPr id="65" name="Rectangle 64"/>
          <p:cNvSpPr/>
          <p:nvPr/>
        </p:nvSpPr>
        <p:spPr>
          <a:xfrm>
            <a:off x="8193023" y="3685032"/>
            <a:ext cx="64008" cy="64008"/>
          </a:xfrm>
          <a:prstGeom prst="rect">
            <a:avLst/>
          </a:prstGeom>
          <a:solidFill>
            <a:srgbClr val="FF443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6" name="TextBox 65"/>
          <p:cNvSpPr txBox="1"/>
          <p:nvPr/>
        </p:nvSpPr>
        <p:spPr>
          <a:xfrm>
            <a:off x="8394191" y="3621024"/>
            <a:ext cx="2962656" cy="457200"/>
          </a:xfrm>
          <a:prstGeom prst="rect">
            <a:avLst/>
          </a:prstGeom>
          <a:noFill/>
        </p:spPr>
        <p:txBody>
          <a:bodyPr wrap="square" lIns="0" tIns="0" rIns="0" bIns="0" anchor="t">
            <a:spAutoFit/>
          </a:bodyPr>
          <a:lstStyle/>
          <a:p>
            <a:pPr algn="l">
              <a:lnSpc>
                <a:spcPct val="130000"/>
              </a:lnSpc>
              <a:spcAft>
                <a:spcPts val="0"/>
              </a:spcAft>
            </a:pPr>
            <a:r>
              <a:rPr sz="1050" b="0" i="0">
                <a:solidFill>
                  <a:srgbClr val="8494A6"/>
                </a:solidFill>
                <a:latin typeface="Segoe UI"/>
              </a:rPr>
              <a:t>no golden-vector test for MX-2 parity</a:t>
            </a:r>
          </a:p>
        </p:txBody>
      </p:sp>
      <p:sp>
        <p:nvSpPr>
          <p:cNvPr id="67" name="Rectangle 66"/>
          <p:cNvSpPr/>
          <p:nvPr/>
        </p:nvSpPr>
        <p:spPr>
          <a:xfrm>
            <a:off x="8193023" y="4142232"/>
            <a:ext cx="64008" cy="64008"/>
          </a:xfrm>
          <a:prstGeom prst="rect">
            <a:avLst/>
          </a:prstGeom>
          <a:solidFill>
            <a:srgbClr val="FF443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8" name="TextBox 67"/>
          <p:cNvSpPr txBox="1"/>
          <p:nvPr/>
        </p:nvSpPr>
        <p:spPr>
          <a:xfrm>
            <a:off x="8394191" y="4078224"/>
            <a:ext cx="2962656" cy="457200"/>
          </a:xfrm>
          <a:prstGeom prst="rect">
            <a:avLst/>
          </a:prstGeom>
          <a:noFill/>
        </p:spPr>
        <p:txBody>
          <a:bodyPr wrap="square" lIns="0" tIns="0" rIns="0" bIns="0" anchor="t">
            <a:spAutoFit/>
          </a:bodyPr>
          <a:lstStyle/>
          <a:p>
            <a:pPr algn="l">
              <a:lnSpc>
                <a:spcPct val="130000"/>
              </a:lnSpc>
              <a:spcAft>
                <a:spcPts val="0"/>
              </a:spcAft>
            </a:pPr>
            <a:r>
              <a:rPr sz="1050" b="0" i="0">
                <a:solidFill>
                  <a:srgbClr val="8494A6"/>
                </a:solidFill>
                <a:latin typeface="Segoe UI"/>
              </a:rPr>
              <a:t>supply channel reads ≈2 % high, uninvestigated</a:t>
            </a:r>
          </a:p>
        </p:txBody>
      </p:sp>
      <p:sp>
        <p:nvSpPr>
          <p:cNvPr id="69" name="Rectangle 68"/>
          <p:cNvSpPr/>
          <p:nvPr/>
        </p:nvSpPr>
        <p:spPr>
          <a:xfrm>
            <a:off x="8193023" y="4599432"/>
            <a:ext cx="64008" cy="64008"/>
          </a:xfrm>
          <a:prstGeom prst="rect">
            <a:avLst/>
          </a:prstGeom>
          <a:solidFill>
            <a:srgbClr val="FF443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0" name="TextBox 69"/>
          <p:cNvSpPr txBox="1"/>
          <p:nvPr/>
        </p:nvSpPr>
        <p:spPr>
          <a:xfrm>
            <a:off x="8394191" y="4535424"/>
            <a:ext cx="2962656" cy="457200"/>
          </a:xfrm>
          <a:prstGeom prst="rect">
            <a:avLst/>
          </a:prstGeom>
          <a:noFill/>
        </p:spPr>
        <p:txBody>
          <a:bodyPr wrap="square" lIns="0" tIns="0" rIns="0" bIns="0" anchor="t">
            <a:spAutoFit/>
          </a:bodyPr>
          <a:lstStyle/>
          <a:p>
            <a:pPr algn="l">
              <a:lnSpc>
                <a:spcPct val="130000"/>
              </a:lnSpc>
              <a:spcAft>
                <a:spcPts val="0"/>
              </a:spcAft>
            </a:pPr>
            <a:r>
              <a:rPr sz="1050" b="0" i="0">
                <a:solidFill>
                  <a:srgbClr val="8494A6"/>
                </a:solidFill>
                <a:latin typeface="Segoe UI"/>
              </a:rPr>
              <a:t>mains accuracy never verified against a DMM</a:t>
            </a:r>
          </a:p>
        </p:txBody>
      </p:sp>
      <p:sp>
        <p:nvSpPr>
          <p:cNvPr id="71" name="Rectangle 70"/>
          <p:cNvSpPr/>
          <p:nvPr/>
        </p:nvSpPr>
        <p:spPr>
          <a:xfrm>
            <a:off x="640080" y="5669280"/>
            <a:ext cx="10908792" cy="9525"/>
          </a:xfrm>
          <a:prstGeom prst="rect">
            <a:avLst/>
          </a:prstGeom>
          <a:solidFill>
            <a:srgbClr val="2C364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2" name="TextBox 71"/>
          <p:cNvSpPr txBox="1"/>
          <p:nvPr/>
        </p:nvSpPr>
        <p:spPr>
          <a:xfrm>
            <a:off x="640080" y="5852160"/>
            <a:ext cx="10908792" cy="548640"/>
          </a:xfrm>
          <a:prstGeom prst="rect">
            <a:avLst/>
          </a:prstGeom>
          <a:noFill/>
        </p:spPr>
        <p:txBody>
          <a:bodyPr wrap="square" lIns="0" tIns="0" rIns="0" bIns="0">
            <a:spAutoFit/>
          </a:bodyPr>
          <a:lstStyle/>
          <a:p>
            <a:pPr algn="l">
              <a:lnSpc>
                <a:spcPct val="135000"/>
              </a:lnSpc>
              <a:spcAft>
                <a:spcPts val="600"/>
              </a:spcAft>
            </a:pPr>
            <a:r>
              <a:rPr sz="1200" b="1">
                <a:solidFill>
                  <a:srgbClr val="E6EDF3"/>
                </a:solidFill>
                <a:latin typeface="Segoe UI"/>
              </a:rPr>
              <a:t>The PC head-end was superseded, not skipped.  </a:t>
            </a:r>
            <a:r>
              <a:rPr sz="1200" b="0">
                <a:solidFill>
                  <a:srgbClr val="8494A6"/>
                </a:solidFill>
                <a:latin typeface="Segoe UI"/>
              </a:rPr>
              <a:t>HE-1…HE-5 were written before the Android app existed. The phone is the head-end now, and those five requirements should be rewritten to say so rather than left looking failed.</a:t>
            </a:r>
          </a:p>
        </p:txBody>
      </p:sp>
      <p:sp>
        <p:nvSpPr>
          <p:cNvPr id="73" name="Rectangle 72"/>
          <p:cNvSpPr/>
          <p:nvPr/>
        </p:nvSpPr>
        <p:spPr>
          <a:xfrm>
            <a:off x="640080" y="6382512"/>
            <a:ext cx="10908792" cy="9525"/>
          </a:xfrm>
          <a:prstGeom prst="rect">
            <a:avLst/>
          </a:prstGeom>
          <a:solidFill>
            <a:srgbClr val="2C364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4" name="TextBox 73"/>
          <p:cNvSpPr txBox="1"/>
          <p:nvPr/>
        </p:nvSpPr>
        <p:spPr>
          <a:xfrm>
            <a:off x="640080" y="6492240"/>
            <a:ext cx="7315200" cy="237744"/>
          </a:xfrm>
          <a:prstGeom prst="rect">
            <a:avLst/>
          </a:prstGeom>
          <a:noFill/>
        </p:spPr>
        <p:txBody>
          <a:bodyPr wrap="square" lIns="0" tIns="0" rIns="0" bIns="0" anchor="t">
            <a:spAutoFit/>
          </a:bodyPr>
          <a:lstStyle/>
          <a:p>
            <a:pPr algn="l">
              <a:lnSpc>
                <a:spcPct val="112000"/>
              </a:lnSpc>
              <a:spcAft>
                <a:spcPts val="0"/>
              </a:spcAft>
            </a:pPr>
            <a:r>
              <a:rPr sz="850" b="0" i="0">
                <a:solidFill>
                  <a:srgbClr val="5A6878"/>
                </a:solidFill>
                <a:latin typeface="Consolas"/>
              </a:rPr>
              <a:t>OSOS · DKM-440 remote meter reading</a:t>
            </a:r>
          </a:p>
        </p:txBody>
      </p:sp>
      <p:sp>
        <p:nvSpPr>
          <p:cNvPr id="75" name="TextBox 74"/>
          <p:cNvSpPr txBox="1"/>
          <p:nvPr/>
        </p:nvSpPr>
        <p:spPr>
          <a:xfrm>
            <a:off x="10177272" y="6492240"/>
            <a:ext cx="1371600" cy="237744"/>
          </a:xfrm>
          <a:prstGeom prst="rect">
            <a:avLst/>
          </a:prstGeom>
          <a:noFill/>
        </p:spPr>
        <p:txBody>
          <a:bodyPr wrap="square" lIns="0" tIns="0" rIns="0" bIns="0" anchor="t">
            <a:spAutoFit/>
          </a:bodyPr>
          <a:lstStyle/>
          <a:p>
            <a:pPr algn="r">
              <a:lnSpc>
                <a:spcPct val="112000"/>
              </a:lnSpc>
              <a:spcAft>
                <a:spcPts val="0"/>
              </a:spcAft>
            </a:pPr>
            <a:r>
              <a:rPr sz="850" b="0" i="0">
                <a:solidFill>
                  <a:srgbClr val="5A6878"/>
                </a:solidFill>
                <a:latin typeface="Consolas"/>
              </a:rPr>
              <a:t>15</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D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274320"/>
            <a:ext cx="5852160" cy="219456"/>
          </a:xfrm>
          <a:prstGeom prst="rect">
            <a:avLst/>
          </a:prstGeom>
          <a:noFill/>
        </p:spPr>
        <p:txBody>
          <a:bodyPr wrap="square" lIns="0" tIns="0" rIns="0" bIns="0" anchor="t">
            <a:spAutoFit/>
          </a:bodyPr>
          <a:lstStyle/>
          <a:p>
            <a:pPr algn="l">
              <a:lnSpc>
                <a:spcPct val="100000"/>
              </a:lnSpc>
              <a:spcAft>
                <a:spcPts val="0"/>
              </a:spcAft>
            </a:pPr>
            <a:r>
              <a:rPr sz="900" b="0" i="0">
                <a:solidFill>
                  <a:srgbClr val="63D2E8"/>
                </a:solidFill>
                <a:latin typeface="Consolas"/>
              </a:rPr>
              <a:t>DOCS/IKOM_APPLICATIONS.MD · 2026-07-31</a:t>
            </a:r>
          </a:p>
        </p:txBody>
      </p:sp>
      <p:sp>
        <p:nvSpPr>
          <p:cNvPr id="4" name="TextBox 3"/>
          <p:cNvSpPr txBox="1"/>
          <p:nvPr/>
        </p:nvSpPr>
        <p:spPr>
          <a:xfrm>
            <a:off x="640080" y="493776"/>
            <a:ext cx="5870448" cy="640080"/>
          </a:xfrm>
          <a:prstGeom prst="rect">
            <a:avLst/>
          </a:prstGeom>
          <a:noFill/>
        </p:spPr>
        <p:txBody>
          <a:bodyPr wrap="square" lIns="0" tIns="0" rIns="0" bIns="0" anchor="b">
            <a:spAutoFit/>
          </a:bodyPr>
          <a:lstStyle/>
          <a:p>
            <a:pPr algn="l">
              <a:lnSpc>
                <a:spcPct val="100000"/>
              </a:lnSpc>
              <a:spcAft>
                <a:spcPts val="0"/>
              </a:spcAft>
            </a:pPr>
            <a:r>
              <a:rPr sz="2700" b="0" i="0">
                <a:solidFill>
                  <a:srgbClr val="E6EDF3"/>
                </a:solidFill>
                <a:latin typeface="Bahnschrift SemiBold"/>
              </a:rPr>
              <a:t>What this is worth to IKOM</a:t>
            </a:r>
          </a:p>
        </p:txBody>
      </p:sp>
      <p:sp>
        <p:nvSpPr>
          <p:cNvPr id="5" name="Rectangle 4"/>
          <p:cNvSpPr/>
          <p:nvPr/>
        </p:nvSpPr>
        <p:spPr>
          <a:xfrm>
            <a:off x="6726783" y="583844"/>
            <a:ext cx="1083106" cy="12700"/>
          </a:xfrm>
          <a:prstGeom prst="rect">
            <a:avLst/>
          </a:prstGeom>
          <a:solidFill>
            <a:srgbClr val="2E7D8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Rectangle 5"/>
          <p:cNvSpPr/>
          <p:nvPr/>
        </p:nvSpPr>
        <p:spPr>
          <a:xfrm>
            <a:off x="6617970" y="548640"/>
            <a:ext cx="77724" cy="77724"/>
          </a:xfrm>
          <a:prstGeom prst="rect">
            <a:avLst/>
          </a:prstGeom>
          <a:solidFill>
            <a:srgbClr val="63D2E8"/>
          </a:solidFill>
          <a:ln w="12700">
            <a:solidFill>
              <a:srgbClr val="63D2E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6045327" y="694944"/>
            <a:ext cx="1223010" cy="201168"/>
          </a:xfrm>
          <a:prstGeom prst="rect">
            <a:avLst/>
          </a:prstGeom>
          <a:noFill/>
        </p:spPr>
        <p:txBody>
          <a:bodyPr wrap="square" lIns="0" tIns="0" rIns="0" bIns="0" anchor="t">
            <a:spAutoFit/>
          </a:bodyPr>
          <a:lstStyle/>
          <a:p>
            <a:pPr algn="ctr">
              <a:lnSpc>
                <a:spcPct val="100000"/>
              </a:lnSpc>
              <a:spcAft>
                <a:spcPts val="0"/>
              </a:spcAft>
            </a:pPr>
            <a:r>
              <a:rPr sz="750" b="0" i="0">
                <a:solidFill>
                  <a:srgbClr val="63D2E8"/>
                </a:solidFill>
                <a:latin typeface="Bahnschrift SemiBold"/>
              </a:rPr>
              <a:t>METER</a:t>
            </a:r>
          </a:p>
        </p:txBody>
      </p:sp>
      <p:sp>
        <p:nvSpPr>
          <p:cNvPr id="8" name="Rectangle 7"/>
          <p:cNvSpPr/>
          <p:nvPr/>
        </p:nvSpPr>
        <p:spPr>
          <a:xfrm>
            <a:off x="7949793" y="583844"/>
            <a:ext cx="1083106" cy="12700"/>
          </a:xfrm>
          <a:prstGeom prst="rect">
            <a:avLst/>
          </a:prstGeom>
          <a:solidFill>
            <a:srgbClr val="2E7D8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Rectangle 8"/>
          <p:cNvSpPr/>
          <p:nvPr/>
        </p:nvSpPr>
        <p:spPr>
          <a:xfrm>
            <a:off x="7840979" y="548640"/>
            <a:ext cx="77724" cy="77724"/>
          </a:xfrm>
          <a:prstGeom prst="rect">
            <a:avLst/>
          </a:prstGeom>
          <a:solidFill>
            <a:srgbClr val="63D2E8"/>
          </a:solidFill>
          <a:ln w="12700">
            <a:solidFill>
              <a:srgbClr val="63D2E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TextBox 9"/>
          <p:cNvSpPr txBox="1"/>
          <p:nvPr/>
        </p:nvSpPr>
        <p:spPr>
          <a:xfrm>
            <a:off x="7268337" y="694944"/>
            <a:ext cx="1223010" cy="201168"/>
          </a:xfrm>
          <a:prstGeom prst="rect">
            <a:avLst/>
          </a:prstGeom>
          <a:noFill/>
        </p:spPr>
        <p:txBody>
          <a:bodyPr wrap="square" lIns="0" tIns="0" rIns="0" bIns="0" anchor="t">
            <a:spAutoFit/>
          </a:bodyPr>
          <a:lstStyle/>
          <a:p>
            <a:pPr algn="ctr">
              <a:lnSpc>
                <a:spcPct val="100000"/>
              </a:lnSpc>
              <a:spcAft>
                <a:spcPts val="0"/>
              </a:spcAft>
            </a:pPr>
            <a:r>
              <a:rPr sz="750" b="0" i="0">
                <a:solidFill>
                  <a:srgbClr val="63D2E8"/>
                </a:solidFill>
                <a:latin typeface="Bahnschrift SemiBold"/>
              </a:rPr>
              <a:t>GATEWAY</a:t>
            </a:r>
          </a:p>
        </p:txBody>
      </p:sp>
      <p:sp>
        <p:nvSpPr>
          <p:cNvPr id="11" name="Rectangle 10"/>
          <p:cNvSpPr/>
          <p:nvPr/>
        </p:nvSpPr>
        <p:spPr>
          <a:xfrm>
            <a:off x="9172803" y="583844"/>
            <a:ext cx="1083106" cy="12700"/>
          </a:xfrm>
          <a:prstGeom prst="rect">
            <a:avLst/>
          </a:prstGeom>
          <a:solidFill>
            <a:srgbClr val="2E7D8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Rectangle 11"/>
          <p:cNvSpPr/>
          <p:nvPr/>
        </p:nvSpPr>
        <p:spPr>
          <a:xfrm>
            <a:off x="9063990" y="548640"/>
            <a:ext cx="77724" cy="77724"/>
          </a:xfrm>
          <a:prstGeom prst="rect">
            <a:avLst/>
          </a:prstGeom>
          <a:solidFill>
            <a:srgbClr val="63D2E8"/>
          </a:solidFill>
          <a:ln w="12700">
            <a:solidFill>
              <a:srgbClr val="63D2E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8491347" y="694944"/>
            <a:ext cx="1223010" cy="201168"/>
          </a:xfrm>
          <a:prstGeom prst="rect">
            <a:avLst/>
          </a:prstGeom>
          <a:noFill/>
        </p:spPr>
        <p:txBody>
          <a:bodyPr wrap="square" lIns="0" tIns="0" rIns="0" bIns="0" anchor="t">
            <a:spAutoFit/>
          </a:bodyPr>
          <a:lstStyle/>
          <a:p>
            <a:pPr algn="ctr">
              <a:lnSpc>
                <a:spcPct val="100000"/>
              </a:lnSpc>
              <a:spcAft>
                <a:spcPts val="0"/>
              </a:spcAft>
            </a:pPr>
            <a:r>
              <a:rPr sz="750" b="0" i="0">
                <a:solidFill>
                  <a:srgbClr val="63D2E8"/>
                </a:solidFill>
                <a:latin typeface="Bahnschrift SemiBold"/>
              </a:rPr>
              <a:t>BROKER</a:t>
            </a:r>
          </a:p>
        </p:txBody>
      </p:sp>
      <p:sp>
        <p:nvSpPr>
          <p:cNvPr id="14" name="Rectangle 13"/>
          <p:cNvSpPr/>
          <p:nvPr/>
        </p:nvSpPr>
        <p:spPr>
          <a:xfrm>
            <a:off x="10395813" y="583844"/>
            <a:ext cx="1083106" cy="12700"/>
          </a:xfrm>
          <a:prstGeom prst="rect">
            <a:avLst/>
          </a:prstGeom>
          <a:solidFill>
            <a:srgbClr val="2E7D8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Rectangle 14"/>
          <p:cNvSpPr/>
          <p:nvPr/>
        </p:nvSpPr>
        <p:spPr>
          <a:xfrm>
            <a:off x="10287000" y="548640"/>
            <a:ext cx="77724" cy="77724"/>
          </a:xfrm>
          <a:prstGeom prst="rect">
            <a:avLst/>
          </a:prstGeom>
          <a:solidFill>
            <a:srgbClr val="63D2E8"/>
          </a:solidFill>
          <a:ln w="12700">
            <a:solidFill>
              <a:srgbClr val="63D2E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TextBox 15"/>
          <p:cNvSpPr txBox="1"/>
          <p:nvPr/>
        </p:nvSpPr>
        <p:spPr>
          <a:xfrm>
            <a:off x="9714357" y="694944"/>
            <a:ext cx="1223010" cy="201168"/>
          </a:xfrm>
          <a:prstGeom prst="rect">
            <a:avLst/>
          </a:prstGeom>
          <a:noFill/>
        </p:spPr>
        <p:txBody>
          <a:bodyPr wrap="square" lIns="0" tIns="0" rIns="0" bIns="0" anchor="t">
            <a:spAutoFit/>
          </a:bodyPr>
          <a:lstStyle/>
          <a:p>
            <a:pPr algn="ctr">
              <a:lnSpc>
                <a:spcPct val="100000"/>
              </a:lnSpc>
              <a:spcAft>
                <a:spcPts val="0"/>
              </a:spcAft>
            </a:pPr>
            <a:r>
              <a:rPr sz="750" b="0" i="0">
                <a:solidFill>
                  <a:srgbClr val="63D2E8"/>
                </a:solidFill>
                <a:latin typeface="Bahnschrift SemiBold"/>
              </a:rPr>
              <a:t>PHONE</a:t>
            </a:r>
          </a:p>
        </p:txBody>
      </p:sp>
      <p:sp>
        <p:nvSpPr>
          <p:cNvPr id="17" name="Rectangle 16"/>
          <p:cNvSpPr/>
          <p:nvPr/>
        </p:nvSpPr>
        <p:spPr>
          <a:xfrm>
            <a:off x="11510009" y="548640"/>
            <a:ext cx="77724" cy="77724"/>
          </a:xfrm>
          <a:prstGeom prst="rect">
            <a:avLst/>
          </a:prstGeom>
          <a:solidFill>
            <a:srgbClr val="63D2E8"/>
          </a:solidFill>
          <a:ln w="12700">
            <a:solidFill>
              <a:srgbClr val="63D2E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TextBox 17"/>
          <p:cNvSpPr txBox="1"/>
          <p:nvPr/>
        </p:nvSpPr>
        <p:spPr>
          <a:xfrm>
            <a:off x="10937367" y="694944"/>
            <a:ext cx="1223010" cy="201168"/>
          </a:xfrm>
          <a:prstGeom prst="rect">
            <a:avLst/>
          </a:prstGeom>
          <a:noFill/>
        </p:spPr>
        <p:txBody>
          <a:bodyPr wrap="square" lIns="0" tIns="0" rIns="0" bIns="0" anchor="t">
            <a:spAutoFit/>
          </a:bodyPr>
          <a:lstStyle/>
          <a:p>
            <a:pPr algn="ctr">
              <a:lnSpc>
                <a:spcPct val="100000"/>
              </a:lnSpc>
              <a:spcAft>
                <a:spcPts val="0"/>
              </a:spcAft>
            </a:pPr>
            <a:r>
              <a:rPr sz="750" b="0" i="0">
                <a:solidFill>
                  <a:srgbClr val="63D2E8"/>
                </a:solidFill>
                <a:latin typeface="Bahnschrift SemiBold"/>
              </a:rPr>
              <a:t>NET</a:t>
            </a:r>
          </a:p>
        </p:txBody>
      </p:sp>
      <p:sp>
        <p:nvSpPr>
          <p:cNvPr id="19" name="Rectangle 18"/>
          <p:cNvSpPr/>
          <p:nvPr/>
        </p:nvSpPr>
        <p:spPr>
          <a:xfrm>
            <a:off x="640080" y="1225296"/>
            <a:ext cx="10908792" cy="9525"/>
          </a:xfrm>
          <a:prstGeom prst="rect">
            <a:avLst/>
          </a:prstGeom>
          <a:solidFill>
            <a:srgbClr val="2C364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Rectangle 19"/>
          <p:cNvSpPr/>
          <p:nvPr/>
        </p:nvSpPr>
        <p:spPr>
          <a:xfrm>
            <a:off x="640080" y="1220724"/>
            <a:ext cx="566928" cy="25400"/>
          </a:xfrm>
          <a:prstGeom prst="rect">
            <a:avLst/>
          </a:prstGeom>
          <a:solidFill>
            <a:srgbClr val="63D2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1" name="TextBox 20"/>
          <p:cNvSpPr txBox="1"/>
          <p:nvPr/>
        </p:nvSpPr>
        <p:spPr>
          <a:xfrm>
            <a:off x="640080" y="1536192"/>
            <a:ext cx="10908792" cy="457200"/>
          </a:xfrm>
          <a:prstGeom prst="rect">
            <a:avLst/>
          </a:prstGeom>
          <a:noFill/>
        </p:spPr>
        <p:txBody>
          <a:bodyPr wrap="square" lIns="0" tIns="0" rIns="0" bIns="0" anchor="t">
            <a:spAutoFit/>
          </a:bodyPr>
          <a:lstStyle/>
          <a:p>
            <a:pPr algn="l">
              <a:lnSpc>
                <a:spcPct val="110000"/>
              </a:lnSpc>
              <a:spcAft>
                <a:spcPts val="0"/>
              </a:spcAft>
            </a:pPr>
            <a:r>
              <a:rPr sz="1900" b="0" i="0">
                <a:solidFill>
                  <a:srgbClr val="63D2E8"/>
                </a:solidFill>
                <a:latin typeface="Bahnschrift SemiBold"/>
              </a:rPr>
              <a:t>The valuable line in the repository is the architecture, not the register map.</a:t>
            </a:r>
          </a:p>
        </p:txBody>
      </p:sp>
      <p:sp>
        <p:nvSpPr>
          <p:cNvPr id="22" name="TextBox 21"/>
          <p:cNvSpPr txBox="1"/>
          <p:nvPr/>
        </p:nvSpPr>
        <p:spPr>
          <a:xfrm>
            <a:off x="640080" y="1938528"/>
            <a:ext cx="10908792" cy="365760"/>
          </a:xfrm>
          <a:prstGeom prst="rect">
            <a:avLst/>
          </a:prstGeom>
          <a:noFill/>
        </p:spPr>
        <p:txBody>
          <a:bodyPr wrap="square" lIns="0" tIns="0" rIns="0" bIns="0" anchor="t">
            <a:spAutoFit/>
          </a:bodyPr>
          <a:lstStyle/>
          <a:p>
            <a:pPr algn="l">
              <a:lnSpc>
                <a:spcPct val="140000"/>
              </a:lnSpc>
              <a:spcAft>
                <a:spcPts val="0"/>
              </a:spcAft>
            </a:pPr>
            <a:r>
              <a:rPr sz="1200" b="0" i="0">
                <a:solidFill>
                  <a:srgbClr val="8494A6"/>
                </a:solidFill>
                <a:latin typeface="Segoe UI"/>
              </a:rPr>
              <a:t>Three of the four pieces built here are vendor-neutral. Any Modbus field device can go behind this gateway in about a day once its map is known — and the method for deriving an unknown map is itself written down.</a:t>
            </a:r>
          </a:p>
        </p:txBody>
      </p:sp>
      <p:sp>
        <p:nvSpPr>
          <p:cNvPr id="23" name="Rectangle 22"/>
          <p:cNvSpPr/>
          <p:nvPr/>
        </p:nvSpPr>
        <p:spPr>
          <a:xfrm>
            <a:off x="640080" y="2615184"/>
            <a:ext cx="10908792" cy="9525"/>
          </a:xfrm>
          <a:prstGeom prst="rect">
            <a:avLst/>
          </a:prstGeom>
          <a:solidFill>
            <a:srgbClr val="2C364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4" name="Rectangle 23"/>
          <p:cNvSpPr/>
          <p:nvPr/>
        </p:nvSpPr>
        <p:spPr>
          <a:xfrm>
            <a:off x="640080" y="2816352"/>
            <a:ext cx="2624328" cy="2212848"/>
          </a:xfrm>
          <a:prstGeom prst="rect">
            <a:avLst/>
          </a:prstGeom>
          <a:solidFill>
            <a:srgbClr val="161C24"/>
          </a:solidFill>
          <a:ln w="12700">
            <a:solidFill>
              <a:srgbClr val="2C364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5" name="Rectangle 24"/>
          <p:cNvSpPr/>
          <p:nvPr/>
        </p:nvSpPr>
        <p:spPr>
          <a:xfrm>
            <a:off x="640080" y="2816352"/>
            <a:ext cx="2624328" cy="31750"/>
          </a:xfrm>
          <a:prstGeom prst="rect">
            <a:avLst/>
          </a:prstGeom>
          <a:solidFill>
            <a:srgbClr val="63D2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6" name="TextBox 25"/>
          <p:cNvSpPr txBox="1"/>
          <p:nvPr/>
        </p:nvSpPr>
        <p:spPr>
          <a:xfrm>
            <a:off x="822959" y="3017520"/>
            <a:ext cx="2258568" cy="274320"/>
          </a:xfrm>
          <a:prstGeom prst="rect">
            <a:avLst/>
          </a:prstGeom>
          <a:noFill/>
        </p:spPr>
        <p:txBody>
          <a:bodyPr wrap="square" lIns="0" tIns="0" rIns="0" bIns="0" anchor="t">
            <a:spAutoFit/>
          </a:bodyPr>
          <a:lstStyle/>
          <a:p>
            <a:pPr algn="l">
              <a:lnSpc>
                <a:spcPct val="112000"/>
              </a:lnSpc>
              <a:spcAft>
                <a:spcPts val="0"/>
              </a:spcAft>
            </a:pPr>
            <a:r>
              <a:rPr sz="1500" b="0" i="0">
                <a:solidFill>
                  <a:srgbClr val="E6EDF3"/>
                </a:solidFill>
                <a:latin typeface="Bahnschrift SemiBold"/>
              </a:rPr>
              <a:t>Submetering</a:t>
            </a:r>
          </a:p>
        </p:txBody>
      </p:sp>
      <p:sp>
        <p:nvSpPr>
          <p:cNvPr id="27" name="TextBox 26"/>
          <p:cNvSpPr txBox="1"/>
          <p:nvPr/>
        </p:nvSpPr>
        <p:spPr>
          <a:xfrm>
            <a:off x="822959" y="3310128"/>
            <a:ext cx="2258568" cy="201168"/>
          </a:xfrm>
          <a:prstGeom prst="rect">
            <a:avLst/>
          </a:prstGeom>
          <a:noFill/>
        </p:spPr>
        <p:txBody>
          <a:bodyPr wrap="square" lIns="0" tIns="0" rIns="0" bIns="0" anchor="t">
            <a:spAutoFit/>
          </a:bodyPr>
          <a:lstStyle/>
          <a:p>
            <a:pPr algn="l">
              <a:lnSpc>
                <a:spcPct val="112000"/>
              </a:lnSpc>
              <a:spcAft>
                <a:spcPts val="0"/>
              </a:spcAft>
            </a:pPr>
            <a:r>
              <a:rPr sz="800" b="0" i="0">
                <a:solidFill>
                  <a:srgbClr val="63D2E8"/>
                </a:solidFill>
                <a:latin typeface="Consolas"/>
              </a:rPr>
              <a:t>RECOMMENDED FIRST</a:t>
            </a:r>
          </a:p>
        </p:txBody>
      </p:sp>
      <p:sp>
        <p:nvSpPr>
          <p:cNvPr id="28" name="TextBox 27"/>
          <p:cNvSpPr txBox="1"/>
          <p:nvPr/>
        </p:nvSpPr>
        <p:spPr>
          <a:xfrm>
            <a:off x="822959" y="3584448"/>
            <a:ext cx="2258568" cy="1280160"/>
          </a:xfrm>
          <a:prstGeom prst="rect">
            <a:avLst/>
          </a:prstGeom>
          <a:noFill/>
        </p:spPr>
        <p:txBody>
          <a:bodyPr wrap="square" lIns="0" tIns="0" rIns="0" bIns="0" anchor="t">
            <a:spAutoFit/>
          </a:bodyPr>
          <a:lstStyle/>
          <a:p>
            <a:pPr algn="l">
              <a:lnSpc>
                <a:spcPct val="138000"/>
              </a:lnSpc>
              <a:spcAft>
                <a:spcPts val="0"/>
              </a:spcAft>
            </a:pPr>
            <a:r>
              <a:rPr sz="1000" b="0" i="0">
                <a:solidFill>
                  <a:srgbClr val="8494A6"/>
                </a:solidFill>
                <a:latin typeface="Segoe UI"/>
              </a:rPr>
              <a:t>One DKM-440 covers 30 single-phase feeders — an entire distribution panel at one Modbus address. Apartment blocks, shopping centres, organised industrial zones. One meter, one gateway, thirty billable circuits.</a:t>
            </a:r>
          </a:p>
        </p:txBody>
      </p:sp>
      <p:sp>
        <p:nvSpPr>
          <p:cNvPr id="29" name="Rectangle 28"/>
          <p:cNvSpPr/>
          <p:nvPr/>
        </p:nvSpPr>
        <p:spPr>
          <a:xfrm>
            <a:off x="3396996" y="2816352"/>
            <a:ext cx="2624328" cy="2212848"/>
          </a:xfrm>
          <a:prstGeom prst="rect">
            <a:avLst/>
          </a:prstGeom>
          <a:solidFill>
            <a:srgbClr val="161C24"/>
          </a:solidFill>
          <a:ln w="12700">
            <a:solidFill>
              <a:srgbClr val="2C364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0" name="Rectangle 29"/>
          <p:cNvSpPr/>
          <p:nvPr/>
        </p:nvSpPr>
        <p:spPr>
          <a:xfrm>
            <a:off x="3396996" y="2816352"/>
            <a:ext cx="2624328" cy="31750"/>
          </a:xfrm>
          <a:prstGeom prst="rect">
            <a:avLst/>
          </a:prstGeom>
          <a:solidFill>
            <a:srgbClr val="C89A5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1" name="TextBox 30"/>
          <p:cNvSpPr txBox="1"/>
          <p:nvPr/>
        </p:nvSpPr>
        <p:spPr>
          <a:xfrm>
            <a:off x="3579876" y="3017520"/>
            <a:ext cx="2258568" cy="274320"/>
          </a:xfrm>
          <a:prstGeom prst="rect">
            <a:avLst/>
          </a:prstGeom>
          <a:noFill/>
        </p:spPr>
        <p:txBody>
          <a:bodyPr wrap="square" lIns="0" tIns="0" rIns="0" bIns="0" anchor="t">
            <a:spAutoFit/>
          </a:bodyPr>
          <a:lstStyle/>
          <a:p>
            <a:pPr algn="l">
              <a:lnSpc>
                <a:spcPct val="112000"/>
              </a:lnSpc>
              <a:spcAft>
                <a:spcPts val="0"/>
              </a:spcAft>
            </a:pPr>
            <a:r>
              <a:rPr sz="1500" b="0" i="0">
                <a:solidFill>
                  <a:srgbClr val="E6EDF3"/>
                </a:solidFill>
                <a:latin typeface="Bahnschrift SemiBold"/>
              </a:rPr>
              <a:t>Power quality</a:t>
            </a:r>
          </a:p>
        </p:txBody>
      </p:sp>
      <p:sp>
        <p:nvSpPr>
          <p:cNvPr id="32" name="TextBox 31"/>
          <p:cNvSpPr txBox="1"/>
          <p:nvPr/>
        </p:nvSpPr>
        <p:spPr>
          <a:xfrm>
            <a:off x="3579876" y="3310128"/>
            <a:ext cx="2258568" cy="201168"/>
          </a:xfrm>
          <a:prstGeom prst="rect">
            <a:avLst/>
          </a:prstGeom>
          <a:noFill/>
        </p:spPr>
        <p:txBody>
          <a:bodyPr wrap="square" lIns="0" tIns="0" rIns="0" bIns="0" anchor="t">
            <a:spAutoFit/>
          </a:bodyPr>
          <a:lstStyle/>
          <a:p>
            <a:pPr algn="l">
              <a:lnSpc>
                <a:spcPct val="112000"/>
              </a:lnSpc>
              <a:spcAft>
                <a:spcPts val="0"/>
              </a:spcAft>
            </a:pPr>
            <a:r>
              <a:rPr sz="800" b="0" i="0">
                <a:solidFill>
                  <a:srgbClr val="C89A5B"/>
                </a:solidFill>
                <a:latin typeface="Consolas"/>
              </a:rPr>
              <a:t>BEST MARGIN</a:t>
            </a:r>
          </a:p>
        </p:txBody>
      </p:sp>
      <p:sp>
        <p:nvSpPr>
          <p:cNvPr id="33" name="TextBox 32"/>
          <p:cNvSpPr txBox="1"/>
          <p:nvPr/>
        </p:nvSpPr>
        <p:spPr>
          <a:xfrm>
            <a:off x="3579876" y="3584448"/>
            <a:ext cx="2258568" cy="1280160"/>
          </a:xfrm>
          <a:prstGeom prst="rect">
            <a:avLst/>
          </a:prstGeom>
          <a:noFill/>
        </p:spPr>
        <p:txBody>
          <a:bodyPr wrap="square" lIns="0" tIns="0" rIns="0" bIns="0" anchor="t">
            <a:spAutoFit/>
          </a:bodyPr>
          <a:lstStyle/>
          <a:p>
            <a:pPr algn="l">
              <a:lnSpc>
                <a:spcPct val="138000"/>
              </a:lnSpc>
              <a:spcAft>
                <a:spcPts val="0"/>
              </a:spcAft>
            </a:pPr>
            <a:r>
              <a:rPr sz="1000" b="0" i="0">
                <a:solidFill>
                  <a:srgbClr val="8494A6"/>
                </a:solidFill>
                <a:latin typeface="Segoe UI"/>
              </a:rPr>
              <a:t>The meter measures harmonics to the 17th, THD-V/I and imbalance — none of it currently exposed. Instrument a plant for a fortnight, produce a report, recommend filters. Sells expertise, not boxes.</a:t>
            </a:r>
          </a:p>
        </p:txBody>
      </p:sp>
      <p:sp>
        <p:nvSpPr>
          <p:cNvPr id="34" name="Rectangle 33"/>
          <p:cNvSpPr/>
          <p:nvPr/>
        </p:nvSpPr>
        <p:spPr>
          <a:xfrm>
            <a:off x="6153912" y="2816352"/>
            <a:ext cx="2624328" cy="2212848"/>
          </a:xfrm>
          <a:prstGeom prst="rect">
            <a:avLst/>
          </a:prstGeom>
          <a:solidFill>
            <a:srgbClr val="161C24"/>
          </a:solidFill>
          <a:ln w="12700">
            <a:solidFill>
              <a:srgbClr val="2C364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5" name="Rectangle 34"/>
          <p:cNvSpPr/>
          <p:nvPr/>
        </p:nvSpPr>
        <p:spPr>
          <a:xfrm>
            <a:off x="6153912" y="2816352"/>
            <a:ext cx="2624328" cy="31750"/>
          </a:xfrm>
          <a:prstGeom prst="rect">
            <a:avLst/>
          </a:prstGeom>
          <a:solidFill>
            <a:srgbClr val="63D2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6" name="TextBox 35"/>
          <p:cNvSpPr txBox="1"/>
          <p:nvPr/>
        </p:nvSpPr>
        <p:spPr>
          <a:xfrm>
            <a:off x="6336792" y="3017520"/>
            <a:ext cx="2258568" cy="274320"/>
          </a:xfrm>
          <a:prstGeom prst="rect">
            <a:avLst/>
          </a:prstGeom>
          <a:noFill/>
        </p:spPr>
        <p:txBody>
          <a:bodyPr wrap="square" lIns="0" tIns="0" rIns="0" bIns="0" anchor="t">
            <a:spAutoFit/>
          </a:bodyPr>
          <a:lstStyle/>
          <a:p>
            <a:pPr algn="l">
              <a:lnSpc>
                <a:spcPct val="112000"/>
              </a:lnSpc>
              <a:spcAft>
                <a:spcPts val="0"/>
              </a:spcAft>
            </a:pPr>
            <a:r>
              <a:rPr sz="1500" b="0" i="0">
                <a:solidFill>
                  <a:srgbClr val="E6EDF3"/>
                </a:solidFill>
                <a:latin typeface="Bahnschrift SemiBold"/>
              </a:rPr>
              <a:t>OSOS as a service</a:t>
            </a:r>
          </a:p>
        </p:txBody>
      </p:sp>
      <p:sp>
        <p:nvSpPr>
          <p:cNvPr id="37" name="TextBox 36"/>
          <p:cNvSpPr txBox="1"/>
          <p:nvPr/>
        </p:nvSpPr>
        <p:spPr>
          <a:xfrm>
            <a:off x="6336792" y="3310128"/>
            <a:ext cx="2258568" cy="201168"/>
          </a:xfrm>
          <a:prstGeom prst="rect">
            <a:avLst/>
          </a:prstGeom>
          <a:noFill/>
        </p:spPr>
        <p:txBody>
          <a:bodyPr wrap="square" lIns="0" tIns="0" rIns="0" bIns="0" anchor="t">
            <a:spAutoFit/>
          </a:bodyPr>
          <a:lstStyle/>
          <a:p>
            <a:pPr algn="l">
              <a:lnSpc>
                <a:spcPct val="112000"/>
              </a:lnSpc>
              <a:spcAft>
                <a:spcPts val="0"/>
              </a:spcAft>
            </a:pPr>
            <a:r>
              <a:rPr sz="800" b="0" i="0">
                <a:solidFill>
                  <a:srgbClr val="63D2E8"/>
                </a:solidFill>
                <a:latin typeface="Consolas"/>
              </a:rPr>
              <a:t>SHORTEST PATH TO REVENUE</a:t>
            </a:r>
          </a:p>
        </p:txBody>
      </p:sp>
      <p:sp>
        <p:nvSpPr>
          <p:cNvPr id="38" name="TextBox 37"/>
          <p:cNvSpPr txBox="1"/>
          <p:nvPr/>
        </p:nvSpPr>
        <p:spPr>
          <a:xfrm>
            <a:off x="6336792" y="3584448"/>
            <a:ext cx="2258568" cy="1280160"/>
          </a:xfrm>
          <a:prstGeom prst="rect">
            <a:avLst/>
          </a:prstGeom>
          <a:noFill/>
        </p:spPr>
        <p:txBody>
          <a:bodyPr wrap="square" lIns="0" tIns="0" rIns="0" bIns="0" anchor="t">
            <a:spAutoFit/>
          </a:bodyPr>
          <a:lstStyle/>
          <a:p>
            <a:pPr algn="l">
              <a:lnSpc>
                <a:spcPct val="138000"/>
              </a:lnSpc>
              <a:spcAft>
                <a:spcPts val="0"/>
              </a:spcAft>
            </a:pPr>
            <a:r>
              <a:rPr sz="1000" b="0" i="0">
                <a:solidFill>
                  <a:srgbClr val="8494A6"/>
                </a:solidFill>
                <a:latin typeface="Segoe UI"/>
              </a:rPr>
              <a:t>Automatic meter reading is regulated and recurring in Turkey. This is already most of a compliant reader; the gap is data integrity, history and a reporting front end — not new hardware.</a:t>
            </a:r>
          </a:p>
        </p:txBody>
      </p:sp>
      <p:sp>
        <p:nvSpPr>
          <p:cNvPr id="39" name="Rectangle 38"/>
          <p:cNvSpPr/>
          <p:nvPr/>
        </p:nvSpPr>
        <p:spPr>
          <a:xfrm>
            <a:off x="8910828" y="2816352"/>
            <a:ext cx="2624328" cy="2212848"/>
          </a:xfrm>
          <a:prstGeom prst="rect">
            <a:avLst/>
          </a:prstGeom>
          <a:solidFill>
            <a:srgbClr val="161C24"/>
          </a:solidFill>
          <a:ln w="12700">
            <a:solidFill>
              <a:srgbClr val="2C364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0" name="Rectangle 39"/>
          <p:cNvSpPr/>
          <p:nvPr/>
        </p:nvSpPr>
        <p:spPr>
          <a:xfrm>
            <a:off x="8910828" y="2816352"/>
            <a:ext cx="2624328" cy="31750"/>
          </a:xfrm>
          <a:prstGeom prst="rect">
            <a:avLst/>
          </a:prstGeom>
          <a:solidFill>
            <a:srgbClr val="63D2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1" name="TextBox 40"/>
          <p:cNvSpPr txBox="1"/>
          <p:nvPr/>
        </p:nvSpPr>
        <p:spPr>
          <a:xfrm>
            <a:off x="9093707" y="3017520"/>
            <a:ext cx="2258568" cy="274320"/>
          </a:xfrm>
          <a:prstGeom prst="rect">
            <a:avLst/>
          </a:prstGeom>
          <a:noFill/>
        </p:spPr>
        <p:txBody>
          <a:bodyPr wrap="square" lIns="0" tIns="0" rIns="0" bIns="0" anchor="t">
            <a:spAutoFit/>
          </a:bodyPr>
          <a:lstStyle/>
          <a:p>
            <a:pPr algn="l">
              <a:lnSpc>
                <a:spcPct val="112000"/>
              </a:lnSpc>
              <a:spcAft>
                <a:spcPts val="0"/>
              </a:spcAft>
            </a:pPr>
            <a:r>
              <a:rPr sz="1500" b="0" i="0">
                <a:solidFill>
                  <a:srgbClr val="E6EDF3"/>
                </a:solidFill>
                <a:latin typeface="Bahnschrift SemiBold"/>
              </a:rPr>
              <a:t>Street lighting</a:t>
            </a:r>
          </a:p>
        </p:txBody>
      </p:sp>
      <p:sp>
        <p:nvSpPr>
          <p:cNvPr id="42" name="TextBox 41"/>
          <p:cNvSpPr txBox="1"/>
          <p:nvPr/>
        </p:nvSpPr>
        <p:spPr>
          <a:xfrm>
            <a:off x="9093707" y="3584448"/>
            <a:ext cx="2258568" cy="1280160"/>
          </a:xfrm>
          <a:prstGeom prst="rect">
            <a:avLst/>
          </a:prstGeom>
          <a:noFill/>
        </p:spPr>
        <p:txBody>
          <a:bodyPr wrap="square" lIns="0" tIns="0" rIns="0" bIns="0" anchor="t">
            <a:spAutoFit/>
          </a:bodyPr>
          <a:lstStyle/>
          <a:p>
            <a:pPr algn="l">
              <a:lnSpc>
                <a:spcPct val="138000"/>
              </a:lnSpc>
              <a:spcAft>
                <a:spcPts val="0"/>
              </a:spcAft>
            </a:pPr>
            <a:r>
              <a:rPr sz="1000" b="0" i="0">
                <a:solidFill>
                  <a:srgbClr val="8494A6"/>
                </a:solidFill>
                <a:latin typeface="Segoe UI"/>
              </a:rPr>
              <a:t>An astronomical time relay plus two remotely drivable relays, in the same box as the measurement. Municipal lighting maps onto it almost exactly.</a:t>
            </a:r>
          </a:p>
        </p:txBody>
      </p:sp>
      <p:sp>
        <p:nvSpPr>
          <p:cNvPr id="43" name="TextBox 42"/>
          <p:cNvSpPr txBox="1"/>
          <p:nvPr/>
        </p:nvSpPr>
        <p:spPr>
          <a:xfrm>
            <a:off x="640080" y="5230368"/>
            <a:ext cx="10908792" cy="237744"/>
          </a:xfrm>
          <a:prstGeom prst="rect">
            <a:avLst/>
          </a:prstGeom>
          <a:noFill/>
        </p:spPr>
        <p:txBody>
          <a:bodyPr wrap="square" lIns="0" tIns="0" rIns="0" bIns="0" anchor="t">
            <a:spAutoFit/>
          </a:bodyPr>
          <a:lstStyle/>
          <a:p>
            <a:pPr algn="l">
              <a:lnSpc>
                <a:spcPct val="112000"/>
              </a:lnSpc>
              <a:spcAft>
                <a:spcPts val="0"/>
              </a:spcAft>
            </a:pPr>
            <a:r>
              <a:rPr sz="900" b="0" i="0">
                <a:solidFill>
                  <a:srgbClr val="FF4438"/>
                </a:solidFill>
                <a:latin typeface="Bahnschrift SemiBold"/>
              </a:rPr>
              <a:t>BEFORE ANY OF THEM</a:t>
            </a:r>
          </a:p>
        </p:txBody>
      </p:sp>
      <p:sp>
        <p:nvSpPr>
          <p:cNvPr id="44" name="Rectangle 43"/>
          <p:cNvSpPr/>
          <p:nvPr/>
        </p:nvSpPr>
        <p:spPr>
          <a:xfrm>
            <a:off x="640080" y="5486400"/>
            <a:ext cx="10908792" cy="9525"/>
          </a:xfrm>
          <a:prstGeom prst="rect">
            <a:avLst/>
          </a:prstGeom>
          <a:solidFill>
            <a:srgbClr val="3D4A5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5" name="TextBox 44"/>
          <p:cNvSpPr txBox="1"/>
          <p:nvPr/>
        </p:nvSpPr>
        <p:spPr>
          <a:xfrm>
            <a:off x="640080" y="5669280"/>
            <a:ext cx="3474720" cy="237744"/>
          </a:xfrm>
          <a:prstGeom prst="rect">
            <a:avLst/>
          </a:prstGeom>
          <a:noFill/>
        </p:spPr>
        <p:txBody>
          <a:bodyPr wrap="square" lIns="0" tIns="0" rIns="0" bIns="0" anchor="t">
            <a:spAutoFit/>
          </a:bodyPr>
          <a:lstStyle/>
          <a:p>
            <a:pPr algn="l">
              <a:lnSpc>
                <a:spcPct val="112000"/>
              </a:lnSpc>
              <a:spcAft>
                <a:spcPts val="0"/>
              </a:spcAft>
            </a:pPr>
            <a:r>
              <a:rPr sz="1150" b="0" i="0">
                <a:solidFill>
                  <a:srgbClr val="FF4438"/>
                </a:solidFill>
                <a:latin typeface="Bahnschrift SemiBold"/>
              </a:rPr>
              <a:t>Store-and-forward</a:t>
            </a:r>
          </a:p>
        </p:txBody>
      </p:sp>
      <p:sp>
        <p:nvSpPr>
          <p:cNvPr id="46" name="TextBox 45"/>
          <p:cNvSpPr txBox="1"/>
          <p:nvPr/>
        </p:nvSpPr>
        <p:spPr>
          <a:xfrm>
            <a:off x="640080" y="5925312"/>
            <a:ext cx="3474720" cy="365760"/>
          </a:xfrm>
          <a:prstGeom prst="rect">
            <a:avLst/>
          </a:prstGeom>
          <a:noFill/>
        </p:spPr>
        <p:txBody>
          <a:bodyPr wrap="square" lIns="0" tIns="0" rIns="0" bIns="0" anchor="t">
            <a:spAutoFit/>
          </a:bodyPr>
          <a:lstStyle/>
          <a:p>
            <a:pPr algn="l">
              <a:lnSpc>
                <a:spcPct val="130000"/>
              </a:lnSpc>
              <a:spcAft>
                <a:spcPts val="0"/>
              </a:spcAft>
            </a:pPr>
            <a:r>
              <a:rPr sz="1000" b="0" i="0">
                <a:solidFill>
                  <a:srgbClr val="8494A6"/>
                </a:solidFill>
                <a:latin typeface="Segoe UI"/>
              </a:rPr>
              <a:t>a reader that silently drops data during a network blip cannot be a system of record</a:t>
            </a:r>
          </a:p>
        </p:txBody>
      </p:sp>
      <p:sp>
        <p:nvSpPr>
          <p:cNvPr id="47" name="TextBox 46"/>
          <p:cNvSpPr txBox="1"/>
          <p:nvPr/>
        </p:nvSpPr>
        <p:spPr>
          <a:xfrm>
            <a:off x="4315968" y="5669280"/>
            <a:ext cx="3474720" cy="237744"/>
          </a:xfrm>
          <a:prstGeom prst="rect">
            <a:avLst/>
          </a:prstGeom>
          <a:noFill/>
        </p:spPr>
        <p:txBody>
          <a:bodyPr wrap="square" lIns="0" tIns="0" rIns="0" bIns="0" anchor="t">
            <a:spAutoFit/>
          </a:bodyPr>
          <a:lstStyle/>
          <a:p>
            <a:pPr algn="l">
              <a:lnSpc>
                <a:spcPct val="112000"/>
              </a:lnSpc>
              <a:spcAft>
                <a:spcPts val="0"/>
              </a:spcAft>
            </a:pPr>
            <a:r>
              <a:rPr sz="1150" b="0" i="0">
                <a:solidFill>
                  <a:srgbClr val="FF4438"/>
                </a:solidFill>
                <a:latin typeface="Bahnschrift SemiBold"/>
              </a:rPr>
              <a:t>A historian</a:t>
            </a:r>
          </a:p>
        </p:txBody>
      </p:sp>
      <p:sp>
        <p:nvSpPr>
          <p:cNvPr id="48" name="TextBox 47"/>
          <p:cNvSpPr txBox="1"/>
          <p:nvPr/>
        </p:nvSpPr>
        <p:spPr>
          <a:xfrm>
            <a:off x="4315968" y="5925312"/>
            <a:ext cx="3474720" cy="365760"/>
          </a:xfrm>
          <a:prstGeom prst="rect">
            <a:avLst/>
          </a:prstGeom>
          <a:noFill/>
        </p:spPr>
        <p:txBody>
          <a:bodyPr wrap="square" lIns="0" tIns="0" rIns="0" bIns="0" anchor="t">
            <a:spAutoFit/>
          </a:bodyPr>
          <a:lstStyle/>
          <a:p>
            <a:pPr algn="l">
              <a:lnSpc>
                <a:spcPct val="130000"/>
              </a:lnSpc>
              <a:spcAft>
                <a:spcPts val="0"/>
              </a:spcAft>
            </a:pPr>
            <a:r>
              <a:rPr sz="1000" b="0" i="0">
                <a:solidFill>
                  <a:srgbClr val="8494A6"/>
                </a:solidFill>
                <a:latin typeface="Segoe UI"/>
              </a:rPr>
              <a:t>720 frames in RAM is monitoring; billing and compliance need durable history</a:t>
            </a:r>
          </a:p>
        </p:txBody>
      </p:sp>
      <p:sp>
        <p:nvSpPr>
          <p:cNvPr id="49" name="TextBox 48"/>
          <p:cNvSpPr txBox="1"/>
          <p:nvPr/>
        </p:nvSpPr>
        <p:spPr>
          <a:xfrm>
            <a:off x="7991855" y="5669280"/>
            <a:ext cx="3474720" cy="237744"/>
          </a:xfrm>
          <a:prstGeom prst="rect">
            <a:avLst/>
          </a:prstGeom>
          <a:noFill/>
        </p:spPr>
        <p:txBody>
          <a:bodyPr wrap="square" lIns="0" tIns="0" rIns="0" bIns="0" anchor="t">
            <a:spAutoFit/>
          </a:bodyPr>
          <a:lstStyle/>
          <a:p>
            <a:pPr algn="l">
              <a:lnSpc>
                <a:spcPct val="112000"/>
              </a:lnSpc>
              <a:spcAft>
                <a:spcPts val="0"/>
              </a:spcAft>
            </a:pPr>
            <a:r>
              <a:rPr sz="1150" b="0" i="0">
                <a:solidFill>
                  <a:srgbClr val="FF4438"/>
                </a:solidFill>
                <a:latin typeface="Bahnschrift SemiBold"/>
              </a:rPr>
              <a:t>Per-device credentials</a:t>
            </a:r>
          </a:p>
        </p:txBody>
      </p:sp>
      <p:sp>
        <p:nvSpPr>
          <p:cNvPr id="50" name="TextBox 49"/>
          <p:cNvSpPr txBox="1"/>
          <p:nvPr/>
        </p:nvSpPr>
        <p:spPr>
          <a:xfrm>
            <a:off x="7991855" y="5925312"/>
            <a:ext cx="3474720" cy="365760"/>
          </a:xfrm>
          <a:prstGeom prst="rect">
            <a:avLst/>
          </a:prstGeom>
          <a:noFill/>
        </p:spPr>
        <p:txBody>
          <a:bodyPr wrap="square" lIns="0" tIns="0" rIns="0" bIns="0" anchor="t">
            <a:spAutoFit/>
          </a:bodyPr>
          <a:lstStyle/>
          <a:p>
            <a:pPr algn="l">
              <a:lnSpc>
                <a:spcPct val="130000"/>
              </a:lnSpc>
              <a:spcAft>
                <a:spcPts val="0"/>
              </a:spcAft>
            </a:pPr>
            <a:r>
              <a:rPr sz="1000" b="0" i="0">
                <a:solidFill>
                  <a:srgbClr val="8494A6"/>
                </a:solidFill>
                <a:latin typeface="Segoe UI"/>
              </a:rPr>
              <a:t>cheap to fix now, expensive after the first customer site</a:t>
            </a:r>
          </a:p>
        </p:txBody>
      </p:sp>
      <p:sp>
        <p:nvSpPr>
          <p:cNvPr id="51" name="Rectangle 50"/>
          <p:cNvSpPr/>
          <p:nvPr/>
        </p:nvSpPr>
        <p:spPr>
          <a:xfrm>
            <a:off x="640080" y="6382512"/>
            <a:ext cx="10908792" cy="9525"/>
          </a:xfrm>
          <a:prstGeom prst="rect">
            <a:avLst/>
          </a:prstGeom>
          <a:solidFill>
            <a:srgbClr val="2C364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2" name="TextBox 51"/>
          <p:cNvSpPr txBox="1"/>
          <p:nvPr/>
        </p:nvSpPr>
        <p:spPr>
          <a:xfrm>
            <a:off x="640080" y="6492240"/>
            <a:ext cx="7315200" cy="237744"/>
          </a:xfrm>
          <a:prstGeom prst="rect">
            <a:avLst/>
          </a:prstGeom>
          <a:noFill/>
        </p:spPr>
        <p:txBody>
          <a:bodyPr wrap="square" lIns="0" tIns="0" rIns="0" bIns="0" anchor="t">
            <a:spAutoFit/>
          </a:bodyPr>
          <a:lstStyle/>
          <a:p>
            <a:pPr algn="l">
              <a:lnSpc>
                <a:spcPct val="112000"/>
              </a:lnSpc>
              <a:spcAft>
                <a:spcPts val="0"/>
              </a:spcAft>
            </a:pPr>
            <a:r>
              <a:rPr sz="850" b="0" i="0">
                <a:solidFill>
                  <a:srgbClr val="5A6878"/>
                </a:solidFill>
                <a:latin typeface="Consolas"/>
              </a:rPr>
              <a:t>OSOS · DKM-440 remote meter reading</a:t>
            </a:r>
          </a:p>
        </p:txBody>
      </p:sp>
      <p:sp>
        <p:nvSpPr>
          <p:cNvPr id="53" name="TextBox 52"/>
          <p:cNvSpPr txBox="1"/>
          <p:nvPr/>
        </p:nvSpPr>
        <p:spPr>
          <a:xfrm>
            <a:off x="10177272" y="6492240"/>
            <a:ext cx="1371600" cy="237744"/>
          </a:xfrm>
          <a:prstGeom prst="rect">
            <a:avLst/>
          </a:prstGeom>
          <a:noFill/>
        </p:spPr>
        <p:txBody>
          <a:bodyPr wrap="square" lIns="0" tIns="0" rIns="0" bIns="0" anchor="t">
            <a:spAutoFit/>
          </a:bodyPr>
          <a:lstStyle/>
          <a:p>
            <a:pPr algn="r">
              <a:lnSpc>
                <a:spcPct val="112000"/>
              </a:lnSpc>
              <a:spcAft>
                <a:spcPts val="0"/>
              </a:spcAft>
            </a:pPr>
            <a:r>
              <a:rPr sz="850" b="0" i="0">
                <a:solidFill>
                  <a:srgbClr val="5A6878"/>
                </a:solidFill>
                <a:latin typeface="Consolas"/>
              </a:rPr>
              <a:t>16</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D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274320"/>
            <a:ext cx="5852160" cy="219456"/>
          </a:xfrm>
          <a:prstGeom prst="rect">
            <a:avLst/>
          </a:prstGeom>
          <a:noFill/>
        </p:spPr>
        <p:txBody>
          <a:bodyPr wrap="square" lIns="0" tIns="0" rIns="0" bIns="0" anchor="t">
            <a:spAutoFit/>
          </a:bodyPr>
          <a:lstStyle/>
          <a:p>
            <a:pPr algn="l">
              <a:lnSpc>
                <a:spcPct val="100000"/>
              </a:lnSpc>
              <a:spcAft>
                <a:spcPts val="0"/>
              </a:spcAft>
            </a:pPr>
            <a:r>
              <a:rPr sz="900" b="0" i="0">
                <a:solidFill>
                  <a:srgbClr val="63D2E8"/>
                </a:solidFill>
                <a:latin typeface="Consolas"/>
              </a:rPr>
              <a:t>FOUR STEPS · DOCS/BROKER_ACL.MD CARRIES THE DETAIL</a:t>
            </a:r>
          </a:p>
        </p:txBody>
      </p:sp>
      <p:sp>
        <p:nvSpPr>
          <p:cNvPr id="4" name="TextBox 3"/>
          <p:cNvSpPr txBox="1"/>
          <p:nvPr/>
        </p:nvSpPr>
        <p:spPr>
          <a:xfrm>
            <a:off x="640080" y="493776"/>
            <a:ext cx="5870448" cy="640080"/>
          </a:xfrm>
          <a:prstGeom prst="rect">
            <a:avLst/>
          </a:prstGeom>
          <a:noFill/>
        </p:spPr>
        <p:txBody>
          <a:bodyPr wrap="square" lIns="0" tIns="0" rIns="0" bIns="0" anchor="b">
            <a:spAutoFit/>
          </a:bodyPr>
          <a:lstStyle/>
          <a:p>
            <a:pPr algn="l">
              <a:lnSpc>
                <a:spcPct val="100000"/>
              </a:lnSpc>
              <a:spcAft>
                <a:spcPts val="0"/>
              </a:spcAft>
            </a:pPr>
            <a:r>
              <a:rPr sz="2700" b="0" i="0">
                <a:solidFill>
                  <a:srgbClr val="E6EDF3"/>
                </a:solidFill>
                <a:latin typeface="Bahnschrift SemiBold"/>
              </a:rPr>
              <a:t>Putting it into production</a:t>
            </a:r>
          </a:p>
        </p:txBody>
      </p:sp>
      <p:sp>
        <p:nvSpPr>
          <p:cNvPr id="5" name="Rectangle 4"/>
          <p:cNvSpPr/>
          <p:nvPr/>
        </p:nvSpPr>
        <p:spPr>
          <a:xfrm>
            <a:off x="6726783" y="583844"/>
            <a:ext cx="1083106" cy="12700"/>
          </a:xfrm>
          <a:prstGeom prst="rect">
            <a:avLst/>
          </a:prstGeom>
          <a:solidFill>
            <a:srgbClr val="2E7D8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Rectangle 5"/>
          <p:cNvSpPr/>
          <p:nvPr/>
        </p:nvSpPr>
        <p:spPr>
          <a:xfrm>
            <a:off x="6617970" y="548640"/>
            <a:ext cx="77724" cy="77724"/>
          </a:xfrm>
          <a:prstGeom prst="rect">
            <a:avLst/>
          </a:prstGeom>
          <a:solidFill>
            <a:srgbClr val="63D2E8"/>
          </a:solidFill>
          <a:ln w="12700">
            <a:solidFill>
              <a:srgbClr val="63D2E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6045327" y="694944"/>
            <a:ext cx="1223010" cy="201168"/>
          </a:xfrm>
          <a:prstGeom prst="rect">
            <a:avLst/>
          </a:prstGeom>
          <a:noFill/>
        </p:spPr>
        <p:txBody>
          <a:bodyPr wrap="square" lIns="0" tIns="0" rIns="0" bIns="0" anchor="t">
            <a:spAutoFit/>
          </a:bodyPr>
          <a:lstStyle/>
          <a:p>
            <a:pPr algn="ctr">
              <a:lnSpc>
                <a:spcPct val="100000"/>
              </a:lnSpc>
              <a:spcAft>
                <a:spcPts val="0"/>
              </a:spcAft>
            </a:pPr>
            <a:r>
              <a:rPr sz="750" b="0" i="0">
                <a:solidFill>
                  <a:srgbClr val="63D2E8"/>
                </a:solidFill>
                <a:latin typeface="Bahnschrift SemiBold"/>
              </a:rPr>
              <a:t>METER</a:t>
            </a:r>
          </a:p>
        </p:txBody>
      </p:sp>
      <p:sp>
        <p:nvSpPr>
          <p:cNvPr id="8" name="Rectangle 7"/>
          <p:cNvSpPr/>
          <p:nvPr/>
        </p:nvSpPr>
        <p:spPr>
          <a:xfrm>
            <a:off x="7949793" y="583844"/>
            <a:ext cx="1083106" cy="12700"/>
          </a:xfrm>
          <a:prstGeom prst="rect">
            <a:avLst/>
          </a:prstGeom>
          <a:solidFill>
            <a:srgbClr val="2E7D8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Rectangle 8"/>
          <p:cNvSpPr/>
          <p:nvPr/>
        </p:nvSpPr>
        <p:spPr>
          <a:xfrm>
            <a:off x="7840979" y="548640"/>
            <a:ext cx="77724" cy="77724"/>
          </a:xfrm>
          <a:prstGeom prst="rect">
            <a:avLst/>
          </a:prstGeom>
          <a:solidFill>
            <a:srgbClr val="63D2E8"/>
          </a:solidFill>
          <a:ln w="12700">
            <a:solidFill>
              <a:srgbClr val="63D2E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TextBox 9"/>
          <p:cNvSpPr txBox="1"/>
          <p:nvPr/>
        </p:nvSpPr>
        <p:spPr>
          <a:xfrm>
            <a:off x="7268337" y="694944"/>
            <a:ext cx="1223010" cy="201168"/>
          </a:xfrm>
          <a:prstGeom prst="rect">
            <a:avLst/>
          </a:prstGeom>
          <a:noFill/>
        </p:spPr>
        <p:txBody>
          <a:bodyPr wrap="square" lIns="0" tIns="0" rIns="0" bIns="0" anchor="t">
            <a:spAutoFit/>
          </a:bodyPr>
          <a:lstStyle/>
          <a:p>
            <a:pPr algn="ctr">
              <a:lnSpc>
                <a:spcPct val="100000"/>
              </a:lnSpc>
              <a:spcAft>
                <a:spcPts val="0"/>
              </a:spcAft>
            </a:pPr>
            <a:r>
              <a:rPr sz="750" b="0" i="0">
                <a:solidFill>
                  <a:srgbClr val="63D2E8"/>
                </a:solidFill>
                <a:latin typeface="Bahnschrift SemiBold"/>
              </a:rPr>
              <a:t>GATEWAY</a:t>
            </a:r>
          </a:p>
        </p:txBody>
      </p:sp>
      <p:sp>
        <p:nvSpPr>
          <p:cNvPr id="11" name="Rectangle 10"/>
          <p:cNvSpPr/>
          <p:nvPr/>
        </p:nvSpPr>
        <p:spPr>
          <a:xfrm>
            <a:off x="9172803" y="583844"/>
            <a:ext cx="1083106" cy="12700"/>
          </a:xfrm>
          <a:prstGeom prst="rect">
            <a:avLst/>
          </a:prstGeom>
          <a:solidFill>
            <a:srgbClr val="2E7D8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Rectangle 11"/>
          <p:cNvSpPr/>
          <p:nvPr/>
        </p:nvSpPr>
        <p:spPr>
          <a:xfrm>
            <a:off x="9063990" y="548640"/>
            <a:ext cx="77724" cy="77724"/>
          </a:xfrm>
          <a:prstGeom prst="rect">
            <a:avLst/>
          </a:prstGeom>
          <a:solidFill>
            <a:srgbClr val="63D2E8"/>
          </a:solidFill>
          <a:ln w="12700">
            <a:solidFill>
              <a:srgbClr val="63D2E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8491347" y="694944"/>
            <a:ext cx="1223010" cy="201168"/>
          </a:xfrm>
          <a:prstGeom prst="rect">
            <a:avLst/>
          </a:prstGeom>
          <a:noFill/>
        </p:spPr>
        <p:txBody>
          <a:bodyPr wrap="square" lIns="0" tIns="0" rIns="0" bIns="0" anchor="t">
            <a:spAutoFit/>
          </a:bodyPr>
          <a:lstStyle/>
          <a:p>
            <a:pPr algn="ctr">
              <a:lnSpc>
                <a:spcPct val="100000"/>
              </a:lnSpc>
              <a:spcAft>
                <a:spcPts val="0"/>
              </a:spcAft>
            </a:pPr>
            <a:r>
              <a:rPr sz="750" b="0" i="0">
                <a:solidFill>
                  <a:srgbClr val="63D2E8"/>
                </a:solidFill>
                <a:latin typeface="Bahnschrift SemiBold"/>
              </a:rPr>
              <a:t>BROKER</a:t>
            </a:r>
          </a:p>
        </p:txBody>
      </p:sp>
      <p:sp>
        <p:nvSpPr>
          <p:cNvPr id="14" name="Rectangle 13"/>
          <p:cNvSpPr/>
          <p:nvPr/>
        </p:nvSpPr>
        <p:spPr>
          <a:xfrm>
            <a:off x="10395813" y="583844"/>
            <a:ext cx="1083106" cy="12700"/>
          </a:xfrm>
          <a:prstGeom prst="rect">
            <a:avLst/>
          </a:prstGeom>
          <a:solidFill>
            <a:srgbClr val="2E7D8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Rectangle 14"/>
          <p:cNvSpPr/>
          <p:nvPr/>
        </p:nvSpPr>
        <p:spPr>
          <a:xfrm>
            <a:off x="10287000" y="548640"/>
            <a:ext cx="77724" cy="77724"/>
          </a:xfrm>
          <a:prstGeom prst="rect">
            <a:avLst/>
          </a:prstGeom>
          <a:solidFill>
            <a:srgbClr val="63D2E8"/>
          </a:solidFill>
          <a:ln w="12700">
            <a:solidFill>
              <a:srgbClr val="63D2E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TextBox 15"/>
          <p:cNvSpPr txBox="1"/>
          <p:nvPr/>
        </p:nvSpPr>
        <p:spPr>
          <a:xfrm>
            <a:off x="9714357" y="694944"/>
            <a:ext cx="1223010" cy="201168"/>
          </a:xfrm>
          <a:prstGeom prst="rect">
            <a:avLst/>
          </a:prstGeom>
          <a:noFill/>
        </p:spPr>
        <p:txBody>
          <a:bodyPr wrap="square" lIns="0" tIns="0" rIns="0" bIns="0" anchor="t">
            <a:spAutoFit/>
          </a:bodyPr>
          <a:lstStyle/>
          <a:p>
            <a:pPr algn="ctr">
              <a:lnSpc>
                <a:spcPct val="100000"/>
              </a:lnSpc>
              <a:spcAft>
                <a:spcPts val="0"/>
              </a:spcAft>
            </a:pPr>
            <a:r>
              <a:rPr sz="750" b="0" i="0">
                <a:solidFill>
                  <a:srgbClr val="63D2E8"/>
                </a:solidFill>
                <a:latin typeface="Bahnschrift SemiBold"/>
              </a:rPr>
              <a:t>PHONE</a:t>
            </a:r>
          </a:p>
        </p:txBody>
      </p:sp>
      <p:sp>
        <p:nvSpPr>
          <p:cNvPr id="17" name="Rectangle 16"/>
          <p:cNvSpPr/>
          <p:nvPr/>
        </p:nvSpPr>
        <p:spPr>
          <a:xfrm>
            <a:off x="11510009" y="548640"/>
            <a:ext cx="77724" cy="77724"/>
          </a:xfrm>
          <a:prstGeom prst="rect">
            <a:avLst/>
          </a:prstGeom>
          <a:solidFill>
            <a:srgbClr val="63D2E8"/>
          </a:solidFill>
          <a:ln w="12700">
            <a:solidFill>
              <a:srgbClr val="63D2E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TextBox 17"/>
          <p:cNvSpPr txBox="1"/>
          <p:nvPr/>
        </p:nvSpPr>
        <p:spPr>
          <a:xfrm>
            <a:off x="10937367" y="694944"/>
            <a:ext cx="1223010" cy="201168"/>
          </a:xfrm>
          <a:prstGeom prst="rect">
            <a:avLst/>
          </a:prstGeom>
          <a:noFill/>
        </p:spPr>
        <p:txBody>
          <a:bodyPr wrap="square" lIns="0" tIns="0" rIns="0" bIns="0" anchor="t">
            <a:spAutoFit/>
          </a:bodyPr>
          <a:lstStyle/>
          <a:p>
            <a:pPr algn="ctr">
              <a:lnSpc>
                <a:spcPct val="100000"/>
              </a:lnSpc>
              <a:spcAft>
                <a:spcPts val="0"/>
              </a:spcAft>
            </a:pPr>
            <a:r>
              <a:rPr sz="750" b="0" i="0">
                <a:solidFill>
                  <a:srgbClr val="63D2E8"/>
                </a:solidFill>
                <a:latin typeface="Bahnschrift SemiBold"/>
              </a:rPr>
              <a:t>NET</a:t>
            </a:r>
          </a:p>
        </p:txBody>
      </p:sp>
      <p:sp>
        <p:nvSpPr>
          <p:cNvPr id="19" name="Rectangle 18"/>
          <p:cNvSpPr/>
          <p:nvPr/>
        </p:nvSpPr>
        <p:spPr>
          <a:xfrm>
            <a:off x="640080" y="1225296"/>
            <a:ext cx="10908792" cy="9525"/>
          </a:xfrm>
          <a:prstGeom prst="rect">
            <a:avLst/>
          </a:prstGeom>
          <a:solidFill>
            <a:srgbClr val="2C364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Rectangle 19"/>
          <p:cNvSpPr/>
          <p:nvPr/>
        </p:nvSpPr>
        <p:spPr>
          <a:xfrm>
            <a:off x="640080" y="1220724"/>
            <a:ext cx="566928" cy="25400"/>
          </a:xfrm>
          <a:prstGeom prst="rect">
            <a:avLst/>
          </a:prstGeom>
          <a:solidFill>
            <a:srgbClr val="63D2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1" name="TextBox 20"/>
          <p:cNvSpPr txBox="1"/>
          <p:nvPr/>
        </p:nvSpPr>
        <p:spPr>
          <a:xfrm>
            <a:off x="640080" y="1481328"/>
            <a:ext cx="5577840" cy="237744"/>
          </a:xfrm>
          <a:prstGeom prst="rect">
            <a:avLst/>
          </a:prstGeom>
          <a:noFill/>
        </p:spPr>
        <p:txBody>
          <a:bodyPr wrap="square" lIns="0" tIns="0" rIns="0" bIns="0" anchor="t">
            <a:spAutoFit/>
          </a:bodyPr>
          <a:lstStyle/>
          <a:p>
            <a:pPr algn="l">
              <a:lnSpc>
                <a:spcPct val="112000"/>
              </a:lnSpc>
              <a:spcAft>
                <a:spcPts val="0"/>
              </a:spcAft>
            </a:pPr>
            <a:r>
              <a:rPr sz="900" b="0" i="0">
                <a:solidFill>
                  <a:srgbClr val="63D2E8"/>
                </a:solidFill>
                <a:latin typeface="Bahnschrift SemiBold"/>
              </a:rPr>
              <a:t>ADDING A METER IS ONE LINE</a:t>
            </a:r>
          </a:p>
        </p:txBody>
      </p:sp>
      <p:sp>
        <p:nvSpPr>
          <p:cNvPr id="22" name="Rectangle 21"/>
          <p:cNvSpPr/>
          <p:nvPr/>
        </p:nvSpPr>
        <p:spPr>
          <a:xfrm>
            <a:off x="640080" y="1737360"/>
            <a:ext cx="5577840" cy="9525"/>
          </a:xfrm>
          <a:prstGeom prst="rect">
            <a:avLst/>
          </a:prstGeom>
          <a:solidFill>
            <a:srgbClr val="3D4A5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3" name="Rectangle 22"/>
          <p:cNvSpPr/>
          <p:nvPr/>
        </p:nvSpPr>
        <p:spPr>
          <a:xfrm>
            <a:off x="640080" y="1865376"/>
            <a:ext cx="5577840" cy="1700784"/>
          </a:xfrm>
          <a:prstGeom prst="rect">
            <a:avLst/>
          </a:prstGeom>
          <a:solidFill>
            <a:srgbClr val="0A0E13"/>
          </a:solidFill>
          <a:ln w="12700">
            <a:solidFill>
              <a:srgbClr val="2C364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4" name="Rectangle 23"/>
          <p:cNvSpPr/>
          <p:nvPr/>
        </p:nvSpPr>
        <p:spPr>
          <a:xfrm>
            <a:off x="640080" y="1865376"/>
            <a:ext cx="25400" cy="1700784"/>
          </a:xfrm>
          <a:prstGeom prst="rect">
            <a:avLst/>
          </a:prstGeom>
          <a:solidFill>
            <a:srgbClr val="63D2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5" name="TextBox 24"/>
          <p:cNvSpPr txBox="1"/>
          <p:nvPr/>
        </p:nvSpPr>
        <p:spPr>
          <a:xfrm>
            <a:off x="841247" y="1993392"/>
            <a:ext cx="5175503" cy="1463040"/>
          </a:xfrm>
          <a:prstGeom prst="rect">
            <a:avLst/>
          </a:prstGeom>
          <a:noFill/>
        </p:spPr>
        <p:txBody>
          <a:bodyPr wrap="square" lIns="0" tIns="0" rIns="0" bIns="0">
            <a:spAutoFit/>
          </a:bodyPr>
          <a:lstStyle/>
          <a:p>
            <a:pPr algn="l">
              <a:lnSpc>
                <a:spcPct val="130000"/>
              </a:lnSpc>
              <a:spcAft>
                <a:spcPts val="0"/>
              </a:spcAft>
            </a:pPr>
            <a:r>
              <a:rPr sz="1000" b="0">
                <a:solidFill>
                  <a:srgbClr val="5A6878"/>
                </a:solidFill>
                <a:latin typeface="Consolas"/>
              </a:rPr>
              <a:t>// firmware8266/osos_gw8266/config.h</a:t>
            </a:r>
          </a:p>
          <a:p>
            <a:pPr algn="l">
              <a:lnSpc>
                <a:spcPct val="130000"/>
              </a:lnSpc>
              <a:spcAft>
                <a:spcPts val="0"/>
              </a:spcAft>
            </a:pPr>
            <a:r>
              <a:rPr sz="1000" b="0">
                <a:solidFill>
                  <a:srgbClr val="E6EDF3"/>
                </a:solidFill>
                <a:latin typeface="Consolas"/>
              </a:rPr>
              <a:t>static const AnalyzerCfg CFG_ANALYZERS[] = {</a:t>
            </a:r>
          </a:p>
          <a:p>
            <a:pPr algn="l">
              <a:lnSpc>
                <a:spcPct val="130000"/>
              </a:lnSpc>
              <a:spcAft>
                <a:spcPts val="0"/>
              </a:spcAft>
            </a:pPr>
            <a:r>
              <a:rPr sz="1000" b="0">
                <a:solidFill>
                  <a:srgbClr val="E6EDF3"/>
                </a:solidFill>
                <a:latin typeface="Consolas"/>
              </a:rPr>
              <a:t>    { "an-01", "192.169.10.74", 502, 1, 5 },</a:t>
            </a:r>
          </a:p>
          <a:p>
            <a:pPr algn="l">
              <a:lnSpc>
                <a:spcPct val="130000"/>
              </a:lnSpc>
              <a:spcAft>
                <a:spcPts val="0"/>
              </a:spcAft>
            </a:pPr>
            <a:r>
              <a:rPr sz="1000" b="0">
                <a:solidFill>
                  <a:srgbClr val="4AD991"/>
                </a:solidFill>
                <a:latin typeface="Consolas"/>
              </a:rPr>
              <a:t>    { "an-02", "192.169.10.75", 502, 1, 5 },   // &lt;- new</a:t>
            </a:r>
          </a:p>
          <a:p>
            <a:pPr algn="l">
              <a:lnSpc>
                <a:spcPct val="130000"/>
              </a:lnSpc>
              <a:spcAft>
                <a:spcPts val="0"/>
              </a:spcAft>
            </a:pPr>
            <a:r>
              <a:rPr sz="1000" b="0">
                <a:solidFill>
                  <a:srgbClr val="E6EDF3"/>
                </a:solidFill>
                <a:latin typeface="Consolas"/>
              </a:rPr>
              <a:t>};</a:t>
            </a:r>
          </a:p>
          <a:p>
            <a:pPr algn="l">
              <a:lnSpc>
                <a:spcPct val="130000"/>
              </a:lnSpc>
              <a:spcAft>
                <a:spcPts val="0"/>
              </a:spcAft>
            </a:pPr>
            <a:r>
              <a:rPr sz="1000" b="0">
                <a:solidFill>
                  <a:srgbClr val="5A6878"/>
                </a:solidFill>
                <a:latin typeface="Consolas"/>
              </a:rPr>
              <a:t>#define CFG_MODEM_ID  "gw-01"   // per modem</a:t>
            </a:r>
          </a:p>
        </p:txBody>
      </p:sp>
      <p:sp>
        <p:nvSpPr>
          <p:cNvPr id="26" name="TextBox 25"/>
          <p:cNvSpPr txBox="1"/>
          <p:nvPr/>
        </p:nvSpPr>
        <p:spPr>
          <a:xfrm>
            <a:off x="640080" y="3657600"/>
            <a:ext cx="5577840" cy="822960"/>
          </a:xfrm>
          <a:prstGeom prst="rect">
            <a:avLst/>
          </a:prstGeom>
          <a:noFill/>
        </p:spPr>
        <p:txBody>
          <a:bodyPr wrap="square" lIns="0" tIns="0" rIns="0" bIns="0" anchor="t">
            <a:spAutoFit/>
          </a:bodyPr>
          <a:lstStyle/>
          <a:p>
            <a:pPr algn="l">
              <a:lnSpc>
                <a:spcPct val="140000"/>
              </a:lnSpc>
              <a:spcAft>
                <a:spcPts val="0"/>
              </a:spcAft>
            </a:pPr>
            <a:r>
              <a:rPr sz="1100" b="0" i="0">
                <a:solidFill>
                  <a:srgbClr val="8494A6"/>
                </a:solidFill>
                <a:latin typeface="Segoe UI"/>
              </a:rPr>
              <a:t>No topic changes, no app rebuild, no migration. The analyzer appears in the tree the moment the modem republishes its registry, named an-02 until someone names it properly from the phone.</a:t>
            </a:r>
          </a:p>
        </p:txBody>
      </p:sp>
      <p:sp>
        <p:nvSpPr>
          <p:cNvPr id="27" name="Rectangle 26"/>
          <p:cNvSpPr/>
          <p:nvPr/>
        </p:nvSpPr>
        <p:spPr>
          <a:xfrm>
            <a:off x="6492240" y="1481328"/>
            <a:ext cx="5056632" cy="1133856"/>
          </a:xfrm>
          <a:prstGeom prst="rect">
            <a:avLst/>
          </a:prstGeom>
          <a:solidFill>
            <a:srgbClr val="161C24"/>
          </a:solidFill>
          <a:ln w="12700">
            <a:solidFill>
              <a:srgbClr val="2C364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8" name="Rectangle 27"/>
          <p:cNvSpPr/>
          <p:nvPr/>
        </p:nvSpPr>
        <p:spPr>
          <a:xfrm>
            <a:off x="6492240" y="1481328"/>
            <a:ext cx="5056632" cy="31750"/>
          </a:xfrm>
          <a:prstGeom prst="rect">
            <a:avLst/>
          </a:prstGeom>
          <a:solidFill>
            <a:srgbClr val="FF443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9" name="TextBox 28"/>
          <p:cNvSpPr txBox="1"/>
          <p:nvPr/>
        </p:nvSpPr>
        <p:spPr>
          <a:xfrm>
            <a:off x="6693408" y="1609344"/>
            <a:ext cx="4663440" cy="237744"/>
          </a:xfrm>
          <a:prstGeom prst="rect">
            <a:avLst/>
          </a:prstGeom>
          <a:noFill/>
        </p:spPr>
        <p:txBody>
          <a:bodyPr wrap="square" lIns="0" tIns="0" rIns="0" bIns="0" anchor="t">
            <a:spAutoFit/>
          </a:bodyPr>
          <a:lstStyle/>
          <a:p>
            <a:pPr algn="l">
              <a:lnSpc>
                <a:spcPct val="112000"/>
              </a:lnSpc>
              <a:spcAft>
                <a:spcPts val="0"/>
              </a:spcAft>
            </a:pPr>
            <a:r>
              <a:rPr sz="1200" b="0" i="0">
                <a:solidFill>
                  <a:srgbClr val="E6EDF3"/>
                </a:solidFill>
                <a:latin typeface="Bahnschrift SemiBold"/>
              </a:rPr>
              <a:t>1 · Per-modem credentials</a:t>
            </a:r>
          </a:p>
        </p:txBody>
      </p:sp>
      <p:sp>
        <p:nvSpPr>
          <p:cNvPr id="30" name="TextBox 29"/>
          <p:cNvSpPr txBox="1"/>
          <p:nvPr/>
        </p:nvSpPr>
        <p:spPr>
          <a:xfrm>
            <a:off x="6693408" y="1883664"/>
            <a:ext cx="4663440" cy="640080"/>
          </a:xfrm>
          <a:prstGeom prst="rect">
            <a:avLst/>
          </a:prstGeom>
          <a:noFill/>
        </p:spPr>
        <p:txBody>
          <a:bodyPr wrap="square" lIns="0" tIns="0" rIns="0" bIns="0" anchor="t">
            <a:spAutoFit/>
          </a:bodyPr>
          <a:lstStyle/>
          <a:p>
            <a:pPr algn="l">
              <a:lnSpc>
                <a:spcPct val="134000"/>
              </a:lnSpc>
              <a:spcAft>
                <a:spcPts val="0"/>
              </a:spcAft>
            </a:pPr>
            <a:r>
              <a:rPr sz="950" b="0" i="0">
                <a:solidFill>
                  <a:srgbClr val="8494A6"/>
                </a:solidFill>
                <a:latin typeface="Segoe UI"/>
              </a:rPr>
              <a:t>One broker user per modem, plus one head-end user, with the ACLs in docs/BROKER_ACL.md. This is the one item still open (BR-2) and the only one that is a security issue rather than a feature.</a:t>
            </a:r>
          </a:p>
        </p:txBody>
      </p:sp>
      <p:sp>
        <p:nvSpPr>
          <p:cNvPr id="31" name="Rectangle 30"/>
          <p:cNvSpPr/>
          <p:nvPr/>
        </p:nvSpPr>
        <p:spPr>
          <a:xfrm>
            <a:off x="6492240" y="2706624"/>
            <a:ext cx="5056632" cy="1133856"/>
          </a:xfrm>
          <a:prstGeom prst="rect">
            <a:avLst/>
          </a:prstGeom>
          <a:solidFill>
            <a:srgbClr val="161C24"/>
          </a:solidFill>
          <a:ln w="12700">
            <a:solidFill>
              <a:srgbClr val="2C364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2" name="Rectangle 31"/>
          <p:cNvSpPr/>
          <p:nvPr/>
        </p:nvSpPr>
        <p:spPr>
          <a:xfrm>
            <a:off x="6492240" y="2706624"/>
            <a:ext cx="5056632" cy="31750"/>
          </a:xfrm>
          <a:prstGeom prst="rect">
            <a:avLst/>
          </a:prstGeom>
          <a:solidFill>
            <a:srgbClr val="63D2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3" name="TextBox 32"/>
          <p:cNvSpPr txBox="1"/>
          <p:nvPr/>
        </p:nvSpPr>
        <p:spPr>
          <a:xfrm>
            <a:off x="6693408" y="2834640"/>
            <a:ext cx="4663440" cy="237744"/>
          </a:xfrm>
          <a:prstGeom prst="rect">
            <a:avLst/>
          </a:prstGeom>
          <a:noFill/>
        </p:spPr>
        <p:txBody>
          <a:bodyPr wrap="square" lIns="0" tIns="0" rIns="0" bIns="0" anchor="t">
            <a:spAutoFit/>
          </a:bodyPr>
          <a:lstStyle/>
          <a:p>
            <a:pPr algn="l">
              <a:lnSpc>
                <a:spcPct val="112000"/>
              </a:lnSpc>
              <a:spcAft>
                <a:spcPts val="0"/>
              </a:spcAft>
            </a:pPr>
            <a:r>
              <a:rPr sz="1200" b="0" i="0">
                <a:solidFill>
                  <a:srgbClr val="E6EDF3"/>
                </a:solidFill>
                <a:latin typeface="Bahnschrift SemiBold"/>
              </a:rPr>
              <a:t>2 · Point it at your broker</a:t>
            </a:r>
          </a:p>
        </p:txBody>
      </p:sp>
      <p:sp>
        <p:nvSpPr>
          <p:cNvPr id="34" name="TextBox 33"/>
          <p:cNvSpPr txBox="1"/>
          <p:nvPr/>
        </p:nvSpPr>
        <p:spPr>
          <a:xfrm>
            <a:off x="6693408" y="3108960"/>
            <a:ext cx="4663440" cy="640080"/>
          </a:xfrm>
          <a:prstGeom prst="rect">
            <a:avLst/>
          </a:prstGeom>
          <a:noFill/>
        </p:spPr>
        <p:txBody>
          <a:bodyPr wrap="square" lIns="0" tIns="0" rIns="0" bIns="0" anchor="t">
            <a:spAutoFit/>
          </a:bodyPr>
          <a:lstStyle/>
          <a:p>
            <a:pPr algn="l">
              <a:lnSpc>
                <a:spcPct val="134000"/>
              </a:lnSpc>
              <a:spcAft>
                <a:spcPts val="0"/>
              </a:spcAft>
            </a:pPr>
            <a:r>
              <a:rPr sz="950" b="0" i="0">
                <a:solidFill>
                  <a:srgbClr val="8494A6"/>
                </a:solidFill>
                <a:latin typeface="Segoe UI"/>
              </a:rPr>
              <a:t>CFG_MQTT_HOST in config.h, and the app's Settings screen. Nothing else is broker-specific — no EMQX API, no vendor extension.</a:t>
            </a:r>
          </a:p>
        </p:txBody>
      </p:sp>
      <p:sp>
        <p:nvSpPr>
          <p:cNvPr id="35" name="Rectangle 34"/>
          <p:cNvSpPr/>
          <p:nvPr/>
        </p:nvSpPr>
        <p:spPr>
          <a:xfrm>
            <a:off x="6492240" y="3931920"/>
            <a:ext cx="5056632" cy="1133856"/>
          </a:xfrm>
          <a:prstGeom prst="rect">
            <a:avLst/>
          </a:prstGeom>
          <a:solidFill>
            <a:srgbClr val="161C24"/>
          </a:solidFill>
          <a:ln w="12700">
            <a:solidFill>
              <a:srgbClr val="2C364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6" name="Rectangle 35"/>
          <p:cNvSpPr/>
          <p:nvPr/>
        </p:nvSpPr>
        <p:spPr>
          <a:xfrm>
            <a:off x="6492240" y="3931920"/>
            <a:ext cx="5056632" cy="31750"/>
          </a:xfrm>
          <a:prstGeom prst="rect">
            <a:avLst/>
          </a:prstGeom>
          <a:solidFill>
            <a:srgbClr val="C89A5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7" name="TextBox 36"/>
          <p:cNvSpPr txBox="1"/>
          <p:nvPr/>
        </p:nvSpPr>
        <p:spPr>
          <a:xfrm>
            <a:off x="6693408" y="4059935"/>
            <a:ext cx="4663440" cy="237744"/>
          </a:xfrm>
          <a:prstGeom prst="rect">
            <a:avLst/>
          </a:prstGeom>
          <a:noFill/>
        </p:spPr>
        <p:txBody>
          <a:bodyPr wrap="square" lIns="0" tIns="0" rIns="0" bIns="0" anchor="t">
            <a:spAutoFit/>
          </a:bodyPr>
          <a:lstStyle/>
          <a:p>
            <a:pPr algn="l">
              <a:lnSpc>
                <a:spcPct val="112000"/>
              </a:lnSpc>
              <a:spcAft>
                <a:spcPts val="0"/>
              </a:spcAft>
            </a:pPr>
            <a:r>
              <a:rPr sz="1200" b="0" i="0">
                <a:solidFill>
                  <a:srgbClr val="E6EDF3"/>
                </a:solidFill>
                <a:latin typeface="Bahnschrift SemiBold"/>
              </a:rPr>
              <a:t>3 · Own the metadata</a:t>
            </a:r>
          </a:p>
        </p:txBody>
      </p:sp>
      <p:sp>
        <p:nvSpPr>
          <p:cNvPr id="38" name="TextBox 37"/>
          <p:cNvSpPr txBox="1"/>
          <p:nvPr/>
        </p:nvSpPr>
        <p:spPr>
          <a:xfrm>
            <a:off x="6693408" y="4334256"/>
            <a:ext cx="4663440" cy="640080"/>
          </a:xfrm>
          <a:prstGeom prst="rect">
            <a:avLst/>
          </a:prstGeom>
          <a:noFill/>
        </p:spPr>
        <p:txBody>
          <a:bodyPr wrap="square" lIns="0" tIns="0" rIns="0" bIns="0" anchor="t">
            <a:spAutoFit/>
          </a:bodyPr>
          <a:lstStyle/>
          <a:p>
            <a:pPr algn="l">
              <a:lnSpc>
                <a:spcPct val="134000"/>
              </a:lnSpc>
              <a:spcAft>
                <a:spcPts val="0"/>
              </a:spcAft>
            </a:pPr>
            <a:r>
              <a:rPr sz="950" b="0" i="0" dirty="0" err="1">
                <a:solidFill>
                  <a:srgbClr val="8494A6"/>
                </a:solidFill>
                <a:latin typeface="Segoe UI"/>
              </a:rPr>
              <a:t>osos</a:t>
            </a:r>
            <a:r>
              <a:rPr sz="950" b="0" i="0" dirty="0">
                <a:solidFill>
                  <a:srgbClr val="8494A6"/>
                </a:solidFill>
                <a:latin typeface="Segoe UI"/>
              </a:rPr>
              <a:t>/m/+/labels and </a:t>
            </a:r>
            <a:r>
              <a:rPr sz="950" b="0" i="0" dirty="0" err="1">
                <a:solidFill>
                  <a:srgbClr val="8494A6"/>
                </a:solidFill>
                <a:latin typeface="Segoe UI"/>
              </a:rPr>
              <a:t>osos</a:t>
            </a:r>
            <a:r>
              <a:rPr sz="950" b="0" i="0" dirty="0">
                <a:solidFill>
                  <a:srgbClr val="8494A6"/>
                </a:solidFill>
                <a:latin typeface="Segoe UI"/>
              </a:rPr>
              <a:t>/tree are retained JSON the app writes. A bridge into IKOM Data Manager subscribes to those two topics and the fleet is in your database, named.</a:t>
            </a:r>
          </a:p>
        </p:txBody>
      </p:sp>
      <p:sp>
        <p:nvSpPr>
          <p:cNvPr id="39" name="Rectangle 38"/>
          <p:cNvSpPr/>
          <p:nvPr/>
        </p:nvSpPr>
        <p:spPr>
          <a:xfrm>
            <a:off x="6492240" y="5157216"/>
            <a:ext cx="5056632" cy="1133856"/>
          </a:xfrm>
          <a:prstGeom prst="rect">
            <a:avLst/>
          </a:prstGeom>
          <a:solidFill>
            <a:srgbClr val="161C24"/>
          </a:solidFill>
          <a:ln w="12700">
            <a:solidFill>
              <a:srgbClr val="2C364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0" name="Rectangle 39"/>
          <p:cNvSpPr/>
          <p:nvPr/>
        </p:nvSpPr>
        <p:spPr>
          <a:xfrm>
            <a:off x="6492240" y="5157216"/>
            <a:ext cx="5056632" cy="31750"/>
          </a:xfrm>
          <a:prstGeom prst="rect">
            <a:avLst/>
          </a:prstGeom>
          <a:solidFill>
            <a:srgbClr val="FFA92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1" name="TextBox 40"/>
          <p:cNvSpPr txBox="1"/>
          <p:nvPr/>
        </p:nvSpPr>
        <p:spPr>
          <a:xfrm>
            <a:off x="6693408" y="5285231"/>
            <a:ext cx="4663440" cy="237744"/>
          </a:xfrm>
          <a:prstGeom prst="rect">
            <a:avLst/>
          </a:prstGeom>
          <a:noFill/>
        </p:spPr>
        <p:txBody>
          <a:bodyPr wrap="square" lIns="0" tIns="0" rIns="0" bIns="0" anchor="t">
            <a:spAutoFit/>
          </a:bodyPr>
          <a:lstStyle/>
          <a:p>
            <a:pPr algn="l">
              <a:lnSpc>
                <a:spcPct val="112000"/>
              </a:lnSpc>
              <a:spcAft>
                <a:spcPts val="0"/>
              </a:spcAft>
            </a:pPr>
            <a:r>
              <a:rPr sz="1200" b="0" i="0">
                <a:solidFill>
                  <a:srgbClr val="E6EDF3"/>
                </a:solidFill>
                <a:latin typeface="Bahnschrift SemiBold"/>
              </a:rPr>
              <a:t>4 · Store-and-forward first</a:t>
            </a:r>
          </a:p>
        </p:txBody>
      </p:sp>
      <p:sp>
        <p:nvSpPr>
          <p:cNvPr id="42" name="TextBox 41"/>
          <p:cNvSpPr txBox="1"/>
          <p:nvPr/>
        </p:nvSpPr>
        <p:spPr>
          <a:xfrm>
            <a:off x="6693408" y="5559552"/>
            <a:ext cx="4663440" cy="640080"/>
          </a:xfrm>
          <a:prstGeom prst="rect">
            <a:avLst/>
          </a:prstGeom>
          <a:noFill/>
        </p:spPr>
        <p:txBody>
          <a:bodyPr wrap="square" lIns="0" tIns="0" rIns="0" bIns="0" anchor="t">
            <a:spAutoFit/>
          </a:bodyPr>
          <a:lstStyle/>
          <a:p>
            <a:pPr algn="l">
              <a:lnSpc>
                <a:spcPct val="134000"/>
              </a:lnSpc>
              <a:spcAft>
                <a:spcPts val="0"/>
              </a:spcAft>
            </a:pPr>
            <a:r>
              <a:rPr sz="950" b="0" i="0">
                <a:solidFill>
                  <a:srgbClr val="8494A6"/>
                </a:solidFill>
                <a:latin typeface="Segoe UI"/>
              </a:rPr>
              <a:t>buffered is always false today. A reader that silently drops data during a network blip cannot be a system of record — this is the gate before any billing use.</a:t>
            </a:r>
          </a:p>
        </p:txBody>
      </p:sp>
      <p:sp>
        <p:nvSpPr>
          <p:cNvPr id="43" name="Rectangle 42"/>
          <p:cNvSpPr/>
          <p:nvPr/>
        </p:nvSpPr>
        <p:spPr>
          <a:xfrm>
            <a:off x="640080" y="4626864"/>
            <a:ext cx="5870448" cy="54864"/>
          </a:xfrm>
          <a:prstGeom prst="rect">
            <a:avLst/>
          </a:prstGeom>
          <a:solidFill>
            <a:srgbClr val="2C364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4" name="TextBox 43"/>
          <p:cNvSpPr txBox="1"/>
          <p:nvPr/>
        </p:nvSpPr>
        <p:spPr>
          <a:xfrm>
            <a:off x="640081" y="4773167"/>
            <a:ext cx="5852160" cy="144911"/>
          </a:xfrm>
          <a:prstGeom prst="rect">
            <a:avLst/>
          </a:prstGeom>
          <a:noFill/>
        </p:spPr>
        <p:txBody>
          <a:bodyPr wrap="square" lIns="0" tIns="0" rIns="0" bIns="0" anchor="t">
            <a:spAutoFit/>
          </a:bodyPr>
          <a:lstStyle/>
          <a:p>
            <a:pPr algn="l">
              <a:lnSpc>
                <a:spcPct val="112000"/>
              </a:lnSpc>
              <a:spcAft>
                <a:spcPts val="0"/>
              </a:spcAft>
            </a:pPr>
            <a:r>
              <a:rPr sz="900" b="0" i="0">
                <a:solidFill>
                  <a:srgbClr val="4AD991"/>
                </a:solidFill>
                <a:latin typeface="Bahnschrift SemiBold"/>
              </a:rPr>
              <a:t>WHAT IS ALREADY VENDOR-NEUTRAL</a:t>
            </a:r>
          </a:p>
        </p:txBody>
      </p:sp>
      <p:sp>
        <p:nvSpPr>
          <p:cNvPr id="45" name="Rectangle 44"/>
          <p:cNvSpPr/>
          <p:nvPr/>
        </p:nvSpPr>
        <p:spPr>
          <a:xfrm>
            <a:off x="640080" y="5029200"/>
            <a:ext cx="10908792" cy="9525"/>
          </a:xfrm>
          <a:prstGeom prst="rect">
            <a:avLst/>
          </a:prstGeom>
          <a:solidFill>
            <a:srgbClr val="3D4A5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6" name="TextBox 45"/>
          <p:cNvSpPr txBox="1"/>
          <p:nvPr/>
        </p:nvSpPr>
        <p:spPr>
          <a:xfrm>
            <a:off x="640080" y="5230368"/>
            <a:ext cx="3520440" cy="237744"/>
          </a:xfrm>
          <a:prstGeom prst="rect">
            <a:avLst/>
          </a:prstGeom>
          <a:noFill/>
        </p:spPr>
        <p:txBody>
          <a:bodyPr wrap="square" lIns="0" tIns="0" rIns="0" bIns="0" anchor="t">
            <a:spAutoFit/>
          </a:bodyPr>
          <a:lstStyle/>
          <a:p>
            <a:pPr algn="l">
              <a:lnSpc>
                <a:spcPct val="112000"/>
              </a:lnSpc>
              <a:spcAft>
                <a:spcPts val="0"/>
              </a:spcAft>
            </a:pPr>
            <a:r>
              <a:rPr sz="1100" b="0" i="0">
                <a:solidFill>
                  <a:srgbClr val="4AD991"/>
                </a:solidFill>
                <a:latin typeface="Consolas"/>
              </a:rPr>
              <a:t>The topic grammar</a:t>
            </a:r>
          </a:p>
        </p:txBody>
      </p:sp>
      <p:sp>
        <p:nvSpPr>
          <p:cNvPr id="47" name="TextBox 46"/>
          <p:cNvSpPr txBox="1"/>
          <p:nvPr/>
        </p:nvSpPr>
        <p:spPr>
          <a:xfrm>
            <a:off x="640080" y="5486400"/>
            <a:ext cx="3520440" cy="457200"/>
          </a:xfrm>
          <a:prstGeom prst="rect">
            <a:avLst/>
          </a:prstGeom>
          <a:noFill/>
        </p:spPr>
        <p:txBody>
          <a:bodyPr wrap="square" lIns="0" tIns="0" rIns="0" bIns="0" anchor="t">
            <a:spAutoFit/>
          </a:bodyPr>
          <a:lstStyle/>
          <a:p>
            <a:pPr algn="l">
              <a:lnSpc>
                <a:spcPct val="130000"/>
              </a:lnSpc>
              <a:spcAft>
                <a:spcPts val="0"/>
              </a:spcAft>
            </a:pPr>
            <a:r>
              <a:rPr sz="1000" b="0" i="0">
                <a:solidFill>
                  <a:srgbClr val="8494A6"/>
                </a:solidFill>
                <a:latin typeface="Segoe UI"/>
              </a:rPr>
              <a:t>one file per language, three implementations that must agree</a:t>
            </a:r>
          </a:p>
        </p:txBody>
      </p:sp>
      <p:sp>
        <p:nvSpPr>
          <p:cNvPr id="48" name="TextBox 47"/>
          <p:cNvSpPr txBox="1"/>
          <p:nvPr/>
        </p:nvSpPr>
        <p:spPr>
          <a:xfrm>
            <a:off x="4315968" y="5230368"/>
            <a:ext cx="3520440" cy="237744"/>
          </a:xfrm>
          <a:prstGeom prst="rect">
            <a:avLst/>
          </a:prstGeom>
          <a:noFill/>
        </p:spPr>
        <p:txBody>
          <a:bodyPr wrap="square" lIns="0" tIns="0" rIns="0" bIns="0" anchor="t">
            <a:spAutoFit/>
          </a:bodyPr>
          <a:lstStyle/>
          <a:p>
            <a:pPr algn="l">
              <a:lnSpc>
                <a:spcPct val="112000"/>
              </a:lnSpc>
              <a:spcAft>
                <a:spcPts val="0"/>
              </a:spcAft>
            </a:pPr>
            <a:r>
              <a:rPr sz="1100" b="0" i="0">
                <a:solidFill>
                  <a:srgbClr val="4AD991"/>
                </a:solidFill>
                <a:latin typeface="Consolas"/>
              </a:rPr>
              <a:t>The gateway</a:t>
            </a:r>
          </a:p>
        </p:txBody>
      </p:sp>
      <p:sp>
        <p:nvSpPr>
          <p:cNvPr id="49" name="TextBox 48"/>
          <p:cNvSpPr txBox="1"/>
          <p:nvPr/>
        </p:nvSpPr>
        <p:spPr>
          <a:xfrm>
            <a:off x="4315968" y="5486400"/>
            <a:ext cx="1901952" cy="379143"/>
          </a:xfrm>
          <a:prstGeom prst="rect">
            <a:avLst/>
          </a:prstGeom>
          <a:noFill/>
        </p:spPr>
        <p:txBody>
          <a:bodyPr wrap="square" lIns="0" tIns="0" rIns="0" bIns="0" anchor="t">
            <a:spAutoFit/>
          </a:bodyPr>
          <a:lstStyle/>
          <a:p>
            <a:pPr algn="l">
              <a:lnSpc>
                <a:spcPct val="130000"/>
              </a:lnSpc>
              <a:spcAft>
                <a:spcPts val="0"/>
              </a:spcAft>
            </a:pPr>
            <a:r>
              <a:rPr sz="1000" b="0" i="0" dirty="0">
                <a:solidFill>
                  <a:srgbClr val="8494A6"/>
                </a:solidFill>
                <a:latin typeface="Segoe UI"/>
              </a:rPr>
              <a:t>any Modbus TCP device, once its </a:t>
            </a:r>
            <a:endParaRPr lang="tr-TR" sz="1000" b="0" i="0" dirty="0">
              <a:solidFill>
                <a:srgbClr val="8494A6"/>
              </a:solidFill>
              <a:latin typeface="Segoe UI"/>
            </a:endParaRPr>
          </a:p>
          <a:p>
            <a:pPr algn="l">
              <a:lnSpc>
                <a:spcPct val="130000"/>
              </a:lnSpc>
              <a:spcAft>
                <a:spcPts val="0"/>
              </a:spcAft>
            </a:pPr>
            <a:r>
              <a:rPr sz="1000" b="0" i="0" dirty="0">
                <a:solidFill>
                  <a:srgbClr val="8494A6"/>
                </a:solidFill>
                <a:latin typeface="Segoe UI"/>
              </a:rPr>
              <a:t>register map is known</a:t>
            </a:r>
          </a:p>
        </p:txBody>
      </p:sp>
      <p:sp>
        <p:nvSpPr>
          <p:cNvPr id="50" name="TextBox 49"/>
          <p:cNvSpPr txBox="1"/>
          <p:nvPr/>
        </p:nvSpPr>
        <p:spPr>
          <a:xfrm>
            <a:off x="7991855" y="5230368"/>
            <a:ext cx="3520440" cy="237744"/>
          </a:xfrm>
          <a:prstGeom prst="rect">
            <a:avLst/>
          </a:prstGeom>
          <a:noFill/>
        </p:spPr>
        <p:txBody>
          <a:bodyPr wrap="square" lIns="0" tIns="0" rIns="0" bIns="0" anchor="t">
            <a:spAutoFit/>
          </a:bodyPr>
          <a:lstStyle/>
          <a:p>
            <a:pPr algn="l">
              <a:lnSpc>
                <a:spcPct val="112000"/>
              </a:lnSpc>
              <a:spcAft>
                <a:spcPts val="0"/>
              </a:spcAft>
            </a:pPr>
            <a:r>
              <a:rPr sz="1100" b="0" i="0">
                <a:solidFill>
                  <a:srgbClr val="4AD991"/>
                </a:solidFill>
                <a:latin typeface="Consolas"/>
              </a:rPr>
              <a:t>The app</a:t>
            </a:r>
          </a:p>
        </p:txBody>
      </p:sp>
      <p:sp>
        <p:nvSpPr>
          <p:cNvPr id="51" name="TextBox 50"/>
          <p:cNvSpPr txBox="1"/>
          <p:nvPr/>
        </p:nvSpPr>
        <p:spPr>
          <a:xfrm>
            <a:off x="7991855" y="5486400"/>
            <a:ext cx="3520440" cy="457200"/>
          </a:xfrm>
          <a:prstGeom prst="rect">
            <a:avLst/>
          </a:prstGeom>
          <a:noFill/>
        </p:spPr>
        <p:txBody>
          <a:bodyPr wrap="square" lIns="0" tIns="0" rIns="0" bIns="0" anchor="t">
            <a:spAutoFit/>
          </a:bodyPr>
          <a:lstStyle/>
          <a:p>
            <a:pPr algn="l">
              <a:lnSpc>
                <a:spcPct val="130000"/>
              </a:lnSpc>
              <a:spcAft>
                <a:spcPts val="0"/>
              </a:spcAft>
            </a:pPr>
            <a:r>
              <a:rPr sz="1000" b="0" i="0">
                <a:solidFill>
                  <a:srgbClr val="8494A6"/>
                </a:solidFill>
                <a:latin typeface="Segoe UI"/>
              </a:rPr>
              <a:t>subscribes fleet-wide; it has no idea what a DKM-440 is</a:t>
            </a:r>
          </a:p>
        </p:txBody>
      </p:sp>
      <p:sp>
        <p:nvSpPr>
          <p:cNvPr id="52" name="TextBox 51"/>
          <p:cNvSpPr txBox="1"/>
          <p:nvPr/>
        </p:nvSpPr>
        <p:spPr>
          <a:xfrm>
            <a:off x="640080" y="6035040"/>
            <a:ext cx="4727050" cy="368114"/>
          </a:xfrm>
          <a:prstGeom prst="rect">
            <a:avLst/>
          </a:prstGeom>
          <a:noFill/>
        </p:spPr>
        <p:txBody>
          <a:bodyPr wrap="square" lIns="0" tIns="0" rIns="0" bIns="0" anchor="t">
            <a:spAutoFit/>
          </a:bodyPr>
          <a:lstStyle/>
          <a:p>
            <a:pPr algn="l">
              <a:lnSpc>
                <a:spcPct val="112000"/>
              </a:lnSpc>
              <a:spcAft>
                <a:spcPts val="0"/>
              </a:spcAft>
            </a:pPr>
            <a:r>
              <a:rPr sz="1100" b="0" i="0" dirty="0">
                <a:solidFill>
                  <a:srgbClr val="5A6878"/>
                </a:solidFill>
                <a:latin typeface="Consolas"/>
              </a:rPr>
              <a:t>The register map is the part that is specific to this meter. Everything above it moves.</a:t>
            </a:r>
          </a:p>
        </p:txBody>
      </p:sp>
      <p:sp>
        <p:nvSpPr>
          <p:cNvPr id="53" name="Rectangle 52"/>
          <p:cNvSpPr/>
          <p:nvPr/>
        </p:nvSpPr>
        <p:spPr>
          <a:xfrm>
            <a:off x="640080" y="6382512"/>
            <a:ext cx="10908792" cy="9525"/>
          </a:xfrm>
          <a:prstGeom prst="rect">
            <a:avLst/>
          </a:prstGeom>
          <a:solidFill>
            <a:srgbClr val="2C364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4" name="TextBox 53"/>
          <p:cNvSpPr txBox="1"/>
          <p:nvPr/>
        </p:nvSpPr>
        <p:spPr>
          <a:xfrm>
            <a:off x="640080" y="6492240"/>
            <a:ext cx="7315200" cy="237744"/>
          </a:xfrm>
          <a:prstGeom prst="rect">
            <a:avLst/>
          </a:prstGeom>
          <a:noFill/>
        </p:spPr>
        <p:txBody>
          <a:bodyPr wrap="square" lIns="0" tIns="0" rIns="0" bIns="0" anchor="t">
            <a:spAutoFit/>
          </a:bodyPr>
          <a:lstStyle/>
          <a:p>
            <a:pPr algn="l">
              <a:lnSpc>
                <a:spcPct val="112000"/>
              </a:lnSpc>
              <a:spcAft>
                <a:spcPts val="0"/>
              </a:spcAft>
            </a:pPr>
            <a:r>
              <a:rPr sz="850" b="0" i="0">
                <a:solidFill>
                  <a:srgbClr val="5A6878"/>
                </a:solidFill>
                <a:latin typeface="Consolas"/>
              </a:rPr>
              <a:t>OSOS · DKM-440 remote meter reading</a:t>
            </a:r>
          </a:p>
        </p:txBody>
      </p:sp>
      <p:sp>
        <p:nvSpPr>
          <p:cNvPr id="55" name="TextBox 54"/>
          <p:cNvSpPr txBox="1"/>
          <p:nvPr/>
        </p:nvSpPr>
        <p:spPr>
          <a:xfrm>
            <a:off x="10177272" y="6492240"/>
            <a:ext cx="1371600" cy="237744"/>
          </a:xfrm>
          <a:prstGeom prst="rect">
            <a:avLst/>
          </a:prstGeom>
          <a:noFill/>
        </p:spPr>
        <p:txBody>
          <a:bodyPr wrap="square" lIns="0" tIns="0" rIns="0" bIns="0" anchor="t">
            <a:spAutoFit/>
          </a:bodyPr>
          <a:lstStyle/>
          <a:p>
            <a:pPr algn="r">
              <a:lnSpc>
                <a:spcPct val="112000"/>
              </a:lnSpc>
              <a:spcAft>
                <a:spcPts val="0"/>
              </a:spcAft>
            </a:pPr>
            <a:r>
              <a:rPr sz="850" b="0" i="0">
                <a:solidFill>
                  <a:srgbClr val="5A6878"/>
                </a:solidFill>
                <a:latin typeface="Consolas"/>
              </a:rPr>
              <a:t>17</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D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46304" cy="6858000"/>
          </a:xfrm>
          <a:prstGeom prst="rect">
            <a:avLst/>
          </a:prstGeom>
          <a:solidFill>
            <a:srgbClr val="63D2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TextBox 3"/>
          <p:cNvSpPr txBox="1"/>
          <p:nvPr/>
        </p:nvSpPr>
        <p:spPr>
          <a:xfrm>
            <a:off x="868680" y="1188720"/>
            <a:ext cx="9144000" cy="274320"/>
          </a:xfrm>
          <a:prstGeom prst="rect">
            <a:avLst/>
          </a:prstGeom>
          <a:noFill/>
        </p:spPr>
        <p:txBody>
          <a:bodyPr wrap="square" lIns="0" tIns="0" rIns="0" bIns="0" anchor="t">
            <a:spAutoFit/>
          </a:bodyPr>
          <a:lstStyle/>
          <a:p>
            <a:pPr algn="l">
              <a:lnSpc>
                <a:spcPct val="112000"/>
              </a:lnSpc>
              <a:spcAft>
                <a:spcPts val="0"/>
              </a:spcAft>
            </a:pPr>
            <a:r>
              <a:rPr sz="1050" b="0" i="0">
                <a:solidFill>
                  <a:srgbClr val="63D2E8"/>
                </a:solidFill>
                <a:latin typeface="Consolas"/>
              </a:rPr>
              <a:t>IN ONE SENTENCE</a:t>
            </a:r>
          </a:p>
        </p:txBody>
      </p:sp>
      <p:sp>
        <p:nvSpPr>
          <p:cNvPr id="5" name="TextBox 4"/>
          <p:cNvSpPr txBox="1"/>
          <p:nvPr/>
        </p:nvSpPr>
        <p:spPr>
          <a:xfrm>
            <a:off x="841248" y="1609344"/>
            <a:ext cx="10424160" cy="1828800"/>
          </a:xfrm>
          <a:prstGeom prst="rect">
            <a:avLst/>
          </a:prstGeom>
          <a:noFill/>
        </p:spPr>
        <p:txBody>
          <a:bodyPr wrap="square" lIns="0" tIns="0" rIns="0" bIns="0" anchor="t">
            <a:spAutoFit/>
          </a:bodyPr>
          <a:lstStyle/>
          <a:p>
            <a:pPr algn="l">
              <a:lnSpc>
                <a:spcPct val="112000"/>
              </a:lnSpc>
              <a:spcAft>
                <a:spcPts val="0"/>
              </a:spcAft>
            </a:pPr>
            <a:r>
              <a:rPr sz="3600" b="0" i="0">
                <a:solidFill>
                  <a:srgbClr val="E6EDF3"/>
                </a:solidFill>
                <a:latin typeface="Bahnschrift SemiBold"/>
              </a:rPr>
              <a:t>A register inside an industrial meter</a:t>
            </a:r>
          </a:p>
          <a:p>
            <a:pPr algn="l">
              <a:lnSpc>
                <a:spcPct val="112000"/>
              </a:lnSpc>
              <a:spcAft>
                <a:spcPts val="0"/>
              </a:spcAft>
            </a:pPr>
            <a:r>
              <a:rPr sz="3600" b="0" i="0">
                <a:solidFill>
                  <a:srgbClr val="E6EDF3"/>
                </a:solidFill>
                <a:latin typeface="Bahnschrift SemiBold"/>
              </a:rPr>
              <a:t>now reaches a phone in five seconds,</a:t>
            </a:r>
          </a:p>
          <a:p>
            <a:pPr algn="l">
              <a:lnSpc>
                <a:spcPct val="112000"/>
              </a:lnSpc>
              <a:spcAft>
                <a:spcPts val="0"/>
              </a:spcAft>
            </a:pPr>
            <a:r>
              <a:rPr sz="3600" b="0" i="0">
                <a:solidFill>
                  <a:srgbClr val="E6EDF3"/>
                </a:solidFill>
                <a:latin typeface="Bahnschrift SemiBold"/>
              </a:rPr>
              <a:t>and a drawing sends one back.</a:t>
            </a:r>
          </a:p>
        </p:txBody>
      </p:sp>
      <p:sp>
        <p:nvSpPr>
          <p:cNvPr id="6" name="Rectangle 5"/>
          <p:cNvSpPr/>
          <p:nvPr/>
        </p:nvSpPr>
        <p:spPr>
          <a:xfrm>
            <a:off x="868680" y="3749039"/>
            <a:ext cx="1463040" cy="31750"/>
          </a:xfrm>
          <a:prstGeom prst="rect">
            <a:avLst/>
          </a:prstGeom>
          <a:solidFill>
            <a:srgbClr val="63D2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868680" y="4059936"/>
            <a:ext cx="4937760" cy="1463040"/>
          </a:xfrm>
          <a:prstGeom prst="rect">
            <a:avLst/>
          </a:prstGeom>
          <a:noFill/>
        </p:spPr>
        <p:txBody>
          <a:bodyPr wrap="square" lIns="0" tIns="0" rIns="0" bIns="0" anchor="t">
            <a:spAutoFit/>
          </a:bodyPr>
          <a:lstStyle/>
          <a:p>
            <a:pPr algn="l">
              <a:lnSpc>
                <a:spcPct val="150000"/>
              </a:lnSpc>
              <a:spcAft>
                <a:spcPts val="0"/>
              </a:spcAft>
            </a:pPr>
            <a:r>
              <a:rPr sz="1300" b="0" i="0">
                <a:solidFill>
                  <a:srgbClr val="8494A6"/>
                </a:solidFill>
                <a:latin typeface="Segoe UI"/>
              </a:rPr>
              <a:t>Everything between those two ends — the polite-master pacing, the one-UART constraint, the least-squares register hunt, the TLS buffer negotiation, the confidence gate — is the actual work. The demo is the receipt.</a:t>
            </a:r>
          </a:p>
        </p:txBody>
      </p:sp>
      <p:sp>
        <p:nvSpPr>
          <p:cNvPr id="8" name="TextBox 7"/>
          <p:cNvSpPr txBox="1"/>
          <p:nvPr/>
        </p:nvSpPr>
        <p:spPr>
          <a:xfrm>
            <a:off x="6492240" y="4059936"/>
            <a:ext cx="5029200" cy="237744"/>
          </a:xfrm>
          <a:prstGeom prst="rect">
            <a:avLst/>
          </a:prstGeom>
          <a:noFill/>
        </p:spPr>
        <p:txBody>
          <a:bodyPr wrap="square" lIns="0" tIns="0" rIns="0" bIns="0" anchor="t">
            <a:spAutoFit/>
          </a:bodyPr>
          <a:lstStyle/>
          <a:p>
            <a:pPr algn="l">
              <a:lnSpc>
                <a:spcPct val="112000"/>
              </a:lnSpc>
              <a:spcAft>
                <a:spcPts val="0"/>
              </a:spcAft>
            </a:pPr>
            <a:r>
              <a:rPr sz="900" b="0" i="0">
                <a:solidFill>
                  <a:srgbClr val="FFA928"/>
                </a:solidFill>
                <a:latin typeface="Bahnschrift SemiBold"/>
              </a:rPr>
              <a:t>STILL OWED</a:t>
            </a:r>
          </a:p>
        </p:txBody>
      </p:sp>
      <p:sp>
        <p:nvSpPr>
          <p:cNvPr id="9" name="Rectangle 8"/>
          <p:cNvSpPr/>
          <p:nvPr/>
        </p:nvSpPr>
        <p:spPr>
          <a:xfrm>
            <a:off x="6492240" y="4315968"/>
            <a:ext cx="5029200" cy="9525"/>
          </a:xfrm>
          <a:prstGeom prst="rect">
            <a:avLst/>
          </a:prstGeom>
          <a:solidFill>
            <a:srgbClr val="3D4A5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Rectangle 9"/>
          <p:cNvSpPr/>
          <p:nvPr/>
        </p:nvSpPr>
        <p:spPr>
          <a:xfrm>
            <a:off x="6492240" y="4553712"/>
            <a:ext cx="64008" cy="64008"/>
          </a:xfrm>
          <a:prstGeom prst="rect">
            <a:avLst/>
          </a:prstGeom>
          <a:solidFill>
            <a:srgbClr val="FFA92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6693408" y="4498848"/>
            <a:ext cx="4846320" cy="365760"/>
          </a:xfrm>
          <a:prstGeom prst="rect">
            <a:avLst/>
          </a:prstGeom>
          <a:noFill/>
        </p:spPr>
        <p:txBody>
          <a:bodyPr wrap="square" lIns="0" tIns="0" rIns="0" bIns="0" anchor="t">
            <a:spAutoFit/>
          </a:bodyPr>
          <a:lstStyle/>
          <a:p>
            <a:pPr algn="l">
              <a:lnSpc>
                <a:spcPct val="130000"/>
              </a:lnSpc>
              <a:spcAft>
                <a:spcPts val="0"/>
              </a:spcAft>
            </a:pPr>
            <a:r>
              <a:rPr sz="1100" b="0" i="0">
                <a:solidFill>
                  <a:srgbClr val="8494A6"/>
                </a:solidFill>
                <a:latin typeface="Segoe UI"/>
              </a:rPr>
              <a:t>flashing v0.4 to the ESP8266 — it compiles, it has not run</a:t>
            </a:r>
          </a:p>
        </p:txBody>
      </p:sp>
      <p:sp>
        <p:nvSpPr>
          <p:cNvPr id="12" name="Rectangle 11"/>
          <p:cNvSpPr/>
          <p:nvPr/>
        </p:nvSpPr>
        <p:spPr>
          <a:xfrm>
            <a:off x="6492240" y="4919472"/>
            <a:ext cx="64008" cy="64008"/>
          </a:xfrm>
          <a:prstGeom prst="rect">
            <a:avLst/>
          </a:prstGeom>
          <a:solidFill>
            <a:srgbClr val="FFA92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6693408" y="4864608"/>
            <a:ext cx="4846320" cy="365760"/>
          </a:xfrm>
          <a:prstGeom prst="rect">
            <a:avLst/>
          </a:prstGeom>
          <a:noFill/>
        </p:spPr>
        <p:txBody>
          <a:bodyPr wrap="square" lIns="0" tIns="0" rIns="0" bIns="0" anchor="t">
            <a:spAutoFit/>
          </a:bodyPr>
          <a:lstStyle/>
          <a:p>
            <a:pPr algn="l">
              <a:lnSpc>
                <a:spcPct val="130000"/>
              </a:lnSpc>
              <a:spcAft>
                <a:spcPts val="0"/>
              </a:spcAft>
            </a:pPr>
            <a:r>
              <a:rPr sz="1100" b="0" i="0">
                <a:solidFill>
                  <a:srgbClr val="8494A6"/>
                </a:solidFill>
                <a:latin typeface="Segoe UI"/>
              </a:rPr>
              <a:t>broker role separation and ACLs</a:t>
            </a:r>
          </a:p>
        </p:txBody>
      </p:sp>
      <p:sp>
        <p:nvSpPr>
          <p:cNvPr id="14" name="Rectangle 13"/>
          <p:cNvSpPr/>
          <p:nvPr/>
        </p:nvSpPr>
        <p:spPr>
          <a:xfrm>
            <a:off x="6492240" y="5285232"/>
            <a:ext cx="64008" cy="64008"/>
          </a:xfrm>
          <a:prstGeom prst="rect">
            <a:avLst/>
          </a:prstGeom>
          <a:solidFill>
            <a:srgbClr val="FFA92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TextBox 14"/>
          <p:cNvSpPr txBox="1"/>
          <p:nvPr/>
        </p:nvSpPr>
        <p:spPr>
          <a:xfrm>
            <a:off x="6693408" y="5230368"/>
            <a:ext cx="4846320" cy="365760"/>
          </a:xfrm>
          <a:prstGeom prst="rect">
            <a:avLst/>
          </a:prstGeom>
          <a:noFill/>
        </p:spPr>
        <p:txBody>
          <a:bodyPr wrap="square" lIns="0" tIns="0" rIns="0" bIns="0" anchor="t">
            <a:spAutoFit/>
          </a:bodyPr>
          <a:lstStyle/>
          <a:p>
            <a:pPr algn="l">
              <a:lnSpc>
                <a:spcPct val="130000"/>
              </a:lnSpc>
              <a:spcAft>
                <a:spcPts val="0"/>
              </a:spcAft>
            </a:pPr>
            <a:r>
              <a:rPr sz="1100" b="0" i="0">
                <a:solidFill>
                  <a:srgbClr val="8494A6"/>
                </a:solidFill>
                <a:latin typeface="Segoe UI"/>
              </a:rPr>
              <a:t>the awake-vs-asleep current, measured not assumed</a:t>
            </a:r>
          </a:p>
        </p:txBody>
      </p:sp>
      <p:sp>
        <p:nvSpPr>
          <p:cNvPr id="16" name="Rectangle 15"/>
          <p:cNvSpPr/>
          <p:nvPr/>
        </p:nvSpPr>
        <p:spPr>
          <a:xfrm>
            <a:off x="6492240" y="5650992"/>
            <a:ext cx="64008" cy="64008"/>
          </a:xfrm>
          <a:prstGeom prst="rect">
            <a:avLst/>
          </a:prstGeom>
          <a:solidFill>
            <a:srgbClr val="FFA92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TextBox 16"/>
          <p:cNvSpPr txBox="1"/>
          <p:nvPr/>
        </p:nvSpPr>
        <p:spPr>
          <a:xfrm>
            <a:off x="6693408" y="5596128"/>
            <a:ext cx="4846320" cy="365760"/>
          </a:xfrm>
          <a:prstGeom prst="rect">
            <a:avLst/>
          </a:prstGeom>
          <a:noFill/>
        </p:spPr>
        <p:txBody>
          <a:bodyPr wrap="square" lIns="0" tIns="0" rIns="0" bIns="0" anchor="t">
            <a:spAutoFit/>
          </a:bodyPr>
          <a:lstStyle/>
          <a:p>
            <a:pPr algn="l">
              <a:lnSpc>
                <a:spcPct val="130000"/>
              </a:lnSpc>
              <a:spcAft>
                <a:spcPts val="0"/>
              </a:spcAft>
            </a:pPr>
            <a:r>
              <a:rPr sz="1100" b="0" i="0">
                <a:solidFill>
                  <a:srgbClr val="8494A6"/>
                </a:solidFill>
                <a:latin typeface="Segoe UI"/>
              </a:rPr>
              <a:t>a DMM across the meter's own supply terminals</a:t>
            </a:r>
          </a:p>
        </p:txBody>
      </p:sp>
      <p:sp>
        <p:nvSpPr>
          <p:cNvPr id="18" name="Rectangle 17"/>
          <p:cNvSpPr/>
          <p:nvPr/>
        </p:nvSpPr>
        <p:spPr>
          <a:xfrm>
            <a:off x="938631" y="6070244"/>
            <a:ext cx="1083106" cy="12700"/>
          </a:xfrm>
          <a:prstGeom prst="rect">
            <a:avLst/>
          </a:prstGeom>
          <a:solidFill>
            <a:srgbClr val="2E7D8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9" name="Rectangle 18"/>
          <p:cNvSpPr/>
          <p:nvPr/>
        </p:nvSpPr>
        <p:spPr>
          <a:xfrm>
            <a:off x="829818" y="6035040"/>
            <a:ext cx="77724" cy="77724"/>
          </a:xfrm>
          <a:prstGeom prst="rect">
            <a:avLst/>
          </a:prstGeom>
          <a:solidFill>
            <a:srgbClr val="63D2E8"/>
          </a:solidFill>
          <a:ln w="12700">
            <a:solidFill>
              <a:srgbClr val="63D2E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TextBox 19"/>
          <p:cNvSpPr txBox="1"/>
          <p:nvPr/>
        </p:nvSpPr>
        <p:spPr>
          <a:xfrm>
            <a:off x="257175" y="6181344"/>
            <a:ext cx="1223010" cy="201168"/>
          </a:xfrm>
          <a:prstGeom prst="rect">
            <a:avLst/>
          </a:prstGeom>
          <a:noFill/>
        </p:spPr>
        <p:txBody>
          <a:bodyPr wrap="square" lIns="0" tIns="0" rIns="0" bIns="0" anchor="t">
            <a:spAutoFit/>
          </a:bodyPr>
          <a:lstStyle/>
          <a:p>
            <a:pPr algn="ctr">
              <a:lnSpc>
                <a:spcPct val="100000"/>
              </a:lnSpc>
              <a:spcAft>
                <a:spcPts val="0"/>
              </a:spcAft>
            </a:pPr>
            <a:r>
              <a:rPr sz="750" b="0" i="0">
                <a:solidFill>
                  <a:srgbClr val="63D2E8"/>
                </a:solidFill>
                <a:latin typeface="Bahnschrift SemiBold"/>
              </a:rPr>
              <a:t>METER</a:t>
            </a:r>
          </a:p>
        </p:txBody>
      </p:sp>
      <p:sp>
        <p:nvSpPr>
          <p:cNvPr id="21" name="Rectangle 20"/>
          <p:cNvSpPr/>
          <p:nvPr/>
        </p:nvSpPr>
        <p:spPr>
          <a:xfrm>
            <a:off x="2161641" y="6070244"/>
            <a:ext cx="1083106" cy="12700"/>
          </a:xfrm>
          <a:prstGeom prst="rect">
            <a:avLst/>
          </a:prstGeom>
          <a:solidFill>
            <a:srgbClr val="2E7D8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2" name="Rectangle 21"/>
          <p:cNvSpPr/>
          <p:nvPr/>
        </p:nvSpPr>
        <p:spPr>
          <a:xfrm>
            <a:off x="2052827" y="6035040"/>
            <a:ext cx="77724" cy="77724"/>
          </a:xfrm>
          <a:prstGeom prst="rect">
            <a:avLst/>
          </a:prstGeom>
          <a:solidFill>
            <a:srgbClr val="63D2E8"/>
          </a:solidFill>
          <a:ln w="12700">
            <a:solidFill>
              <a:srgbClr val="63D2E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3" name="TextBox 22"/>
          <p:cNvSpPr txBox="1"/>
          <p:nvPr/>
        </p:nvSpPr>
        <p:spPr>
          <a:xfrm>
            <a:off x="1480184" y="6181344"/>
            <a:ext cx="1223010" cy="201168"/>
          </a:xfrm>
          <a:prstGeom prst="rect">
            <a:avLst/>
          </a:prstGeom>
          <a:noFill/>
        </p:spPr>
        <p:txBody>
          <a:bodyPr wrap="square" lIns="0" tIns="0" rIns="0" bIns="0" anchor="t">
            <a:spAutoFit/>
          </a:bodyPr>
          <a:lstStyle/>
          <a:p>
            <a:pPr algn="ctr">
              <a:lnSpc>
                <a:spcPct val="100000"/>
              </a:lnSpc>
              <a:spcAft>
                <a:spcPts val="0"/>
              </a:spcAft>
            </a:pPr>
            <a:r>
              <a:rPr sz="750" b="0" i="0">
                <a:solidFill>
                  <a:srgbClr val="63D2E8"/>
                </a:solidFill>
                <a:latin typeface="Bahnschrift SemiBold"/>
              </a:rPr>
              <a:t>GATEWAY</a:t>
            </a:r>
          </a:p>
        </p:txBody>
      </p:sp>
      <p:sp>
        <p:nvSpPr>
          <p:cNvPr id="24" name="Rectangle 23"/>
          <p:cNvSpPr/>
          <p:nvPr/>
        </p:nvSpPr>
        <p:spPr>
          <a:xfrm>
            <a:off x="3384651" y="6070244"/>
            <a:ext cx="1083106" cy="12700"/>
          </a:xfrm>
          <a:prstGeom prst="rect">
            <a:avLst/>
          </a:prstGeom>
          <a:solidFill>
            <a:srgbClr val="2E7D8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5" name="Rectangle 24"/>
          <p:cNvSpPr/>
          <p:nvPr/>
        </p:nvSpPr>
        <p:spPr>
          <a:xfrm>
            <a:off x="3275838" y="6035040"/>
            <a:ext cx="77724" cy="77724"/>
          </a:xfrm>
          <a:prstGeom prst="rect">
            <a:avLst/>
          </a:prstGeom>
          <a:solidFill>
            <a:srgbClr val="63D2E8"/>
          </a:solidFill>
          <a:ln w="12700">
            <a:solidFill>
              <a:srgbClr val="63D2E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6" name="TextBox 25"/>
          <p:cNvSpPr txBox="1"/>
          <p:nvPr/>
        </p:nvSpPr>
        <p:spPr>
          <a:xfrm>
            <a:off x="2703195" y="6181344"/>
            <a:ext cx="1223010" cy="201168"/>
          </a:xfrm>
          <a:prstGeom prst="rect">
            <a:avLst/>
          </a:prstGeom>
          <a:noFill/>
        </p:spPr>
        <p:txBody>
          <a:bodyPr wrap="square" lIns="0" tIns="0" rIns="0" bIns="0" anchor="t">
            <a:spAutoFit/>
          </a:bodyPr>
          <a:lstStyle/>
          <a:p>
            <a:pPr algn="ctr">
              <a:lnSpc>
                <a:spcPct val="100000"/>
              </a:lnSpc>
              <a:spcAft>
                <a:spcPts val="0"/>
              </a:spcAft>
            </a:pPr>
            <a:r>
              <a:rPr sz="750" b="0" i="0">
                <a:solidFill>
                  <a:srgbClr val="63D2E8"/>
                </a:solidFill>
                <a:latin typeface="Bahnschrift SemiBold"/>
              </a:rPr>
              <a:t>BROKER</a:t>
            </a:r>
          </a:p>
        </p:txBody>
      </p:sp>
      <p:sp>
        <p:nvSpPr>
          <p:cNvPr id="27" name="Rectangle 26"/>
          <p:cNvSpPr/>
          <p:nvPr/>
        </p:nvSpPr>
        <p:spPr>
          <a:xfrm>
            <a:off x="4607661" y="6070244"/>
            <a:ext cx="1083106" cy="12700"/>
          </a:xfrm>
          <a:prstGeom prst="rect">
            <a:avLst/>
          </a:prstGeom>
          <a:solidFill>
            <a:srgbClr val="2E7D8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8" name="Rectangle 27"/>
          <p:cNvSpPr/>
          <p:nvPr/>
        </p:nvSpPr>
        <p:spPr>
          <a:xfrm>
            <a:off x="4498847" y="6035040"/>
            <a:ext cx="77724" cy="77724"/>
          </a:xfrm>
          <a:prstGeom prst="rect">
            <a:avLst/>
          </a:prstGeom>
          <a:solidFill>
            <a:srgbClr val="63D2E8"/>
          </a:solidFill>
          <a:ln w="12700">
            <a:solidFill>
              <a:srgbClr val="63D2E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9" name="TextBox 28"/>
          <p:cNvSpPr txBox="1"/>
          <p:nvPr/>
        </p:nvSpPr>
        <p:spPr>
          <a:xfrm>
            <a:off x="3926204" y="6181344"/>
            <a:ext cx="1223010" cy="201168"/>
          </a:xfrm>
          <a:prstGeom prst="rect">
            <a:avLst/>
          </a:prstGeom>
          <a:noFill/>
        </p:spPr>
        <p:txBody>
          <a:bodyPr wrap="square" lIns="0" tIns="0" rIns="0" bIns="0" anchor="t">
            <a:spAutoFit/>
          </a:bodyPr>
          <a:lstStyle/>
          <a:p>
            <a:pPr algn="ctr">
              <a:lnSpc>
                <a:spcPct val="100000"/>
              </a:lnSpc>
              <a:spcAft>
                <a:spcPts val="0"/>
              </a:spcAft>
            </a:pPr>
            <a:r>
              <a:rPr sz="750" b="0" i="0">
                <a:solidFill>
                  <a:srgbClr val="63D2E8"/>
                </a:solidFill>
                <a:latin typeface="Bahnschrift SemiBold"/>
              </a:rPr>
              <a:t>PHONE</a:t>
            </a:r>
          </a:p>
        </p:txBody>
      </p:sp>
      <p:sp>
        <p:nvSpPr>
          <p:cNvPr id="30" name="Rectangle 29"/>
          <p:cNvSpPr/>
          <p:nvPr/>
        </p:nvSpPr>
        <p:spPr>
          <a:xfrm>
            <a:off x="5721857" y="6035040"/>
            <a:ext cx="77724" cy="77724"/>
          </a:xfrm>
          <a:prstGeom prst="rect">
            <a:avLst/>
          </a:prstGeom>
          <a:solidFill>
            <a:srgbClr val="63D2E8"/>
          </a:solidFill>
          <a:ln w="12700">
            <a:solidFill>
              <a:srgbClr val="63D2E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1" name="TextBox 30"/>
          <p:cNvSpPr txBox="1"/>
          <p:nvPr/>
        </p:nvSpPr>
        <p:spPr>
          <a:xfrm>
            <a:off x="5149215" y="6181344"/>
            <a:ext cx="1223010" cy="201168"/>
          </a:xfrm>
          <a:prstGeom prst="rect">
            <a:avLst/>
          </a:prstGeom>
          <a:noFill/>
        </p:spPr>
        <p:txBody>
          <a:bodyPr wrap="square" lIns="0" tIns="0" rIns="0" bIns="0" anchor="t">
            <a:spAutoFit/>
          </a:bodyPr>
          <a:lstStyle/>
          <a:p>
            <a:pPr algn="ctr">
              <a:lnSpc>
                <a:spcPct val="100000"/>
              </a:lnSpc>
              <a:spcAft>
                <a:spcPts val="0"/>
              </a:spcAft>
            </a:pPr>
            <a:r>
              <a:rPr sz="750" b="0" i="0">
                <a:solidFill>
                  <a:srgbClr val="63D2E8"/>
                </a:solidFill>
                <a:latin typeface="Bahnschrift SemiBold"/>
              </a:rPr>
              <a:t>NET</a:t>
            </a:r>
          </a:p>
        </p:txBody>
      </p:sp>
      <p:sp>
        <p:nvSpPr>
          <p:cNvPr id="32" name="TextBox 31"/>
          <p:cNvSpPr txBox="1"/>
          <p:nvPr/>
        </p:nvSpPr>
        <p:spPr>
          <a:xfrm>
            <a:off x="6492240" y="6053328"/>
            <a:ext cx="5029200" cy="274320"/>
          </a:xfrm>
          <a:prstGeom prst="rect">
            <a:avLst/>
          </a:prstGeom>
          <a:noFill/>
        </p:spPr>
        <p:txBody>
          <a:bodyPr wrap="square" lIns="0" tIns="0" rIns="0" bIns="0" anchor="t">
            <a:spAutoFit/>
          </a:bodyPr>
          <a:lstStyle/>
          <a:p>
            <a:pPr algn="r">
              <a:lnSpc>
                <a:spcPct val="112000"/>
              </a:lnSpc>
              <a:spcAft>
                <a:spcPts val="0"/>
              </a:spcAft>
            </a:pPr>
            <a:r>
              <a:rPr sz="1000" b="0" i="0">
                <a:solidFill>
                  <a:srgbClr val="5A6878"/>
                </a:solidFill>
                <a:latin typeface="Consolas"/>
              </a:rPr>
              <a:t>SRS-00 · SRS-01 · SRS-02   ·   delivery 2026-08-06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TotalTime>
  <Words>4875</Words>
  <Application>Microsoft Office PowerPoint</Application>
  <PresentationFormat>Widescreen</PresentationFormat>
  <Paragraphs>659</Paragraphs>
  <Slides>20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Bahnschrift SemiBold</vt:lpstr>
      <vt:lpstr>Calibri</vt:lpstr>
      <vt:lpstr>Consolas</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AHMET TUĞRUL ALTINÜZENGİ</cp:lastModifiedBy>
  <cp:revision>2</cp:revision>
  <dcterms:created xsi:type="dcterms:W3CDTF">2013-01-27T09:14:16Z</dcterms:created>
  <dcterms:modified xsi:type="dcterms:W3CDTF">2026-08-06T20:36:27Z</dcterms:modified>
  <cp:category/>
</cp:coreProperties>
</file>
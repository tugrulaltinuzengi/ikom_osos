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ro-dk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0"/>
            <a:ext cx="5130673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452360" y="0"/>
            <a:ext cx="155448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98664" y="0"/>
            <a:ext cx="155448" cy="6858000"/>
          </a:xfrm>
          <a:prstGeom prst="rect">
            <a:avLst/>
          </a:prstGeom>
          <a:solidFill>
            <a:srgbClr val="16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44968" y="0"/>
            <a:ext cx="155448" cy="6858000"/>
          </a:xfrm>
          <a:prstGeom prst="rect">
            <a:avLst/>
          </a:prstGeom>
          <a:solidFill>
            <a:srgbClr val="16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91272" y="0"/>
            <a:ext cx="155448" cy="6858000"/>
          </a:xfrm>
          <a:prstGeom prst="rect">
            <a:avLst/>
          </a:prstGeom>
          <a:solidFill>
            <a:srgbClr val="16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52360" y="0"/>
            <a:ext cx="146304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37575" y="0"/>
            <a:ext cx="12700" cy="6858000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3D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207008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63D2E8"/>
                </a:solidFill>
                <a:latin typeface="Consolas"/>
              </a:rPr>
              <a:t>IKOM  ·  STAJ TESLİMİ  ·  2026-08-06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1664208"/>
            <a:ext cx="69494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0" i="0">
                <a:solidFill>
                  <a:srgbClr val="E6EDF3"/>
                </a:solidFill>
                <a:latin typeface="Bahnschrift SemiBold"/>
              </a:rPr>
              <a:t>Reading a power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0" i="0">
                <a:solidFill>
                  <a:srgbClr val="E6EDF3"/>
                </a:solidFill>
                <a:latin typeface="Bahnschrift SemiBold"/>
              </a:rPr>
              <a:t>analyser from a phone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3401568"/>
            <a:ext cx="1463040" cy="31750"/>
          </a:xfrm>
          <a:prstGeom prst="rect">
            <a:avLst/>
          </a:prstGeom>
          <a:solidFill>
            <a:srgbClr val="63D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712463"/>
            <a:ext cx="6400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400" b="0" i="0">
                <a:solidFill>
                  <a:srgbClr val="8494A6"/>
                </a:solidFill>
                <a:latin typeface="Segoe UI"/>
              </a:rPr>
              <a:t>A DATAKOM DKM-440 is read over Modbus TCP, republished as JSON over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400" b="0" i="0">
                <a:solidFill>
                  <a:srgbClr val="8494A6"/>
                </a:solidFill>
                <a:latin typeface="Segoe UI"/>
              </a:rPr>
              <a:t>MQTT/TLS, and displayed on an Android phone — where a from-scratch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400" b="0" i="0">
                <a:solidFill>
                  <a:srgbClr val="8494A6"/>
                </a:solidFill>
                <a:latin typeface="Segoe UI"/>
              </a:rPr>
              <a:t>C++ neural network turns a hand-drawn symbol into a gateway command.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5175504"/>
            <a:ext cx="709574" cy="292608"/>
          </a:xfrm>
          <a:prstGeom prst="roundRect">
            <a:avLst>
              <a:gd name="adj" fmla="val 32000"/>
            </a:avLst>
          </a:prstGeom>
          <a:noFill/>
          <a:ln w="12700">
            <a:solidFill>
              <a:srgbClr val="63D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0000"/>
              </a:lnSpc>
            </a:pPr>
            <a:r>
              <a:rPr sz="850" b="0">
                <a:solidFill>
                  <a:srgbClr val="63D2E8"/>
                </a:solidFill>
                <a:latin typeface="Bahnschrift SemiBold"/>
              </a:rPr>
              <a:t>DKM-440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724558" y="5175504"/>
            <a:ext cx="709574" cy="292608"/>
          </a:xfrm>
          <a:prstGeom prst="roundRect">
            <a:avLst>
              <a:gd name="adj" fmla="val 32000"/>
            </a:avLst>
          </a:prstGeom>
          <a:noFill/>
          <a:ln w="12700">
            <a:solidFill>
              <a:srgbClr val="63D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0000"/>
              </a:lnSpc>
            </a:pPr>
            <a:r>
              <a:rPr sz="850" b="0">
                <a:solidFill>
                  <a:srgbClr val="63D2E8"/>
                </a:solidFill>
                <a:latin typeface="Bahnschrift SemiBold"/>
              </a:rPr>
              <a:t>ESP8266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80436" y="5175504"/>
            <a:ext cx="1272844" cy="292608"/>
          </a:xfrm>
          <a:prstGeom prst="roundRect">
            <a:avLst>
              <a:gd name="adj" fmla="val 32000"/>
            </a:avLst>
          </a:prstGeom>
          <a:noFill/>
          <a:ln w="12700">
            <a:solidFill>
              <a:srgbClr val="63D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0000"/>
              </a:lnSpc>
            </a:pPr>
            <a:r>
              <a:rPr sz="850" b="0">
                <a:solidFill>
                  <a:srgbClr val="63D2E8"/>
                </a:solidFill>
                <a:latin typeface="Bahnschrift SemiBold"/>
              </a:rPr>
              <a:t>EMQX / TLS 1.3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99585" y="5175504"/>
            <a:ext cx="709574" cy="292608"/>
          </a:xfrm>
          <a:prstGeom prst="roundRect">
            <a:avLst>
              <a:gd name="adj" fmla="val 32000"/>
            </a:avLst>
          </a:prstGeom>
          <a:noFill/>
          <a:ln w="12700">
            <a:solidFill>
              <a:srgbClr val="63D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0000"/>
              </a:lnSpc>
            </a:pPr>
            <a:r>
              <a:rPr sz="850" b="0">
                <a:solidFill>
                  <a:srgbClr val="63D2E8"/>
                </a:solidFill>
                <a:latin typeface="Bahnschrift SemiBold"/>
              </a:rPr>
              <a:t>Android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55464" y="5175504"/>
            <a:ext cx="870508" cy="292608"/>
          </a:xfrm>
          <a:prstGeom prst="roundRect">
            <a:avLst>
              <a:gd name="adj" fmla="val 32000"/>
            </a:avLst>
          </a:prstGeom>
          <a:noFill/>
          <a:ln w="12700">
            <a:solidFill>
              <a:srgbClr val="C89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0000"/>
              </a:lnSpc>
            </a:pPr>
            <a:r>
              <a:rPr sz="850" b="0">
                <a:solidFill>
                  <a:srgbClr val="C89A5B"/>
                </a:solidFill>
                <a:latin typeface="Bahnschrift SemiBold"/>
              </a:rPr>
              <a:t>C++17 MLP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754880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63D2E8"/>
                </a:solidFill>
                <a:latin typeface="Segoe UI"/>
              </a:rPr>
              <a:t>Industrial telemetry is taught in slices; this bench is the whole path, on one desk.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8978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5A6878"/>
                </a:solidFill>
                <a:latin typeface="Consolas"/>
              </a:rPr>
              <a:t>Every figure in this deck is a measured value from the bench, or it is labelled as unproven.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5852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3D2E8"/>
                </a:solidFill>
                <a:latin typeface="Consolas"/>
              </a:rPr>
              <a:t>VERIFIED END TO END · 2026-07-28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93776"/>
            <a:ext cx="5870448" cy="64008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0" i="0">
                <a:solidFill>
                  <a:srgbClr val="E6EDF3"/>
                </a:solidFill>
                <a:latin typeface="Bahnschrift SemiBold"/>
              </a:rPr>
              <a:t>What runs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6726783" y="583844"/>
            <a:ext cx="1083106" cy="12700"/>
          </a:xfrm>
          <a:prstGeom prst="rect">
            <a:avLst/>
          </a:prstGeom>
          <a:solidFill>
            <a:srgbClr val="2E7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17970" y="548640"/>
            <a:ext cx="77724" cy="77724"/>
          </a:xfrm>
          <a:prstGeom prst="rect">
            <a:avLst/>
          </a:prstGeom>
          <a:solidFill>
            <a:srgbClr val="63D2E8"/>
          </a:solidFill>
          <a:ln w="12700">
            <a:solidFill>
              <a:srgbClr val="63D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45327" y="6949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3D2E8"/>
                </a:solidFill>
                <a:latin typeface="Bahnschrift SemiBold"/>
              </a:rPr>
              <a:t>METER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7949793" y="583844"/>
            <a:ext cx="1083106" cy="12700"/>
          </a:xfrm>
          <a:prstGeom prst="rect">
            <a:avLst/>
          </a:prstGeom>
          <a:solidFill>
            <a:srgbClr val="2E7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840979" y="548640"/>
            <a:ext cx="77724" cy="77724"/>
          </a:xfrm>
          <a:prstGeom prst="rect">
            <a:avLst/>
          </a:prstGeom>
          <a:solidFill>
            <a:srgbClr val="63D2E8"/>
          </a:solidFill>
          <a:ln w="12700">
            <a:solidFill>
              <a:srgbClr val="63D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68337" y="6949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3D2E8"/>
                </a:solidFill>
                <a:latin typeface="Bahnschrift SemiBold"/>
              </a:rPr>
              <a:t>GATEWAY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72803" y="583844"/>
            <a:ext cx="1083106" cy="12700"/>
          </a:xfrm>
          <a:prstGeom prst="rect">
            <a:avLst/>
          </a:prstGeom>
          <a:solidFill>
            <a:srgbClr val="2E7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063990" y="548640"/>
            <a:ext cx="77724" cy="77724"/>
          </a:xfrm>
          <a:prstGeom prst="rect">
            <a:avLst/>
          </a:prstGeom>
          <a:solidFill>
            <a:srgbClr val="63D2E8"/>
          </a:solidFill>
          <a:ln w="12700">
            <a:solidFill>
              <a:srgbClr val="63D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91347" y="6949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3D2E8"/>
                </a:solidFill>
                <a:latin typeface="Bahnschrift SemiBold"/>
              </a:rPr>
              <a:t>BROKER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95813" y="583844"/>
            <a:ext cx="1083106" cy="12700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287000" y="548640"/>
            <a:ext cx="77724" cy="77724"/>
          </a:xfrm>
          <a:prstGeom prst="rect">
            <a:avLst/>
          </a:prstGeom>
          <a:solidFill>
            <a:srgbClr val="63D2E8"/>
          </a:solidFill>
          <a:ln w="12700">
            <a:solidFill>
              <a:srgbClr val="63D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14357" y="6949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3D2E8"/>
                </a:solidFill>
                <a:latin typeface="Bahnschrift SemiBold"/>
              </a:rPr>
              <a:t>PHONE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510009" y="548640"/>
            <a:ext cx="77724" cy="77724"/>
          </a:xfrm>
          <a:prstGeom prst="rect">
            <a:avLst/>
          </a:prstGeom>
          <a:solidFill>
            <a:srgbClr val="0D1117"/>
          </a:solidFill>
          <a:ln w="12700">
            <a:solidFill>
              <a:srgbClr val="3D4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37367" y="6949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5A6878"/>
                </a:solidFill>
                <a:latin typeface="Bahnschrift SemiBold"/>
              </a:rPr>
              <a:t>NET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1225296"/>
            <a:ext cx="10908792" cy="9525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1220724"/>
            <a:ext cx="566928" cy="25400"/>
          </a:xfrm>
          <a:prstGeom prst="rect">
            <a:avLst/>
          </a:prstGeom>
          <a:solidFill>
            <a:srgbClr val="63D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1645920"/>
            <a:ext cx="2487168" cy="1188720"/>
          </a:xfrm>
          <a:prstGeom prst="rect">
            <a:avLst/>
          </a:prstGeom>
          <a:solidFill>
            <a:srgbClr val="161C24"/>
          </a:solidFill>
          <a:ln w="12700">
            <a:solidFill>
              <a:srgbClr val="2C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1645920"/>
            <a:ext cx="2487168" cy="31750"/>
          </a:xfrm>
          <a:prstGeom prst="rect">
            <a:avLst/>
          </a:prstGeom>
          <a:solidFill>
            <a:srgbClr val="63D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7" y="1901952"/>
            <a:ext cx="2084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Bahnschrift SemiBold"/>
              </a:rPr>
              <a:t>DKM-440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7" y="2212848"/>
            <a:ext cx="2084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 i="0">
                <a:solidFill>
                  <a:srgbClr val="8494A6"/>
                </a:solidFill>
                <a:latin typeface="Consolas"/>
              </a:rPr>
              <a:t>192.169.10.74:502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 i="0">
                <a:solidFill>
                  <a:srgbClr val="8494A6"/>
                </a:solidFill>
                <a:latin typeface="Consolas"/>
              </a:rPr>
              <a:t>Modbus TCP · unit 1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163824" y="2304288"/>
            <a:ext cx="246888" cy="0"/>
          </a:xfrm>
          <a:prstGeom prst="line">
            <a:avLst/>
          </a:prstGeom>
          <a:ln w="22225">
            <a:solidFill>
              <a:srgbClr val="2E7D8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3447288" y="1645920"/>
            <a:ext cx="2487168" cy="1188720"/>
          </a:xfrm>
          <a:prstGeom prst="rect">
            <a:avLst/>
          </a:prstGeom>
          <a:solidFill>
            <a:srgbClr val="161C24"/>
          </a:solidFill>
          <a:ln w="12700">
            <a:solidFill>
              <a:srgbClr val="2C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447288" y="1645920"/>
            <a:ext cx="2487168" cy="31750"/>
          </a:xfrm>
          <a:prstGeom prst="rect">
            <a:avLst/>
          </a:prstGeom>
          <a:solidFill>
            <a:srgbClr val="63D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48456" y="1901952"/>
            <a:ext cx="2084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Bahnschrift SemiBold"/>
              </a:rPr>
              <a:t>ESP8266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48456" y="2212848"/>
            <a:ext cx="2084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 i="0">
                <a:solidFill>
                  <a:srgbClr val="8494A6"/>
                </a:solidFill>
                <a:latin typeface="Consolas"/>
              </a:rPr>
              <a:t>192.169.10.75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 i="0">
                <a:solidFill>
                  <a:srgbClr val="8494A6"/>
                </a:solidFill>
                <a:latin typeface="Consolas"/>
              </a:rPr>
              <a:t>Wi-Fi · gateway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971032" y="2304288"/>
            <a:ext cx="246888" cy="0"/>
          </a:xfrm>
          <a:prstGeom prst="line">
            <a:avLst/>
          </a:prstGeom>
          <a:ln w="22225">
            <a:solidFill>
              <a:srgbClr val="2E7D8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6254496" y="1645920"/>
            <a:ext cx="2487168" cy="1188720"/>
          </a:xfrm>
          <a:prstGeom prst="rect">
            <a:avLst/>
          </a:prstGeom>
          <a:solidFill>
            <a:srgbClr val="161C24"/>
          </a:solidFill>
          <a:ln w="12700">
            <a:solidFill>
              <a:srgbClr val="2C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54496" y="1645920"/>
            <a:ext cx="2487168" cy="31750"/>
          </a:xfrm>
          <a:prstGeom prst="rect">
            <a:avLst/>
          </a:prstGeom>
          <a:solidFill>
            <a:srgbClr val="63D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5664" y="1901952"/>
            <a:ext cx="2084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Bahnschrift SemiBold"/>
              </a:rPr>
              <a:t>EMQX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55664" y="2212848"/>
            <a:ext cx="2084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 i="0">
                <a:solidFill>
                  <a:srgbClr val="8494A6"/>
                </a:solidFill>
                <a:latin typeface="Consolas"/>
              </a:rPr>
              <a:t>…emqxsl.com:8883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 i="0">
                <a:solidFill>
                  <a:srgbClr val="8494A6"/>
                </a:solidFill>
                <a:latin typeface="Consolas"/>
              </a:rPr>
              <a:t>TLS 1.3 · retained + LWT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778240" y="2304288"/>
            <a:ext cx="246888" cy="0"/>
          </a:xfrm>
          <a:prstGeom prst="line">
            <a:avLst/>
          </a:prstGeom>
          <a:ln w="22225">
            <a:solidFill>
              <a:srgbClr val="2E7D8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9061704" y="1645920"/>
            <a:ext cx="2487168" cy="1188720"/>
          </a:xfrm>
          <a:prstGeom prst="rect">
            <a:avLst/>
          </a:prstGeom>
          <a:solidFill>
            <a:srgbClr val="161C24"/>
          </a:solidFill>
          <a:ln w="12700">
            <a:solidFill>
              <a:srgbClr val="2C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061704" y="1645920"/>
            <a:ext cx="2487168" cy="31750"/>
          </a:xfrm>
          <a:prstGeom prst="rect">
            <a:avLst/>
          </a:prstGeom>
          <a:solidFill>
            <a:srgbClr val="63D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62872" y="1901952"/>
            <a:ext cx="2084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Bahnschrift SemiBold"/>
              </a:rPr>
              <a:t>osos-hmi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62872" y="2212848"/>
            <a:ext cx="20848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 i="0">
                <a:solidFill>
                  <a:srgbClr val="8494A6"/>
                </a:solidFill>
                <a:latin typeface="Consolas"/>
              </a:rPr>
              <a:t>Android · Kotlin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 i="0">
                <a:solidFill>
                  <a:srgbClr val="8494A6"/>
                </a:solidFill>
                <a:latin typeface="Consolas"/>
              </a:rPr>
              <a:t>live tiles · alarms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71216" y="1792224"/>
            <a:ext cx="8321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750" b="0" i="0">
                <a:solidFill>
                  <a:srgbClr val="5A6878"/>
                </a:solidFill>
                <a:latin typeface="Consolas"/>
              </a:rPr>
              <a:t>Modbus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750" b="0" i="0">
                <a:solidFill>
                  <a:srgbClr val="5A6878"/>
                </a:solidFill>
                <a:latin typeface="Consolas"/>
              </a:rPr>
              <a:t>TCP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78424" y="1792224"/>
            <a:ext cx="8321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750" b="0" i="0">
                <a:solidFill>
                  <a:srgbClr val="5A6878"/>
                </a:solidFill>
                <a:latin typeface="Consolas"/>
              </a:rPr>
              <a:t>MQTT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750" b="0" i="0">
                <a:solidFill>
                  <a:srgbClr val="5A6878"/>
                </a:solidFill>
                <a:latin typeface="Consolas"/>
              </a:rPr>
              <a:t>TLS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85632" y="1792224"/>
            <a:ext cx="8321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750" b="0" i="0">
                <a:solidFill>
                  <a:srgbClr val="5A6878"/>
                </a:solidFill>
                <a:latin typeface="Consolas"/>
              </a:rPr>
              <a:t>MQTT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750" b="0" i="0">
                <a:solidFill>
                  <a:srgbClr val="5A6878"/>
                </a:solidFill>
                <a:latin typeface="Consolas"/>
              </a:rPr>
              <a:t>sub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" y="3218688"/>
            <a:ext cx="10908792" cy="9525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3493008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0" i="0">
                <a:solidFill>
                  <a:srgbClr val="63D2E8"/>
                </a:solidFill>
                <a:latin typeface="Consolas"/>
              </a:rPr>
              <a:t>22 / 22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" y="3881628"/>
            <a:ext cx="2651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8494A6"/>
                </a:solidFill>
                <a:latin typeface="Bahnschrift SemiBold"/>
              </a:rPr>
              <a:t>REGISTERS PER CYCLE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4064508"/>
            <a:ext cx="2651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5A6878"/>
                </a:solidFill>
                <a:latin typeface="Consolas"/>
              </a:rPr>
              <a:t>15 consecutive cycles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01568" y="3493008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0" i="0">
                <a:solidFill>
                  <a:srgbClr val="63D2E8"/>
                </a:solidFill>
                <a:latin typeface="Consolas"/>
              </a:rPr>
              <a:t>5 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01568" y="3881628"/>
            <a:ext cx="2651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8494A6"/>
                </a:solidFill>
                <a:latin typeface="Bahnschrift SemiBold"/>
              </a:rPr>
              <a:t>REPORT INTERVAL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01568" y="4064508"/>
            <a:ext cx="2651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5A6878"/>
                </a:solidFill>
                <a:latin typeface="Consolas"/>
              </a:rPr>
              <a:t>fixed read budget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182111" y="3529584"/>
            <a:ext cx="9525" cy="896112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63056" y="3493008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0" i="0">
                <a:solidFill>
                  <a:srgbClr val="63D2E8"/>
                </a:solidFill>
                <a:latin typeface="Consolas"/>
              </a:rPr>
              <a:t>TLS 1.3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63056" y="3881628"/>
            <a:ext cx="2651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8494A6"/>
                </a:solidFill>
                <a:latin typeface="Bahnschrift SemiBold"/>
              </a:rPr>
              <a:t>TO THE BROKER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63056" y="4064508"/>
            <a:ext cx="2651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5A6878"/>
                </a:solidFill>
                <a:latin typeface="Consolas"/>
              </a:rPr>
              <a:t>DigiCert G2 verified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943600" y="3529584"/>
            <a:ext cx="9525" cy="896112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924544" y="3493008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0" i="0">
                <a:solidFill>
                  <a:srgbClr val="C89A5B"/>
                </a:solidFill>
                <a:latin typeface="Consolas"/>
              </a:rPr>
              <a:t>97.65 %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924544" y="3881628"/>
            <a:ext cx="2651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8494A6"/>
                </a:solidFill>
                <a:latin typeface="Bahnschrift SemiBold"/>
              </a:rPr>
              <a:t>MNIST TEST ACCURACY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924544" y="4064508"/>
            <a:ext cx="2651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5A6878"/>
                </a:solidFill>
                <a:latin typeface="Consolas"/>
              </a:rPr>
              <a:t>784-128-10, from scratch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705088" y="3529584"/>
            <a:ext cx="9525" cy="896112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40080" y="4846320"/>
            <a:ext cx="10908792" cy="9525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0080" y="5047488"/>
            <a:ext cx="10908792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200" b="1">
                <a:solidFill>
                  <a:srgbClr val="63D2E8"/>
                </a:solidFill>
                <a:latin typeface="Consolas"/>
              </a:rPr>
              <a:t>— </a:t>
            </a:r>
            <a:r>
              <a:rPr sz="1200" b="1">
                <a:solidFill>
                  <a:srgbClr val="E6EDF3"/>
                </a:solidFill>
                <a:latin typeface="Segoe UI"/>
              </a:rPr>
              <a:t>Cross-checked, not self-reported.</a:t>
            </a:r>
            <a:r>
              <a:rPr sz="1200" b="0">
                <a:solidFill>
                  <a:srgbClr val="8494A6"/>
                </a:solidFill>
                <a:latin typeface="Segoe UI"/>
              </a:rPr>
              <a:t>  A PC-side Modbus client read the same value the gateway published, in the same second.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200" b="1">
                <a:solidFill>
                  <a:srgbClr val="63D2E8"/>
                </a:solidFill>
                <a:latin typeface="Consolas"/>
              </a:rPr>
              <a:t>— </a:t>
            </a:r>
            <a:r>
              <a:rPr sz="1200" b="1">
                <a:solidFill>
                  <a:srgbClr val="E6EDF3"/>
                </a:solidFill>
                <a:latin typeface="Segoe UI"/>
              </a:rPr>
              <a:t>The meter cannot move.</a:t>
            </a:r>
            <a:r>
              <a:rPr sz="1200" b="0">
                <a:solidFill>
                  <a:srgbClr val="8494A6"/>
                </a:solidFill>
                <a:latin typeface="Segoe UI"/>
              </a:rPr>
              <a:t>  Its address is a DHCP reservation on MAC 00-00-36-7F-04-55, because CFG_METER_HOST is a compile-time constant.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0080" y="6382512"/>
            <a:ext cx="10908792" cy="9525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0080" y="649224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5A6878"/>
                </a:solidFill>
                <a:latin typeface="Consolas"/>
              </a:rPr>
              <a:t>OSOS · DKM-440 remote meter reading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177272" y="6492240"/>
            <a:ext cx="1371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5A6878"/>
                </a:solidFill>
                <a:latin typeface="Consolas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5852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3D2E8"/>
                </a:solidFill>
                <a:latin typeface="Consolas"/>
              </a:rPr>
              <a:t>THE BRIEF BEHIND THE BENCH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93776"/>
            <a:ext cx="5870448" cy="64008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0" i="0">
                <a:solidFill>
                  <a:srgbClr val="E6EDF3"/>
                </a:solidFill>
                <a:latin typeface="Bahnschrift SemiBold"/>
              </a:rPr>
              <a:t>Why build it at all</a:t>
            </a:r>
          </a:p>
        </p:txBody>
      </p:sp>
      <p:sp>
        <p:nvSpPr>
          <p:cNvPr id="5" name="Rectangle 4"/>
          <p:cNvSpPr/>
          <p:nvPr/>
        </p:nvSpPr>
        <p:spPr>
          <a:xfrm>
            <a:off x="6726783" y="583844"/>
            <a:ext cx="1083106" cy="12700"/>
          </a:xfrm>
          <a:prstGeom prst="rect">
            <a:avLst/>
          </a:prstGeom>
          <a:solidFill>
            <a:srgbClr val="2E7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17970" y="548640"/>
            <a:ext cx="77724" cy="77724"/>
          </a:xfrm>
          <a:prstGeom prst="rect">
            <a:avLst/>
          </a:prstGeom>
          <a:solidFill>
            <a:srgbClr val="63D2E8"/>
          </a:solidFill>
          <a:ln w="12700">
            <a:solidFill>
              <a:srgbClr val="63D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45327" y="6949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3D2E8"/>
                </a:solidFill>
                <a:latin typeface="Bahnschrift SemiBold"/>
              </a:rPr>
              <a:t>METER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7949793" y="583844"/>
            <a:ext cx="1083106" cy="12700"/>
          </a:xfrm>
          <a:prstGeom prst="rect">
            <a:avLst/>
          </a:prstGeom>
          <a:solidFill>
            <a:srgbClr val="2E7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840979" y="548640"/>
            <a:ext cx="77724" cy="77724"/>
          </a:xfrm>
          <a:prstGeom prst="rect">
            <a:avLst/>
          </a:prstGeom>
          <a:solidFill>
            <a:srgbClr val="63D2E8"/>
          </a:solidFill>
          <a:ln w="12700">
            <a:solidFill>
              <a:srgbClr val="63D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68337" y="6949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3D2E8"/>
                </a:solidFill>
                <a:latin typeface="Bahnschrift SemiBold"/>
              </a:rPr>
              <a:t>GATEWAY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72803" y="583844"/>
            <a:ext cx="1083106" cy="12700"/>
          </a:xfrm>
          <a:prstGeom prst="rect">
            <a:avLst/>
          </a:prstGeom>
          <a:solidFill>
            <a:srgbClr val="2E7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063990" y="548640"/>
            <a:ext cx="77724" cy="77724"/>
          </a:xfrm>
          <a:prstGeom prst="rect">
            <a:avLst/>
          </a:prstGeom>
          <a:solidFill>
            <a:srgbClr val="63D2E8"/>
          </a:solidFill>
          <a:ln w="12700">
            <a:solidFill>
              <a:srgbClr val="63D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91347" y="6949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3D2E8"/>
                </a:solidFill>
                <a:latin typeface="Bahnschrift SemiBold"/>
              </a:rPr>
              <a:t>BROKER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95813" y="583844"/>
            <a:ext cx="1083106" cy="12700"/>
          </a:xfrm>
          <a:prstGeom prst="rect">
            <a:avLst/>
          </a:prstGeom>
          <a:solidFill>
            <a:srgbClr val="2E7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287000" y="548640"/>
            <a:ext cx="77724" cy="77724"/>
          </a:xfrm>
          <a:prstGeom prst="rect">
            <a:avLst/>
          </a:prstGeom>
          <a:solidFill>
            <a:srgbClr val="63D2E8"/>
          </a:solidFill>
          <a:ln w="12700">
            <a:solidFill>
              <a:srgbClr val="63D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14357" y="6949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3D2E8"/>
                </a:solidFill>
                <a:latin typeface="Bahnschrift SemiBold"/>
              </a:rPr>
              <a:t>PHONE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510009" y="548640"/>
            <a:ext cx="77724" cy="77724"/>
          </a:xfrm>
          <a:prstGeom prst="rect">
            <a:avLst/>
          </a:prstGeom>
          <a:solidFill>
            <a:srgbClr val="63D2E8"/>
          </a:solidFill>
          <a:ln w="12700">
            <a:solidFill>
              <a:srgbClr val="63D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37367" y="6949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3D2E8"/>
                </a:solidFill>
                <a:latin typeface="Bahnschrift SemiBold"/>
              </a:rPr>
              <a:t>NET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1225296"/>
            <a:ext cx="10908792" cy="9525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1220724"/>
            <a:ext cx="566928" cy="25400"/>
          </a:xfrm>
          <a:prstGeom prst="rect">
            <a:avLst/>
          </a:prstGeom>
          <a:solidFill>
            <a:srgbClr val="63D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1554480"/>
            <a:ext cx="5943600" cy="9109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0" i="0">
                <a:solidFill>
                  <a:srgbClr val="63D2E8"/>
                </a:solidFill>
                <a:latin typeface="Bahnschrift SemiBold"/>
              </a:rPr>
              <a:t>Because there is nowhere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2600" b="0" i="0">
                <a:solidFill>
                  <a:srgbClr val="63D2E8"/>
                </a:solidFill>
                <a:latin typeface="Bahnschrift SemiBold"/>
              </a:rPr>
              <a:t>to practise this.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2776331"/>
            <a:ext cx="5943600" cy="20975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300" b="0" i="0">
                <a:solidFill>
                  <a:srgbClr val="8494A6"/>
                </a:solidFill>
                <a:latin typeface="Segoe UI"/>
              </a:rPr>
              <a:t>Industrial telemetry is taught in slices — a serial lecture here, a protocol chapter there, a cloud broker in a different course entirely. Nobody hands a newcomer the whole path from a physical register to a pixel on a phone and says: make it work.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300" b="0" i="0">
                <a:solidFill>
                  <a:srgbClr val="8494A6"/>
                </a:solidFill>
                <a:latin typeface="Segoe UI"/>
              </a:rPr>
              <a:t/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300" b="0" i="0">
                <a:solidFill>
                  <a:srgbClr val="8494A6"/>
                </a:solidFill>
                <a:latin typeface="Segoe UI"/>
              </a:rPr>
              <a:t>This bench is that path, compressed onto one desk, with real hardware that misbehaves in real ways. It is an emulation ground for someone starting in this field — including the person who built it.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59168" y="1572768"/>
            <a:ext cx="4489704" cy="4224528"/>
          </a:xfrm>
          <a:prstGeom prst="rect">
            <a:avLst/>
          </a:prstGeom>
          <a:solidFill>
            <a:srgbClr val="161C24"/>
          </a:solidFill>
          <a:ln w="12700">
            <a:solidFill>
              <a:srgbClr val="2C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96912" y="1792224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63D2E8"/>
                </a:solidFill>
                <a:latin typeface="Bahnschrift SemiBold"/>
              </a:rPr>
              <a:t>WHAT A NEWCOMER MEETS HERE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96912" y="2084831"/>
            <a:ext cx="4023360" cy="9525"/>
          </a:xfrm>
          <a:prstGeom prst="rect">
            <a:avLst/>
          </a:prstGeom>
          <a:solidFill>
            <a:srgbClr val="3D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96912" y="2299716"/>
            <a:ext cx="68580" cy="68580"/>
          </a:xfrm>
          <a:prstGeom prst="rect">
            <a:avLst/>
          </a:prstGeom>
          <a:solidFill>
            <a:srgbClr val="63D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79792" y="2249424"/>
            <a:ext cx="3840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1" i="0">
                <a:solidFill>
                  <a:srgbClr val="E6EDF3"/>
                </a:solidFill>
                <a:latin typeface="Segoe UI"/>
              </a:rPr>
              <a:t>A device that punishes impatience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79792" y="2473452"/>
            <a:ext cx="3840480" cy="3737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0" i="0">
                <a:solidFill>
                  <a:srgbClr val="8494A6"/>
                </a:solidFill>
                <a:latin typeface="Consolas"/>
              </a:rPr>
              <a:t>the DKM-440 stops answering a master that fires back to back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96912" y="3116925"/>
            <a:ext cx="68580" cy="68580"/>
          </a:xfrm>
          <a:prstGeom prst="rect">
            <a:avLst/>
          </a:prstGeom>
          <a:solidFill>
            <a:srgbClr val="63D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79792" y="3066633"/>
            <a:ext cx="3840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1" i="0">
                <a:solidFill>
                  <a:srgbClr val="E6EDF3"/>
                </a:solidFill>
                <a:latin typeface="Segoe UI"/>
              </a:rPr>
              <a:t>A protocol with no self-description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79792" y="3290661"/>
            <a:ext cx="3840480" cy="1868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0" i="0">
                <a:solidFill>
                  <a:srgbClr val="8494A6"/>
                </a:solidFill>
                <a:latin typeface="Consolas"/>
              </a:rPr>
              <a:t>Modbus gives you a number; the meaning lives in a PDF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96912" y="3747272"/>
            <a:ext cx="68580" cy="68580"/>
          </a:xfrm>
          <a:prstGeom prst="rect">
            <a:avLst/>
          </a:prstGeom>
          <a:solidFill>
            <a:srgbClr val="63D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79792" y="3696980"/>
            <a:ext cx="3840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1" i="0">
                <a:solidFill>
                  <a:srgbClr val="E6EDF3"/>
                </a:solidFill>
                <a:latin typeface="Segoe UI"/>
              </a:rPr>
              <a:t>A network that lies quietly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79792" y="3921008"/>
            <a:ext cx="3840480" cy="3737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0" i="0">
                <a:solidFill>
                  <a:srgbClr val="8494A6"/>
                </a:solidFill>
                <a:latin typeface="Consolas"/>
              </a:rPr>
              <a:t>a DHCP lease moved four times and blinded the gateway each time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296912" y="4564481"/>
            <a:ext cx="68580" cy="68580"/>
          </a:xfrm>
          <a:prstGeom prst="rect">
            <a:avLst/>
          </a:prstGeom>
          <a:solidFill>
            <a:srgbClr val="63D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79792" y="4514189"/>
            <a:ext cx="3840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1" i="0">
                <a:solidFill>
                  <a:srgbClr val="E6EDF3"/>
                </a:solidFill>
                <a:latin typeface="Segoe UI"/>
              </a:rPr>
              <a:t>A chip with one UART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79792" y="4738217"/>
            <a:ext cx="3840480" cy="1868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0" i="0">
                <a:solidFill>
                  <a:srgbClr val="8494A6"/>
                </a:solidFill>
                <a:latin typeface="Consolas"/>
              </a:rPr>
              <a:t>the constraint that chose the entire architecture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296912" y="5194828"/>
            <a:ext cx="68580" cy="68580"/>
          </a:xfrm>
          <a:prstGeom prst="rect">
            <a:avLst/>
          </a:prstGeom>
          <a:solidFill>
            <a:srgbClr val="63D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79792" y="5144536"/>
            <a:ext cx="3840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1" i="0">
                <a:solidFill>
                  <a:srgbClr val="E6EDF3"/>
                </a:solidFill>
                <a:latin typeface="Segoe UI"/>
              </a:rPr>
              <a:t>A model that is only probably right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79792" y="5368564"/>
            <a:ext cx="3840480" cy="1868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0" i="0">
                <a:solidFill>
                  <a:srgbClr val="8494A6"/>
                </a:solidFill>
                <a:latin typeface="Consolas"/>
              </a:rPr>
              <a:t>and sits in front of an industrial actuator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" y="5230368"/>
            <a:ext cx="5943600" cy="9525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5413248"/>
            <a:ext cx="6035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 i="0">
                <a:solidFill>
                  <a:srgbClr val="5A6878"/>
                </a:solidFill>
                <a:latin typeface="Consolas"/>
              </a:rPr>
              <a:t>Every one of those is a lesson that does not survive a simulator. That is the argument for hardware.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" y="6382512"/>
            <a:ext cx="10908792" cy="9525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649224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5A6878"/>
                </a:solidFill>
                <a:latin typeface="Consolas"/>
              </a:rPr>
              <a:t>OSOS · DKM-440 remote meter reading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177272" y="6492240"/>
            <a:ext cx="1371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5A6878"/>
                </a:solidFill>
                <a:latin typeface="Consolas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3D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2395728"/>
            <a:ext cx="8595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63D2E8"/>
                </a:solidFill>
                <a:latin typeface="Consolas"/>
              </a:rPr>
              <a:t>PART 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2724912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4400" b="0" i="0">
                <a:solidFill>
                  <a:srgbClr val="E6EDF3"/>
                </a:solidFill>
                <a:latin typeface="Bahnschrift SemiBold"/>
              </a:rPr>
              <a:t>The bench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3913632"/>
            <a:ext cx="1371600" cy="25400"/>
          </a:xfrm>
          <a:prstGeom prst="rect">
            <a:avLst/>
          </a:prstGeom>
          <a:solidFill>
            <a:srgbClr val="63D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4224528"/>
            <a:ext cx="749807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 i="0">
                <a:solidFill>
                  <a:srgbClr val="8494A6"/>
                </a:solidFill>
                <a:latin typeface="Segoe UI"/>
              </a:rPr>
              <a:t>Three instruments, one subnet, and a supply whose dial is the only thing on the bench that can move.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726783" y="6024524"/>
            <a:ext cx="1083106" cy="12700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17970" y="5989320"/>
            <a:ext cx="77724" cy="77724"/>
          </a:xfrm>
          <a:prstGeom prst="rect">
            <a:avLst/>
          </a:prstGeom>
          <a:solidFill>
            <a:srgbClr val="63D2E8"/>
          </a:solidFill>
          <a:ln w="12700">
            <a:solidFill>
              <a:srgbClr val="63D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45327" y="613562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3D2E8"/>
                </a:solidFill>
                <a:latin typeface="Bahnschrift SemiBold"/>
              </a:rPr>
              <a:t>METER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49793" y="6024524"/>
            <a:ext cx="1083106" cy="12700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40979" y="5989320"/>
            <a:ext cx="77724" cy="77724"/>
          </a:xfrm>
          <a:prstGeom prst="rect">
            <a:avLst/>
          </a:prstGeom>
          <a:solidFill>
            <a:srgbClr val="0D1117"/>
          </a:solidFill>
          <a:ln w="12700">
            <a:solidFill>
              <a:srgbClr val="3D4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68337" y="613562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5A6878"/>
                </a:solidFill>
                <a:latin typeface="Bahnschrift SemiBold"/>
              </a:rPr>
              <a:t>GATEWAY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72803" y="6024524"/>
            <a:ext cx="1083106" cy="12700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063990" y="5989320"/>
            <a:ext cx="77724" cy="77724"/>
          </a:xfrm>
          <a:prstGeom prst="rect">
            <a:avLst/>
          </a:prstGeom>
          <a:solidFill>
            <a:srgbClr val="0D1117"/>
          </a:solidFill>
          <a:ln w="12700">
            <a:solidFill>
              <a:srgbClr val="3D4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91347" y="613562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5A6878"/>
                </a:solidFill>
                <a:latin typeface="Bahnschrift SemiBold"/>
              </a:rPr>
              <a:t>BROKER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395813" y="6024524"/>
            <a:ext cx="1083106" cy="12700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287000" y="5989320"/>
            <a:ext cx="77724" cy="77724"/>
          </a:xfrm>
          <a:prstGeom prst="rect">
            <a:avLst/>
          </a:prstGeom>
          <a:solidFill>
            <a:srgbClr val="0D1117"/>
          </a:solidFill>
          <a:ln w="12700">
            <a:solidFill>
              <a:srgbClr val="3D4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14357" y="613562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5A6878"/>
                </a:solidFill>
                <a:latin typeface="Bahnschrift SemiBold"/>
              </a:rPr>
              <a:t>PHONE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510009" y="5989320"/>
            <a:ext cx="77724" cy="77724"/>
          </a:xfrm>
          <a:prstGeom prst="rect">
            <a:avLst/>
          </a:prstGeom>
          <a:solidFill>
            <a:srgbClr val="0D1117"/>
          </a:solidFill>
          <a:ln w="12700">
            <a:solidFill>
              <a:srgbClr val="3D4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37367" y="613562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5A6878"/>
                </a:solidFill>
                <a:latin typeface="Bahnschrift SemiBold"/>
              </a:rPr>
              <a:t>NET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6382512"/>
            <a:ext cx="10908792" cy="9525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649224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5A6878"/>
                </a:solidFill>
                <a:latin typeface="Consolas"/>
              </a:rPr>
              <a:t>OSOS · DKM-440 remote meter reading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77272" y="6492240"/>
            <a:ext cx="1371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5A6878"/>
                </a:solidFill>
                <a:latin typeface="Consolas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5852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3D2E8"/>
                </a:solidFill>
                <a:latin typeface="Consolas"/>
              </a:rPr>
              <a:t>PHOTOGRAPHED 2026-07-28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93776"/>
            <a:ext cx="5870448" cy="64008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0" i="0">
                <a:solidFill>
                  <a:srgbClr val="E6EDF3"/>
                </a:solidFill>
                <a:latin typeface="Bahnschrift SemiBold"/>
              </a:rPr>
              <a:t>The hardware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726783" y="583844"/>
            <a:ext cx="1083106" cy="12700"/>
          </a:xfrm>
          <a:prstGeom prst="rect">
            <a:avLst/>
          </a:prstGeom>
          <a:solidFill>
            <a:srgbClr val="2E7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17970" y="548640"/>
            <a:ext cx="77724" cy="77724"/>
          </a:xfrm>
          <a:prstGeom prst="rect">
            <a:avLst/>
          </a:prstGeom>
          <a:solidFill>
            <a:srgbClr val="63D2E8"/>
          </a:solidFill>
          <a:ln w="12700">
            <a:solidFill>
              <a:srgbClr val="63D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45327" y="6949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3D2E8"/>
                </a:solidFill>
                <a:latin typeface="Bahnschrift SemiBold"/>
              </a:rPr>
              <a:t>METER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7949793" y="583844"/>
            <a:ext cx="1083106" cy="12700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840979" y="548640"/>
            <a:ext cx="77724" cy="77724"/>
          </a:xfrm>
          <a:prstGeom prst="rect">
            <a:avLst/>
          </a:prstGeom>
          <a:solidFill>
            <a:srgbClr val="63D2E8"/>
          </a:solidFill>
          <a:ln w="12700">
            <a:solidFill>
              <a:srgbClr val="63D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68337" y="6949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3D2E8"/>
                </a:solidFill>
                <a:latin typeface="Bahnschrift SemiBold"/>
              </a:rPr>
              <a:t>GATEWAY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72803" y="583844"/>
            <a:ext cx="1083106" cy="12700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063990" y="548640"/>
            <a:ext cx="77724" cy="77724"/>
          </a:xfrm>
          <a:prstGeom prst="rect">
            <a:avLst/>
          </a:prstGeom>
          <a:solidFill>
            <a:srgbClr val="0D1117"/>
          </a:solidFill>
          <a:ln w="12700">
            <a:solidFill>
              <a:srgbClr val="3D4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91347" y="6949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5A6878"/>
                </a:solidFill>
                <a:latin typeface="Bahnschrift SemiBold"/>
              </a:rPr>
              <a:t>BROKER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95813" y="583844"/>
            <a:ext cx="1083106" cy="12700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287000" y="548640"/>
            <a:ext cx="77724" cy="77724"/>
          </a:xfrm>
          <a:prstGeom prst="rect">
            <a:avLst/>
          </a:prstGeom>
          <a:solidFill>
            <a:srgbClr val="0D1117"/>
          </a:solidFill>
          <a:ln w="12700">
            <a:solidFill>
              <a:srgbClr val="3D4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14357" y="6949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5A6878"/>
                </a:solidFill>
                <a:latin typeface="Bahnschrift SemiBold"/>
              </a:rPr>
              <a:t>PHONE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510009" y="548640"/>
            <a:ext cx="77724" cy="77724"/>
          </a:xfrm>
          <a:prstGeom prst="rect">
            <a:avLst/>
          </a:prstGeom>
          <a:solidFill>
            <a:srgbClr val="0D1117"/>
          </a:solidFill>
          <a:ln w="12700">
            <a:solidFill>
              <a:srgbClr val="3D4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37367" y="6949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5A6878"/>
                </a:solidFill>
                <a:latin typeface="Bahnschrift SemiBold"/>
              </a:rPr>
              <a:t>NET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1225296"/>
            <a:ext cx="10908792" cy="9525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1220724"/>
            <a:ext cx="566928" cy="25400"/>
          </a:xfrm>
          <a:prstGeom prst="rect">
            <a:avLst/>
          </a:prstGeom>
          <a:solidFill>
            <a:srgbClr val="63D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8931" y="1586484"/>
            <a:ext cx="2312868" cy="2962656"/>
          </a:xfrm>
          <a:prstGeom prst="rect">
            <a:avLst/>
          </a:prstGeom>
          <a:solidFill>
            <a:srgbClr val="161C24"/>
          </a:solidFill>
          <a:ln w="12700">
            <a:solidFill>
              <a:srgbClr val="2C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2" name="Picture 21" descr="dkm440-fro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27632"/>
            <a:ext cx="2230573" cy="288036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98931" y="4636007"/>
            <a:ext cx="25963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5A6878"/>
                </a:solidFill>
                <a:latin typeface="Consolas"/>
              </a:rPr>
              <a:t>DATAKOM DKM-440 · Ver 10.1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5A6878"/>
                </a:solidFill>
                <a:latin typeface="Consolas"/>
              </a:rPr>
              <a:t>RJ45 top edge — Modbus TCP :502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95264" y="1586484"/>
            <a:ext cx="2582177" cy="2962656"/>
          </a:xfrm>
          <a:prstGeom prst="rect">
            <a:avLst/>
          </a:prstGeom>
          <a:solidFill>
            <a:srgbClr val="161C24"/>
          </a:solidFill>
          <a:ln w="12700">
            <a:solidFill>
              <a:srgbClr val="2C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5" name="Picture 24" descr="bench-psu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6412" y="1627632"/>
            <a:ext cx="2499882" cy="288036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3195264" y="4636007"/>
            <a:ext cx="286564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5A6878"/>
                </a:solidFill>
                <a:latin typeface="Consolas"/>
              </a:rPr>
              <a:t>CLASS 305D · 23.35 V @ 0.157 A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5A6878"/>
                </a:solidFill>
                <a:latin typeface="Consolas"/>
              </a:rPr>
              <a:t>variable — the dial is not a constant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60906" y="1586484"/>
            <a:ext cx="2410165" cy="2962656"/>
          </a:xfrm>
          <a:prstGeom prst="rect">
            <a:avLst/>
          </a:prstGeom>
          <a:solidFill>
            <a:srgbClr val="161C24"/>
          </a:solidFill>
          <a:ln w="12700">
            <a:solidFill>
              <a:srgbClr val="2C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8" name="Picture 27" descr="esp8266-nodemcu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2054" y="1627632"/>
            <a:ext cx="2327870" cy="288036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060906" y="4636007"/>
            <a:ext cx="269362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5A6878"/>
                </a:solidFill>
                <a:latin typeface="Consolas"/>
              </a:rPr>
              <a:t>Ai-Thinker ESP-8266MOD · COM11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5A6878"/>
                </a:solidFill>
                <a:latin typeface="Consolas"/>
              </a:rPr>
              <a:t>802.11 b/g/n — the WAN bridge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732520" y="1591056"/>
            <a:ext cx="2816352" cy="3621024"/>
          </a:xfrm>
          <a:prstGeom prst="rect">
            <a:avLst/>
          </a:prstGeom>
          <a:solidFill>
            <a:srgbClr val="161C24"/>
          </a:solidFill>
          <a:ln w="12700">
            <a:solidFill>
              <a:srgbClr val="2C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51976" y="1792224"/>
            <a:ext cx="23774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63D2E8"/>
                </a:solidFill>
                <a:latin typeface="Bahnschrift SemiBold"/>
              </a:rPr>
              <a:t>THE SUBNET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51976" y="2066543"/>
            <a:ext cx="2377440" cy="9525"/>
          </a:xfrm>
          <a:prstGeom prst="rect">
            <a:avLst/>
          </a:prstGeom>
          <a:solidFill>
            <a:srgbClr val="3D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51976" y="2231136"/>
            <a:ext cx="1051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8494A6"/>
                </a:solidFill>
                <a:latin typeface="Segoe UI"/>
              </a:rPr>
              <a:t>router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66960" y="2231136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E6EDF3"/>
                </a:solidFill>
                <a:latin typeface="Consolas"/>
              </a:rPr>
              <a:t>192.169.10.1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51976" y="2542032"/>
            <a:ext cx="1051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8494A6"/>
                </a:solidFill>
                <a:latin typeface="Segoe UI"/>
              </a:rPr>
              <a:t>bench PC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66960" y="2542032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E6EDF3"/>
                </a:solidFill>
                <a:latin typeface="Consolas"/>
              </a:rPr>
              <a:t>.72  DHCP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51976" y="2852927"/>
            <a:ext cx="1051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8494A6"/>
                </a:solidFill>
                <a:latin typeface="Segoe UI"/>
              </a:rPr>
              <a:t>DKM-440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66960" y="2852927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E6EDF3"/>
                </a:solidFill>
                <a:latin typeface="Consolas"/>
              </a:rPr>
              <a:t>.74  reserved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51976" y="3163823"/>
            <a:ext cx="1051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8494A6"/>
                </a:solidFill>
                <a:latin typeface="Segoe UI"/>
              </a:rPr>
              <a:t>ESP8266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66960" y="3163823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E6EDF3"/>
                </a:solidFill>
                <a:latin typeface="Consolas"/>
              </a:rPr>
              <a:t>.75  DHCP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951976" y="3511295"/>
            <a:ext cx="2377440" cy="9525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951976" y="3675887"/>
            <a:ext cx="23774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8494A6"/>
                </a:solidFill>
                <a:latin typeface="Consolas"/>
              </a:rPr>
              <a:t>SSID IKOM_Bilisim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51976" y="3913631"/>
            <a:ext cx="23774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8494A6"/>
                </a:solidFill>
                <a:latin typeface="Consolas"/>
              </a:rPr>
              <a:t>RSSI −46 dBm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51976" y="4261103"/>
            <a:ext cx="2377440" cy="7468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0" i="0">
                <a:solidFill>
                  <a:srgbClr val="5A6878"/>
                </a:solidFill>
                <a:latin typeface="Segoe UI"/>
              </a:rPr>
              <a:t>192.169.x.x is not private address space — 192.168 was meant. It only shadows real hosts inside that block, so it stays. Recorded so nobody rediscovers it.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" y="5230368"/>
            <a:ext cx="7818120" cy="9525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" y="5413248"/>
            <a:ext cx="78181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200" b="1">
                <a:solidFill>
                  <a:srgbClr val="E6EDF3"/>
                </a:solidFill>
                <a:latin typeface="Segoe UI"/>
              </a:rPr>
              <a:t>The meter is LAN-only and has no business on the internet.  </a:t>
            </a:r>
            <a:r>
              <a:rPr sz="1200" b="0">
                <a:solidFill>
                  <a:srgbClr val="8494A6"/>
                </a:solidFill>
                <a:latin typeface="Segoe UI"/>
              </a:rPr>
              <a:t>The ESP8266 is the one controlled egress point: it translates registers into JSON and speaks outward to a broker, so nothing on the internet ever addresses the meter.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" y="6382512"/>
            <a:ext cx="10908792" cy="9525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" y="649224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5A6878"/>
                </a:solidFill>
                <a:latin typeface="Consolas"/>
              </a:rPr>
              <a:t>OSOS · DKM-440 remote meter reading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177272" y="6492240"/>
            <a:ext cx="1371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5A6878"/>
                </a:solidFill>
                <a:latin typeface="Consolas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5852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3D2E8"/>
                </a:solidFill>
                <a:latin typeface="Consolas"/>
              </a:rPr>
              <a:t>WHY TWO ALARM LAMPS ARE LIT AND NOTHING IS WRONG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93776"/>
            <a:ext cx="5870448" cy="64008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0" i="0">
                <a:solidFill>
                  <a:srgbClr val="E6EDF3"/>
                </a:solidFill>
                <a:latin typeface="Bahnschrift SemiBold"/>
              </a:rPr>
              <a:t>Reading the panel honestly</a:t>
            </a:r>
          </a:p>
        </p:txBody>
      </p:sp>
      <p:sp>
        <p:nvSpPr>
          <p:cNvPr id="5" name="Rectangle 4"/>
          <p:cNvSpPr/>
          <p:nvPr/>
        </p:nvSpPr>
        <p:spPr>
          <a:xfrm>
            <a:off x="6726783" y="583844"/>
            <a:ext cx="1083106" cy="12700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17970" y="548640"/>
            <a:ext cx="77724" cy="77724"/>
          </a:xfrm>
          <a:prstGeom prst="rect">
            <a:avLst/>
          </a:prstGeom>
          <a:solidFill>
            <a:srgbClr val="63D2E8"/>
          </a:solidFill>
          <a:ln w="12700">
            <a:solidFill>
              <a:srgbClr val="63D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45327" y="6949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3D2E8"/>
                </a:solidFill>
                <a:latin typeface="Bahnschrift SemiBold"/>
              </a:rPr>
              <a:t>METER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7949793" y="583844"/>
            <a:ext cx="1083106" cy="12700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840979" y="548640"/>
            <a:ext cx="77724" cy="77724"/>
          </a:xfrm>
          <a:prstGeom prst="rect">
            <a:avLst/>
          </a:prstGeom>
          <a:solidFill>
            <a:srgbClr val="0D1117"/>
          </a:solidFill>
          <a:ln w="12700">
            <a:solidFill>
              <a:srgbClr val="3D4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68337" y="6949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5A6878"/>
                </a:solidFill>
                <a:latin typeface="Bahnschrift SemiBold"/>
              </a:rPr>
              <a:t>GATEWAY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72803" y="583844"/>
            <a:ext cx="1083106" cy="12700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063990" y="548640"/>
            <a:ext cx="77724" cy="77724"/>
          </a:xfrm>
          <a:prstGeom prst="rect">
            <a:avLst/>
          </a:prstGeom>
          <a:solidFill>
            <a:srgbClr val="0D1117"/>
          </a:solidFill>
          <a:ln w="12700">
            <a:solidFill>
              <a:srgbClr val="3D4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91347" y="6949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5A6878"/>
                </a:solidFill>
                <a:latin typeface="Bahnschrift SemiBold"/>
              </a:rPr>
              <a:t>BROKER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95813" y="583844"/>
            <a:ext cx="1083106" cy="12700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287000" y="548640"/>
            <a:ext cx="77724" cy="77724"/>
          </a:xfrm>
          <a:prstGeom prst="rect">
            <a:avLst/>
          </a:prstGeom>
          <a:solidFill>
            <a:srgbClr val="0D1117"/>
          </a:solidFill>
          <a:ln w="12700">
            <a:solidFill>
              <a:srgbClr val="3D4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14357" y="6949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5A6878"/>
                </a:solidFill>
                <a:latin typeface="Bahnschrift SemiBold"/>
              </a:rPr>
              <a:t>PHONE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510009" y="548640"/>
            <a:ext cx="77724" cy="77724"/>
          </a:xfrm>
          <a:prstGeom prst="rect">
            <a:avLst/>
          </a:prstGeom>
          <a:solidFill>
            <a:srgbClr val="0D1117"/>
          </a:solidFill>
          <a:ln w="12700">
            <a:solidFill>
              <a:srgbClr val="3D4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37367" y="6949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5A6878"/>
                </a:solidFill>
                <a:latin typeface="Bahnschrift SemiBold"/>
              </a:rPr>
              <a:t>NET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1225296"/>
            <a:ext cx="10908792" cy="9525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1220724"/>
            <a:ext cx="566928" cy="25400"/>
          </a:xfrm>
          <a:prstGeom prst="rect">
            <a:avLst/>
          </a:prstGeom>
          <a:solidFill>
            <a:srgbClr val="63D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8931" y="1604772"/>
            <a:ext cx="4600466" cy="2185415"/>
          </a:xfrm>
          <a:prstGeom prst="rect">
            <a:avLst/>
          </a:prstGeom>
          <a:solidFill>
            <a:srgbClr val="161C24"/>
          </a:solidFill>
          <a:ln w="12700">
            <a:solidFill>
              <a:srgbClr val="2C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2" name="Picture 21" descr="_crop_dkm440-fro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0"/>
            <a:ext cx="4518171" cy="21031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98931" y="3877055"/>
            <a:ext cx="488393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5A6878"/>
                </a:solidFill>
                <a:latin typeface="Consolas"/>
              </a:rPr>
              <a:t>the status LEDs, bottom edge of the panel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1591056"/>
            <a:ext cx="6062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63D2E8"/>
                </a:solidFill>
                <a:latin typeface="Bahnschrift SemiBold"/>
              </a:rPr>
              <a:t>THE FOUR LAMPS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0" y="1847088"/>
            <a:ext cx="6062472" cy="9525"/>
          </a:xfrm>
          <a:prstGeom prst="rect">
            <a:avLst/>
          </a:prstGeom>
          <a:solidFill>
            <a:srgbClr val="3D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486400" y="2098548"/>
            <a:ext cx="100584" cy="1005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5A6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24144" y="2029968"/>
            <a:ext cx="11887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E6EDF3"/>
                </a:solidFill>
                <a:latin typeface="Consolas"/>
              </a:rPr>
              <a:t>ENERJİ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7728" y="2029968"/>
            <a:ext cx="640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5A6878"/>
                </a:solidFill>
                <a:latin typeface="Bahnschrift SemiBold"/>
              </a:rPr>
              <a:t>off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99248" y="2029968"/>
            <a:ext cx="3840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8494A6"/>
                </a:solidFill>
                <a:latin typeface="Segoe UI"/>
              </a:rPr>
              <a:t>energy accumulation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0" y="2464308"/>
            <a:ext cx="100584" cy="1005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5A6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24144" y="2395728"/>
            <a:ext cx="11887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E6EDF3"/>
                </a:solidFill>
                <a:latin typeface="Consolas"/>
              </a:rPr>
              <a:t>HABERL.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67728" y="2395728"/>
            <a:ext cx="640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5A6878"/>
                </a:solidFill>
                <a:latin typeface="Bahnschrift SemiBold"/>
              </a:rPr>
              <a:t>off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99248" y="2395728"/>
            <a:ext cx="3840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8494A6"/>
                </a:solidFill>
                <a:latin typeface="Segoe UI"/>
              </a:rPr>
              <a:t>communications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0" y="2830068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4438"/>
          </a:solidFill>
          <a:ln w="12700">
            <a:solidFill>
              <a:srgbClr val="FF44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24144" y="2761488"/>
            <a:ext cx="11887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E6EDF3"/>
                </a:solidFill>
                <a:latin typeface="Consolas"/>
              </a:rPr>
              <a:t>ALARM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67728" y="2761488"/>
            <a:ext cx="640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FF4438"/>
                </a:solidFill>
                <a:latin typeface="Bahnschrift SemiBold"/>
              </a:rPr>
              <a:t>LIT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99248" y="2761488"/>
            <a:ext cx="3840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8494A6"/>
                </a:solidFill>
                <a:latin typeface="Segoe UI"/>
              </a:rPr>
              <a:t>an AC meter with no AC connected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0" y="3195828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FFA928"/>
          </a:solidFill>
          <a:ln w="12700">
            <a:solidFill>
              <a:srgbClr val="FFA9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24144" y="3127248"/>
            <a:ext cx="11887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E6EDF3"/>
                </a:solidFill>
                <a:latin typeface="Consolas"/>
              </a:rPr>
              <a:t>UYARI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67728" y="3127248"/>
            <a:ext cx="6400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FFA928"/>
                </a:solidFill>
                <a:latin typeface="Bahnschrift SemiBold"/>
              </a:rPr>
              <a:t>LIT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99248" y="3127248"/>
            <a:ext cx="3840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8494A6"/>
                </a:solidFill>
                <a:latin typeface="Segoe UI"/>
              </a:rPr>
              <a:t>warning — absent phases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" y="4224528"/>
            <a:ext cx="4617720" cy="1188720"/>
          </a:xfrm>
          <a:prstGeom prst="rect">
            <a:avLst/>
          </a:prstGeom>
          <a:solidFill>
            <a:srgbClr val="0A0E13"/>
          </a:solidFill>
          <a:ln w="12700">
            <a:solidFill>
              <a:srgbClr val="2C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0080" y="4224528"/>
            <a:ext cx="25400" cy="1188720"/>
          </a:xfrm>
          <a:prstGeom prst="rect">
            <a:avLst/>
          </a:prstGeom>
          <a:solidFill>
            <a:srgbClr val="63D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1247" y="4352544"/>
            <a:ext cx="421538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3D2E8"/>
                </a:solidFill>
                <a:latin typeface="Bahnschrift SemiBold"/>
              </a:rPr>
              <a:t>EVERY AC REGISTER READS ZERO — CORRECTLY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1247" y="4626864"/>
            <a:ext cx="4215383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63D2E8"/>
                </a:solidFill>
                <a:latin typeface="Consolas"/>
              </a:rPr>
              <a:t>MainBus_Voltage_L1  100  = 0.000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63D2E8"/>
                </a:solidFill>
                <a:latin typeface="Consolas"/>
              </a:rPr>
              <a:t>MainBus_Current_L1  180  = 0.000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63D2E8"/>
                </a:solidFill>
                <a:latin typeface="Consolas"/>
              </a:rPr>
              <a:t>MainBus_Freq_L1     266  = 0.000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0" y="3675887"/>
            <a:ext cx="6062472" cy="2487168"/>
          </a:xfrm>
          <a:prstGeom prst="rect">
            <a:avLst/>
          </a:prstGeom>
          <a:solidFill>
            <a:srgbClr val="161C24"/>
          </a:solidFill>
          <a:ln w="12700">
            <a:solidFill>
              <a:srgbClr val="2C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486400" y="3675887"/>
            <a:ext cx="6062472" cy="31750"/>
          </a:xfrm>
          <a:prstGeom prst="rect">
            <a:avLst/>
          </a:prstGeom>
          <a:solidFill>
            <a:srgbClr val="FFA9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724144" y="3877056"/>
            <a:ext cx="5577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0" i="0">
                <a:solidFill>
                  <a:srgbClr val="FFA928"/>
                </a:solidFill>
                <a:latin typeface="Consolas"/>
              </a:rPr>
              <a:t>0.000 is not null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724144" y="4261104"/>
            <a:ext cx="5577840" cy="17566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  <a:spcAft>
                <a:spcPts val="0"/>
              </a:spcAft>
            </a:pPr>
            <a:r>
              <a:rPr sz="1150" b="0" i="0">
                <a:solidFill>
                  <a:srgbClr val="8494A6"/>
                </a:solidFill>
                <a:latin typeface="Segoe UI"/>
              </a:rPr>
              <a:t>A zero means “read correctly, genuinely zero”. A null means the register could not be read at all. The gateway publishes the key either way, so a consumer can always tell the two apart — that distinction is requirement FW-12.</a:t>
            </a:r>
          </a:p>
          <a:p>
            <a:pPr algn="l">
              <a:lnSpc>
                <a:spcPct val="142000"/>
              </a:lnSpc>
              <a:spcAft>
                <a:spcPts val="0"/>
              </a:spcAft>
            </a:pPr>
            <a:r>
              <a:rPr sz="1150" b="0" i="0">
                <a:solidFill>
                  <a:srgbClr val="8494A6"/>
                </a:solidFill>
                <a:latin typeface="Segoe UI"/>
              </a:rPr>
              <a:t/>
            </a:r>
          </a:p>
          <a:p>
            <a:pPr algn="l">
              <a:lnSpc>
                <a:spcPct val="142000"/>
              </a:lnSpc>
              <a:spcAft>
                <a:spcPts val="0"/>
              </a:spcAft>
            </a:pPr>
            <a:r>
              <a:rPr sz="1150" b="0" i="0">
                <a:solidFill>
                  <a:srgbClr val="8494A6"/>
                </a:solidFill>
                <a:latin typeface="Segoe UI"/>
              </a:rPr>
              <a:t>It matters because the meter is a True-RMS AC analyser with nothing on its voltage or current inputs. The lamps are not a fault; they are the device correctly complaining about absent phases.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" y="6382512"/>
            <a:ext cx="10908792" cy="9525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" y="649224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5A6878"/>
                </a:solidFill>
                <a:latin typeface="Consolas"/>
              </a:rPr>
              <a:t>OSOS · DKM-440 remote meter reading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177272" y="6492240"/>
            <a:ext cx="1371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5A6878"/>
                </a:solidFill>
                <a:latin typeface="Consolas"/>
              </a:rP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5852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FFA928"/>
                </a:solidFill>
                <a:latin typeface="Consolas"/>
              </a:rPr>
              <a:t>SUPPLY_VOLTAGE · REGISTER 40260 · BESLEME GERİLİMİ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93776"/>
            <a:ext cx="5870448" cy="64008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E6EDF3"/>
                </a:solidFill>
                <a:latin typeface="Bahnschrift SemiBold"/>
              </a:rPr>
              <a:t>The most misread number on the bench</a:t>
            </a:r>
          </a:p>
        </p:txBody>
      </p:sp>
      <p:sp>
        <p:nvSpPr>
          <p:cNvPr id="5" name="Rectangle 4"/>
          <p:cNvSpPr/>
          <p:nvPr/>
        </p:nvSpPr>
        <p:spPr>
          <a:xfrm>
            <a:off x="6726783" y="583844"/>
            <a:ext cx="1083106" cy="12700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17970" y="548640"/>
            <a:ext cx="77724" cy="77724"/>
          </a:xfrm>
          <a:prstGeom prst="rect">
            <a:avLst/>
          </a:prstGeom>
          <a:solidFill>
            <a:srgbClr val="63D2E8"/>
          </a:solidFill>
          <a:ln w="12700">
            <a:solidFill>
              <a:srgbClr val="63D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45327" y="6949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3D2E8"/>
                </a:solidFill>
                <a:latin typeface="Bahnschrift SemiBold"/>
              </a:rPr>
              <a:t>METER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7949793" y="583844"/>
            <a:ext cx="1083106" cy="12700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840979" y="548640"/>
            <a:ext cx="77724" cy="77724"/>
          </a:xfrm>
          <a:prstGeom prst="rect">
            <a:avLst/>
          </a:prstGeom>
          <a:solidFill>
            <a:srgbClr val="0D1117"/>
          </a:solidFill>
          <a:ln w="12700">
            <a:solidFill>
              <a:srgbClr val="3D4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68337" y="6949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5A6878"/>
                </a:solidFill>
                <a:latin typeface="Bahnschrift SemiBold"/>
              </a:rPr>
              <a:t>GATEWAY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72803" y="583844"/>
            <a:ext cx="1083106" cy="12700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063990" y="548640"/>
            <a:ext cx="77724" cy="77724"/>
          </a:xfrm>
          <a:prstGeom prst="rect">
            <a:avLst/>
          </a:prstGeom>
          <a:solidFill>
            <a:srgbClr val="0D1117"/>
          </a:solidFill>
          <a:ln w="12700">
            <a:solidFill>
              <a:srgbClr val="3D4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91347" y="6949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5A6878"/>
                </a:solidFill>
                <a:latin typeface="Bahnschrift SemiBold"/>
              </a:rPr>
              <a:t>BROKER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95813" y="583844"/>
            <a:ext cx="1083106" cy="12700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287000" y="548640"/>
            <a:ext cx="77724" cy="77724"/>
          </a:xfrm>
          <a:prstGeom prst="rect">
            <a:avLst/>
          </a:prstGeom>
          <a:solidFill>
            <a:srgbClr val="0D1117"/>
          </a:solidFill>
          <a:ln w="12700">
            <a:solidFill>
              <a:srgbClr val="3D4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14357" y="6949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5A6878"/>
                </a:solidFill>
                <a:latin typeface="Bahnschrift SemiBold"/>
              </a:rPr>
              <a:t>PHONE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510009" y="548640"/>
            <a:ext cx="77724" cy="77724"/>
          </a:xfrm>
          <a:prstGeom prst="rect">
            <a:avLst/>
          </a:prstGeom>
          <a:solidFill>
            <a:srgbClr val="0D1117"/>
          </a:solidFill>
          <a:ln w="12700">
            <a:solidFill>
              <a:srgbClr val="3D4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37367" y="6949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5A6878"/>
                </a:solidFill>
                <a:latin typeface="Bahnschrift SemiBold"/>
              </a:rPr>
              <a:t>NET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1225296"/>
            <a:ext cx="10908792" cy="9525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1220724"/>
            <a:ext cx="566928" cy="25400"/>
          </a:xfrm>
          <a:prstGeom prst="rect">
            <a:avLst/>
          </a:prstGeom>
          <a:solidFill>
            <a:srgbClr val="FFA9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1609344"/>
            <a:ext cx="5760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0" i="0">
                <a:solidFill>
                  <a:srgbClr val="E6EDF3"/>
                </a:solidFill>
                <a:latin typeface="Bahnschrift SemiBold"/>
              </a:rPr>
              <a:t>Three different values have been recorded for this register.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0" i="0">
                <a:solidFill>
                  <a:srgbClr val="E6EDF3"/>
                </a:solidFill>
                <a:latin typeface="Bahnschrift SemiBold"/>
              </a:rPr>
              <a:t>All three were correct at the time.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2706624"/>
            <a:ext cx="3931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FFA928"/>
                </a:solidFill>
                <a:latin typeface="Bahnschrift SemiBold"/>
              </a:rPr>
              <a:t>WHEN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706624"/>
            <a:ext cx="1828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FFA928"/>
                </a:solidFill>
                <a:latin typeface="Bahnschrift SemiBold"/>
              </a:rPr>
              <a:t>VALUE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2944368"/>
            <a:ext cx="5760720" cy="9525"/>
          </a:xfrm>
          <a:prstGeom prst="rect">
            <a:avLst/>
          </a:prstGeom>
          <a:solidFill>
            <a:srgbClr val="3D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035808"/>
            <a:ext cx="382219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8494A6"/>
                </a:solidFill>
                <a:latin typeface="Segoe UI"/>
              </a:rPr>
              <a:t>2026-07-23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3035808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8494A6"/>
                </a:solidFill>
                <a:latin typeface="Consolas"/>
              </a:rPr>
              <a:t>26.5 V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3328415"/>
            <a:ext cx="5760720" cy="9525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3401568"/>
            <a:ext cx="382219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8494A6"/>
                </a:solidFill>
                <a:latin typeface="Segoe UI"/>
              </a:rPr>
              <a:t>2026-07-28  gateway + PC client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3401568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8494A6"/>
                </a:solidFill>
                <a:latin typeface="Consolas"/>
              </a:rPr>
              <a:t>13.2 V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3694176"/>
            <a:ext cx="5760720" cy="9525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3767328"/>
            <a:ext cx="382219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8494A6"/>
                </a:solidFill>
                <a:latin typeface="Segoe UI"/>
              </a:rPr>
              <a:t>2026-07-28  photographed dial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3767328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63D2E8"/>
                </a:solidFill>
                <a:latin typeface="Consolas"/>
              </a:rPr>
              <a:t>23.35 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4206240"/>
            <a:ext cx="5760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00" b="0" i="0">
                <a:solidFill>
                  <a:srgbClr val="8494A6"/>
                </a:solidFill>
                <a:latin typeface="Segoe UI"/>
              </a:rPr>
              <a:t>It is a live readback of whatever the bench supply is dialled to — not a characteristic of the meter. It is the one channel on this bench that can move, which makes it useful as a staleness canary and useless as a regression reference.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66560" y="1609344"/>
            <a:ext cx="4782312" cy="2103120"/>
          </a:xfrm>
          <a:prstGeom prst="rect">
            <a:avLst/>
          </a:prstGeom>
          <a:solidFill>
            <a:srgbClr val="161C24"/>
          </a:solidFill>
          <a:ln w="12700">
            <a:solidFill>
              <a:srgbClr val="2C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766560" y="1609344"/>
            <a:ext cx="4782312" cy="31750"/>
          </a:xfrm>
          <a:prstGeom prst="rect">
            <a:avLst/>
          </a:prstGeom>
          <a:solidFill>
            <a:srgbClr val="63D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86016" y="1828800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63D2E8"/>
                </a:solidFill>
                <a:latin typeface="Bahnschrift SemiBold"/>
              </a:rPr>
              <a:t>USE THIS INSTEAD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86016" y="2139696"/>
            <a:ext cx="4389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400" b="0" i="0">
                <a:solidFill>
                  <a:srgbClr val="63D2E8"/>
                </a:solidFill>
                <a:latin typeface="Consolas"/>
              </a:rPr>
              <a:t>22 / 22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86016" y="2706624"/>
            <a:ext cx="4389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0" i="0">
                <a:solidFill>
                  <a:srgbClr val="8494A6"/>
                </a:solidFill>
                <a:latin typeface="Segoe UI"/>
              </a:rPr>
              <a:t>The register count proves the Modbus path is healthy. The voltage only proves the dial position.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766560" y="3877056"/>
            <a:ext cx="4782312" cy="2212848"/>
          </a:xfrm>
          <a:prstGeom prst="rect">
            <a:avLst/>
          </a:prstGeom>
          <a:solidFill>
            <a:srgbClr val="161C24"/>
          </a:solidFill>
          <a:ln w="12700">
            <a:solidFill>
              <a:srgbClr val="2C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766560" y="3877056"/>
            <a:ext cx="4782312" cy="31750"/>
          </a:xfrm>
          <a:prstGeom prst="rect">
            <a:avLst/>
          </a:prstGeom>
          <a:solidFill>
            <a:srgbClr val="FF4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86016" y="4096512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FF4438"/>
                </a:solidFill>
                <a:latin typeface="Bahnschrift SemiBold"/>
              </a:rPr>
              <a:t>OPEN — AND MORE URGENT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86016" y="4389120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 i="0">
                <a:solidFill>
                  <a:srgbClr val="E6EDF3"/>
                </a:solidFill>
                <a:latin typeface="Segoe UI"/>
              </a:rPr>
              <a:t>The app reads ≈2 % above the supply's own display, always in the same direction.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86016" y="5010912"/>
            <a:ext cx="4389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 i="0">
                <a:solidFill>
                  <a:srgbClr val="8494A6"/>
                </a:solidFill>
                <a:latin typeface="Segoe UI"/>
              </a:rPr>
              <a:t>Cable loss has the wrong sign, so it is excluded: either the PSU display under-reads or the DKM's housekeeping ADC over-reads. One DMM across the meter's own terminals settles it, and nobody has taken that measurement yet.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" y="6382512"/>
            <a:ext cx="10908792" cy="9525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649224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5A6878"/>
                </a:solidFill>
                <a:latin typeface="Consolas"/>
              </a:rPr>
              <a:t>OSOS · DKM-440 remote meter reading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177272" y="6492240"/>
            <a:ext cx="1371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5A6878"/>
                </a:solidFill>
                <a:latin typeface="Consolas"/>
              </a:rP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3D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2395728"/>
            <a:ext cx="8595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63D2E8"/>
                </a:solidFill>
                <a:latin typeface="Consolas"/>
              </a:rPr>
              <a:t>PART TWO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2724912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4400" b="0" i="0">
                <a:solidFill>
                  <a:srgbClr val="E6EDF3"/>
                </a:solidFill>
                <a:latin typeface="Bahnschrift SemiBold"/>
              </a:rPr>
              <a:t>The path a value takes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3913632"/>
            <a:ext cx="1371600" cy="25400"/>
          </a:xfrm>
          <a:prstGeom prst="rect">
            <a:avLst/>
          </a:prstGeom>
          <a:solidFill>
            <a:srgbClr val="63D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4224528"/>
            <a:ext cx="749807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 i="0">
                <a:solidFill>
                  <a:srgbClr val="8494A6"/>
                </a:solidFill>
                <a:latin typeface="Segoe UI"/>
              </a:rPr>
              <a:t>From a resistive divider inside the meter to a JSON string in a phone's memory, one layer at a time.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726783" y="6024524"/>
            <a:ext cx="1083106" cy="12700"/>
          </a:xfrm>
          <a:prstGeom prst="rect">
            <a:avLst/>
          </a:prstGeom>
          <a:solidFill>
            <a:srgbClr val="2E7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17970" y="5989320"/>
            <a:ext cx="77724" cy="77724"/>
          </a:xfrm>
          <a:prstGeom prst="rect">
            <a:avLst/>
          </a:prstGeom>
          <a:solidFill>
            <a:srgbClr val="63D2E8"/>
          </a:solidFill>
          <a:ln w="12700">
            <a:solidFill>
              <a:srgbClr val="63D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45327" y="613562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3D2E8"/>
                </a:solidFill>
                <a:latin typeface="Bahnschrift SemiBold"/>
              </a:rPr>
              <a:t>METER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49793" y="6024524"/>
            <a:ext cx="1083106" cy="12700"/>
          </a:xfrm>
          <a:prstGeom prst="rect">
            <a:avLst/>
          </a:prstGeom>
          <a:solidFill>
            <a:srgbClr val="2E7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40979" y="5989320"/>
            <a:ext cx="77724" cy="77724"/>
          </a:xfrm>
          <a:prstGeom prst="rect">
            <a:avLst/>
          </a:prstGeom>
          <a:solidFill>
            <a:srgbClr val="63D2E8"/>
          </a:solidFill>
          <a:ln w="12700">
            <a:solidFill>
              <a:srgbClr val="63D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68337" y="613562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3D2E8"/>
                </a:solidFill>
                <a:latin typeface="Bahnschrift SemiBold"/>
              </a:rPr>
              <a:t>GATEWAY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72803" y="6024524"/>
            <a:ext cx="1083106" cy="12700"/>
          </a:xfrm>
          <a:prstGeom prst="rect">
            <a:avLst/>
          </a:prstGeom>
          <a:solidFill>
            <a:srgbClr val="2E7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063990" y="5989320"/>
            <a:ext cx="77724" cy="77724"/>
          </a:xfrm>
          <a:prstGeom prst="rect">
            <a:avLst/>
          </a:prstGeom>
          <a:solidFill>
            <a:srgbClr val="63D2E8"/>
          </a:solidFill>
          <a:ln w="12700">
            <a:solidFill>
              <a:srgbClr val="63D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91347" y="613562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3D2E8"/>
                </a:solidFill>
                <a:latin typeface="Bahnschrift SemiBold"/>
              </a:rPr>
              <a:t>BROKER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395813" y="6024524"/>
            <a:ext cx="1083106" cy="12700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287000" y="5989320"/>
            <a:ext cx="77724" cy="77724"/>
          </a:xfrm>
          <a:prstGeom prst="rect">
            <a:avLst/>
          </a:prstGeom>
          <a:solidFill>
            <a:srgbClr val="63D2E8"/>
          </a:solidFill>
          <a:ln w="12700">
            <a:solidFill>
              <a:srgbClr val="63D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14357" y="613562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3D2E8"/>
                </a:solidFill>
                <a:latin typeface="Bahnschrift SemiBold"/>
              </a:rPr>
              <a:t>PHONE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510009" y="5989320"/>
            <a:ext cx="77724" cy="77724"/>
          </a:xfrm>
          <a:prstGeom prst="rect">
            <a:avLst/>
          </a:prstGeom>
          <a:solidFill>
            <a:srgbClr val="0D1117"/>
          </a:solidFill>
          <a:ln w="12700">
            <a:solidFill>
              <a:srgbClr val="3D4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37367" y="613562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5A6878"/>
                </a:solidFill>
                <a:latin typeface="Bahnschrift SemiBold"/>
              </a:rPr>
              <a:t>NET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6382512"/>
            <a:ext cx="10908792" cy="9525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649224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5A6878"/>
                </a:solidFill>
                <a:latin typeface="Consolas"/>
              </a:rPr>
              <a:t>OSOS · DKM-440 remote meter reading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77272" y="6492240"/>
            <a:ext cx="1371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5A6878"/>
                </a:solidFill>
                <a:latin typeface="Consolas"/>
              </a:rPr>
              <a:t>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5852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3D2E8"/>
                </a:solidFill>
                <a:latin typeface="Consolas"/>
              </a:rPr>
              <a:t>TWO HOPS, SEVEN LAYERS, ONE PAYLOAD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93776"/>
            <a:ext cx="5870448" cy="64008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50" b="0" i="0">
                <a:solidFill>
                  <a:srgbClr val="E6EDF3"/>
                </a:solidFill>
                <a:latin typeface="Bahnschrift SemiBold"/>
              </a:rPr>
              <a:t>The whole system, on the OSI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726783" y="583844"/>
            <a:ext cx="1083106" cy="12700"/>
          </a:xfrm>
          <a:prstGeom prst="rect">
            <a:avLst/>
          </a:prstGeom>
          <a:solidFill>
            <a:srgbClr val="2E7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17970" y="548640"/>
            <a:ext cx="77724" cy="77724"/>
          </a:xfrm>
          <a:prstGeom prst="rect">
            <a:avLst/>
          </a:prstGeom>
          <a:solidFill>
            <a:srgbClr val="63D2E8"/>
          </a:solidFill>
          <a:ln w="12700">
            <a:solidFill>
              <a:srgbClr val="63D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45327" y="6949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3D2E8"/>
                </a:solidFill>
                <a:latin typeface="Bahnschrift SemiBold"/>
              </a:rPr>
              <a:t>METER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7949793" y="583844"/>
            <a:ext cx="1083106" cy="12700"/>
          </a:xfrm>
          <a:prstGeom prst="rect">
            <a:avLst/>
          </a:prstGeom>
          <a:solidFill>
            <a:srgbClr val="2E7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840979" y="548640"/>
            <a:ext cx="77724" cy="77724"/>
          </a:xfrm>
          <a:prstGeom prst="rect">
            <a:avLst/>
          </a:prstGeom>
          <a:solidFill>
            <a:srgbClr val="63D2E8"/>
          </a:solidFill>
          <a:ln w="12700">
            <a:solidFill>
              <a:srgbClr val="63D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68337" y="6949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3D2E8"/>
                </a:solidFill>
                <a:latin typeface="Bahnschrift SemiBold"/>
              </a:rPr>
              <a:t>GATEWAY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72803" y="583844"/>
            <a:ext cx="1083106" cy="12700"/>
          </a:xfrm>
          <a:prstGeom prst="rect">
            <a:avLst/>
          </a:prstGeom>
          <a:solidFill>
            <a:srgbClr val="2E7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063990" y="548640"/>
            <a:ext cx="77724" cy="77724"/>
          </a:xfrm>
          <a:prstGeom prst="rect">
            <a:avLst/>
          </a:prstGeom>
          <a:solidFill>
            <a:srgbClr val="63D2E8"/>
          </a:solidFill>
          <a:ln w="12700">
            <a:solidFill>
              <a:srgbClr val="63D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91347" y="6949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3D2E8"/>
                </a:solidFill>
                <a:latin typeface="Bahnschrift SemiBold"/>
              </a:rPr>
              <a:t>BROKER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95813" y="583844"/>
            <a:ext cx="1083106" cy="12700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287000" y="548640"/>
            <a:ext cx="77724" cy="77724"/>
          </a:xfrm>
          <a:prstGeom prst="rect">
            <a:avLst/>
          </a:prstGeom>
          <a:solidFill>
            <a:srgbClr val="63D2E8"/>
          </a:solidFill>
          <a:ln w="12700">
            <a:solidFill>
              <a:srgbClr val="63D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14357" y="6949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3D2E8"/>
                </a:solidFill>
                <a:latin typeface="Bahnschrift SemiBold"/>
              </a:rPr>
              <a:t>PHONE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510009" y="548640"/>
            <a:ext cx="77724" cy="77724"/>
          </a:xfrm>
          <a:prstGeom prst="rect">
            <a:avLst/>
          </a:prstGeom>
          <a:solidFill>
            <a:srgbClr val="0D1117"/>
          </a:solidFill>
          <a:ln w="12700">
            <a:solidFill>
              <a:srgbClr val="3D4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37367" y="6949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5A6878"/>
                </a:solidFill>
                <a:latin typeface="Bahnschrift SemiBold"/>
              </a:rPr>
              <a:t>NET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1225296"/>
            <a:ext cx="10908792" cy="9525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1220724"/>
            <a:ext cx="566928" cy="25400"/>
          </a:xfrm>
          <a:prstGeom prst="rect">
            <a:avLst/>
          </a:prstGeom>
          <a:solidFill>
            <a:srgbClr val="63D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25296" y="1444752"/>
            <a:ext cx="1554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63D2E8"/>
                </a:solidFill>
                <a:latin typeface="Bahnschrift SemiBold"/>
              </a:rPr>
              <a:t>LAYER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1444752"/>
            <a:ext cx="42976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63D2E8"/>
                </a:solidFill>
                <a:latin typeface="Bahnschrift SemiBold"/>
              </a:rPr>
              <a:t>HOP 1   METER → GATEWAY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1444752"/>
            <a:ext cx="432511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63D2E8"/>
                </a:solidFill>
                <a:latin typeface="Bahnschrift SemiBold"/>
              </a:rPr>
              <a:t>HOP 2   GATEWAY → BROKER → PHONE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1700784"/>
            <a:ext cx="10908792" cy="9525"/>
          </a:xfrm>
          <a:prstGeom prst="rect">
            <a:avLst/>
          </a:prstGeom>
          <a:solidFill>
            <a:srgbClr val="3D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1828800"/>
            <a:ext cx="10908792" cy="576072"/>
          </a:xfrm>
          <a:prstGeom prst="rect">
            <a:avLst/>
          </a:prstGeom>
          <a:solidFill>
            <a:srgbClr val="16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19" y="198424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E7D8E"/>
                </a:solidFill>
                <a:latin typeface="Consolas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25296" y="1947672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E6EDF3"/>
                </a:solidFill>
                <a:latin typeface="Bahnschrift SemiBold"/>
              </a:rPr>
              <a:t>Application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25296" y="2157984"/>
            <a:ext cx="15544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5A6878"/>
                </a:solidFill>
                <a:latin typeface="Consolas"/>
              </a:rPr>
              <a:t>L7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2011680"/>
            <a:ext cx="4251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8494A6"/>
                </a:solidFill>
                <a:latin typeface="Consolas"/>
              </a:rPr>
              <a:t>Modbus  FC03 read holding registers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60" y="2011680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8494A6"/>
                </a:solidFill>
                <a:latin typeface="Consolas"/>
              </a:rPr>
              <a:t>MQTT 3.1.1  PUBLISH / SUBSCRIBE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2404872"/>
            <a:ext cx="10908792" cy="576072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19" y="25603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E7D8E"/>
                </a:solidFill>
                <a:latin typeface="Consolas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25296" y="2523744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E6EDF3"/>
                </a:solidFill>
                <a:latin typeface="Bahnschrift SemiBold"/>
              </a:rPr>
              <a:t>Presentation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25296" y="2734056"/>
            <a:ext cx="15544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5A6878"/>
                </a:solidFill>
                <a:latin typeface="Consolas"/>
              </a:rPr>
              <a:t>L6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34640" y="2587752"/>
            <a:ext cx="4251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8494A6"/>
                </a:solidFill>
                <a:latin typeface="Consolas"/>
              </a:rPr>
              <a:t>IEEE-754 float32, big-endian word order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23760" y="2587752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8494A6"/>
                </a:solidFill>
                <a:latin typeface="Consolas"/>
              </a:rPr>
              <a:t>JSON UTF-8   ·   weights as base64 LE float32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2980944"/>
            <a:ext cx="10908792" cy="576072"/>
          </a:xfrm>
          <a:prstGeom prst="rect">
            <a:avLst/>
          </a:prstGeom>
          <a:solidFill>
            <a:srgbClr val="16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19" y="3136391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E7D8E"/>
                </a:solidFill>
                <a:latin typeface="Consolas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25296" y="3099815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E6EDF3"/>
                </a:solidFill>
                <a:latin typeface="Bahnschrift SemiBold"/>
              </a:rPr>
              <a:t>Session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25296" y="3310127"/>
            <a:ext cx="15544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5A6878"/>
                </a:solidFill>
                <a:latin typeface="Consolas"/>
              </a:rPr>
              <a:t>L5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34640" y="3163824"/>
            <a:ext cx="4251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8494A6"/>
                </a:solidFill>
                <a:latin typeface="Consolas"/>
              </a:rPr>
              <a:t>MBAP transaction id pairs reply to request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23760" y="3163824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8494A6"/>
                </a:solidFill>
                <a:latin typeface="Consolas"/>
              </a:rPr>
              <a:t>MQTT session, keepalive, retained status + LWT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" y="3557015"/>
            <a:ext cx="10908792" cy="576072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19" y="3712463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E7D8E"/>
                </a:solidFill>
                <a:latin typeface="Consolas"/>
              </a:rP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25296" y="3675887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E6EDF3"/>
                </a:solidFill>
                <a:latin typeface="Bahnschrift SemiBold"/>
              </a:rPr>
              <a:t>Transport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25296" y="3886200"/>
            <a:ext cx="15544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5A6878"/>
                </a:solidFill>
                <a:latin typeface="Consolas"/>
              </a:rPr>
              <a:t>L4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834640" y="3739896"/>
            <a:ext cx="4251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8494A6"/>
                </a:solidFill>
                <a:latin typeface="Consolas"/>
              </a:rPr>
              <a:t>TCP port 502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23760" y="3739896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8494A6"/>
                </a:solidFill>
                <a:latin typeface="Consolas"/>
              </a:rPr>
              <a:t>TCP port 8883, wrapped in TLS 1.3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080" y="4133087"/>
            <a:ext cx="10908792" cy="576072"/>
          </a:xfrm>
          <a:prstGeom prst="rect">
            <a:avLst/>
          </a:prstGeom>
          <a:solidFill>
            <a:srgbClr val="16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1519" y="428853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E7D8E"/>
                </a:solidFill>
                <a:latin typeface="Consolas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25296" y="4251959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E6EDF3"/>
                </a:solidFill>
                <a:latin typeface="Bahnschrift SemiBold"/>
              </a:rPr>
              <a:t>Network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225296" y="4462272"/>
            <a:ext cx="15544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5A6878"/>
                </a:solidFill>
                <a:latin typeface="Consolas"/>
              </a:rPr>
              <a:t>L3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834640" y="4315968"/>
            <a:ext cx="4251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8494A6"/>
                </a:solidFill>
                <a:latin typeface="Consolas"/>
              </a:rPr>
              <a:t>IPv4  192.169.10.75 → 192.169.10.74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23760" y="4315968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8494A6"/>
                </a:solidFill>
                <a:latin typeface="Consolas"/>
              </a:rPr>
              <a:t>IPv4 → …ala.eu-central-1.emqxsl.com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0080" y="4709159"/>
            <a:ext cx="10908792" cy="576072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31519" y="4864607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E7D8E"/>
                </a:solidFill>
                <a:latin typeface="Consolas"/>
              </a:rPr>
              <a:t>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25296" y="4828031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E6EDF3"/>
                </a:solidFill>
                <a:latin typeface="Bahnschrift SemiBold"/>
              </a:rPr>
              <a:t>Data link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225296" y="5038344"/>
            <a:ext cx="15544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5A6878"/>
                </a:solidFill>
                <a:latin typeface="Consolas"/>
              </a:rPr>
              <a:t>L2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834640" y="4892040"/>
            <a:ext cx="4251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8494A6"/>
                </a:solidFill>
                <a:latin typeface="Consolas"/>
              </a:rPr>
              <a:t>Ethernet II   MAC 00-00-36-7F-04-55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223760" y="4892040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8494A6"/>
                </a:solidFill>
                <a:latin typeface="Consolas"/>
              </a:rPr>
              <a:t>802.11 b/g/n   CSMA/CA, SSID IKOM_Bilisim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0080" y="5285231"/>
            <a:ext cx="10908792" cy="576072"/>
          </a:xfrm>
          <a:prstGeom prst="rect">
            <a:avLst/>
          </a:prstGeom>
          <a:solidFill>
            <a:srgbClr val="16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31519" y="5440679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E7D8E"/>
                </a:solidFill>
                <a:latin typeface="Consolas"/>
              </a:rPr>
              <a:t>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25296" y="5404103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E6EDF3"/>
                </a:solidFill>
                <a:latin typeface="Bahnschrift SemiBold"/>
              </a:rPr>
              <a:t>Physical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225296" y="5614416"/>
            <a:ext cx="15544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5A6878"/>
                </a:solidFill>
                <a:latin typeface="Consolas"/>
              </a:rPr>
              <a:t>L1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834640" y="5468112"/>
            <a:ext cx="4251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8494A6"/>
                </a:solidFill>
                <a:latin typeface="Consolas"/>
              </a:rPr>
              <a:t>Cat5e twisted pair, RJ45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223760" y="5468112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8494A6"/>
                </a:solidFill>
                <a:latin typeface="Consolas"/>
              </a:rPr>
              <a:t>2.4 GHz ISM   RSSI −46 dBm at the bench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967728" y="1828800"/>
            <a:ext cx="9525" cy="4032504"/>
          </a:xfrm>
          <a:prstGeom prst="rect">
            <a:avLst/>
          </a:prstGeom>
          <a:solidFill>
            <a:srgbClr val="3D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40080" y="5943600"/>
            <a:ext cx="109087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i="0">
                <a:solidFill>
                  <a:srgbClr val="5A6878"/>
                </a:solidFill>
                <a:latin typeface="Segoe UI"/>
              </a:rPr>
              <a:t>TLS sits between 4 and 7 — it is why the payload can cross the public internet at all, and it is the only layer here that a leaked credential would still walk straight through.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40080" y="6382512"/>
            <a:ext cx="10908792" cy="9525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40080" y="649224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5A6878"/>
                </a:solidFill>
                <a:latin typeface="Consolas"/>
              </a:rPr>
              <a:t>OSOS · DKM-440 remote meter reading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177272" y="6492240"/>
            <a:ext cx="1371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5A6878"/>
                </a:solidFill>
                <a:latin typeface="Consolas"/>
              </a:rPr>
              <a:t>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5852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3D2E8"/>
                </a:solidFill>
                <a:latin typeface="Consolas"/>
              </a:rPr>
              <a:t>23.35 V LEAVING THE METER AND ARRIVING AT THE PHONE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93776"/>
            <a:ext cx="5870448" cy="64008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0" i="0">
                <a:solidFill>
                  <a:srgbClr val="E6EDF3"/>
                </a:solidFill>
                <a:latin typeface="Bahnschrift SemiBold"/>
              </a:rPr>
              <a:t>Four bytes, wrapped twice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726783" y="583844"/>
            <a:ext cx="1083106" cy="12700"/>
          </a:xfrm>
          <a:prstGeom prst="rect">
            <a:avLst/>
          </a:prstGeom>
          <a:solidFill>
            <a:srgbClr val="2E7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17970" y="548640"/>
            <a:ext cx="77724" cy="77724"/>
          </a:xfrm>
          <a:prstGeom prst="rect">
            <a:avLst/>
          </a:prstGeom>
          <a:solidFill>
            <a:srgbClr val="63D2E8"/>
          </a:solidFill>
          <a:ln w="12700">
            <a:solidFill>
              <a:srgbClr val="63D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45327" y="6949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3D2E8"/>
                </a:solidFill>
                <a:latin typeface="Bahnschrift SemiBold"/>
              </a:rPr>
              <a:t>METER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7949793" y="583844"/>
            <a:ext cx="1083106" cy="12700"/>
          </a:xfrm>
          <a:prstGeom prst="rect">
            <a:avLst/>
          </a:prstGeom>
          <a:solidFill>
            <a:srgbClr val="2E7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840979" y="548640"/>
            <a:ext cx="77724" cy="77724"/>
          </a:xfrm>
          <a:prstGeom prst="rect">
            <a:avLst/>
          </a:prstGeom>
          <a:solidFill>
            <a:srgbClr val="63D2E8"/>
          </a:solidFill>
          <a:ln w="12700">
            <a:solidFill>
              <a:srgbClr val="63D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68337" y="6949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3D2E8"/>
                </a:solidFill>
                <a:latin typeface="Bahnschrift SemiBold"/>
              </a:rPr>
              <a:t>GATEWAY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72803" y="583844"/>
            <a:ext cx="1083106" cy="12700"/>
          </a:xfrm>
          <a:prstGeom prst="rect">
            <a:avLst/>
          </a:prstGeom>
          <a:solidFill>
            <a:srgbClr val="2E7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063990" y="548640"/>
            <a:ext cx="77724" cy="77724"/>
          </a:xfrm>
          <a:prstGeom prst="rect">
            <a:avLst/>
          </a:prstGeom>
          <a:solidFill>
            <a:srgbClr val="63D2E8"/>
          </a:solidFill>
          <a:ln w="12700">
            <a:solidFill>
              <a:srgbClr val="63D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91347" y="6949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3D2E8"/>
                </a:solidFill>
                <a:latin typeface="Bahnschrift SemiBold"/>
              </a:rPr>
              <a:t>BROKER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95813" y="583844"/>
            <a:ext cx="1083106" cy="12700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287000" y="548640"/>
            <a:ext cx="77724" cy="77724"/>
          </a:xfrm>
          <a:prstGeom prst="rect">
            <a:avLst/>
          </a:prstGeom>
          <a:solidFill>
            <a:srgbClr val="63D2E8"/>
          </a:solidFill>
          <a:ln w="12700">
            <a:solidFill>
              <a:srgbClr val="63D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14357" y="6949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3D2E8"/>
                </a:solidFill>
                <a:latin typeface="Bahnschrift SemiBold"/>
              </a:rPr>
              <a:t>PHONE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510009" y="548640"/>
            <a:ext cx="77724" cy="77724"/>
          </a:xfrm>
          <a:prstGeom prst="rect">
            <a:avLst/>
          </a:prstGeom>
          <a:solidFill>
            <a:srgbClr val="0D1117"/>
          </a:solidFill>
          <a:ln w="12700">
            <a:solidFill>
              <a:srgbClr val="3D4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37367" y="6949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5A6878"/>
                </a:solidFill>
                <a:latin typeface="Bahnschrift SemiBold"/>
              </a:rPr>
              <a:t>NET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1225296"/>
            <a:ext cx="10908792" cy="9525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1220724"/>
            <a:ext cx="566928" cy="25400"/>
          </a:xfrm>
          <a:prstGeom prst="rect">
            <a:avLst/>
          </a:prstGeom>
          <a:solidFill>
            <a:srgbClr val="63D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1481328"/>
            <a:ext cx="5120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63D2E8"/>
                </a:solidFill>
                <a:latin typeface="Bahnschrift SemiBold"/>
              </a:rPr>
              <a:t>HOP 1  —  WHAT THE METER SENDS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1792224"/>
            <a:ext cx="5120640" cy="475488"/>
          </a:xfrm>
          <a:prstGeom prst="rect">
            <a:avLst/>
          </a:prstGeom>
          <a:solidFill>
            <a:srgbClr val="161C24"/>
          </a:solidFill>
          <a:ln w="12700">
            <a:solidFill>
              <a:srgbClr val="2C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1929384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5A6878"/>
                </a:solidFill>
                <a:latin typeface="Consolas"/>
              </a:rPr>
              <a:t>Ethernet II header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1929384"/>
            <a:ext cx="4937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5A6878"/>
                </a:solidFill>
                <a:latin typeface="Consolas"/>
              </a:rPr>
              <a:t>14 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77824" y="2290572"/>
            <a:ext cx="4645152" cy="475488"/>
          </a:xfrm>
          <a:prstGeom prst="rect">
            <a:avLst/>
          </a:prstGeom>
          <a:solidFill>
            <a:srgbClr val="161C24"/>
          </a:solidFill>
          <a:ln w="12700">
            <a:solidFill>
              <a:srgbClr val="2C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4127" y="2427732"/>
            <a:ext cx="37307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5A6878"/>
                </a:solidFill>
                <a:latin typeface="Consolas"/>
              </a:rPr>
              <a:t>IPv4 header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82896" y="2427732"/>
            <a:ext cx="4937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5A6878"/>
                </a:solidFill>
                <a:latin typeface="Consolas"/>
              </a:rPr>
              <a:t>20 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15568" y="2788920"/>
            <a:ext cx="4169663" cy="475488"/>
          </a:xfrm>
          <a:prstGeom prst="rect">
            <a:avLst/>
          </a:prstGeom>
          <a:solidFill>
            <a:srgbClr val="161C24"/>
          </a:solidFill>
          <a:ln w="12700">
            <a:solidFill>
              <a:srgbClr val="2C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61872" y="2926079"/>
            <a:ext cx="32552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5A6878"/>
                </a:solidFill>
                <a:latin typeface="Consolas"/>
              </a:rPr>
              <a:t>TCP header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45151" y="2926079"/>
            <a:ext cx="4937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5A6878"/>
                </a:solidFill>
                <a:latin typeface="Consolas"/>
              </a:rPr>
              <a:t>20 B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353312" y="3287268"/>
            <a:ext cx="3694175" cy="475488"/>
          </a:xfrm>
          <a:prstGeom prst="rect">
            <a:avLst/>
          </a:prstGeom>
          <a:solidFill>
            <a:srgbClr val="161C24"/>
          </a:solidFill>
          <a:ln w="12700">
            <a:solidFill>
              <a:srgbClr val="2C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499616" y="3424427"/>
            <a:ext cx="2779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8494A6"/>
                </a:solidFill>
                <a:latin typeface="Consolas"/>
              </a:rPr>
              <a:t>MBAP header  tid · pid · len · unit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07407" y="3424427"/>
            <a:ext cx="4937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5A6878"/>
                </a:solidFill>
                <a:latin typeface="Consolas"/>
              </a:rPr>
              <a:t>7 B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591056" y="3785615"/>
            <a:ext cx="3218687" cy="475488"/>
          </a:xfrm>
          <a:prstGeom prst="rect">
            <a:avLst/>
          </a:prstGeom>
          <a:solidFill>
            <a:srgbClr val="161C24"/>
          </a:solidFill>
          <a:ln w="12700">
            <a:solidFill>
              <a:srgbClr val="2C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737360" y="3922776"/>
            <a:ext cx="230428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8494A6"/>
                </a:solidFill>
                <a:latin typeface="Consolas"/>
              </a:rPr>
              <a:t>FC03 reply  fn + byte count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69663" y="3922776"/>
            <a:ext cx="4937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5A6878"/>
                </a:solidFill>
                <a:latin typeface="Consolas"/>
              </a:rPr>
              <a:t>2 B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828800" y="4283964"/>
            <a:ext cx="2743199" cy="475488"/>
          </a:xfrm>
          <a:prstGeom prst="rect">
            <a:avLst/>
          </a:prstGeom>
          <a:solidFill>
            <a:srgbClr val="0D1117"/>
          </a:solidFill>
          <a:ln w="12700">
            <a:solidFill>
              <a:srgbClr val="63D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975104" y="4421124"/>
            <a:ext cx="18287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63D2E8"/>
                </a:solidFill>
                <a:latin typeface="Consolas"/>
              </a:rPr>
              <a:t>41 BA CC CD   ← the value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31919" y="4421124"/>
            <a:ext cx="4937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5A6878"/>
                </a:solidFill>
                <a:latin typeface="Consolas"/>
              </a:rPr>
              <a:t>4 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4837175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5A6878"/>
                </a:solidFill>
                <a:latin typeface="Consolas"/>
              </a:rPr>
              <a:t>67 bytes on the wire to carry 4 bytes of measurement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961888" y="3291840"/>
            <a:ext cx="457200" cy="0"/>
          </a:xfrm>
          <a:prstGeom prst="line">
            <a:avLst/>
          </a:prstGeom>
          <a:ln w="25400">
            <a:solidFill>
              <a:srgbClr val="63D2E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669280" y="2962656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63D2E8"/>
                </a:solidFill>
                <a:latin typeface="Bahnschrift SemiBold"/>
              </a:rPr>
              <a:t>ESP8266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14416" y="3456432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800" b="0" i="0">
                <a:solidFill>
                  <a:srgbClr val="5A6878"/>
                </a:solidFill>
                <a:latin typeface="Consolas"/>
              </a:rPr>
              <a:t>decode</a:t>
            </a:r>
          </a:p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800" b="0" i="0">
                <a:solidFill>
                  <a:srgbClr val="5A6878"/>
                </a:solidFill>
                <a:latin typeface="Consolas"/>
              </a:rPr>
              <a:t>+ re-wrap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28232" y="1481328"/>
            <a:ext cx="5120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63D2E8"/>
                </a:solidFill>
                <a:latin typeface="Bahnschrift SemiBold"/>
              </a:rPr>
              <a:t>HOP 2  —  WHAT THE PHONE RECEIVES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28232" y="1792224"/>
            <a:ext cx="5120640" cy="475488"/>
          </a:xfrm>
          <a:prstGeom prst="rect">
            <a:avLst/>
          </a:prstGeom>
          <a:solidFill>
            <a:srgbClr val="161C24"/>
          </a:solidFill>
          <a:ln w="12700">
            <a:solidFill>
              <a:srgbClr val="2C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74536" y="1929384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5A6878"/>
                </a:solidFill>
                <a:latin typeface="Consolas"/>
              </a:rPr>
              <a:t>802.11 frame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08792" y="1929384"/>
            <a:ext cx="4937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5A6878"/>
                </a:solidFill>
                <a:latin typeface="Consolas"/>
              </a:rPr>
              <a:t>~34 B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65976" y="2290572"/>
            <a:ext cx="4645152" cy="475488"/>
          </a:xfrm>
          <a:prstGeom prst="rect">
            <a:avLst/>
          </a:prstGeom>
          <a:solidFill>
            <a:srgbClr val="161C24"/>
          </a:solidFill>
          <a:ln w="12700">
            <a:solidFill>
              <a:srgbClr val="2C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12280" y="2427732"/>
            <a:ext cx="37307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5A6878"/>
                </a:solidFill>
                <a:latin typeface="Consolas"/>
              </a:rPr>
              <a:t>IPv4 + TCP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671048" y="2427732"/>
            <a:ext cx="4937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5A6878"/>
                </a:solidFill>
                <a:latin typeface="Consolas"/>
              </a:rPr>
              <a:t>40 B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903720" y="2788920"/>
            <a:ext cx="4169663" cy="475488"/>
          </a:xfrm>
          <a:prstGeom prst="rect">
            <a:avLst/>
          </a:prstGeom>
          <a:solidFill>
            <a:srgbClr val="161C24"/>
          </a:solidFill>
          <a:ln w="12700">
            <a:solidFill>
              <a:srgbClr val="2C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050024" y="2926079"/>
            <a:ext cx="32552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8494A6"/>
                </a:solidFill>
                <a:latin typeface="Consolas"/>
              </a:rPr>
              <a:t>TLS 1.3 record  AEAD sealed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433304" y="2926079"/>
            <a:ext cx="4937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5A6878"/>
                </a:solidFill>
                <a:latin typeface="Consolas"/>
              </a:rPr>
              <a:t>~22 B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141464" y="3287268"/>
            <a:ext cx="3694175" cy="475488"/>
          </a:xfrm>
          <a:prstGeom prst="rect">
            <a:avLst/>
          </a:prstGeom>
          <a:solidFill>
            <a:srgbClr val="161C24"/>
          </a:solidFill>
          <a:ln w="12700">
            <a:solidFill>
              <a:srgbClr val="2C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287768" y="3424427"/>
            <a:ext cx="2779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8494A6"/>
                </a:solidFill>
                <a:latin typeface="Consolas"/>
              </a:rPr>
              <a:t>MQTT PUBLISH  osos/{gw}/telemetry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195560" y="3424427"/>
            <a:ext cx="4937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5A6878"/>
                </a:solidFill>
                <a:latin typeface="Consolas"/>
              </a:rPr>
              <a:t>~28 B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79208" y="3785615"/>
            <a:ext cx="3218687" cy="475488"/>
          </a:xfrm>
          <a:prstGeom prst="rect">
            <a:avLst/>
          </a:prstGeom>
          <a:solidFill>
            <a:srgbClr val="0D1117"/>
          </a:solidFill>
          <a:ln w="12700">
            <a:solidFill>
              <a:srgbClr val="63D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525512" y="3922776"/>
            <a:ext cx="230428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63D2E8"/>
                </a:solidFill>
                <a:latin typeface="Consolas"/>
              </a:rPr>
              <a:t>"Supply_Voltage": 23.350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957816" y="3922776"/>
            <a:ext cx="4937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5A6878"/>
                </a:solidFill>
                <a:latin typeface="Consolas"/>
              </a:rPr>
              <a:t>~26 B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28232" y="4338827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5A6878"/>
                </a:solidFill>
                <a:latin typeface="Consolas"/>
              </a:rPr>
              <a:t>the full 22-register frame is under 1 KB (NF-2, still unmeasured)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0080" y="4956048"/>
            <a:ext cx="10908792" cy="9525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0080" y="5138928"/>
            <a:ext cx="1090879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200" b="1">
                <a:solidFill>
                  <a:srgbClr val="63D2E8"/>
                </a:solidFill>
                <a:latin typeface="Consolas"/>
              </a:rPr>
              <a:t>— </a:t>
            </a:r>
            <a:r>
              <a:rPr sz="1200" b="1">
                <a:solidFill>
                  <a:srgbClr val="E6EDF3"/>
                </a:solidFill>
                <a:latin typeface="Segoe UI"/>
              </a:rPr>
              <a:t>The number changes representation twice, and value never.</a:t>
            </a:r>
            <a:r>
              <a:rPr sz="1200" b="0">
                <a:solidFill>
                  <a:srgbClr val="8494A6"/>
                </a:solidFill>
                <a:latin typeface="Segoe UI"/>
              </a:rPr>
              <a:t>  Binary float32 on the meter side, decimal text on the broker side. String(v, 3) is the only transformation, and it is lossy in the third decimal by design — nothing scales, offsets or corrects the reading anywhere in the chain.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0080" y="6382512"/>
            <a:ext cx="10908792" cy="9525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0080" y="649224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5A6878"/>
                </a:solidFill>
                <a:latin typeface="Consolas"/>
              </a:rPr>
              <a:t>OSOS · DKM-440 remote meter reading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177272" y="6492240"/>
            <a:ext cx="1371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5A6878"/>
                </a:solidFill>
                <a:latin typeface="Consolas"/>
              </a:rPr>
              <a:t>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5852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3D2E8"/>
                </a:solidFill>
                <a:latin typeface="Consolas"/>
              </a:rPr>
              <a:t>FUNCTION CODE 03 · BIG-ENDIAN FLOAT32 ACROSS TWO REGISTERS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93776"/>
            <a:ext cx="5870448" cy="64008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0" i="0">
                <a:solidFill>
                  <a:srgbClr val="E6EDF3"/>
                </a:solidFill>
                <a:latin typeface="Bahnschrift SemiBold"/>
              </a:rPr>
              <a:t>One register read, byte for byte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726783" y="583844"/>
            <a:ext cx="1083106" cy="12700"/>
          </a:xfrm>
          <a:prstGeom prst="rect">
            <a:avLst/>
          </a:prstGeom>
          <a:solidFill>
            <a:srgbClr val="2E7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17970" y="548640"/>
            <a:ext cx="77724" cy="77724"/>
          </a:xfrm>
          <a:prstGeom prst="rect">
            <a:avLst/>
          </a:prstGeom>
          <a:solidFill>
            <a:srgbClr val="63D2E8"/>
          </a:solidFill>
          <a:ln w="12700">
            <a:solidFill>
              <a:srgbClr val="63D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45327" y="6949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3D2E8"/>
                </a:solidFill>
                <a:latin typeface="Bahnschrift SemiBold"/>
              </a:rPr>
              <a:t>METER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7949793" y="583844"/>
            <a:ext cx="1083106" cy="12700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840979" y="548640"/>
            <a:ext cx="77724" cy="77724"/>
          </a:xfrm>
          <a:prstGeom prst="rect">
            <a:avLst/>
          </a:prstGeom>
          <a:solidFill>
            <a:srgbClr val="63D2E8"/>
          </a:solidFill>
          <a:ln w="12700">
            <a:solidFill>
              <a:srgbClr val="63D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68337" y="6949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3D2E8"/>
                </a:solidFill>
                <a:latin typeface="Bahnschrift SemiBold"/>
              </a:rPr>
              <a:t>GATEWAY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72803" y="583844"/>
            <a:ext cx="1083106" cy="12700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063990" y="548640"/>
            <a:ext cx="77724" cy="77724"/>
          </a:xfrm>
          <a:prstGeom prst="rect">
            <a:avLst/>
          </a:prstGeom>
          <a:solidFill>
            <a:srgbClr val="0D1117"/>
          </a:solidFill>
          <a:ln w="12700">
            <a:solidFill>
              <a:srgbClr val="3D4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91347" y="6949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5A6878"/>
                </a:solidFill>
                <a:latin typeface="Bahnschrift SemiBold"/>
              </a:rPr>
              <a:t>BROKER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95813" y="583844"/>
            <a:ext cx="1083106" cy="12700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287000" y="548640"/>
            <a:ext cx="77724" cy="77724"/>
          </a:xfrm>
          <a:prstGeom prst="rect">
            <a:avLst/>
          </a:prstGeom>
          <a:solidFill>
            <a:srgbClr val="0D1117"/>
          </a:solidFill>
          <a:ln w="12700">
            <a:solidFill>
              <a:srgbClr val="3D4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14357" y="6949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5A6878"/>
                </a:solidFill>
                <a:latin typeface="Bahnschrift SemiBold"/>
              </a:rPr>
              <a:t>PHONE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510009" y="548640"/>
            <a:ext cx="77724" cy="77724"/>
          </a:xfrm>
          <a:prstGeom prst="rect">
            <a:avLst/>
          </a:prstGeom>
          <a:solidFill>
            <a:srgbClr val="0D1117"/>
          </a:solidFill>
          <a:ln w="12700">
            <a:solidFill>
              <a:srgbClr val="3D4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37367" y="6949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5A6878"/>
                </a:solidFill>
                <a:latin typeface="Bahnschrift SemiBold"/>
              </a:rPr>
              <a:t>NET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1225296"/>
            <a:ext cx="10908792" cy="9525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1220724"/>
            <a:ext cx="566928" cy="25400"/>
          </a:xfrm>
          <a:prstGeom prst="rect">
            <a:avLst/>
          </a:prstGeom>
          <a:solidFill>
            <a:srgbClr val="63D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1572768"/>
            <a:ext cx="5349240" cy="2454763"/>
          </a:xfrm>
          <a:prstGeom prst="rect">
            <a:avLst/>
          </a:prstGeom>
          <a:solidFill>
            <a:srgbClr val="0A0E13"/>
          </a:solidFill>
          <a:ln w="12700">
            <a:solidFill>
              <a:srgbClr val="2C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1572768"/>
            <a:ext cx="25400" cy="2454763"/>
          </a:xfrm>
          <a:prstGeom prst="rect">
            <a:avLst/>
          </a:prstGeom>
          <a:solidFill>
            <a:srgbClr val="63D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7" y="1700784"/>
            <a:ext cx="494690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3D2E8"/>
                </a:solidFill>
                <a:latin typeface="Bahnschrift SemiBold"/>
              </a:rPr>
              <a:t>ESP8266  →  192.169.10.74:502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7" y="1975103"/>
            <a:ext cx="4946903" cy="19426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63D2E8"/>
                </a:solidFill>
                <a:latin typeface="Consolas"/>
              </a:rPr>
              <a:t>REQUEST                              12 bytes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E6EDF3"/>
                </a:solidFill>
                <a:latin typeface="Consolas"/>
              </a:rPr>
              <a:t/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8494A6"/>
                </a:solidFill>
                <a:latin typeface="Consolas"/>
              </a:rPr>
              <a:t>00 01   transaction id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8494A6"/>
                </a:solidFill>
                <a:latin typeface="Consolas"/>
              </a:rPr>
              <a:t>00 00   protocol id (0 = Modbus)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8494A6"/>
                </a:solidFill>
                <a:latin typeface="Consolas"/>
              </a:rPr>
              <a:t>00 06   length of what follows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E6EDF3"/>
                </a:solidFill>
                <a:latin typeface="Consolas"/>
              </a:rPr>
              <a:t>01      unit id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E6EDF3"/>
                </a:solidFill>
                <a:latin typeface="Consolas"/>
              </a:rPr>
              <a:t>03      FC03 read holding registers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63D2E8"/>
                </a:solidFill>
                <a:latin typeface="Consolas"/>
              </a:rPr>
              <a:t>01 04   start address 260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63D2E8"/>
                </a:solidFill>
                <a:latin typeface="Consolas"/>
              </a:rPr>
              <a:t>00 02   quantity: 2 registers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99632" y="1572768"/>
            <a:ext cx="5349240" cy="2454763"/>
          </a:xfrm>
          <a:prstGeom prst="rect">
            <a:avLst/>
          </a:prstGeom>
          <a:solidFill>
            <a:srgbClr val="0A0E13"/>
          </a:solidFill>
          <a:ln w="12700">
            <a:solidFill>
              <a:srgbClr val="2C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99632" y="1572768"/>
            <a:ext cx="25400" cy="2454763"/>
          </a:xfrm>
          <a:prstGeom prst="rect">
            <a:avLst/>
          </a:prstGeom>
          <a:solidFill>
            <a:srgbClr val="63D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1700784"/>
            <a:ext cx="494690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3D2E8"/>
                </a:solidFill>
                <a:latin typeface="Bahnschrift SemiBold"/>
              </a:rPr>
              <a:t>192.169.10.74:502  →  ESP8266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1975103"/>
            <a:ext cx="4946903" cy="19426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63D2E8"/>
                </a:solidFill>
                <a:latin typeface="Consolas"/>
              </a:rPr>
              <a:t>RESPONSE                             13 bytes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E6EDF3"/>
                </a:solidFill>
                <a:latin typeface="Consolas"/>
              </a:rPr>
              <a:t/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8494A6"/>
                </a:solidFill>
                <a:latin typeface="Consolas"/>
              </a:rPr>
              <a:t>00 01   transaction id — pairs the reply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8494A6"/>
                </a:solidFill>
                <a:latin typeface="Consolas"/>
              </a:rPr>
              <a:t>00 00   protocol id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8494A6"/>
                </a:solidFill>
                <a:latin typeface="Consolas"/>
              </a:rPr>
              <a:t>00 07   length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E6EDF3"/>
                </a:solidFill>
                <a:latin typeface="Consolas"/>
              </a:rPr>
              <a:t>01      unit id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E6EDF3"/>
                </a:solidFill>
                <a:latin typeface="Consolas"/>
              </a:rPr>
              <a:t>03      FC03 echoed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E6EDF3"/>
                </a:solidFill>
                <a:latin typeface="Consolas"/>
              </a:rPr>
              <a:t>04      byte count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63D2E8"/>
                </a:solidFill>
                <a:latin typeface="Consolas"/>
              </a:rPr>
              <a:t>41 BA CC CD   →  23.350 V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3858768"/>
            <a:ext cx="5349240" cy="2084831"/>
          </a:xfrm>
          <a:prstGeom prst="rect">
            <a:avLst/>
          </a:prstGeom>
          <a:solidFill>
            <a:srgbClr val="161C24"/>
          </a:solidFill>
          <a:ln w="12700">
            <a:solidFill>
              <a:srgbClr val="2C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" y="3858768"/>
            <a:ext cx="5349240" cy="31750"/>
          </a:xfrm>
          <a:prstGeom prst="rect">
            <a:avLst/>
          </a:prstGeom>
          <a:solidFill>
            <a:srgbClr val="FF4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9536" y="4078224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FF4438"/>
                </a:solidFill>
                <a:latin typeface="Bahnschrift SemiBold"/>
              </a:rPr>
              <a:t>THE DEVICE'S TEMPER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" y="4389120"/>
            <a:ext cx="4937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0" i="0">
                <a:solidFill>
                  <a:srgbClr val="8494A6"/>
                </a:solidFill>
                <a:latin typeface="Segoe UI"/>
              </a:rPr>
              <a:t>The DKM-440 stops answering a master that fires requests back to back. It is a property of the device, not the transport — it survived the move from RS-485 to TCP unchanged.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6" y="5358384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FF4438"/>
                </a:solidFill>
                <a:latin typeface="Consolas"/>
              </a:rPr>
              <a:t>kReadGapMs = 30      READ_RETRIES = 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" y="5614416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5A6878"/>
                </a:solidFill>
                <a:latin typeface="Consolas"/>
              </a:rPr>
              <a:t>remove the gap and reads start failing intermittently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99632" y="3858768"/>
            <a:ext cx="5349240" cy="2084831"/>
          </a:xfrm>
          <a:prstGeom prst="rect">
            <a:avLst/>
          </a:prstGeom>
          <a:solidFill>
            <a:srgbClr val="161C24"/>
          </a:solidFill>
          <a:ln w="12700">
            <a:solidFill>
              <a:srgbClr val="2C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99632" y="3858768"/>
            <a:ext cx="5349240" cy="31750"/>
          </a:xfrm>
          <a:prstGeom prst="rect">
            <a:avLst/>
          </a:prstGeom>
          <a:solidFill>
            <a:srgbClr val="FFA9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19088" y="4078224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FFA928"/>
                </a:solidFill>
                <a:latin typeface="Bahnschrift SemiBold"/>
              </a:rPr>
              <a:t>IT APPLIES TO CONCURRENT MASTERS TOO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19088" y="4443984"/>
            <a:ext cx="309067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8494A6"/>
                </a:solidFill>
                <a:latin typeface="Segoe UI"/>
              </a:rPr>
              <a:t>gateway polling alone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19488" y="4443984"/>
            <a:ext cx="170992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4AD991"/>
                </a:solidFill>
                <a:latin typeface="Consolas"/>
              </a:rPr>
              <a:t>22 / 22  ×15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19088" y="4754880"/>
            <a:ext cx="4910328" cy="9525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19088" y="4828032"/>
            <a:ext cx="309067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8494A6"/>
                </a:solidFill>
                <a:latin typeface="Segoe UI"/>
              </a:rPr>
              <a:t>one PC client opened alongside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19488" y="4828032"/>
            <a:ext cx="170992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FF4438"/>
                </a:solidFill>
                <a:latin typeface="Consolas"/>
              </a:rPr>
              <a:t>21 / 22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19088" y="5358384"/>
            <a:ext cx="4937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8494A6"/>
                </a:solidFill>
                <a:latin typeface="Segoe UI"/>
              </a:rPr>
              <a:t>Close QModMaster, server.py and every PC client before an acceptance run.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" y="6382512"/>
            <a:ext cx="10908792" cy="9525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649224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5A6878"/>
                </a:solidFill>
                <a:latin typeface="Consolas"/>
              </a:rPr>
              <a:t>OSOS · DKM-440 remote meter reading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177272" y="6492240"/>
            <a:ext cx="1371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5A6878"/>
                </a:solidFill>
                <a:latin typeface="Consolas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5852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3D2E8"/>
                </a:solidFill>
                <a:latin typeface="Consolas"/>
              </a:rPr>
              <a:t>ONE CONSTRAINT CHOSE THE WHOLE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93776"/>
            <a:ext cx="5870448" cy="64008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50" b="0" i="0">
                <a:solidFill>
                  <a:srgbClr val="E6EDF3"/>
                </a:solidFill>
                <a:latin typeface="Bahnschrift SemiBold"/>
              </a:rPr>
              <a:t>Why this board reads Ethernet, not RS-485</a:t>
            </a:r>
          </a:p>
        </p:txBody>
      </p:sp>
      <p:sp>
        <p:nvSpPr>
          <p:cNvPr id="5" name="Rectangle 4"/>
          <p:cNvSpPr/>
          <p:nvPr/>
        </p:nvSpPr>
        <p:spPr>
          <a:xfrm>
            <a:off x="6726783" y="583844"/>
            <a:ext cx="1083106" cy="12700"/>
          </a:xfrm>
          <a:prstGeom prst="rect">
            <a:avLst/>
          </a:prstGeom>
          <a:solidFill>
            <a:srgbClr val="2E7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17970" y="548640"/>
            <a:ext cx="77724" cy="77724"/>
          </a:xfrm>
          <a:prstGeom prst="rect">
            <a:avLst/>
          </a:prstGeom>
          <a:solidFill>
            <a:srgbClr val="63D2E8"/>
          </a:solidFill>
          <a:ln w="12700">
            <a:solidFill>
              <a:srgbClr val="63D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45327" y="6949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3D2E8"/>
                </a:solidFill>
                <a:latin typeface="Bahnschrift SemiBold"/>
              </a:rPr>
              <a:t>METER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7949793" y="583844"/>
            <a:ext cx="1083106" cy="12700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840979" y="548640"/>
            <a:ext cx="77724" cy="77724"/>
          </a:xfrm>
          <a:prstGeom prst="rect">
            <a:avLst/>
          </a:prstGeom>
          <a:solidFill>
            <a:srgbClr val="63D2E8"/>
          </a:solidFill>
          <a:ln w="12700">
            <a:solidFill>
              <a:srgbClr val="63D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68337" y="6949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3D2E8"/>
                </a:solidFill>
                <a:latin typeface="Bahnschrift SemiBold"/>
              </a:rPr>
              <a:t>GATEWAY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72803" y="583844"/>
            <a:ext cx="1083106" cy="12700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063990" y="548640"/>
            <a:ext cx="77724" cy="77724"/>
          </a:xfrm>
          <a:prstGeom prst="rect">
            <a:avLst/>
          </a:prstGeom>
          <a:solidFill>
            <a:srgbClr val="0D1117"/>
          </a:solidFill>
          <a:ln w="12700">
            <a:solidFill>
              <a:srgbClr val="3D4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91347" y="6949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5A6878"/>
                </a:solidFill>
                <a:latin typeface="Bahnschrift SemiBold"/>
              </a:rPr>
              <a:t>BROKER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95813" y="583844"/>
            <a:ext cx="1083106" cy="12700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287000" y="548640"/>
            <a:ext cx="77724" cy="77724"/>
          </a:xfrm>
          <a:prstGeom prst="rect">
            <a:avLst/>
          </a:prstGeom>
          <a:solidFill>
            <a:srgbClr val="0D1117"/>
          </a:solidFill>
          <a:ln w="12700">
            <a:solidFill>
              <a:srgbClr val="3D4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14357" y="6949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5A6878"/>
                </a:solidFill>
                <a:latin typeface="Bahnschrift SemiBold"/>
              </a:rPr>
              <a:t>PHONE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510009" y="548640"/>
            <a:ext cx="77724" cy="77724"/>
          </a:xfrm>
          <a:prstGeom prst="rect">
            <a:avLst/>
          </a:prstGeom>
          <a:solidFill>
            <a:srgbClr val="0D1117"/>
          </a:solidFill>
          <a:ln w="12700">
            <a:solidFill>
              <a:srgbClr val="3D4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37367" y="6949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5A6878"/>
                </a:solidFill>
                <a:latin typeface="Bahnschrift SemiBold"/>
              </a:rPr>
              <a:t>NET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1225296"/>
            <a:ext cx="10908792" cy="9525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1220724"/>
            <a:ext cx="566928" cy="25400"/>
          </a:xfrm>
          <a:prstGeom prst="rect">
            <a:avLst/>
          </a:prstGeom>
          <a:solidFill>
            <a:srgbClr val="63D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1572768"/>
            <a:ext cx="5120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0" i="0">
                <a:solidFill>
                  <a:srgbClr val="E6EDF3"/>
                </a:solidFill>
                <a:latin typeface="Bahnschrift SemiBold"/>
              </a:rPr>
              <a:t>The ESP8266 has exactly one usable hardware UART.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2304288"/>
            <a:ext cx="51206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50" b="0" i="0">
                <a:solidFill>
                  <a:srgbClr val="8494A6"/>
                </a:solidFill>
                <a:latin typeface="Segoe UI"/>
              </a:rPr>
              <a:t>UART1 can transmit but has no receive line, so any Modbus RTU implementation must take UART0 — which is the programming and console port. Reading the meter over its own Ethernet port sidesteps the problem entirely.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749039"/>
            <a:ext cx="5120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63D2E8"/>
                </a:solidFill>
                <a:latin typeface="Bahnschrift SemiBold"/>
              </a:rPr>
              <a:t>WHAT GOING OVER TCP DELETES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4005072"/>
            <a:ext cx="5120640" cy="9525"/>
          </a:xfrm>
          <a:prstGeom prst="rect">
            <a:avLst/>
          </a:prstGeom>
          <a:solidFill>
            <a:srgbClr val="3D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169663"/>
            <a:ext cx="274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FF4438"/>
                </a:solidFill>
                <a:latin typeface="Consolas"/>
              </a:rPr>
              <a:t>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" y="4187951"/>
            <a:ext cx="47548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8494A6"/>
                </a:solidFill>
                <a:latin typeface="Segoe UI"/>
              </a:rPr>
              <a:t>a MAX3485 transceiver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517136"/>
            <a:ext cx="274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FF4438"/>
                </a:solidFill>
                <a:latin typeface="Consolas"/>
              </a:rPr>
              <a:t>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" y="4535423"/>
            <a:ext cx="47548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8494A6"/>
                </a:solidFill>
                <a:latin typeface="Segoe UI"/>
              </a:rPr>
              <a:t>A/B wiring and bus termination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864607"/>
            <a:ext cx="274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FF4438"/>
                </a:solidFill>
                <a:latin typeface="Consolas"/>
              </a:rPr>
              <a:t>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" y="4882895"/>
            <a:ext cx="47548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8494A6"/>
                </a:solidFill>
                <a:latin typeface="Segoe UI"/>
              </a:rPr>
              <a:t>DE/RE direction toggling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212079"/>
            <a:ext cx="274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FF4438"/>
                </a:solidFill>
                <a:latin typeface="Consolas"/>
              </a:rPr>
              <a:t>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" y="5230367"/>
            <a:ext cx="47548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8494A6"/>
                </a:solidFill>
                <a:latin typeface="Segoe UI"/>
              </a:rPr>
              <a:t>3.5-character frame timing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1572768"/>
            <a:ext cx="5239512" cy="2834640"/>
          </a:xfrm>
          <a:prstGeom prst="rect">
            <a:avLst/>
          </a:prstGeom>
          <a:solidFill>
            <a:srgbClr val="161C24"/>
          </a:solidFill>
          <a:ln w="12700">
            <a:solidFill>
              <a:srgbClr val="2C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09360" y="1572768"/>
            <a:ext cx="5239512" cy="31750"/>
          </a:xfrm>
          <a:prstGeom prst="rect">
            <a:avLst/>
          </a:prstGeom>
          <a:solidFill>
            <a:srgbClr val="63D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47104" y="1810512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63D2E8"/>
                </a:solidFill>
                <a:latin typeface="Bahnschrift SemiBold"/>
              </a:rPr>
              <a:t>AND THE PART THAT ACTUALLY MATTERED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47104" y="2139696"/>
            <a:ext cx="4754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900" b="0" i="0">
                <a:solidFill>
                  <a:srgbClr val="E6EDF3"/>
                </a:solidFill>
                <a:latin typeface="Bahnschrift SemiBold"/>
              </a:rPr>
              <a:t>The serial console stays usable while the gateway runs.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47104" y="2962656"/>
            <a:ext cx="47548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00" b="0" i="0">
                <a:solidFill>
                  <a:srgbClr val="8494A6"/>
                </a:solidFill>
                <a:latin typeface="Segoe UI"/>
              </a:rPr>
              <a:t>That is not a convenience. Every diagnosis in this project — the dead meter, the register counts, the TLS handshake — was read off that console. A gateway you cannot watch is a gateway you cannot debug.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09360" y="4590288"/>
            <a:ext cx="5239512" cy="1353312"/>
          </a:xfrm>
          <a:prstGeom prst="rect">
            <a:avLst/>
          </a:prstGeom>
          <a:solidFill>
            <a:srgbClr val="0A0E13"/>
          </a:solidFill>
          <a:ln w="12700">
            <a:solidFill>
              <a:srgbClr val="2C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309360" y="4590288"/>
            <a:ext cx="25400" cy="1353312"/>
          </a:xfrm>
          <a:prstGeom prst="rect">
            <a:avLst/>
          </a:prstGeom>
          <a:solidFill>
            <a:srgbClr val="63D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10528" y="4718303"/>
            <a:ext cx="483717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3D2E8"/>
                </a:solidFill>
                <a:latin typeface="Bahnschrift SemiBold"/>
              </a:rPr>
              <a:t>COM11 · 115200 BAUD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10528" y="4992623"/>
            <a:ext cx="4837176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8494A6"/>
                </a:solidFill>
                <a:latin typeface="Consolas"/>
              </a:rPr>
              <a:t>tls: broker supports MFLN(1024) - using small buffers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4AD991"/>
                </a:solidFill>
                <a:latin typeface="Consolas"/>
              </a:rPr>
              <a:t>mqtt: connecting to nba17802...emqxsl.com:8883 ... ok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63D2E8"/>
                </a:solidFill>
                <a:latin typeface="Consolas"/>
              </a:rPr>
              <a:t>seq=15  22/22 regs  besleme=23.350  heap=18432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" y="6382512"/>
            <a:ext cx="10908792" cy="9525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649224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5A6878"/>
                </a:solidFill>
                <a:latin typeface="Consolas"/>
              </a:rPr>
              <a:t>OSOS · DKM-440 remote meter reading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77272" y="6492240"/>
            <a:ext cx="1371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5A6878"/>
                </a:solidFill>
                <a:latin typeface="Consolas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5852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3D2E8"/>
                </a:solidFill>
                <a:latin typeface="Consolas"/>
              </a:rPr>
              <a:t>MODBUS/DKM_440_MAPPING/METHOD.MD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93776"/>
            <a:ext cx="5870448" cy="64008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0" i="0">
                <a:solidFill>
                  <a:srgbClr val="E6EDF3"/>
                </a:solidFill>
                <a:latin typeface="Bahnschrift SemiBold"/>
              </a:rPr>
              <a:t>Finding a register nobody documented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726783" y="583844"/>
            <a:ext cx="1083106" cy="12700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17970" y="548640"/>
            <a:ext cx="77724" cy="77724"/>
          </a:xfrm>
          <a:prstGeom prst="rect">
            <a:avLst/>
          </a:prstGeom>
          <a:solidFill>
            <a:srgbClr val="63D2E8"/>
          </a:solidFill>
          <a:ln w="12700">
            <a:solidFill>
              <a:srgbClr val="63D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45327" y="6949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3D2E8"/>
                </a:solidFill>
                <a:latin typeface="Bahnschrift SemiBold"/>
              </a:rPr>
              <a:t>METER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7949793" y="583844"/>
            <a:ext cx="1083106" cy="12700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840979" y="548640"/>
            <a:ext cx="77724" cy="77724"/>
          </a:xfrm>
          <a:prstGeom prst="rect">
            <a:avLst/>
          </a:prstGeom>
          <a:solidFill>
            <a:srgbClr val="0D1117"/>
          </a:solidFill>
          <a:ln w="12700">
            <a:solidFill>
              <a:srgbClr val="3D4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68337" y="6949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5A6878"/>
                </a:solidFill>
                <a:latin typeface="Bahnschrift SemiBold"/>
              </a:rPr>
              <a:t>GATEWAY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72803" y="583844"/>
            <a:ext cx="1083106" cy="12700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063990" y="548640"/>
            <a:ext cx="77724" cy="77724"/>
          </a:xfrm>
          <a:prstGeom prst="rect">
            <a:avLst/>
          </a:prstGeom>
          <a:solidFill>
            <a:srgbClr val="0D1117"/>
          </a:solidFill>
          <a:ln w="12700">
            <a:solidFill>
              <a:srgbClr val="3D4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91347" y="6949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5A6878"/>
                </a:solidFill>
                <a:latin typeface="Bahnschrift SemiBold"/>
              </a:rPr>
              <a:t>BROKER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95813" y="583844"/>
            <a:ext cx="1083106" cy="12700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287000" y="548640"/>
            <a:ext cx="77724" cy="77724"/>
          </a:xfrm>
          <a:prstGeom prst="rect">
            <a:avLst/>
          </a:prstGeom>
          <a:solidFill>
            <a:srgbClr val="0D1117"/>
          </a:solidFill>
          <a:ln w="12700">
            <a:solidFill>
              <a:srgbClr val="3D4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14357" y="6949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5A6878"/>
                </a:solidFill>
                <a:latin typeface="Bahnschrift SemiBold"/>
              </a:rPr>
              <a:t>PHONE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510009" y="548640"/>
            <a:ext cx="77724" cy="77724"/>
          </a:xfrm>
          <a:prstGeom prst="rect">
            <a:avLst/>
          </a:prstGeom>
          <a:solidFill>
            <a:srgbClr val="0D1117"/>
          </a:solidFill>
          <a:ln w="12700">
            <a:solidFill>
              <a:srgbClr val="3D4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37367" y="6949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5A6878"/>
                </a:solidFill>
                <a:latin typeface="Bahnschrift SemiBold"/>
              </a:rPr>
              <a:t>NET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1225296"/>
            <a:ext cx="10908792" cy="9525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1220724"/>
            <a:ext cx="566928" cy="25400"/>
          </a:xfrm>
          <a:prstGeom prst="rect">
            <a:avLst/>
          </a:prstGeom>
          <a:solidFill>
            <a:srgbClr val="63D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1554480"/>
            <a:ext cx="109087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50" b="0" i="0">
                <a:solidFill>
                  <a:srgbClr val="E6EDF3"/>
                </a:solidFill>
                <a:latin typeface="Segoe UI"/>
              </a:rPr>
              <a:t>A measurement register holds  raw = scale × value.  Drive the value to several known points; the register whose raw plots a straight line against them is that measurement, and the slope is the scale.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2249424"/>
            <a:ext cx="2624328" cy="1700784"/>
          </a:xfrm>
          <a:prstGeom prst="rect">
            <a:avLst/>
          </a:prstGeom>
          <a:solidFill>
            <a:srgbClr val="161C24"/>
          </a:solidFill>
          <a:ln w="12700">
            <a:solidFill>
              <a:srgbClr val="2C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2249424"/>
            <a:ext cx="2624328" cy="31750"/>
          </a:xfrm>
          <a:prstGeom prst="rect">
            <a:avLst/>
          </a:prstGeom>
          <a:solidFill>
            <a:srgbClr val="63D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59" y="2450592"/>
            <a:ext cx="457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63D2E8"/>
                </a:solidFill>
                <a:latin typeface="Consolas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" y="2724912"/>
            <a:ext cx="22585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E6EDF3"/>
                </a:solidFill>
                <a:latin typeface="Bahnschrift SemiBold"/>
              </a:rPr>
              <a:t>Move one thing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" y="3035808"/>
            <a:ext cx="225856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 i="0">
                <a:solidFill>
                  <a:srgbClr val="8494A6"/>
                </a:solidFill>
                <a:latin typeface="Segoe UI"/>
              </a:rPr>
              <a:t>On a bench a single source feeds every input, so a static dump shows the same number in a dozen registers. Motion is the discriminator.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96996" y="2249424"/>
            <a:ext cx="2624328" cy="1700784"/>
          </a:xfrm>
          <a:prstGeom prst="rect">
            <a:avLst/>
          </a:prstGeom>
          <a:solidFill>
            <a:srgbClr val="161C24"/>
          </a:solidFill>
          <a:ln w="12700">
            <a:solidFill>
              <a:srgbClr val="2C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396996" y="2249424"/>
            <a:ext cx="2624328" cy="31750"/>
          </a:xfrm>
          <a:prstGeom prst="rect">
            <a:avLst/>
          </a:prstGeom>
          <a:solidFill>
            <a:srgbClr val="63D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79876" y="2450592"/>
            <a:ext cx="457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63D2E8"/>
                </a:solidFill>
                <a:latin typeface="Consolas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79876" y="2724912"/>
            <a:ext cx="22585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E6EDF3"/>
                </a:solidFill>
                <a:latin typeface="Bahnschrift SemiBold"/>
              </a:rPr>
              <a:t>Record 3–5 points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79876" y="3035808"/>
            <a:ext cx="225856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 i="0">
                <a:solidFill>
                  <a:srgbClr val="8494A6"/>
                </a:solidFill>
                <a:latin typeface="Segoe UI"/>
              </a:rPr>
              <a:t>Two points pin a line; three to five across a wide range give a meaningful R² and expose non-linearity.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53912" y="2249424"/>
            <a:ext cx="2624328" cy="1700784"/>
          </a:xfrm>
          <a:prstGeom prst="rect">
            <a:avLst/>
          </a:prstGeom>
          <a:solidFill>
            <a:srgbClr val="161C24"/>
          </a:solidFill>
          <a:ln w="12700">
            <a:solidFill>
              <a:srgbClr val="2C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53912" y="2249424"/>
            <a:ext cx="2624328" cy="31750"/>
          </a:xfrm>
          <a:prstGeom prst="rect">
            <a:avLst/>
          </a:prstGeom>
          <a:solidFill>
            <a:srgbClr val="63D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36792" y="2450592"/>
            <a:ext cx="457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63D2E8"/>
                </a:solidFill>
                <a:latin typeface="Consolas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36792" y="2724912"/>
            <a:ext cx="22585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E6EDF3"/>
                </a:solidFill>
                <a:latin typeface="Bahnschrift SemiBold"/>
              </a:rPr>
              <a:t>Least-squares every register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36792" y="3035808"/>
            <a:ext cx="225856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 i="0">
                <a:solidFill>
                  <a:srgbClr val="8494A6"/>
                </a:solidFill>
                <a:latin typeface="Segoe UI"/>
              </a:rPr>
              <a:t>Fit raw = m·V + b. The true register scores R² ≈ 1.000; noise and drift score low. Constant registers are skipped — no line to fit.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910828" y="2249424"/>
            <a:ext cx="2624328" cy="1700784"/>
          </a:xfrm>
          <a:prstGeom prst="rect">
            <a:avLst/>
          </a:prstGeom>
          <a:solidFill>
            <a:srgbClr val="161C24"/>
          </a:solidFill>
          <a:ln w="12700">
            <a:solidFill>
              <a:srgbClr val="2C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910828" y="2249424"/>
            <a:ext cx="2624328" cy="31750"/>
          </a:xfrm>
          <a:prstGeom prst="rect">
            <a:avLst/>
          </a:prstGeom>
          <a:solidFill>
            <a:srgbClr val="63D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93707" y="2450592"/>
            <a:ext cx="457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63D2E8"/>
                </a:solidFill>
                <a:latin typeface="Consolas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93707" y="2724912"/>
            <a:ext cx="22585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E6EDF3"/>
                </a:solidFill>
                <a:latin typeface="Bahnschrift SemiBold"/>
              </a:rPr>
              <a:t>Rank, then verify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93707" y="3035808"/>
            <a:ext cx="225856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 i="0">
                <a:solidFill>
                  <a:srgbClr val="8494A6"/>
                </a:solidFill>
                <a:latin typeface="Segoe UI"/>
              </a:rPr>
              <a:t>R² first, swing second, so a perfectly-fitting-but-barely-moving artefact cannot win. Then cross-check the winner against the TEDAŞ table.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" y="4169663"/>
            <a:ext cx="6309360" cy="1481328"/>
          </a:xfrm>
          <a:prstGeom prst="rect">
            <a:avLst/>
          </a:prstGeom>
          <a:solidFill>
            <a:srgbClr val="0A0E13"/>
          </a:solidFill>
          <a:ln w="12700">
            <a:solidFill>
              <a:srgbClr val="2C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0080" y="4169663"/>
            <a:ext cx="25400" cy="1481328"/>
          </a:xfrm>
          <a:prstGeom prst="rect">
            <a:avLst/>
          </a:prstGeom>
          <a:solidFill>
            <a:srgbClr val="63D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1247" y="4297679"/>
            <a:ext cx="59070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3D2E8"/>
                </a:solidFill>
                <a:latin typeface="Bahnschrift SemiBold"/>
              </a:rPr>
              <a:t>find_register.py OUTPUT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1247" y="4571999"/>
            <a:ext cx="5907024" cy="9692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8494A6"/>
                </a:solidFill>
                <a:latin typeface="Consolas"/>
              </a:rPr>
              <a:t>  addr     R^2  slope(raw/V)  intercept  scale  swing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63D2E8"/>
                </a:solidFill>
                <a:latin typeface="Consolas"/>
              </a:rPr>
              <a:t> 20480  1.0000        10.000       0.00     10    500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5A6878"/>
                </a:solidFill>
                <a:latin typeface="Consolas"/>
              </a:rPr>
              <a:t> 20500  0.7500        -0.020    2624.17      1      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5724144"/>
            <a:ext cx="6309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5A6878"/>
                </a:solidFill>
                <a:latin typeface="Consolas"/>
              </a:rPr>
              <a:t>top row: R²=1.0000, big swing → that is the register, scale ÷10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187184" y="4169663"/>
            <a:ext cx="4361688" cy="1481328"/>
          </a:xfrm>
          <a:prstGeom prst="rect">
            <a:avLst/>
          </a:prstGeom>
          <a:solidFill>
            <a:srgbClr val="161C24"/>
          </a:solidFill>
          <a:ln w="12700">
            <a:solidFill>
              <a:srgbClr val="2C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187184" y="4169663"/>
            <a:ext cx="4361688" cy="31750"/>
          </a:xfrm>
          <a:prstGeom prst="rect">
            <a:avLst/>
          </a:prstGeom>
          <a:solidFill>
            <a:srgbClr val="FF4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406640" y="437083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FF4438"/>
                </a:solidFill>
                <a:latin typeface="Bahnschrift SemiBold"/>
              </a:rPr>
              <a:t>STANDING CONSTRAINT  C-4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06640" y="4663440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FF4438"/>
                </a:solidFill>
                <a:latin typeface="Consolas"/>
              </a:rPr>
              <a:t>never touch 16385–16406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06640" y="510235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 i="0">
                <a:solidFill>
                  <a:srgbClr val="8494A6"/>
                </a:solidFill>
                <a:latin typeface="Segoe UI"/>
              </a:rPr>
              <a:t>Neither read nor write. The scan scripts exclude the block explicitly.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0080" y="6382512"/>
            <a:ext cx="10908792" cy="9525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" y="649224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5A6878"/>
                </a:solidFill>
                <a:latin typeface="Consolas"/>
              </a:rPr>
              <a:t>OSOS · DKM-440 remote meter reading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77272" y="6492240"/>
            <a:ext cx="1371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5A6878"/>
                </a:solidFill>
                <a:latin typeface="Consolas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5852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3D2E8"/>
                </a:solidFill>
                <a:latin typeface="Consolas"/>
              </a:rPr>
              <a:t>MQTT OVER TLS 1.3 TO EMQX SERVERLESS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93776"/>
            <a:ext cx="5870448" cy="64008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0" i="0">
                <a:solidFill>
                  <a:srgbClr val="E6EDF3"/>
                </a:solidFill>
                <a:latin typeface="Bahnschrift SemiBold"/>
              </a:rPr>
              <a:t>Getting it off the bench</a:t>
            </a:r>
          </a:p>
        </p:txBody>
      </p:sp>
      <p:sp>
        <p:nvSpPr>
          <p:cNvPr id="5" name="Rectangle 4"/>
          <p:cNvSpPr/>
          <p:nvPr/>
        </p:nvSpPr>
        <p:spPr>
          <a:xfrm>
            <a:off x="6726783" y="583844"/>
            <a:ext cx="1083106" cy="12700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17970" y="548640"/>
            <a:ext cx="77724" cy="77724"/>
          </a:xfrm>
          <a:prstGeom prst="rect">
            <a:avLst/>
          </a:prstGeom>
          <a:solidFill>
            <a:srgbClr val="0D1117"/>
          </a:solidFill>
          <a:ln w="12700">
            <a:solidFill>
              <a:srgbClr val="3D4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45327" y="6949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5A6878"/>
                </a:solidFill>
                <a:latin typeface="Bahnschrift SemiBold"/>
              </a:rPr>
              <a:t>METER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7949793" y="583844"/>
            <a:ext cx="1083106" cy="12700"/>
          </a:xfrm>
          <a:prstGeom prst="rect">
            <a:avLst/>
          </a:prstGeom>
          <a:solidFill>
            <a:srgbClr val="2E7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840979" y="548640"/>
            <a:ext cx="77724" cy="77724"/>
          </a:xfrm>
          <a:prstGeom prst="rect">
            <a:avLst/>
          </a:prstGeom>
          <a:solidFill>
            <a:srgbClr val="63D2E8"/>
          </a:solidFill>
          <a:ln w="12700">
            <a:solidFill>
              <a:srgbClr val="63D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68337" y="6949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3D2E8"/>
                </a:solidFill>
                <a:latin typeface="Bahnschrift SemiBold"/>
              </a:rPr>
              <a:t>GATEWAY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72803" y="583844"/>
            <a:ext cx="1083106" cy="12700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063990" y="548640"/>
            <a:ext cx="77724" cy="77724"/>
          </a:xfrm>
          <a:prstGeom prst="rect">
            <a:avLst/>
          </a:prstGeom>
          <a:solidFill>
            <a:srgbClr val="63D2E8"/>
          </a:solidFill>
          <a:ln w="12700">
            <a:solidFill>
              <a:srgbClr val="63D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91347" y="6949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3D2E8"/>
                </a:solidFill>
                <a:latin typeface="Bahnschrift SemiBold"/>
              </a:rPr>
              <a:t>BROKER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95813" y="583844"/>
            <a:ext cx="1083106" cy="12700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287000" y="548640"/>
            <a:ext cx="77724" cy="77724"/>
          </a:xfrm>
          <a:prstGeom prst="rect">
            <a:avLst/>
          </a:prstGeom>
          <a:solidFill>
            <a:srgbClr val="0D1117"/>
          </a:solidFill>
          <a:ln w="12700">
            <a:solidFill>
              <a:srgbClr val="3D4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14357" y="6949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5A6878"/>
                </a:solidFill>
                <a:latin typeface="Bahnschrift SemiBold"/>
              </a:rPr>
              <a:t>PHONE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510009" y="548640"/>
            <a:ext cx="77724" cy="77724"/>
          </a:xfrm>
          <a:prstGeom prst="rect">
            <a:avLst/>
          </a:prstGeom>
          <a:solidFill>
            <a:srgbClr val="0D1117"/>
          </a:solidFill>
          <a:ln w="12700">
            <a:solidFill>
              <a:srgbClr val="3D4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37367" y="6949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5A6878"/>
                </a:solidFill>
                <a:latin typeface="Bahnschrift SemiBold"/>
              </a:rPr>
              <a:t>NET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1225296"/>
            <a:ext cx="10908792" cy="9525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1220724"/>
            <a:ext cx="566928" cy="25400"/>
          </a:xfrm>
          <a:prstGeom prst="rect">
            <a:avLst/>
          </a:prstGeom>
          <a:solidFill>
            <a:srgbClr val="63D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1481328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63D2E8"/>
                </a:solidFill>
                <a:latin typeface="Bahnschrift SemiBold"/>
              </a:rPr>
              <a:t>TOPICS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1737360"/>
            <a:ext cx="5486400" cy="9525"/>
          </a:xfrm>
          <a:prstGeom prst="rect">
            <a:avLst/>
          </a:prstGeom>
          <a:solidFill>
            <a:srgbClr val="3D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1920240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63D2E8"/>
                </a:solidFill>
                <a:latin typeface="Consolas"/>
              </a:rPr>
              <a:t>osos/m/{mid}/a/{aid}/telemetry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1938528"/>
            <a:ext cx="2286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8494A6"/>
                </a:solidFill>
                <a:latin typeface="Segoe UI"/>
              </a:rPr>
              <a:t>every 5 s · the 22 values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2249424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63D2E8"/>
                </a:solidFill>
                <a:latin typeface="Consolas"/>
              </a:rPr>
              <a:t>osos/m/{mid}/registry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2267712"/>
            <a:ext cx="2286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8494A6"/>
                </a:solidFill>
                <a:latin typeface="Segoe UI"/>
              </a:rPr>
              <a:t>retained · which analyzers exist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2578608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63D2E8"/>
                </a:solidFill>
                <a:latin typeface="Consolas"/>
              </a:rPr>
              <a:t>osos/m/{mid}/state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0" y="2596896"/>
            <a:ext cx="2286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8494A6"/>
                </a:solidFill>
                <a:latin typeface="Segoe UI"/>
              </a:rPr>
              <a:t>retained · sleep, interval, loads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2907791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63D2E8"/>
                </a:solidFill>
                <a:latin typeface="Consolas"/>
              </a:rPr>
              <a:t>osos/m/{mid}/status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0" y="2926079"/>
            <a:ext cx="2286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8494A6"/>
                </a:solidFill>
                <a:latin typeface="Segoe UI"/>
              </a:rPr>
              <a:t>retained · online/offline + LWT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3236975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4AD991"/>
                </a:solidFill>
                <a:latin typeface="Consolas"/>
              </a:rPr>
              <a:t>osos/m/{mid}/cmd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80" y="3255263"/>
            <a:ext cx="2286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8494A6"/>
                </a:solidFill>
                <a:latin typeface="Segoe UI"/>
              </a:rPr>
              <a:t>phone → modem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3566159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4AD991"/>
                </a:solidFill>
                <a:latin typeface="Consolas"/>
              </a:rPr>
              <a:t>osos/m/{mid}/ack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40480" y="3584447"/>
            <a:ext cx="2286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8494A6"/>
                </a:solidFill>
                <a:latin typeface="Segoe UI"/>
              </a:rPr>
              <a:t>modem → phone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3895344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C89A5B"/>
                </a:solidFill>
                <a:latin typeface="Consolas"/>
              </a:rPr>
              <a:t>osos/m/{mid}/labels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40480" y="3913631"/>
            <a:ext cx="2286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8494A6"/>
                </a:solidFill>
                <a:latin typeface="Segoe UI"/>
              </a:rPr>
              <a:t>retained · APP-owned names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4224528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8494A6"/>
                </a:solidFill>
                <a:latin typeface="Consolas"/>
              </a:rPr>
              <a:t>osos/{gw}/telemetry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40480" y="4242816"/>
            <a:ext cx="2286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8494A6"/>
                </a:solidFill>
                <a:latin typeface="Segoe UI"/>
              </a:rPr>
              <a:t>legacy v1 · still rendered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4608576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>
                <a:solidFill>
                  <a:srgbClr val="8494A6"/>
                </a:solidFill>
                <a:latin typeface="Segoe UI"/>
              </a:rPr>
              <a:t>Protocol v2. Every modem-published payload carries "v": 2; the legacy topics carry none and are v1 by definition, so the old gateway still renders with no special case.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1481328"/>
            <a:ext cx="505663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63D2E8"/>
                </a:solidFill>
                <a:latin typeface="Bahnschrift SemiBold"/>
              </a:rPr>
              <a:t>WHY TLS FITS ON THIS CHIP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92240" y="1737360"/>
            <a:ext cx="5056632" cy="9525"/>
          </a:xfrm>
          <a:prstGeom prst="rect">
            <a:avLst/>
          </a:prstGeom>
          <a:solidFill>
            <a:srgbClr val="3D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92240" y="1920240"/>
            <a:ext cx="505663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150" b="0" i="0">
                <a:solidFill>
                  <a:srgbClr val="8494A6"/>
                </a:solidFill>
                <a:latin typeface="Segoe UI"/>
              </a:rPr>
              <a:t>The broker negotiates Maximum Fragment Length, so BearSSL runs with 1 KB receive buffers instead of the default 16 KB. That headroom is the only reason TLS coexists with the JSON encoder here.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2798064"/>
            <a:ext cx="1371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63D2E8"/>
                </a:solidFill>
                <a:latin typeface="Bahnschrift SemiBold"/>
              </a:rPr>
              <a:t>FOOTPRINT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63840" y="2798064"/>
            <a:ext cx="368503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63D2E8"/>
                </a:solidFill>
                <a:latin typeface="Bahnschrift SemiBold"/>
              </a:rPr>
              <a:t>V0.4, CFG_USE_TLS=1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92240" y="3035808"/>
            <a:ext cx="5056632" cy="9525"/>
          </a:xfrm>
          <a:prstGeom prst="rect">
            <a:avLst/>
          </a:prstGeom>
          <a:solidFill>
            <a:srgbClr val="3D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92240" y="3127248"/>
            <a:ext cx="1261872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8494A6"/>
                </a:solidFill>
                <a:latin typeface="Segoe UI"/>
              </a:rPr>
              <a:t>RAM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3127248"/>
            <a:ext cx="3685032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8494A6"/>
                </a:solidFill>
                <a:latin typeface="Consolas"/>
              </a:rPr>
              <a:t>33,920 / 80,192      42 %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92240" y="3401568"/>
            <a:ext cx="5056632" cy="9525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92240" y="3474720"/>
            <a:ext cx="1261872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8494A6"/>
                </a:solidFill>
                <a:latin typeface="Segoe UI"/>
              </a:rPr>
              <a:t>IRAM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863840" y="3474720"/>
            <a:ext cx="3685032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FF4438"/>
                </a:solidFill>
                <a:latin typeface="Consolas"/>
              </a:rPr>
              <a:t>60,799 / 65,536      92 %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92240" y="3749040"/>
            <a:ext cx="5056632" cy="9525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92240" y="3822192"/>
            <a:ext cx="1261872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8494A6"/>
                </a:solidFill>
                <a:latin typeface="Segoe UI"/>
              </a:rPr>
              <a:t>flash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63840" y="3822192"/>
            <a:ext cx="3685032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8494A6"/>
                </a:solidFill>
                <a:latin typeface="Consolas"/>
              </a:rPr>
              <a:t>388,320 / 1,048,576  37 %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92240" y="4059936"/>
            <a:ext cx="50566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>
                <a:solidFill>
                  <a:srgbClr val="5A6878"/>
                </a:solidFill>
                <a:latin typeface="Consolas"/>
              </a:rPr>
              <a:t>92 % IRAM is the tight constraint on this board — not flash.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0080" y="4663440"/>
            <a:ext cx="10908792" cy="9525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40080" y="4864608"/>
            <a:ext cx="3557016" cy="1225296"/>
          </a:xfrm>
          <a:prstGeom prst="rect">
            <a:avLst/>
          </a:prstGeom>
          <a:solidFill>
            <a:srgbClr val="161C24"/>
          </a:solidFill>
          <a:ln w="12700">
            <a:solidFill>
              <a:srgbClr val="2C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40080" y="4864608"/>
            <a:ext cx="3557016" cy="31750"/>
          </a:xfrm>
          <a:prstGeom prst="rect">
            <a:avLst/>
          </a:prstGeom>
          <a:solidFill>
            <a:srgbClr val="4AD9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22959" y="5065776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E6EDF3"/>
                </a:solidFill>
                <a:latin typeface="Bahnschrift SemiBold"/>
              </a:rPr>
              <a:t>Server verified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2959" y="5358384"/>
            <a:ext cx="3200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950" b="0" i="0">
                <a:solidFill>
                  <a:srgbClr val="8494A6"/>
                </a:solidFill>
                <a:latin typeface="Segoe UI"/>
              </a:rPr>
              <a:t>CFG_TLS_INSECURE=0, against a DigiCert Global Root G2 anchor compiled into config.h. Handshake confirmed on hardware.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315968" y="4864608"/>
            <a:ext cx="3557016" cy="1225296"/>
          </a:xfrm>
          <a:prstGeom prst="rect">
            <a:avLst/>
          </a:prstGeom>
          <a:solidFill>
            <a:srgbClr val="161C24"/>
          </a:solidFill>
          <a:ln w="12700">
            <a:solidFill>
              <a:srgbClr val="2C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315968" y="4864608"/>
            <a:ext cx="3557016" cy="31750"/>
          </a:xfrm>
          <a:prstGeom prst="rect">
            <a:avLst/>
          </a:prstGeom>
          <a:solidFill>
            <a:srgbClr val="4AD9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498848" y="5065776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E6EDF3"/>
                </a:solidFill>
                <a:latin typeface="Bahnschrift SemiBold"/>
              </a:rPr>
              <a:t>Credentials out of git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498848" y="5358384"/>
            <a:ext cx="3200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950" b="0" i="0">
                <a:solidFill>
                  <a:srgbClr val="8494A6"/>
                </a:solidFill>
                <a:latin typeface="Segoe UI"/>
              </a:rPr>
              <a:t>config.h is gitignored; only config.h.example is committed. Losing it loses the Wi-Fi and broker passwords.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991855" y="4864608"/>
            <a:ext cx="3557016" cy="1225296"/>
          </a:xfrm>
          <a:prstGeom prst="rect">
            <a:avLst/>
          </a:prstGeom>
          <a:solidFill>
            <a:srgbClr val="161C24"/>
          </a:solidFill>
          <a:ln w="12700">
            <a:solidFill>
              <a:srgbClr val="2C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991855" y="4864608"/>
            <a:ext cx="3557016" cy="31750"/>
          </a:xfrm>
          <a:prstGeom prst="rect">
            <a:avLst/>
          </a:prstGeom>
          <a:solidFill>
            <a:srgbClr val="FF4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174735" y="5065776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E6EDF3"/>
                </a:solidFill>
                <a:latin typeface="Bahnschrift SemiBold"/>
              </a:rPr>
              <a:t>No role separation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174735" y="5358384"/>
            <a:ext cx="3200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950" b="0" i="0">
                <a:solidFill>
                  <a:srgbClr val="8494A6"/>
                </a:solidFill>
                <a:latin typeface="Segoe UI"/>
              </a:rPr>
              <a:t>Gateway and head-end share one credential. A leaked gateway password grants publish rights on every topic — the weakest point in the system.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40080" y="6382512"/>
            <a:ext cx="10908792" cy="9525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" y="649224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5A6878"/>
                </a:solidFill>
                <a:latin typeface="Consolas"/>
              </a:rPr>
              <a:t>OSOS · DKM-440 remote meter reading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177272" y="6492240"/>
            <a:ext cx="1371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5A6878"/>
                </a:solidFill>
                <a:latin typeface="Consolas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5852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3D2E8"/>
                </a:solidFill>
                <a:latin typeface="Consolas"/>
              </a:rPr>
              <a:t>ONE FIVE-SECOND CYCLE, START TO FINISH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93776"/>
            <a:ext cx="5870448" cy="64008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0" i="0">
                <a:solidFill>
                  <a:srgbClr val="E6EDF3"/>
                </a:solidFill>
                <a:latin typeface="Bahnschrift SemiBold"/>
              </a:rPr>
              <a:t>What the operation actually does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726783" y="583844"/>
            <a:ext cx="1083106" cy="12700"/>
          </a:xfrm>
          <a:prstGeom prst="rect">
            <a:avLst/>
          </a:prstGeom>
          <a:solidFill>
            <a:srgbClr val="2E7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17970" y="548640"/>
            <a:ext cx="77724" cy="77724"/>
          </a:xfrm>
          <a:prstGeom prst="rect">
            <a:avLst/>
          </a:prstGeom>
          <a:solidFill>
            <a:srgbClr val="63D2E8"/>
          </a:solidFill>
          <a:ln w="12700">
            <a:solidFill>
              <a:srgbClr val="63D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45327" y="6949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3D2E8"/>
                </a:solidFill>
                <a:latin typeface="Bahnschrift SemiBold"/>
              </a:rPr>
              <a:t>METER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7949793" y="583844"/>
            <a:ext cx="1083106" cy="12700"/>
          </a:xfrm>
          <a:prstGeom prst="rect">
            <a:avLst/>
          </a:prstGeom>
          <a:solidFill>
            <a:srgbClr val="2E7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840979" y="548640"/>
            <a:ext cx="77724" cy="77724"/>
          </a:xfrm>
          <a:prstGeom prst="rect">
            <a:avLst/>
          </a:prstGeom>
          <a:solidFill>
            <a:srgbClr val="63D2E8"/>
          </a:solidFill>
          <a:ln w="12700">
            <a:solidFill>
              <a:srgbClr val="63D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68337" y="6949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3D2E8"/>
                </a:solidFill>
                <a:latin typeface="Bahnschrift SemiBold"/>
              </a:rPr>
              <a:t>GATEWAY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72803" y="583844"/>
            <a:ext cx="1083106" cy="12700"/>
          </a:xfrm>
          <a:prstGeom prst="rect">
            <a:avLst/>
          </a:prstGeom>
          <a:solidFill>
            <a:srgbClr val="2E7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063990" y="548640"/>
            <a:ext cx="77724" cy="77724"/>
          </a:xfrm>
          <a:prstGeom prst="rect">
            <a:avLst/>
          </a:prstGeom>
          <a:solidFill>
            <a:srgbClr val="63D2E8"/>
          </a:solidFill>
          <a:ln w="12700">
            <a:solidFill>
              <a:srgbClr val="63D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91347" y="6949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3D2E8"/>
                </a:solidFill>
                <a:latin typeface="Bahnschrift SemiBold"/>
              </a:rPr>
              <a:t>BROKER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95813" y="583844"/>
            <a:ext cx="1083106" cy="12700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287000" y="548640"/>
            <a:ext cx="77724" cy="77724"/>
          </a:xfrm>
          <a:prstGeom prst="rect">
            <a:avLst/>
          </a:prstGeom>
          <a:solidFill>
            <a:srgbClr val="63D2E8"/>
          </a:solidFill>
          <a:ln w="12700">
            <a:solidFill>
              <a:srgbClr val="63D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14357" y="6949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3D2E8"/>
                </a:solidFill>
                <a:latin typeface="Bahnschrift SemiBold"/>
              </a:rPr>
              <a:t>PHONE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510009" y="548640"/>
            <a:ext cx="77724" cy="77724"/>
          </a:xfrm>
          <a:prstGeom prst="rect">
            <a:avLst/>
          </a:prstGeom>
          <a:solidFill>
            <a:srgbClr val="0D1117"/>
          </a:solidFill>
          <a:ln w="12700">
            <a:solidFill>
              <a:srgbClr val="3D4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37367" y="6949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5A6878"/>
                </a:solidFill>
                <a:latin typeface="Bahnschrift SemiBold"/>
              </a:rPr>
              <a:t>NET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1225296"/>
            <a:ext cx="10908792" cy="9525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1220724"/>
            <a:ext cx="566928" cy="25400"/>
          </a:xfrm>
          <a:prstGeom prst="rect">
            <a:avLst/>
          </a:prstGeom>
          <a:solidFill>
            <a:srgbClr val="63D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2139696"/>
            <a:ext cx="10908792" cy="15875"/>
          </a:xfrm>
          <a:prstGeom prst="rect">
            <a:avLst/>
          </a:prstGeom>
          <a:solidFill>
            <a:srgbClr val="3D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6422" y="2048255"/>
            <a:ext cx="15875" cy="201168"/>
          </a:xfrm>
          <a:prstGeom prst="rect">
            <a:avLst/>
          </a:prstGeom>
          <a:solidFill>
            <a:srgbClr val="3D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79222" y="2322576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5A6878"/>
                </a:solidFill>
                <a:latin typeface="Consolas"/>
              </a:rPr>
              <a:t>0 ms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29106" y="2048255"/>
            <a:ext cx="15875" cy="201168"/>
          </a:xfrm>
          <a:prstGeom prst="rect">
            <a:avLst/>
          </a:prstGeom>
          <a:solidFill>
            <a:srgbClr val="3D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71906" y="2322576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5A6878"/>
                </a:solidFill>
                <a:latin typeface="Consolas"/>
              </a:rPr>
              <a:t>~730 ms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18180" y="2048255"/>
            <a:ext cx="15875" cy="201168"/>
          </a:xfrm>
          <a:prstGeom prst="rect">
            <a:avLst/>
          </a:prstGeom>
          <a:solidFill>
            <a:srgbClr val="3D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60980" y="2322576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5A6878"/>
                </a:solidFill>
                <a:latin typeface="Consolas"/>
              </a:rPr>
              <a:t>~1.0 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81697" y="2048255"/>
            <a:ext cx="15875" cy="201168"/>
          </a:xfrm>
          <a:prstGeom prst="rect">
            <a:avLst/>
          </a:prstGeom>
          <a:solidFill>
            <a:srgbClr val="3D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530584" y="2048255"/>
            <a:ext cx="15875" cy="201168"/>
          </a:xfrm>
          <a:prstGeom prst="rect">
            <a:avLst/>
          </a:prstGeom>
          <a:solidFill>
            <a:srgbClr val="3D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73384" y="2322576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5A6878"/>
                </a:solidFill>
                <a:latin typeface="Consolas"/>
              </a:rPr>
              <a:t>5 000 ms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1627632"/>
            <a:ext cx="1592683" cy="457200"/>
          </a:xfrm>
          <a:prstGeom prst="rect">
            <a:avLst/>
          </a:prstGeom>
          <a:solidFill>
            <a:srgbClr val="63D2E8"/>
          </a:solidFill>
          <a:ln w="12700">
            <a:solidFill>
              <a:srgbClr val="63D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1755648"/>
            <a:ext cx="159268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0D1117"/>
                </a:solidFill>
                <a:latin typeface="Bahnschrift SemiBold"/>
              </a:rPr>
              <a:t>22 register reads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32763" y="1627632"/>
            <a:ext cx="589074" cy="457200"/>
          </a:xfrm>
          <a:prstGeom prst="rect">
            <a:avLst/>
          </a:prstGeom>
          <a:solidFill>
            <a:srgbClr val="C89A5B"/>
          </a:solidFill>
          <a:ln w="12700">
            <a:solidFill>
              <a:srgbClr val="C89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821838" y="1627632"/>
            <a:ext cx="654527" cy="457200"/>
          </a:xfrm>
          <a:prstGeom prst="rect">
            <a:avLst/>
          </a:prstGeom>
          <a:solidFill>
            <a:srgbClr val="4AD991"/>
          </a:solidFill>
          <a:ln w="12700">
            <a:solidFill>
              <a:srgbClr val="4AD9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476365" y="1627632"/>
            <a:ext cx="8072506" cy="457200"/>
          </a:xfrm>
          <a:prstGeom prst="rect">
            <a:avLst/>
          </a:prstGeom>
          <a:solidFill>
            <a:srgbClr val="161C24"/>
          </a:solidFill>
          <a:ln w="12700">
            <a:solidFill>
              <a:srgbClr val="3D4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476365" y="1755648"/>
            <a:ext cx="807250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8494A6"/>
                </a:solidFill>
                <a:latin typeface="Bahnschrift SemiBold"/>
              </a:rPr>
              <a:t>idle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2647188"/>
            <a:ext cx="82296" cy="82296"/>
          </a:xfrm>
          <a:prstGeom prst="rect">
            <a:avLst/>
          </a:prstGeom>
          <a:solidFill>
            <a:srgbClr val="63D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7" y="2596896"/>
            <a:ext cx="47548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8494A6"/>
                </a:solidFill>
                <a:latin typeface="Consolas"/>
              </a:rPr>
              <a:t>22 × (request + 30 ms gap)  ≈  730 ms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2903220"/>
            <a:ext cx="82296" cy="82296"/>
          </a:xfrm>
          <a:prstGeom prst="rect">
            <a:avLst/>
          </a:prstGeom>
          <a:solidFill>
            <a:srgbClr val="C89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1247" y="2852928"/>
            <a:ext cx="47548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8494A6"/>
                </a:solidFill>
                <a:latin typeface="Consolas"/>
              </a:rPr>
              <a:t>encode · ArduinoJson 7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" y="3159252"/>
            <a:ext cx="82296" cy="82296"/>
          </a:xfrm>
          <a:prstGeom prst="rect">
            <a:avLst/>
          </a:prstGeom>
          <a:solidFill>
            <a:srgbClr val="4AD9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1247" y="3108960"/>
            <a:ext cx="47548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8494A6"/>
                </a:solidFill>
                <a:latin typeface="Consolas"/>
              </a:rPr>
              <a:t>publish · one TLS record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89320" y="2615184"/>
            <a:ext cx="5559552" cy="7099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 i="0">
                <a:solidFill>
                  <a:srgbClr val="8494A6"/>
                </a:solidFill>
                <a:latin typeface="Segoe UI"/>
              </a:rPr>
              <a:t>The remaining ~4 s is idle by design. You cannot poll faster to evaluate an alarm without breaking the polite-master rule — which is exactly why alarm rules live on the phone, over the telemetry stream the gateway already publishes.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" y="3419856"/>
            <a:ext cx="5074920" cy="2664523"/>
          </a:xfrm>
          <a:prstGeom prst="rect">
            <a:avLst/>
          </a:prstGeom>
          <a:solidFill>
            <a:srgbClr val="0A0E13"/>
          </a:solidFill>
          <a:ln w="12700">
            <a:solidFill>
              <a:srgbClr val="2C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40080" y="3419856"/>
            <a:ext cx="25400" cy="2664523"/>
          </a:xfrm>
          <a:prstGeom prst="rect">
            <a:avLst/>
          </a:prstGeom>
          <a:solidFill>
            <a:srgbClr val="63D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1247" y="3547872"/>
            <a:ext cx="467258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3D2E8"/>
                </a:solidFill>
                <a:latin typeface="Bahnschrift SemiBold"/>
              </a:rPr>
              <a:t>osos/dkm440-gw1/telemetry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7" y="3822192"/>
            <a:ext cx="4672583" cy="21524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8494A6"/>
                </a:solidFill>
                <a:latin typeface="Consolas"/>
              </a:rPr>
              <a:t>{ "ts": "2026-08-03T11:20:05Z",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8494A6"/>
                </a:solidFill>
                <a:latin typeface="Consolas"/>
              </a:rPr>
              <a:t>  "seq": 4127,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FFA928"/>
                </a:solidFill>
                <a:latin typeface="Consolas"/>
              </a:rPr>
              <a:t>  "buffered": false,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4AD991"/>
                </a:solidFill>
                <a:latin typeface="Consolas"/>
              </a:rPr>
              <a:t>  "meter_ok": true,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E6EDF3"/>
                </a:solidFill>
                <a:latin typeface="Consolas"/>
              </a:rPr>
              <a:t>  "values": {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63D2E8"/>
                </a:solidFill>
                <a:latin typeface="Consolas"/>
              </a:rPr>
              <a:t>    "Supply_Voltage":     23.350,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63D2E8"/>
                </a:solidFill>
                <a:latin typeface="Consolas"/>
              </a:rPr>
              <a:t>    "MainBus_Voltage_L1":  0.000,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FF4438"/>
                </a:solidFill>
                <a:latin typeface="Consolas"/>
              </a:rPr>
              <a:t>    "MainBus_Current_N":   null,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E6EDF3"/>
                </a:solidFill>
                <a:latin typeface="Consolas"/>
              </a:rPr>
              <a:t>    …  22 keys total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E6EDF3"/>
                </a:solidFill>
                <a:latin typeface="Consolas"/>
              </a:rPr>
              <a:t>  } }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89320" y="3419856"/>
            <a:ext cx="55595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63D2E8"/>
                </a:solidFill>
                <a:latin typeface="Bahnschrift SemiBold"/>
              </a:rPr>
              <a:t>THREE FIELDS THAT ARE NOT DECORATION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89320" y="3675887"/>
            <a:ext cx="5559552" cy="9525"/>
          </a:xfrm>
          <a:prstGeom prst="rect">
            <a:avLst/>
          </a:prstGeom>
          <a:solidFill>
            <a:srgbClr val="3D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989320" y="3858768"/>
            <a:ext cx="5559552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100" b="1">
                <a:solidFill>
                  <a:srgbClr val="63D2E8"/>
                </a:solidFill>
                <a:latin typeface="Consolas"/>
              </a:rPr>
              <a:t>— </a:t>
            </a:r>
            <a:r>
              <a:rPr sz="1100" b="1">
                <a:solidFill>
                  <a:srgbClr val="E6EDF3"/>
                </a:solidFill>
                <a:latin typeface="Segoe UI"/>
              </a:rPr>
              <a:t>seq</a:t>
            </a:r>
            <a:r>
              <a:rPr sz="1100" b="0">
                <a:solidFill>
                  <a:srgbClr val="8494A6"/>
                </a:solidFill>
                <a:latin typeface="Segoe UI"/>
              </a:rPr>
              <a:t>  monotonic per boot, independent of connectivity — a consumer can detect a gap even if timestamps look fine.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100" b="1">
                <a:solidFill>
                  <a:srgbClr val="63D2E8"/>
                </a:solidFill>
                <a:latin typeface="Consolas"/>
              </a:rPr>
              <a:t>— </a:t>
            </a:r>
            <a:r>
              <a:rPr sz="1100" b="1">
                <a:solidFill>
                  <a:srgbClr val="E6EDF3"/>
                </a:solidFill>
                <a:latin typeface="Segoe UI"/>
              </a:rPr>
              <a:t>buffered</a:t>
            </a:r>
            <a:r>
              <a:rPr sz="1100" b="0">
                <a:solidFill>
                  <a:srgbClr val="8494A6"/>
                </a:solidFill>
                <a:latin typeface="Segoe UI"/>
              </a:rPr>
              <a:t>  honestly false on this build. Store-and-forward did not fit in 36 KB of free heap, and it is reported as absent rather than faked.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100" b="1">
                <a:solidFill>
                  <a:srgbClr val="63D2E8"/>
                </a:solidFill>
                <a:latin typeface="Consolas"/>
              </a:rPr>
              <a:t>— </a:t>
            </a:r>
            <a:r>
              <a:rPr sz="1100" b="1">
                <a:solidFill>
                  <a:srgbClr val="E6EDF3"/>
                </a:solidFill>
                <a:latin typeface="Segoe UI"/>
              </a:rPr>
              <a:t>null vs 0.000</a:t>
            </a:r>
            <a:r>
              <a:rPr sz="1100" b="0">
                <a:solidFill>
                  <a:srgbClr val="8494A6"/>
                </a:solidFill>
                <a:latin typeface="Segoe UI"/>
              </a:rPr>
              <a:t>  not read, versus read as genuinely zero. Losing that distinction would make a dead meter look like an idle one.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0080" y="6382512"/>
            <a:ext cx="10908792" cy="9525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0080" y="649224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5A6878"/>
                </a:solidFill>
                <a:latin typeface="Consolas"/>
              </a:rPr>
              <a:t>OSOS · DKM-440 remote meter reading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177272" y="6492240"/>
            <a:ext cx="1371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5A6878"/>
                </a:solidFill>
                <a:latin typeface="Consolas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89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2395728"/>
            <a:ext cx="8595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C89A5B"/>
                </a:solidFill>
                <a:latin typeface="Consolas"/>
              </a:rPr>
              <a:t>PART THREE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2724912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4400" b="0" i="0">
                <a:solidFill>
                  <a:srgbClr val="E6EDF3"/>
                </a:solidFill>
                <a:latin typeface="Bahnschrift SemiBold"/>
              </a:rPr>
              <a:t>The neural network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3913632"/>
            <a:ext cx="1371600" cy="25400"/>
          </a:xfrm>
          <a:prstGeom prst="rect">
            <a:avLst/>
          </a:prstGeom>
          <a:solidFill>
            <a:srgbClr val="C89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4224528"/>
            <a:ext cx="749807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 i="0">
                <a:solidFill>
                  <a:srgbClr val="8494A6"/>
                </a:solidFill>
                <a:latin typeface="Segoe UI"/>
              </a:rPr>
              <a:t>Written from scratch in C++17 — no framework, no library, every derivative by hand.</a:t>
            </a:r>
          </a:p>
        </p:txBody>
      </p:sp>
      <p:sp>
        <p:nvSpPr>
          <p:cNvPr id="8" name="Rectangle 7"/>
          <p:cNvSpPr/>
          <p:nvPr/>
        </p:nvSpPr>
        <p:spPr>
          <a:xfrm>
            <a:off x="6726783" y="6024524"/>
            <a:ext cx="1083106" cy="12700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17970" y="5989320"/>
            <a:ext cx="77724" cy="77724"/>
          </a:xfrm>
          <a:prstGeom prst="rect">
            <a:avLst/>
          </a:prstGeom>
          <a:solidFill>
            <a:srgbClr val="0D1117"/>
          </a:solidFill>
          <a:ln w="12700">
            <a:solidFill>
              <a:srgbClr val="3D4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45327" y="613562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5A6878"/>
                </a:solidFill>
                <a:latin typeface="Bahnschrift SemiBold"/>
              </a:rPr>
              <a:t>METER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49793" y="6024524"/>
            <a:ext cx="1083106" cy="12700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40979" y="5989320"/>
            <a:ext cx="77724" cy="77724"/>
          </a:xfrm>
          <a:prstGeom prst="rect">
            <a:avLst/>
          </a:prstGeom>
          <a:solidFill>
            <a:srgbClr val="0D1117"/>
          </a:solidFill>
          <a:ln w="12700">
            <a:solidFill>
              <a:srgbClr val="3D4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68337" y="613562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5A6878"/>
                </a:solidFill>
                <a:latin typeface="Bahnschrift SemiBold"/>
              </a:rPr>
              <a:t>GATEWAY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72803" y="6024524"/>
            <a:ext cx="1083106" cy="12700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063990" y="5989320"/>
            <a:ext cx="77724" cy="77724"/>
          </a:xfrm>
          <a:prstGeom prst="rect">
            <a:avLst/>
          </a:prstGeom>
          <a:solidFill>
            <a:srgbClr val="0D1117"/>
          </a:solidFill>
          <a:ln w="12700">
            <a:solidFill>
              <a:srgbClr val="3D4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91347" y="613562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5A6878"/>
                </a:solidFill>
                <a:latin typeface="Bahnschrift SemiBold"/>
              </a:rPr>
              <a:t>BROKER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395813" y="6024524"/>
            <a:ext cx="1083106" cy="12700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287000" y="5989320"/>
            <a:ext cx="77724" cy="77724"/>
          </a:xfrm>
          <a:prstGeom prst="rect">
            <a:avLst/>
          </a:prstGeom>
          <a:solidFill>
            <a:srgbClr val="0D1117"/>
          </a:solidFill>
          <a:ln w="12700">
            <a:solidFill>
              <a:srgbClr val="3D4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14357" y="613562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5A6878"/>
                </a:solidFill>
                <a:latin typeface="Bahnschrift SemiBold"/>
              </a:rPr>
              <a:t>PHONE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510009" y="5989320"/>
            <a:ext cx="77724" cy="77724"/>
          </a:xfrm>
          <a:prstGeom prst="rect">
            <a:avLst/>
          </a:prstGeom>
          <a:solidFill>
            <a:srgbClr val="63D2E8"/>
          </a:solidFill>
          <a:ln w="12700">
            <a:solidFill>
              <a:srgbClr val="63D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37367" y="613562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3D2E8"/>
                </a:solidFill>
                <a:latin typeface="Bahnschrift SemiBold"/>
              </a:rPr>
              <a:t>NET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6382512"/>
            <a:ext cx="10908792" cy="9525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649224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5A6878"/>
                </a:solidFill>
                <a:latin typeface="Consolas"/>
              </a:rPr>
              <a:t>OSOS · DKM-440 remote meter reading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77272" y="6492240"/>
            <a:ext cx="1371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5A6878"/>
                </a:solidFill>
                <a:latin typeface="Consolas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5852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C89A5B"/>
                </a:solidFill>
                <a:latin typeface="Consolas"/>
              </a:rPr>
              <a:t>NEURAL_NET_C/EXPLANATION.MD §1–§2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93776"/>
            <a:ext cx="5870448" cy="64008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0" i="0">
                <a:solidFill>
                  <a:srgbClr val="E6EDF3"/>
                </a:solidFill>
                <a:latin typeface="Bahnschrift SemiBold"/>
              </a:rPr>
              <a:t>What a neural network is</a:t>
            </a:r>
          </a:p>
        </p:txBody>
      </p:sp>
      <p:sp>
        <p:nvSpPr>
          <p:cNvPr id="5" name="Rectangle 4"/>
          <p:cNvSpPr/>
          <p:nvPr/>
        </p:nvSpPr>
        <p:spPr>
          <a:xfrm>
            <a:off x="6726783" y="583844"/>
            <a:ext cx="1083106" cy="12700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17970" y="548640"/>
            <a:ext cx="77724" cy="77724"/>
          </a:xfrm>
          <a:prstGeom prst="rect">
            <a:avLst/>
          </a:prstGeom>
          <a:solidFill>
            <a:srgbClr val="0D1117"/>
          </a:solidFill>
          <a:ln w="12700">
            <a:solidFill>
              <a:srgbClr val="3D4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45327" y="6949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5A6878"/>
                </a:solidFill>
                <a:latin typeface="Bahnschrift SemiBold"/>
              </a:rPr>
              <a:t>METER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7949793" y="583844"/>
            <a:ext cx="1083106" cy="12700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840979" y="548640"/>
            <a:ext cx="77724" cy="77724"/>
          </a:xfrm>
          <a:prstGeom prst="rect">
            <a:avLst/>
          </a:prstGeom>
          <a:solidFill>
            <a:srgbClr val="0D1117"/>
          </a:solidFill>
          <a:ln w="12700">
            <a:solidFill>
              <a:srgbClr val="3D4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68337" y="6949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5A6878"/>
                </a:solidFill>
                <a:latin typeface="Bahnschrift SemiBold"/>
              </a:rPr>
              <a:t>GATEWAY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72803" y="583844"/>
            <a:ext cx="1083106" cy="12700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063990" y="548640"/>
            <a:ext cx="77724" cy="77724"/>
          </a:xfrm>
          <a:prstGeom prst="rect">
            <a:avLst/>
          </a:prstGeom>
          <a:solidFill>
            <a:srgbClr val="0D1117"/>
          </a:solidFill>
          <a:ln w="12700">
            <a:solidFill>
              <a:srgbClr val="3D4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91347" y="6949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5A6878"/>
                </a:solidFill>
                <a:latin typeface="Bahnschrift SemiBold"/>
              </a:rPr>
              <a:t>BROKER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95813" y="583844"/>
            <a:ext cx="1083106" cy="12700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287000" y="548640"/>
            <a:ext cx="77724" cy="77724"/>
          </a:xfrm>
          <a:prstGeom prst="rect">
            <a:avLst/>
          </a:prstGeom>
          <a:solidFill>
            <a:srgbClr val="0D1117"/>
          </a:solidFill>
          <a:ln w="12700">
            <a:solidFill>
              <a:srgbClr val="3D4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14357" y="6949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5A6878"/>
                </a:solidFill>
                <a:latin typeface="Bahnschrift SemiBold"/>
              </a:rPr>
              <a:t>PHONE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510009" y="548640"/>
            <a:ext cx="77724" cy="77724"/>
          </a:xfrm>
          <a:prstGeom prst="rect">
            <a:avLst/>
          </a:prstGeom>
          <a:solidFill>
            <a:srgbClr val="63D2E8"/>
          </a:solidFill>
          <a:ln w="12700">
            <a:solidFill>
              <a:srgbClr val="63D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37367" y="6949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3D2E8"/>
                </a:solidFill>
                <a:latin typeface="Bahnschrift SemiBold"/>
              </a:rPr>
              <a:t>NET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1225296"/>
            <a:ext cx="10908792" cy="9525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1220724"/>
            <a:ext cx="566928" cy="25400"/>
          </a:xfrm>
          <a:prstGeom prst="rect">
            <a:avLst/>
          </a:prstGeom>
          <a:solidFill>
            <a:srgbClr val="C89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1517904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C89A5B"/>
                </a:solidFill>
                <a:latin typeface="Bahnschrift SemiBold"/>
              </a:rPr>
              <a:t>1 · A NEURON IS A WEIGHTED SUM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1773936"/>
            <a:ext cx="5303520" cy="9525"/>
          </a:xfrm>
          <a:prstGeom prst="rect">
            <a:avLst/>
          </a:prstGeom>
          <a:solidFill>
            <a:srgbClr val="3D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2029968"/>
            <a:ext cx="5303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200" b="0" i="0">
                <a:solidFill>
                  <a:srgbClr val="C89A5B"/>
                </a:solidFill>
                <a:latin typeface="Consolas"/>
              </a:rPr>
              <a:t>zⱼ  =  Σᵢ ( Wⱼᵢ · inᵢ )  +  bⱼ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2615184"/>
            <a:ext cx="53035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00" b="0" i="0">
                <a:solidFill>
                  <a:srgbClr val="8494A6"/>
                </a:solidFill>
                <a:latin typeface="Segoe UI"/>
              </a:rPr>
              <a:t>Take the inputs, multiply each by its own weight, add a bias, produce one number. That is the entire neuron. Everything else in the project is bookkeeping: running many of these in parallel is a layer, running layers in sequence is a network, and choosing good W and b automatically is training.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45352" y="1517904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C89A5B"/>
                </a:solidFill>
                <a:latin typeface="Bahnschrift SemiBold"/>
              </a:rPr>
              <a:t>2 · WHY THERE MUST BE A HIDDEN LAYER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45352" y="1773936"/>
            <a:ext cx="5303520" cy="9525"/>
          </a:xfrm>
          <a:prstGeom prst="rect">
            <a:avLst/>
          </a:prstGeom>
          <a:solidFill>
            <a:srgbClr val="3D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46520" y="2048256"/>
            <a:ext cx="1188720" cy="1188720"/>
          </a:xfrm>
          <a:prstGeom prst="rect">
            <a:avLst/>
          </a:prstGeom>
          <a:solidFill>
            <a:srgbClr val="161C24"/>
          </a:solidFill>
          <a:ln w="12700">
            <a:solidFill>
              <a:srgbClr val="2C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583679" y="2898648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63D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79" y="2930652"/>
            <a:ext cx="20116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0D1117"/>
                </a:solidFill>
                <a:latin typeface="Consolas"/>
              </a:rPr>
              <a:t>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79" y="2185416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C89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79" y="2217420"/>
            <a:ext cx="20116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0D1117"/>
                </a:solidFill>
                <a:latin typeface="Consolas"/>
              </a:rPr>
              <a:t>1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296912" y="2898648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C89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96912" y="2930652"/>
            <a:ext cx="20116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0D1117"/>
                </a:solidFill>
                <a:latin typeface="Consolas"/>
              </a:rPr>
              <a:t>1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296912" y="2185416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63D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96912" y="2217420"/>
            <a:ext cx="20116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0D1117"/>
                </a:solidFill>
                <a:latin typeface="Consolas"/>
              </a:rPr>
              <a:t>0</a:t>
            </a:r>
          </a:p>
        </p:txBody>
      </p:sp>
      <p:cxnSp>
        <p:nvCxnSpPr>
          <p:cNvPr id="36" name="Connector 35"/>
          <p:cNvCxnSpPr/>
          <p:nvPr/>
        </p:nvCxnSpPr>
        <p:spPr>
          <a:xfrm flipV="1">
            <a:off x="6519672" y="2121408"/>
            <a:ext cx="1042416" cy="1042416"/>
          </a:xfrm>
          <a:prstGeom prst="line">
            <a:avLst/>
          </a:prstGeom>
          <a:ln w="19050">
            <a:solidFill>
              <a:srgbClr val="FF443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446520" y="3310128"/>
            <a:ext cx="11887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8494A6"/>
                </a:solidFill>
                <a:latin typeface="Consolas"/>
              </a:rPr>
              <a:t>XOR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82127" y="2011680"/>
            <a:ext cx="3666744" cy="12370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0" i="0">
                <a:solidFill>
                  <a:srgbClr val="8494A6"/>
                </a:solidFill>
                <a:latin typeface="Segoe UI"/>
              </a:rPr>
              <a:t>No single straight line separates XOR's ones from its zeros. A hidden layer fixes it: each hidden neuron draws its own line, turning the input into a representation in which the classes are separable. The output neuron then draws one line in that new space.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82127" y="3395027"/>
            <a:ext cx="3666744" cy="6998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00" b="0" i="0">
                <a:solidFill>
                  <a:srgbClr val="C89A5B"/>
                </a:solidFill>
                <a:latin typeface="Segoe UI"/>
              </a:rPr>
              <a:t>The smallest possible demonstration of why depth works at all: layers build coordinates in which the problem becomes easy.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4059936"/>
            <a:ext cx="10908792" cy="9525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4224528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C89A5B"/>
                </a:solidFill>
                <a:latin typeface="Bahnschrift SemiBold"/>
              </a:rPr>
              <a:t>3 · WHY THE ACTIVATION MUST BE NON-LINEAR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4517136"/>
            <a:ext cx="5303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  <a:spcAft>
                <a:spcPts val="0"/>
              </a:spcAft>
            </a:pPr>
            <a:r>
              <a:rPr sz="1150" b="0" i="0">
                <a:solidFill>
                  <a:srgbClr val="8494A6"/>
                </a:solidFill>
                <a:latin typeface="Segoe UI"/>
              </a:rPr>
              <a:t>A linear function of a linear function is still linear, so without a non-linear f any depth collapses into a single matrix. Stacking layers would buy nothing at all.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45352" y="4224528"/>
            <a:ext cx="1664208" cy="1572768"/>
          </a:xfrm>
          <a:prstGeom prst="rect">
            <a:avLst/>
          </a:prstGeom>
          <a:solidFill>
            <a:srgbClr val="161C24"/>
          </a:solidFill>
          <a:ln w="12700">
            <a:solidFill>
              <a:srgbClr val="2C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45352" y="4224528"/>
            <a:ext cx="1664208" cy="31750"/>
          </a:xfrm>
          <a:prstGeom prst="rect">
            <a:avLst/>
          </a:prstGeom>
          <a:solidFill>
            <a:srgbClr val="C89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91656" y="4407408"/>
            <a:ext cx="1371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E6EDF3"/>
                </a:solidFill>
                <a:latin typeface="Bahnschrift SemiBold"/>
              </a:rPr>
              <a:t>sigmoid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91656" y="4681728"/>
            <a:ext cx="1463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C89A5B"/>
                </a:solidFill>
                <a:latin typeface="Consolas"/>
              </a:rPr>
              <a:t>1 / (1 + e⁻ᶻ)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91656" y="4937760"/>
            <a:ext cx="1463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8494A6"/>
                </a:solidFill>
                <a:latin typeface="Consolas"/>
              </a:rPr>
              <a:t>s′ = s(1−s)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91656" y="5212080"/>
            <a:ext cx="1417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50" b="0" i="0">
                <a:solidFill>
                  <a:srgbClr val="5A6878"/>
                </a:solidFill>
                <a:latin typeface="Segoe UI"/>
              </a:rPr>
              <a:t>derivative peaks at 0.25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46720" y="4224528"/>
            <a:ext cx="1664208" cy="1572768"/>
          </a:xfrm>
          <a:prstGeom prst="rect">
            <a:avLst/>
          </a:prstGeom>
          <a:solidFill>
            <a:srgbClr val="161C24"/>
          </a:solidFill>
          <a:ln w="12700">
            <a:solidFill>
              <a:srgbClr val="2C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046720" y="4224528"/>
            <a:ext cx="1664208" cy="31750"/>
          </a:xfrm>
          <a:prstGeom prst="rect">
            <a:avLst/>
          </a:prstGeom>
          <a:solidFill>
            <a:srgbClr val="C89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193024" y="4407408"/>
            <a:ext cx="1371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E6EDF3"/>
                </a:solidFill>
                <a:latin typeface="Bahnschrift SemiBold"/>
              </a:rPr>
              <a:t>ReLU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93024" y="4681728"/>
            <a:ext cx="1463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C89A5B"/>
                </a:solidFill>
                <a:latin typeface="Consolas"/>
              </a:rPr>
              <a:t>max(0, z)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93024" y="4937760"/>
            <a:ext cx="1463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8494A6"/>
                </a:solidFill>
                <a:latin typeface="Consolas"/>
              </a:rPr>
              <a:t>r′ = 1 if z&gt;0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93024" y="5212080"/>
            <a:ext cx="1417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50" b="0" i="0">
                <a:solidFill>
                  <a:srgbClr val="5A6878"/>
                </a:solidFill>
                <a:latin typeface="Segoe UI"/>
              </a:rPr>
              <a:t>does not vanish — trains faster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848088" y="4224528"/>
            <a:ext cx="1664208" cy="1572768"/>
          </a:xfrm>
          <a:prstGeom prst="rect">
            <a:avLst/>
          </a:prstGeom>
          <a:solidFill>
            <a:srgbClr val="161C24"/>
          </a:solidFill>
          <a:ln w="12700">
            <a:solidFill>
              <a:srgbClr val="2C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848088" y="4224528"/>
            <a:ext cx="1664208" cy="31750"/>
          </a:xfrm>
          <a:prstGeom prst="rect">
            <a:avLst/>
          </a:prstGeom>
          <a:solidFill>
            <a:srgbClr val="C89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994392" y="4407408"/>
            <a:ext cx="1371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E6EDF3"/>
                </a:solidFill>
                <a:latin typeface="Bahnschrift SemiBold"/>
              </a:rPr>
              <a:t>softmax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994392" y="4681728"/>
            <a:ext cx="1463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C89A5B"/>
                </a:solidFill>
                <a:latin typeface="Consolas"/>
              </a:rPr>
              <a:t>eᶻʲ / Σ eᶻᵏ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994392" y="4937760"/>
            <a:ext cx="1463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8494A6"/>
                </a:solidFill>
                <a:latin typeface="Consolas"/>
              </a:rPr>
              <a:t>vector-valued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994392" y="5212080"/>
            <a:ext cx="1417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50" b="0" i="0">
                <a:solidFill>
                  <a:srgbClr val="5A6878"/>
                </a:solidFill>
                <a:latin typeface="Segoe UI"/>
              </a:rPr>
              <a:t>max subtracted to stop overflow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0080" y="6382512"/>
            <a:ext cx="10908792" cy="9525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0080" y="649224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5A6878"/>
                </a:solidFill>
                <a:latin typeface="Consolas"/>
              </a:rPr>
              <a:t>OSOS · DKM-440 remote meter reading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177272" y="6492240"/>
            <a:ext cx="1371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5A6878"/>
                </a:solidFill>
                <a:latin typeface="Consolas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5852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C89A5B"/>
                </a:solidFill>
                <a:latin typeface="Consolas"/>
              </a:rPr>
              <a:t>FORWARD, LOSS, BACKWARD,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93776"/>
            <a:ext cx="5870448" cy="64008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0" i="0">
                <a:solidFill>
                  <a:srgbClr val="E6EDF3"/>
                </a:solidFill>
                <a:latin typeface="Bahnschrift SemiBold"/>
              </a:rPr>
              <a:t>How it learns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726783" y="583844"/>
            <a:ext cx="1083106" cy="12700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17970" y="548640"/>
            <a:ext cx="77724" cy="77724"/>
          </a:xfrm>
          <a:prstGeom prst="rect">
            <a:avLst/>
          </a:prstGeom>
          <a:solidFill>
            <a:srgbClr val="0D1117"/>
          </a:solidFill>
          <a:ln w="12700">
            <a:solidFill>
              <a:srgbClr val="3D4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45327" y="6949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5A6878"/>
                </a:solidFill>
                <a:latin typeface="Bahnschrift SemiBold"/>
              </a:rPr>
              <a:t>METER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7949793" y="583844"/>
            <a:ext cx="1083106" cy="12700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840979" y="548640"/>
            <a:ext cx="77724" cy="77724"/>
          </a:xfrm>
          <a:prstGeom prst="rect">
            <a:avLst/>
          </a:prstGeom>
          <a:solidFill>
            <a:srgbClr val="0D1117"/>
          </a:solidFill>
          <a:ln w="12700">
            <a:solidFill>
              <a:srgbClr val="3D4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68337" y="6949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5A6878"/>
                </a:solidFill>
                <a:latin typeface="Bahnschrift SemiBold"/>
              </a:rPr>
              <a:t>GATEWAY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72803" y="583844"/>
            <a:ext cx="1083106" cy="12700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063990" y="548640"/>
            <a:ext cx="77724" cy="77724"/>
          </a:xfrm>
          <a:prstGeom prst="rect">
            <a:avLst/>
          </a:prstGeom>
          <a:solidFill>
            <a:srgbClr val="0D1117"/>
          </a:solidFill>
          <a:ln w="12700">
            <a:solidFill>
              <a:srgbClr val="3D4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91347" y="6949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5A6878"/>
                </a:solidFill>
                <a:latin typeface="Bahnschrift SemiBold"/>
              </a:rPr>
              <a:t>BROKER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95813" y="583844"/>
            <a:ext cx="1083106" cy="12700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287000" y="548640"/>
            <a:ext cx="77724" cy="77724"/>
          </a:xfrm>
          <a:prstGeom prst="rect">
            <a:avLst/>
          </a:prstGeom>
          <a:solidFill>
            <a:srgbClr val="0D1117"/>
          </a:solidFill>
          <a:ln w="12700">
            <a:solidFill>
              <a:srgbClr val="3D4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14357" y="6949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5A6878"/>
                </a:solidFill>
                <a:latin typeface="Bahnschrift SemiBold"/>
              </a:rPr>
              <a:t>PHONE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510009" y="548640"/>
            <a:ext cx="77724" cy="77724"/>
          </a:xfrm>
          <a:prstGeom prst="rect">
            <a:avLst/>
          </a:prstGeom>
          <a:solidFill>
            <a:srgbClr val="63D2E8"/>
          </a:solidFill>
          <a:ln w="12700">
            <a:solidFill>
              <a:srgbClr val="63D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37367" y="6949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3D2E8"/>
                </a:solidFill>
                <a:latin typeface="Bahnschrift SemiBold"/>
              </a:rPr>
              <a:t>NET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1225296"/>
            <a:ext cx="10908792" cy="9525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1220724"/>
            <a:ext cx="566928" cy="25400"/>
          </a:xfrm>
          <a:prstGeom prst="rect">
            <a:avLst/>
          </a:prstGeom>
          <a:solidFill>
            <a:srgbClr val="C89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1572768"/>
            <a:ext cx="2624328" cy="2304288"/>
          </a:xfrm>
          <a:prstGeom prst="rect">
            <a:avLst/>
          </a:prstGeom>
          <a:solidFill>
            <a:srgbClr val="161C24"/>
          </a:solidFill>
          <a:ln w="12700">
            <a:solidFill>
              <a:srgbClr val="2C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1572768"/>
            <a:ext cx="2624328" cy="31750"/>
          </a:xfrm>
          <a:prstGeom prst="rect">
            <a:avLst/>
          </a:prstGeom>
          <a:solidFill>
            <a:srgbClr val="C89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59" y="1773936"/>
            <a:ext cx="225856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C89A5B"/>
                </a:solidFill>
                <a:latin typeface="Bahnschrift SemiBold"/>
              </a:rPr>
              <a:t>FORWARD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59" y="2066543"/>
            <a:ext cx="225856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50" b="0" i="0">
                <a:solidFill>
                  <a:srgbClr val="E6EDF3"/>
                </a:solidFill>
                <a:latin typeface="Consolas"/>
              </a:rPr>
              <a:t>a^0 = x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50" b="0" i="0">
                <a:solidFill>
                  <a:srgbClr val="E6EDF3"/>
                </a:solidFill>
                <a:latin typeface="Consolas"/>
              </a:rPr>
              <a:t>z^l = W^l·a^(l-1) + b^l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50" b="0" i="0">
                <a:solidFill>
                  <a:srgbClr val="E6EDF3"/>
                </a:solidFill>
                <a:latin typeface="Consolas"/>
              </a:rPr>
              <a:t>a^l = f(z^l)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" y="3017520"/>
            <a:ext cx="225856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000" b="0" i="0">
                <a:solidFill>
                  <a:srgbClr val="8494A6"/>
                </a:solidFill>
                <a:latin typeface="Segoe UI"/>
              </a:rPr>
              <a:t>Each layer caches z and a — not an optimisation. Backprop needs both.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278124" y="2724912"/>
            <a:ext cx="105156" cy="0"/>
          </a:xfrm>
          <a:prstGeom prst="line">
            <a:avLst/>
          </a:prstGeom>
          <a:ln w="19050">
            <a:solidFill>
              <a:srgbClr val="C89A5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3396996" y="1572768"/>
            <a:ext cx="2624328" cy="2304288"/>
          </a:xfrm>
          <a:prstGeom prst="rect">
            <a:avLst/>
          </a:prstGeom>
          <a:solidFill>
            <a:srgbClr val="161C24"/>
          </a:solidFill>
          <a:ln w="12700">
            <a:solidFill>
              <a:srgbClr val="2C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396996" y="1572768"/>
            <a:ext cx="2624328" cy="31750"/>
          </a:xfrm>
          <a:prstGeom prst="rect">
            <a:avLst/>
          </a:prstGeom>
          <a:solidFill>
            <a:srgbClr val="C89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79876" y="1773936"/>
            <a:ext cx="225856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C89A5B"/>
                </a:solidFill>
                <a:latin typeface="Bahnschrift SemiBold"/>
              </a:rPr>
              <a:t>LOSS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79876" y="2066543"/>
            <a:ext cx="225856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50" b="0" i="0">
                <a:solidFill>
                  <a:srgbClr val="E6EDF3"/>
                </a:solidFill>
                <a:latin typeface="Consolas"/>
              </a:rPr>
              <a:t>L = −Σ y_j log a_j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79876" y="3017520"/>
            <a:ext cx="225856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000" b="0" i="0">
                <a:solidFill>
                  <a:srgbClr val="8494A6"/>
                </a:solidFill>
                <a:latin typeface="Segoe UI"/>
              </a:rPr>
              <a:t>Cross-entropy over a softmax output punishes a confident wrong answer far harder than MSE does.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035040" y="2724912"/>
            <a:ext cx="105156" cy="0"/>
          </a:xfrm>
          <a:prstGeom prst="line">
            <a:avLst/>
          </a:prstGeom>
          <a:ln w="19050">
            <a:solidFill>
              <a:srgbClr val="C89A5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6153912" y="1572768"/>
            <a:ext cx="2624328" cy="2304288"/>
          </a:xfrm>
          <a:prstGeom prst="rect">
            <a:avLst/>
          </a:prstGeom>
          <a:solidFill>
            <a:srgbClr val="161C24"/>
          </a:solidFill>
          <a:ln w="12700">
            <a:solidFill>
              <a:srgbClr val="2C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53912" y="1572768"/>
            <a:ext cx="2624328" cy="31750"/>
          </a:xfrm>
          <a:prstGeom prst="rect">
            <a:avLst/>
          </a:prstGeom>
          <a:solidFill>
            <a:srgbClr val="C89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36792" y="1773936"/>
            <a:ext cx="225856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C89A5B"/>
                </a:solidFill>
                <a:latin typeface="Bahnschrift SemiBold"/>
              </a:rPr>
              <a:t>BACKWARD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36792" y="2066543"/>
            <a:ext cx="225856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50" b="0" i="0">
                <a:solidFill>
                  <a:srgbClr val="E6EDF3"/>
                </a:solidFill>
                <a:latin typeface="Consolas"/>
              </a:rPr>
              <a:t>δ^L = a − y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50" b="0" i="0">
                <a:solidFill>
                  <a:srgbClr val="E6EDF3"/>
                </a:solidFill>
                <a:latin typeface="Consolas"/>
              </a:rPr>
              <a:t>δ^l = (W^(l+1))^T·δ^(l+1)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50" b="0" i="0">
                <a:solidFill>
                  <a:srgbClr val="E6EDF3"/>
                </a:solidFill>
                <a:latin typeface="Consolas"/>
              </a:rPr>
              <a:t>        ⊙ f′(z^l)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36792" y="3017520"/>
            <a:ext cx="225856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000" b="0" i="0">
                <a:solidFill>
                  <a:srgbClr val="8494A6"/>
                </a:solidFill>
                <a:latin typeface="Segoe UI"/>
              </a:rPr>
              <a:t>The chain rule, written out. With softmax + cross-entropy the output term collapses to a − y.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8791956" y="2724912"/>
            <a:ext cx="105156" cy="0"/>
          </a:xfrm>
          <a:prstGeom prst="line">
            <a:avLst/>
          </a:prstGeom>
          <a:ln w="19050">
            <a:solidFill>
              <a:srgbClr val="C89A5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8910828" y="1572768"/>
            <a:ext cx="2624328" cy="2304288"/>
          </a:xfrm>
          <a:prstGeom prst="rect">
            <a:avLst/>
          </a:prstGeom>
          <a:solidFill>
            <a:srgbClr val="161C24"/>
          </a:solidFill>
          <a:ln w="12700">
            <a:solidFill>
              <a:srgbClr val="2C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910828" y="1572768"/>
            <a:ext cx="2624328" cy="31750"/>
          </a:xfrm>
          <a:prstGeom prst="rect">
            <a:avLst/>
          </a:prstGeom>
          <a:solidFill>
            <a:srgbClr val="C89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93707" y="1773936"/>
            <a:ext cx="225856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C89A5B"/>
                </a:solidFill>
                <a:latin typeface="Bahnschrift SemiBold"/>
              </a:rPr>
              <a:t>STEP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93707" y="2066543"/>
            <a:ext cx="225856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50" b="0" i="0">
                <a:solidFill>
                  <a:srgbClr val="E6EDF3"/>
                </a:solidFill>
                <a:latin typeface="Consolas"/>
              </a:rPr>
              <a:t>W ← W − η·(1/n)·Σ δ·a^T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93707" y="3017520"/>
            <a:ext cx="225856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000" b="0" i="0">
                <a:solidFill>
                  <a:srgbClr val="8494A6"/>
                </a:solidFill>
                <a:latin typeface="Segoe UI"/>
              </a:rPr>
              <a:t>Mini-batch SGD: shuffle, accumulate gradients over 64 samples, take one averaged step.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" y="4114800"/>
            <a:ext cx="5349240" cy="1828800"/>
          </a:xfrm>
          <a:prstGeom prst="rect">
            <a:avLst/>
          </a:prstGeom>
          <a:solidFill>
            <a:srgbClr val="161C24"/>
          </a:solidFill>
          <a:ln w="12700">
            <a:solidFill>
              <a:srgbClr val="2C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40080" y="4114800"/>
            <a:ext cx="5349240" cy="31750"/>
          </a:xfrm>
          <a:prstGeom prst="rect">
            <a:avLst/>
          </a:prstGeom>
          <a:solidFill>
            <a:srgbClr val="4AD9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9536" y="4315968"/>
            <a:ext cx="49377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4AD991"/>
                </a:solidFill>
                <a:latin typeface="Bahnschrift SemiBold"/>
              </a:rPr>
              <a:t>HOW WE KNOW THE DERIVATIVES ARE RIGHT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9536" y="4590288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4AD991"/>
                </a:solidFill>
                <a:latin typeface="Consolas"/>
              </a:rPr>
              <a:t>max |analytic − numeric|  &lt;  1e-9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9536" y="4992624"/>
            <a:ext cx="4937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 i="0">
                <a:solidFill>
                  <a:srgbClr val="8494A6"/>
                </a:solidFill>
                <a:latin typeface="Segoe UI"/>
              </a:rPr>
              <a:t>gradcheck.cpp perturbs every weight by ±ε and compares the finite difference against backprop's gradient. It is the one test that makes hand-written calculus trustworthy — and it is why the maths above is not just decoration on a slide.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09360" y="4114800"/>
            <a:ext cx="523951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C89A5B"/>
                </a:solidFill>
                <a:latin typeface="Bahnschrift SemiBold"/>
              </a:rPr>
              <a:t>HYPERPARAMETERS — main_mnist.cpp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09360" y="4425696"/>
            <a:ext cx="26334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8494A6"/>
                </a:solidFill>
                <a:latin typeface="Segoe UI"/>
              </a:rPr>
              <a:t>EPOCHS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52560" y="4425696"/>
            <a:ext cx="24963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E6EDF3"/>
                </a:solidFill>
                <a:latin typeface="Consolas"/>
              </a:rPr>
              <a:t>10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09360" y="4663440"/>
            <a:ext cx="5239512" cy="9525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09360" y="4736592"/>
            <a:ext cx="26334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8494A6"/>
                </a:solidFill>
                <a:latin typeface="Segoe UI"/>
              </a:rPr>
              <a:t>BATCH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52560" y="4736592"/>
            <a:ext cx="24963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E6EDF3"/>
                </a:solidFill>
                <a:latin typeface="Consolas"/>
              </a:rPr>
              <a:t>64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09360" y="4974336"/>
            <a:ext cx="5239512" cy="9525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09360" y="5047488"/>
            <a:ext cx="26334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8494A6"/>
                </a:solidFill>
                <a:latin typeface="Segoe UI"/>
              </a:rPr>
              <a:t>ETA  (learning rate)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052560" y="5047488"/>
            <a:ext cx="24963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E6EDF3"/>
                </a:solidFill>
                <a:latin typeface="Consolas"/>
              </a:rPr>
              <a:t>0.1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309360" y="5285231"/>
            <a:ext cx="5239512" cy="9525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309360" y="5358383"/>
            <a:ext cx="26334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8494A6"/>
                </a:solidFill>
                <a:latin typeface="Segoe UI"/>
              </a:rPr>
              <a:t>shuffle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052560" y="5358383"/>
            <a:ext cx="24963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E6EDF3"/>
                </a:solidFill>
                <a:latin typeface="Consolas"/>
              </a:rPr>
              <a:t>Fisher–Yates, per epoch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309360" y="5596127"/>
            <a:ext cx="5239512" cy="9525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309360" y="5669279"/>
            <a:ext cx="26334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8494A6"/>
                </a:solidFill>
                <a:latin typeface="Segoe UI"/>
              </a:rPr>
              <a:t>weight init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052560" y="5669279"/>
            <a:ext cx="249631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E6EDF3"/>
                </a:solidFill>
                <a:latin typeface="Consolas"/>
              </a:rPr>
              <a:t>scaled by fan-in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40080" y="6382512"/>
            <a:ext cx="10908792" cy="9525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40080" y="649224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5A6878"/>
                </a:solidFill>
                <a:latin typeface="Consolas"/>
              </a:rPr>
              <a:t>OSOS · DKM-440 remote meter reading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177272" y="6492240"/>
            <a:ext cx="1371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5A6878"/>
                </a:solidFill>
                <a:latin typeface="Consolas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5852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C89A5B"/>
                </a:solidFill>
                <a:latin typeface="Consolas"/>
              </a:rPr>
              <a:t>70 000 HANDWRITTEN DIGITS · 60 K TRAIN / 10 K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93776"/>
            <a:ext cx="5870448" cy="64008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0" i="0">
                <a:solidFill>
                  <a:srgbClr val="E6EDF3"/>
                </a:solidFill>
                <a:latin typeface="Bahnschrift SemiBold"/>
              </a:rPr>
              <a:t>MNIST — the standard first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6726783" y="583844"/>
            <a:ext cx="1083106" cy="12700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17970" y="548640"/>
            <a:ext cx="77724" cy="77724"/>
          </a:xfrm>
          <a:prstGeom prst="rect">
            <a:avLst/>
          </a:prstGeom>
          <a:solidFill>
            <a:srgbClr val="0D1117"/>
          </a:solidFill>
          <a:ln w="12700">
            <a:solidFill>
              <a:srgbClr val="3D4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45327" y="6949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5A6878"/>
                </a:solidFill>
                <a:latin typeface="Bahnschrift SemiBold"/>
              </a:rPr>
              <a:t>METER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7949793" y="583844"/>
            <a:ext cx="1083106" cy="12700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840979" y="548640"/>
            <a:ext cx="77724" cy="77724"/>
          </a:xfrm>
          <a:prstGeom prst="rect">
            <a:avLst/>
          </a:prstGeom>
          <a:solidFill>
            <a:srgbClr val="0D1117"/>
          </a:solidFill>
          <a:ln w="12700">
            <a:solidFill>
              <a:srgbClr val="3D4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68337" y="6949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5A6878"/>
                </a:solidFill>
                <a:latin typeface="Bahnschrift SemiBold"/>
              </a:rPr>
              <a:t>GATEWAY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72803" y="583844"/>
            <a:ext cx="1083106" cy="12700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063990" y="548640"/>
            <a:ext cx="77724" cy="77724"/>
          </a:xfrm>
          <a:prstGeom prst="rect">
            <a:avLst/>
          </a:prstGeom>
          <a:solidFill>
            <a:srgbClr val="0D1117"/>
          </a:solidFill>
          <a:ln w="12700">
            <a:solidFill>
              <a:srgbClr val="3D4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91347" y="6949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5A6878"/>
                </a:solidFill>
                <a:latin typeface="Bahnschrift SemiBold"/>
              </a:rPr>
              <a:t>BROKER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95813" y="583844"/>
            <a:ext cx="1083106" cy="12700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287000" y="548640"/>
            <a:ext cx="77724" cy="77724"/>
          </a:xfrm>
          <a:prstGeom prst="rect">
            <a:avLst/>
          </a:prstGeom>
          <a:solidFill>
            <a:srgbClr val="0D1117"/>
          </a:solidFill>
          <a:ln w="12700">
            <a:solidFill>
              <a:srgbClr val="3D4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14357" y="6949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5A6878"/>
                </a:solidFill>
                <a:latin typeface="Bahnschrift SemiBold"/>
              </a:rPr>
              <a:t>PHONE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510009" y="548640"/>
            <a:ext cx="77724" cy="77724"/>
          </a:xfrm>
          <a:prstGeom prst="rect">
            <a:avLst/>
          </a:prstGeom>
          <a:solidFill>
            <a:srgbClr val="63D2E8"/>
          </a:solidFill>
          <a:ln w="12700">
            <a:solidFill>
              <a:srgbClr val="63D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37367" y="6949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3D2E8"/>
                </a:solidFill>
                <a:latin typeface="Bahnschrift SemiBold"/>
              </a:rPr>
              <a:t>NET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1225296"/>
            <a:ext cx="10908792" cy="9525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1220724"/>
            <a:ext cx="566928" cy="25400"/>
          </a:xfrm>
          <a:prstGeom prst="rect">
            <a:avLst/>
          </a:prstGeom>
          <a:solidFill>
            <a:srgbClr val="C89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1" name="Picture 20" descr="mnist-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6537960" cy="81017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40080" y="2487168"/>
            <a:ext cx="6537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5A6878"/>
                </a:solidFill>
                <a:latin typeface="Consolas"/>
              </a:rPr>
              <a:t>real samples, read straight out of data/t10k-images-idx3-ubyte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89520" y="1481328"/>
            <a:ext cx="3959352" cy="1298448"/>
          </a:xfrm>
          <a:prstGeom prst="rect">
            <a:avLst/>
          </a:prstGeom>
          <a:solidFill>
            <a:srgbClr val="161C24"/>
          </a:solidFill>
          <a:ln w="12700">
            <a:solidFill>
              <a:srgbClr val="2C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589520" y="1481328"/>
            <a:ext cx="3959352" cy="31750"/>
          </a:xfrm>
          <a:prstGeom prst="rect">
            <a:avLst/>
          </a:prstGeom>
          <a:solidFill>
            <a:srgbClr val="C89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27264" y="1664208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C89A5B"/>
                </a:solidFill>
                <a:latin typeface="Bahnschrift SemiBold"/>
              </a:rPr>
              <a:t>TEST ACCURACY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27264" y="1920240"/>
            <a:ext cx="3566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800" b="0" i="0">
                <a:solidFill>
                  <a:srgbClr val="C89A5B"/>
                </a:solidFill>
                <a:latin typeface="Consolas"/>
              </a:rPr>
              <a:t>97.65 %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49840" y="2157984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5A6878"/>
                </a:solidFill>
                <a:latin typeface="Consolas"/>
              </a:rPr>
              <a:t>10 000 unseen</a:t>
            </a:r>
          </a:p>
        </p:txBody>
      </p:sp>
      <p:pic>
        <p:nvPicPr>
          <p:cNvPr id="28" name="Picture 27" descr="mlp-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926080"/>
            <a:ext cx="6537960" cy="258077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589520" y="3017520"/>
            <a:ext cx="39593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C89A5B"/>
                </a:solidFill>
                <a:latin typeface="Bahnschrift SemiBold"/>
              </a:rPr>
              <a:t>WHY THIS SHAPE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589520" y="3273552"/>
            <a:ext cx="3959352" cy="9525"/>
          </a:xfrm>
          <a:prstGeom prst="rect">
            <a:avLst/>
          </a:prstGeom>
          <a:solidFill>
            <a:srgbClr val="3D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89520" y="3456432"/>
            <a:ext cx="3959352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050" b="1">
                <a:solidFill>
                  <a:srgbClr val="C89A5B"/>
                </a:solidFill>
                <a:latin typeface="Consolas"/>
              </a:rPr>
              <a:t>— </a:t>
            </a:r>
            <a:r>
              <a:rPr sz="1050" b="1">
                <a:solidFill>
                  <a:srgbClr val="E6EDF3"/>
                </a:solidFill>
                <a:latin typeface="Segoe UI"/>
              </a:rPr>
              <a:t>784 in</a:t>
            </a:r>
            <a:r>
              <a:rPr sz="1050" b="0">
                <a:solidFill>
                  <a:srgbClr val="8494A6"/>
                </a:solidFill>
                <a:latin typeface="Segoe UI"/>
              </a:rPr>
              <a:t>  28 × 28 pixels flattened and divided by 255. No convolution, no augmentation at train time.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050" b="1">
                <a:solidFill>
                  <a:srgbClr val="C89A5B"/>
                </a:solidFill>
                <a:latin typeface="Consolas"/>
              </a:rPr>
              <a:t>— </a:t>
            </a:r>
            <a:r>
              <a:rPr sz="1050" b="1">
                <a:solidFill>
                  <a:srgbClr val="E6EDF3"/>
                </a:solidFill>
                <a:latin typeface="Segoe UI"/>
              </a:rPr>
              <a:t>128 hidden, ReLU</a:t>
            </a:r>
            <a:r>
              <a:rPr sz="1050" b="0">
                <a:solidFill>
                  <a:srgbClr val="8494A6"/>
                </a:solidFill>
                <a:latin typeface="Segoe UI"/>
              </a:rPr>
              <a:t>  wide enough to learn stroke parts, small enough that the whole weight file is 407 KB and fits in a phone asset.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050" b="1">
                <a:solidFill>
                  <a:srgbClr val="C89A5B"/>
                </a:solidFill>
                <a:latin typeface="Consolas"/>
              </a:rPr>
              <a:t>— </a:t>
            </a:r>
            <a:r>
              <a:rPr sz="1050" b="1">
                <a:solidFill>
                  <a:srgbClr val="E6EDF3"/>
                </a:solidFill>
                <a:latin typeface="Segoe UI"/>
              </a:rPr>
              <a:t>10 out, softmax</a:t>
            </a:r>
            <a:r>
              <a:rPr sz="1050" b="0">
                <a:solidFill>
                  <a:srgbClr val="8494A6"/>
                </a:solidFill>
                <a:latin typeface="Segoe UI"/>
              </a:rPr>
              <a:t>  ten probabilities that sum to one — which is what makes a confidence gate meaningful later.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5577840"/>
            <a:ext cx="6537960" cy="9525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742432"/>
            <a:ext cx="6537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8494A6"/>
                </a:solidFill>
                <a:latin typeface="Segoe UI"/>
              </a:rPr>
              <a:t>Written from scratch: no TensorFlow, no PyTorch, no BLAS. Roughly 900 lines of C++17, every derivative derived by hand and checked numerically.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6382512"/>
            <a:ext cx="10908792" cy="9525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649224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5A6878"/>
                </a:solidFill>
                <a:latin typeface="Consolas"/>
              </a:rPr>
              <a:t>OSOS · DKM-440 remote meter reading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77272" y="6492240"/>
            <a:ext cx="1371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5A6878"/>
                </a:solidFill>
                <a:latin typeface="Consolas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5852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C89A5B"/>
                </a:solidFill>
                <a:latin typeface="Consolas"/>
              </a:rPr>
              <a:t>MX-1 AND MX-2 — THE SEAM BETWEEN THE TWO SPECS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93776"/>
            <a:ext cx="5870448" cy="64008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0" i="0">
                <a:solidFill>
                  <a:srgbClr val="E6EDF3"/>
                </a:solidFill>
                <a:latin typeface="Bahnschrift SemiBold"/>
              </a:rPr>
              <a:t>From the trainer to the phone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726783" y="583844"/>
            <a:ext cx="1083106" cy="12700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17970" y="548640"/>
            <a:ext cx="77724" cy="77724"/>
          </a:xfrm>
          <a:prstGeom prst="rect">
            <a:avLst/>
          </a:prstGeom>
          <a:solidFill>
            <a:srgbClr val="0D1117"/>
          </a:solidFill>
          <a:ln w="12700">
            <a:solidFill>
              <a:srgbClr val="3D4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45327" y="6949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5A6878"/>
                </a:solidFill>
                <a:latin typeface="Bahnschrift SemiBold"/>
              </a:rPr>
              <a:t>METER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7949793" y="583844"/>
            <a:ext cx="1083106" cy="12700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840979" y="548640"/>
            <a:ext cx="77724" cy="77724"/>
          </a:xfrm>
          <a:prstGeom prst="rect">
            <a:avLst/>
          </a:prstGeom>
          <a:solidFill>
            <a:srgbClr val="0D1117"/>
          </a:solidFill>
          <a:ln w="12700">
            <a:solidFill>
              <a:srgbClr val="3D4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68337" y="6949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5A6878"/>
                </a:solidFill>
                <a:latin typeface="Bahnschrift SemiBold"/>
              </a:rPr>
              <a:t>GATEWAY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72803" y="583844"/>
            <a:ext cx="1083106" cy="12700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063990" y="548640"/>
            <a:ext cx="77724" cy="77724"/>
          </a:xfrm>
          <a:prstGeom prst="rect">
            <a:avLst/>
          </a:prstGeom>
          <a:solidFill>
            <a:srgbClr val="0D1117"/>
          </a:solidFill>
          <a:ln w="12700">
            <a:solidFill>
              <a:srgbClr val="3D4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91347" y="6949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5A6878"/>
                </a:solidFill>
                <a:latin typeface="Bahnschrift SemiBold"/>
              </a:rPr>
              <a:t>BROKER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95813" y="583844"/>
            <a:ext cx="1083106" cy="12700"/>
          </a:xfrm>
          <a:prstGeom prst="rect">
            <a:avLst/>
          </a:prstGeom>
          <a:solidFill>
            <a:srgbClr val="2E7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287000" y="548640"/>
            <a:ext cx="77724" cy="77724"/>
          </a:xfrm>
          <a:prstGeom prst="rect">
            <a:avLst/>
          </a:prstGeom>
          <a:solidFill>
            <a:srgbClr val="63D2E8"/>
          </a:solidFill>
          <a:ln w="12700">
            <a:solidFill>
              <a:srgbClr val="63D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14357" y="6949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3D2E8"/>
                </a:solidFill>
                <a:latin typeface="Bahnschrift SemiBold"/>
              </a:rPr>
              <a:t>PHONE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510009" y="548640"/>
            <a:ext cx="77724" cy="77724"/>
          </a:xfrm>
          <a:prstGeom prst="rect">
            <a:avLst/>
          </a:prstGeom>
          <a:solidFill>
            <a:srgbClr val="63D2E8"/>
          </a:solidFill>
          <a:ln w="12700">
            <a:solidFill>
              <a:srgbClr val="63D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37367" y="6949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3D2E8"/>
                </a:solidFill>
                <a:latin typeface="Bahnschrift SemiBold"/>
              </a:rPr>
              <a:t>NET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1225296"/>
            <a:ext cx="10908792" cy="9525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1220724"/>
            <a:ext cx="566928" cy="25400"/>
          </a:xfrm>
          <a:prstGeom prst="rect">
            <a:avLst/>
          </a:prstGeom>
          <a:solidFill>
            <a:srgbClr val="C89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1499616"/>
            <a:ext cx="1090879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C89A5B"/>
                </a:solidFill>
                <a:latin typeface="Bahnschrift SemiBold"/>
              </a:rPr>
              <a:t>ONE STROKE, EIGHT STEPS — AND TWO INDEPENDENT IMPLEMENTATIONS OF IT</a:t>
            </a:r>
          </a:p>
        </p:txBody>
      </p:sp>
      <p:pic>
        <p:nvPicPr>
          <p:cNvPr id="22" name="Picture 21" descr="mnist-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92224"/>
            <a:ext cx="7406640" cy="150447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40080" y="3310128"/>
            <a:ext cx="7406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5A6878"/>
                </a:solidFill>
                <a:latin typeface="Consolas"/>
              </a:rPr>
              <a:t>280×280 canvas · stroke 20 round cap · R-channel · threshold 25 · ink ≥ 30 · fit 20 px block-average · centre-of-mass in 28×28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21040" y="1737360"/>
            <a:ext cx="3227832" cy="1700784"/>
          </a:xfrm>
          <a:prstGeom prst="rect">
            <a:avLst/>
          </a:prstGeom>
          <a:solidFill>
            <a:srgbClr val="161C24"/>
          </a:solidFill>
          <a:ln w="12700">
            <a:solidFill>
              <a:srgbClr val="2C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321040" y="1737360"/>
            <a:ext cx="3227832" cy="31750"/>
          </a:xfrm>
          <a:prstGeom prst="rect">
            <a:avLst/>
          </a:prstGeom>
          <a:solidFill>
            <a:srgbClr val="4AD9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22208" y="1920240"/>
            <a:ext cx="2834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4AD991"/>
                </a:solidFill>
                <a:latin typeface="Bahnschrift SemiBold"/>
              </a:rPr>
              <a:t>MX-1  WEIGHT PARITY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22208" y="2212848"/>
            <a:ext cx="28346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000" b="0" i="0">
                <a:solidFill>
                  <a:srgbClr val="8494A6"/>
                </a:solidFill>
                <a:latin typeface="Segoe UI"/>
              </a:rPr>
              <a:t>w.bin exports to nnc-json-1 (base64 LE float32) and loads bit-identically in both runtimes — www/nn.js and Android Weights.kt. One trained artifact, two consumers, zero re-training.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3785615"/>
            <a:ext cx="10908792" cy="9525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" y="3986784"/>
            <a:ext cx="6903720" cy="1956816"/>
          </a:xfrm>
          <a:prstGeom prst="rect">
            <a:avLst/>
          </a:prstGeom>
          <a:solidFill>
            <a:srgbClr val="161C24"/>
          </a:solidFill>
          <a:ln w="12700">
            <a:solidFill>
              <a:srgbClr val="2C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" y="3986784"/>
            <a:ext cx="6903720" cy="31750"/>
          </a:xfrm>
          <a:prstGeom prst="rect">
            <a:avLst/>
          </a:prstGeom>
          <a:solidFill>
            <a:srgbClr val="FF4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7824" y="4187952"/>
            <a:ext cx="6400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FF4438"/>
                </a:solidFill>
                <a:latin typeface="Bahnschrift SemiBold"/>
              </a:rPr>
              <a:t>MX-2 IS THE ONE REAL PIECE OF TECHNICAL DEBT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" y="4480560"/>
            <a:ext cx="6400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  <a:spcAft>
                <a:spcPts val="0"/>
              </a:spcAft>
            </a:pPr>
            <a:r>
              <a:rPr sz="1200" b="0" i="0">
                <a:solidFill>
                  <a:srgbClr val="E6EDF3"/>
                </a:solidFill>
                <a:latin typeface="Segoe UI"/>
              </a:rPr>
              <a:t>draw.js and Preprocess.kt must produce byte-identical 784-vectors from the same stroke. Two hand-ported implementations of an eight-step pixel pipeline — and no test pinning them together.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7824" y="5285232"/>
            <a:ext cx="6400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 i="0">
                <a:solidFill>
                  <a:srgbClr val="8494A6"/>
                </a:solidFill>
                <a:latin typeface="Segoe UI"/>
              </a:rPr>
              <a:t>A divergence would not crash anything. It would silently change which command fires. One golden-vector fixture — a single stroke and its expected 784 bytes, asserted in both runtimes — closes it.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0" y="3986784"/>
            <a:ext cx="3776472" cy="1956816"/>
          </a:xfrm>
          <a:prstGeom prst="rect">
            <a:avLst/>
          </a:prstGeom>
          <a:solidFill>
            <a:srgbClr val="161C24"/>
          </a:solidFill>
          <a:ln w="12700">
            <a:solidFill>
              <a:srgbClr val="2C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0" y="3986784"/>
            <a:ext cx="3776472" cy="31750"/>
          </a:xfrm>
          <a:prstGeom prst="rect">
            <a:avLst/>
          </a:prstGeom>
          <a:solidFill>
            <a:srgbClr val="C89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91856" y="4187952"/>
            <a:ext cx="3383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C89A5B"/>
                </a:solidFill>
                <a:latin typeface="Bahnschrift SemiBold"/>
              </a:rPr>
              <a:t>MX-5  ROUND TRIP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91856" y="4498848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C89A5B"/>
                </a:solidFill>
                <a:latin typeface="Consolas"/>
              </a:rPr>
              <a:t>label,p0..p783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91856" y="4882896"/>
            <a:ext cx="3383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000" b="0" i="0">
                <a:solidFill>
                  <a:srgbClr val="8494A6"/>
                </a:solidFill>
                <a:latin typeface="Segoe UI"/>
              </a:rPr>
              <a:t>Symbols drawn on the phone export in exactly the CSV format data_mnist.cpp already ingests, so the full network can be retrained on personal symbols with a wider output layer.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6382512"/>
            <a:ext cx="10908792" cy="9525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649224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5A6878"/>
                </a:solidFill>
                <a:latin typeface="Consolas"/>
              </a:rPr>
              <a:t>OSOS · DKM-440 remote meter reading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77272" y="6492240"/>
            <a:ext cx="1371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5A6878"/>
                </a:solidFill>
                <a:latin typeface="Consolas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3D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2395728"/>
            <a:ext cx="8595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63D2E8"/>
                </a:solidFill>
                <a:latin typeface="Consolas"/>
              </a:rPr>
              <a:t>PART FOUR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2724912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4400" b="0" i="0">
                <a:solidFill>
                  <a:srgbClr val="E6EDF3"/>
                </a:solidFill>
                <a:latin typeface="Bahnschrift SemiBold"/>
              </a:rPr>
              <a:t>The phone is the head-end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3913632"/>
            <a:ext cx="1371600" cy="25400"/>
          </a:xfrm>
          <a:prstGeom prst="rect">
            <a:avLst/>
          </a:prstGeom>
          <a:solidFill>
            <a:srgbClr val="63D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4224528"/>
            <a:ext cx="749807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 i="0">
                <a:solidFill>
                  <a:srgbClr val="8494A6"/>
                </a:solidFill>
                <a:latin typeface="Segoe UI"/>
              </a:rPr>
              <a:t>Live values, alarm rules, and a drawing pad that turns a symbol into a command — with a gate in front of 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726783" y="6024524"/>
            <a:ext cx="1083106" cy="12700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17970" y="5989320"/>
            <a:ext cx="77724" cy="77724"/>
          </a:xfrm>
          <a:prstGeom prst="rect">
            <a:avLst/>
          </a:prstGeom>
          <a:solidFill>
            <a:srgbClr val="0D1117"/>
          </a:solidFill>
          <a:ln w="12700">
            <a:solidFill>
              <a:srgbClr val="3D4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45327" y="613562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5A6878"/>
                </a:solidFill>
                <a:latin typeface="Bahnschrift SemiBold"/>
              </a:rPr>
              <a:t>METER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49793" y="6024524"/>
            <a:ext cx="1083106" cy="12700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40979" y="5989320"/>
            <a:ext cx="77724" cy="77724"/>
          </a:xfrm>
          <a:prstGeom prst="rect">
            <a:avLst/>
          </a:prstGeom>
          <a:solidFill>
            <a:srgbClr val="0D1117"/>
          </a:solidFill>
          <a:ln w="12700">
            <a:solidFill>
              <a:srgbClr val="3D4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68337" y="613562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5A6878"/>
                </a:solidFill>
                <a:latin typeface="Bahnschrift SemiBold"/>
              </a:rPr>
              <a:t>GATEWAY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72803" y="6024524"/>
            <a:ext cx="1083106" cy="12700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063990" y="5989320"/>
            <a:ext cx="77724" cy="77724"/>
          </a:xfrm>
          <a:prstGeom prst="rect">
            <a:avLst/>
          </a:prstGeom>
          <a:solidFill>
            <a:srgbClr val="0D1117"/>
          </a:solidFill>
          <a:ln w="12700">
            <a:solidFill>
              <a:srgbClr val="3D4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91347" y="613562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5A6878"/>
                </a:solidFill>
                <a:latin typeface="Bahnschrift SemiBold"/>
              </a:rPr>
              <a:t>BROKER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395813" y="6024524"/>
            <a:ext cx="1083106" cy="12700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287000" y="5989320"/>
            <a:ext cx="77724" cy="77724"/>
          </a:xfrm>
          <a:prstGeom prst="rect">
            <a:avLst/>
          </a:prstGeom>
          <a:solidFill>
            <a:srgbClr val="63D2E8"/>
          </a:solidFill>
          <a:ln w="12700">
            <a:solidFill>
              <a:srgbClr val="63D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14357" y="613562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3D2E8"/>
                </a:solidFill>
                <a:latin typeface="Bahnschrift SemiBold"/>
              </a:rPr>
              <a:t>PHONE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510009" y="5989320"/>
            <a:ext cx="77724" cy="77724"/>
          </a:xfrm>
          <a:prstGeom prst="rect">
            <a:avLst/>
          </a:prstGeom>
          <a:solidFill>
            <a:srgbClr val="0D1117"/>
          </a:solidFill>
          <a:ln w="12700">
            <a:solidFill>
              <a:srgbClr val="3D4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37367" y="613562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5A6878"/>
                </a:solidFill>
                <a:latin typeface="Bahnschrift SemiBold"/>
              </a:rPr>
              <a:t>NET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6382512"/>
            <a:ext cx="10908792" cy="9525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649224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5A6878"/>
                </a:solidFill>
                <a:latin typeface="Consolas"/>
              </a:rPr>
              <a:t>OSOS · DKM-440 remote meter reading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77272" y="6492240"/>
            <a:ext cx="1371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5A6878"/>
                </a:solidFill>
                <a:latin typeface="Consolas"/>
              </a:rP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5852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3D2E8"/>
                </a:solidFill>
                <a:latin typeface="Consolas"/>
              </a:rPr>
              <a:t>KOTLIN · JETPACK COMPOSE · HIVEMQ MQTT CLIENT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93776"/>
            <a:ext cx="5870448" cy="64008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0" i="0">
                <a:solidFill>
                  <a:srgbClr val="E6EDF3"/>
                </a:solidFill>
                <a:latin typeface="Bahnschrift SemiBold"/>
              </a:rPr>
              <a:t>osos-hmi</a:t>
            </a:r>
          </a:p>
        </p:txBody>
      </p:sp>
      <p:sp>
        <p:nvSpPr>
          <p:cNvPr id="5" name="Rectangle 4"/>
          <p:cNvSpPr/>
          <p:nvPr/>
        </p:nvSpPr>
        <p:spPr>
          <a:xfrm>
            <a:off x="6726783" y="583844"/>
            <a:ext cx="1083106" cy="12700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17970" y="548640"/>
            <a:ext cx="77724" cy="77724"/>
          </a:xfrm>
          <a:prstGeom prst="rect">
            <a:avLst/>
          </a:prstGeom>
          <a:solidFill>
            <a:srgbClr val="0D1117"/>
          </a:solidFill>
          <a:ln w="12700">
            <a:solidFill>
              <a:srgbClr val="3D4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45327" y="6949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5A6878"/>
                </a:solidFill>
                <a:latin typeface="Bahnschrift SemiBold"/>
              </a:rPr>
              <a:t>METER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7949793" y="583844"/>
            <a:ext cx="1083106" cy="12700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840979" y="548640"/>
            <a:ext cx="77724" cy="77724"/>
          </a:xfrm>
          <a:prstGeom prst="rect">
            <a:avLst/>
          </a:prstGeom>
          <a:solidFill>
            <a:srgbClr val="0D1117"/>
          </a:solidFill>
          <a:ln w="12700">
            <a:solidFill>
              <a:srgbClr val="3D4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68337" y="6949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5A6878"/>
                </a:solidFill>
                <a:latin typeface="Bahnschrift SemiBold"/>
              </a:rPr>
              <a:t>GATEWAY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72803" y="583844"/>
            <a:ext cx="1083106" cy="12700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063990" y="548640"/>
            <a:ext cx="77724" cy="77724"/>
          </a:xfrm>
          <a:prstGeom prst="rect">
            <a:avLst/>
          </a:prstGeom>
          <a:solidFill>
            <a:srgbClr val="0D1117"/>
          </a:solidFill>
          <a:ln w="12700">
            <a:solidFill>
              <a:srgbClr val="3D4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91347" y="6949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5A6878"/>
                </a:solidFill>
                <a:latin typeface="Bahnschrift SemiBold"/>
              </a:rPr>
              <a:t>BROKER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95813" y="583844"/>
            <a:ext cx="1083106" cy="12700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287000" y="548640"/>
            <a:ext cx="77724" cy="77724"/>
          </a:xfrm>
          <a:prstGeom prst="rect">
            <a:avLst/>
          </a:prstGeom>
          <a:solidFill>
            <a:srgbClr val="63D2E8"/>
          </a:solidFill>
          <a:ln w="12700">
            <a:solidFill>
              <a:srgbClr val="63D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14357" y="6949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3D2E8"/>
                </a:solidFill>
                <a:latin typeface="Bahnschrift SemiBold"/>
              </a:rPr>
              <a:t>PHONE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510009" y="548640"/>
            <a:ext cx="77724" cy="77724"/>
          </a:xfrm>
          <a:prstGeom prst="rect">
            <a:avLst/>
          </a:prstGeom>
          <a:solidFill>
            <a:srgbClr val="0D1117"/>
          </a:solidFill>
          <a:ln w="12700">
            <a:solidFill>
              <a:srgbClr val="3D4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37367" y="6949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5A6878"/>
                </a:solidFill>
                <a:latin typeface="Bahnschrift SemiBold"/>
              </a:rPr>
              <a:t>NET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1225296"/>
            <a:ext cx="10908792" cy="9525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1220724"/>
            <a:ext cx="566928" cy="25400"/>
          </a:xfrm>
          <a:prstGeom prst="rect">
            <a:avLst/>
          </a:prstGeom>
          <a:solidFill>
            <a:srgbClr val="63D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1" name="Picture 20" descr="phone-fle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72768"/>
            <a:ext cx="1645920" cy="34015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40080" y="5157216"/>
            <a:ext cx="2057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63D2E8"/>
                </a:solidFill>
                <a:latin typeface="Bahnschrift SemiBold"/>
              </a:rPr>
              <a:t>FLEET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431536"/>
            <a:ext cx="2057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50" b="0" i="0">
                <a:solidFill>
                  <a:srgbClr val="8494A6"/>
                </a:solidFill>
                <a:latin typeface="Segoe UI"/>
              </a:rPr>
              <a:t>Every modem and analyzer, in the operator's own folders. Asleep modems dim. One master sleep switch.</a:t>
            </a:r>
          </a:p>
        </p:txBody>
      </p:sp>
      <p:pic>
        <p:nvPicPr>
          <p:cNvPr id="24" name="Picture 23" descr="phone-mod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1838" y="1572768"/>
            <a:ext cx="1645920" cy="340156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2821838" y="5157216"/>
            <a:ext cx="2057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FF4438"/>
                </a:solidFill>
                <a:latin typeface="Bahnschrift SemiBold"/>
              </a:rPr>
              <a:t>MODEM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21838" y="5431536"/>
            <a:ext cx="2057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50" b="0" i="0">
                <a:solidFill>
                  <a:srgbClr val="8494A6"/>
                </a:solidFill>
                <a:latin typeface="Segoe UI"/>
              </a:rPr>
              <a:t>One modem's observed state: sleep, interval, and four load channels switched from the phone.</a:t>
            </a:r>
          </a:p>
        </p:txBody>
      </p:sp>
      <p:pic>
        <p:nvPicPr>
          <p:cNvPr id="27" name="Picture 26" descr="phone-moni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3596" y="1572768"/>
            <a:ext cx="1645920" cy="340156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003596" y="5157216"/>
            <a:ext cx="2057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63D2E8"/>
                </a:solidFill>
                <a:latin typeface="Bahnschrift SemiBold"/>
              </a:rPr>
              <a:t>MONITOR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03596" y="5431536"/>
            <a:ext cx="2057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50" b="0" i="0">
                <a:solidFill>
                  <a:srgbClr val="8494A6"/>
                </a:solidFill>
                <a:latin typeface="Segoe UI"/>
              </a:rPr>
              <a:t>Five tile views for the selected analyzer; tap a tile for its sparkline over the last 720 frames.</a:t>
            </a:r>
          </a:p>
        </p:txBody>
      </p:sp>
      <p:pic>
        <p:nvPicPr>
          <p:cNvPr id="30" name="Picture 29" descr="phone-dra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5355" y="1572768"/>
            <a:ext cx="1645920" cy="340156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185355" y="5157216"/>
            <a:ext cx="2057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C89A5B"/>
                </a:solidFill>
                <a:latin typeface="Bahnschrift SemiBold"/>
              </a:rPr>
              <a:t>DRAW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85355" y="5431536"/>
            <a:ext cx="2057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50" b="0" i="0">
                <a:solidFill>
                  <a:srgbClr val="8494A6"/>
                </a:solidFill>
                <a:latin typeface="Segoe UI"/>
              </a:rPr>
              <a:t>650 ms of pen-up idle triggers recognition, so multi-stroke symbols still work. Every result opens the inspector.</a:t>
            </a:r>
          </a:p>
        </p:txBody>
      </p:sp>
      <p:pic>
        <p:nvPicPr>
          <p:cNvPr id="33" name="Picture 32" descr="phone-alarm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67113" y="1572768"/>
            <a:ext cx="1645920" cy="340156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9367113" y="5157216"/>
            <a:ext cx="2057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FFA928"/>
                </a:solidFill>
                <a:latin typeface="Bahnschrift SemiBold"/>
              </a:rPr>
              <a:t>ALARMS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67113" y="5431536"/>
            <a:ext cx="2057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50" b="0" i="0">
                <a:solidFill>
                  <a:srgbClr val="8494A6"/>
                </a:solidFill>
                <a:latin typeface="Segoe UI"/>
              </a:rPr>
              <a:t>Rules on the telemetry stream. Muted while asleep — still recorded, and returned as a digest on wake.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473952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5A6878"/>
                </a:solidFill>
                <a:latin typeface="Consolas"/>
              </a:rPr>
              <a:t/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6382512"/>
            <a:ext cx="10908792" cy="9525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649224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5A6878"/>
                </a:solidFill>
                <a:latin typeface="Consolas"/>
              </a:rPr>
              <a:t>osos-hmi 0.3.0 · screens redrawn from the Compose source, not photographed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77272" y="6492240"/>
            <a:ext cx="1371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5A6878"/>
                </a:solidFill>
                <a:latin typeface="Consolas"/>
              </a:rPr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5852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3D2E8"/>
                </a:solidFill>
                <a:latin typeface="Consolas"/>
              </a:rPr>
              <a:t>PROTOCOL V2 · MANY MODEMS × MANY ANALYZERS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93776"/>
            <a:ext cx="5870448" cy="64008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0" i="0">
                <a:solidFill>
                  <a:srgbClr val="E6EDF3"/>
                </a:solidFill>
                <a:latin typeface="Bahnschrift SemiBold"/>
              </a:rPr>
              <a:t>From one meter to a fleet</a:t>
            </a:r>
          </a:p>
        </p:txBody>
      </p:sp>
      <p:sp>
        <p:nvSpPr>
          <p:cNvPr id="5" name="Rectangle 4"/>
          <p:cNvSpPr/>
          <p:nvPr/>
        </p:nvSpPr>
        <p:spPr>
          <a:xfrm>
            <a:off x="6726783" y="583844"/>
            <a:ext cx="1083106" cy="12700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17970" y="548640"/>
            <a:ext cx="77724" cy="77724"/>
          </a:xfrm>
          <a:prstGeom prst="rect">
            <a:avLst/>
          </a:prstGeom>
          <a:solidFill>
            <a:srgbClr val="0D1117"/>
          </a:solidFill>
          <a:ln w="12700">
            <a:solidFill>
              <a:srgbClr val="3D4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45327" y="6949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5A6878"/>
                </a:solidFill>
                <a:latin typeface="Bahnschrift SemiBold"/>
              </a:rPr>
              <a:t>METER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7949793" y="583844"/>
            <a:ext cx="1083106" cy="12700"/>
          </a:xfrm>
          <a:prstGeom prst="rect">
            <a:avLst/>
          </a:prstGeom>
          <a:solidFill>
            <a:srgbClr val="2E7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840979" y="548640"/>
            <a:ext cx="77724" cy="77724"/>
          </a:xfrm>
          <a:prstGeom prst="rect">
            <a:avLst/>
          </a:prstGeom>
          <a:solidFill>
            <a:srgbClr val="63D2E8"/>
          </a:solidFill>
          <a:ln w="12700">
            <a:solidFill>
              <a:srgbClr val="63D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68337" y="6949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3D2E8"/>
                </a:solidFill>
                <a:latin typeface="Bahnschrift SemiBold"/>
              </a:rPr>
              <a:t>GATEWAY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72803" y="583844"/>
            <a:ext cx="1083106" cy="12700"/>
          </a:xfrm>
          <a:prstGeom prst="rect">
            <a:avLst/>
          </a:prstGeom>
          <a:solidFill>
            <a:srgbClr val="2E7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063990" y="548640"/>
            <a:ext cx="77724" cy="77724"/>
          </a:xfrm>
          <a:prstGeom prst="rect">
            <a:avLst/>
          </a:prstGeom>
          <a:solidFill>
            <a:srgbClr val="63D2E8"/>
          </a:solidFill>
          <a:ln w="12700">
            <a:solidFill>
              <a:srgbClr val="63D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91347" y="6949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3D2E8"/>
                </a:solidFill>
                <a:latin typeface="Bahnschrift SemiBold"/>
              </a:rPr>
              <a:t>BROKER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95813" y="583844"/>
            <a:ext cx="1083106" cy="12700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287000" y="548640"/>
            <a:ext cx="77724" cy="77724"/>
          </a:xfrm>
          <a:prstGeom prst="rect">
            <a:avLst/>
          </a:prstGeom>
          <a:solidFill>
            <a:srgbClr val="63D2E8"/>
          </a:solidFill>
          <a:ln w="12700">
            <a:solidFill>
              <a:srgbClr val="63D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14357" y="6949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3D2E8"/>
                </a:solidFill>
                <a:latin typeface="Bahnschrift SemiBold"/>
              </a:rPr>
              <a:t>PHONE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510009" y="548640"/>
            <a:ext cx="77724" cy="77724"/>
          </a:xfrm>
          <a:prstGeom prst="rect">
            <a:avLst/>
          </a:prstGeom>
          <a:solidFill>
            <a:srgbClr val="0D1117"/>
          </a:solidFill>
          <a:ln w="12700">
            <a:solidFill>
              <a:srgbClr val="3D4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37367" y="6949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5A6878"/>
                </a:solidFill>
                <a:latin typeface="Bahnschrift SemiBold"/>
              </a:rPr>
              <a:t>NET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1225296"/>
            <a:ext cx="10908792" cy="9525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1220724"/>
            <a:ext cx="566928" cy="25400"/>
          </a:xfrm>
          <a:prstGeom prst="rect">
            <a:avLst/>
          </a:prstGeom>
          <a:solidFill>
            <a:srgbClr val="63D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1536192"/>
            <a:ext cx="109087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900" b="0" i="0">
                <a:solidFill>
                  <a:srgbClr val="63D2E8"/>
                </a:solidFill>
                <a:latin typeface="Bahnschrift SemiBold"/>
              </a:rPr>
              <a:t>The machine owns the addresses. The operator owns the names.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1938528"/>
            <a:ext cx="109087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8494A6"/>
                </a:solidFill>
                <a:latin typeface="Segoe UI"/>
              </a:rPr>
              <a:t>A modem announces what it actually polls on a retained registry topic; the app annotates it with names and folders on a separate retained topic it alone owns. Two writers, two topics, no shared field — so a rename can never corrupt a Modbus address, and neither can win a race with the other.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2615184"/>
            <a:ext cx="10908792" cy="9525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2816352"/>
            <a:ext cx="2624328" cy="2212848"/>
          </a:xfrm>
          <a:prstGeom prst="rect">
            <a:avLst/>
          </a:prstGeom>
          <a:solidFill>
            <a:srgbClr val="161C24"/>
          </a:solidFill>
          <a:ln w="12700">
            <a:solidFill>
              <a:srgbClr val="2C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2816352"/>
            <a:ext cx="2624328" cy="31750"/>
          </a:xfrm>
          <a:prstGeom prst="rect">
            <a:avLst/>
          </a:prstGeom>
          <a:solidFill>
            <a:srgbClr val="63D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59" y="3017520"/>
            <a:ext cx="22585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Bahnschrift SemiBold"/>
              </a:rPr>
              <a:t>Multiple analyzers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" y="3310128"/>
            <a:ext cx="225856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63D2E8"/>
                </a:solidFill>
                <a:latin typeface="Consolas"/>
              </a:rPr>
              <a:t>FLAT IDS, FOLDERS AS METADATA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59" y="3584448"/>
            <a:ext cx="225856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000" b="0" i="0">
                <a:solidFill>
                  <a:srgbClr val="8494A6"/>
                </a:solidFill>
                <a:latin typeface="Segoe UI"/>
              </a:rPr>
              <a:t>an-01 stays an-01 for life. Names and folders live in MQTT, not in the topic, so a rename moves no data and breaks no history. The simulator runs 25 per modem; the ESP8266 is capped at 8 by its buffer.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96996" y="2816352"/>
            <a:ext cx="2624328" cy="2212848"/>
          </a:xfrm>
          <a:prstGeom prst="rect">
            <a:avLst/>
          </a:prstGeom>
          <a:solidFill>
            <a:srgbClr val="161C24"/>
          </a:solidFill>
          <a:ln w="12700">
            <a:solidFill>
              <a:srgbClr val="2C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396996" y="2816352"/>
            <a:ext cx="2624328" cy="31750"/>
          </a:xfrm>
          <a:prstGeom prst="rect">
            <a:avLst/>
          </a:prstGeom>
          <a:solidFill>
            <a:srgbClr val="C89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79876" y="3017520"/>
            <a:ext cx="22585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Bahnschrift SemiBold"/>
              </a:rPr>
              <a:t>Sleep mode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79876" y="3310128"/>
            <a:ext cx="225856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C89A5B"/>
                </a:solidFill>
                <a:latin typeface="Consolas"/>
              </a:rPr>
              <a:t>MUTE, NEVER DEAF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79876" y="3584448"/>
            <a:ext cx="225856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000" b="0" i="0">
                <a:solidFill>
                  <a:srgbClr val="8494A6"/>
                </a:solidFill>
                <a:latin typeface="Segoe UI"/>
              </a:rPr>
              <a:t>Alarms keep evaluating while asleep — only the notification is suppressed, and everything suppressed comes back as a digest on wake. Per-modem, plus one master switch. The overnight record survives the quiet.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53912" y="2816352"/>
            <a:ext cx="2624328" cy="2212848"/>
          </a:xfrm>
          <a:prstGeom prst="rect">
            <a:avLst/>
          </a:prstGeom>
          <a:solidFill>
            <a:srgbClr val="161C24"/>
          </a:solidFill>
          <a:ln w="12700">
            <a:solidFill>
              <a:srgbClr val="2C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53912" y="2816352"/>
            <a:ext cx="2624328" cy="31750"/>
          </a:xfrm>
          <a:prstGeom prst="rect">
            <a:avLst/>
          </a:prstGeom>
          <a:solidFill>
            <a:srgbClr val="C89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36792" y="3017520"/>
            <a:ext cx="22585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Bahnschrift SemiBold"/>
              </a:rPr>
              <a:t>Modem energy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36792" y="3310128"/>
            <a:ext cx="225856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C89A5B"/>
                </a:solidFill>
                <a:latin typeface="Consolas"/>
              </a:rPr>
              <a:t>NEVER DEEP SLEEP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36792" y="3584448"/>
            <a:ext cx="225856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000" b="0" i="0">
                <a:solidFill>
                  <a:srgbClr val="8494A6"/>
                </a:solidFill>
                <a:latin typeface="Segoe UI"/>
              </a:rPr>
              <a:t>Sleep means a 5 s → 300 s interval and a lower radio duty cycle, with the broker connection intact. Deep sleep would drop the very link the wake command arrives on, and fire the LWT — reporting the modem dead while it merely rested.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910828" y="2816352"/>
            <a:ext cx="2624328" cy="2212848"/>
          </a:xfrm>
          <a:prstGeom prst="rect">
            <a:avLst/>
          </a:prstGeom>
          <a:solidFill>
            <a:srgbClr val="161C24"/>
          </a:solidFill>
          <a:ln w="12700">
            <a:solidFill>
              <a:srgbClr val="2C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910828" y="2816352"/>
            <a:ext cx="2624328" cy="31750"/>
          </a:xfrm>
          <a:prstGeom prst="rect">
            <a:avLst/>
          </a:prstGeom>
          <a:solidFill>
            <a:srgbClr val="FF4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93707" y="3017520"/>
            <a:ext cx="22585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Bahnschrift SemiBold"/>
              </a:rPr>
              <a:t>Load control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93707" y="3310128"/>
            <a:ext cx="225856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FF4438"/>
                </a:solidFill>
                <a:latin typeface="Consolas"/>
              </a:rPr>
              <a:t>FOUR CHANNELS, OFF ON BOOT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93707" y="3584448"/>
            <a:ext cx="225856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000" b="0" i="0">
                <a:solidFill>
                  <a:srgbClr val="8494A6"/>
                </a:solidFill>
                <a:latin typeface="Segoe UI"/>
              </a:rPr>
              <a:t>Relay channels on the modem's own GPIO — not a meter register, so the DKM-440 command block stays untouched. Loads are never persisted: re-closing a contactor after a power cut has to be a decision, not a default.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5230368"/>
            <a:ext cx="1090879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4AD991"/>
                </a:solidFill>
                <a:latin typeface="Bahnschrift SemiBold"/>
              </a:rPr>
              <a:t>AND THE ONE THAT COSTS NOTHING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" y="5486400"/>
            <a:ext cx="10908792" cy="9525"/>
          </a:xfrm>
          <a:prstGeom prst="rect">
            <a:avLst/>
          </a:prstGeom>
          <a:solidFill>
            <a:srgbClr val="3D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" y="5705856"/>
            <a:ext cx="34747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4AD991"/>
                </a:solidFill>
                <a:latin typeface="Consolas"/>
              </a:rPr>
              <a:t>Versioned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5961888"/>
            <a:ext cx="34747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8494A6"/>
                </a:solidFill>
                <a:latin typeface="Segoe UI"/>
              </a:rPr>
              <a:t>every v2 payload carries "v": 2 — the legacy topics carry none and are v1 by definition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15968" y="5705856"/>
            <a:ext cx="34747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4AD991"/>
                </a:solidFill>
                <a:latin typeface="Consolas"/>
              </a:rPr>
              <a:t>Backward compatible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15968" y="5961888"/>
            <a:ext cx="34747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8494A6"/>
                </a:solidFill>
                <a:latin typeface="Segoe UI"/>
              </a:rPr>
              <a:t>the old gateway still renders, tagged v1, with no special case in the reducer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91855" y="5705856"/>
            <a:ext cx="34747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4AD991"/>
                </a:solidFill>
                <a:latin typeface="Consolas"/>
              </a:rPr>
              <a:t>Free rollback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991855" y="5961888"/>
            <a:ext cx="34747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8494A6"/>
                </a:solidFill>
                <a:latin typeface="Segoe UI"/>
              </a:rPr>
              <a:t>if the flash goes wrong the demo degrades to v1 rather than dying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0080" y="6382512"/>
            <a:ext cx="10908792" cy="9525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" y="649224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5A6878"/>
                </a:solidFill>
                <a:latin typeface="Consolas"/>
              </a:rPr>
              <a:t>OSOS · DKM-440 remote meter reading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77272" y="6492240"/>
            <a:ext cx="1371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5A6878"/>
                </a:solidFill>
                <a:latin typeface="Consolas"/>
              </a:rPr>
              <a:t>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5852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3D2E8"/>
                </a:solidFill>
                <a:latin typeface="Consolas"/>
              </a:rPr>
              <a:t>ONE JSON FILE IS THE SINGLE SOURCE OF TRUTH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93776"/>
            <a:ext cx="5870448" cy="64008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0" i="0">
                <a:solidFill>
                  <a:srgbClr val="E6EDF3"/>
                </a:solidFill>
                <a:latin typeface="Bahnschrift SemiBold"/>
              </a:rPr>
              <a:t>Adding a command</a:t>
            </a:r>
          </a:p>
        </p:txBody>
      </p:sp>
      <p:sp>
        <p:nvSpPr>
          <p:cNvPr id="5" name="Rectangle 4"/>
          <p:cNvSpPr/>
          <p:nvPr/>
        </p:nvSpPr>
        <p:spPr>
          <a:xfrm>
            <a:off x="6726783" y="583844"/>
            <a:ext cx="1083106" cy="12700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17970" y="548640"/>
            <a:ext cx="77724" cy="77724"/>
          </a:xfrm>
          <a:prstGeom prst="rect">
            <a:avLst/>
          </a:prstGeom>
          <a:solidFill>
            <a:srgbClr val="0D1117"/>
          </a:solidFill>
          <a:ln w="12700">
            <a:solidFill>
              <a:srgbClr val="3D4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45327" y="6949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5A6878"/>
                </a:solidFill>
                <a:latin typeface="Bahnschrift SemiBold"/>
              </a:rPr>
              <a:t>METER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7949793" y="583844"/>
            <a:ext cx="1083106" cy="12700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840979" y="548640"/>
            <a:ext cx="77724" cy="77724"/>
          </a:xfrm>
          <a:prstGeom prst="rect">
            <a:avLst/>
          </a:prstGeom>
          <a:solidFill>
            <a:srgbClr val="63D2E8"/>
          </a:solidFill>
          <a:ln w="12700">
            <a:solidFill>
              <a:srgbClr val="63D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68337" y="6949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3D2E8"/>
                </a:solidFill>
                <a:latin typeface="Bahnschrift SemiBold"/>
              </a:rPr>
              <a:t>GATEWAY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72803" y="583844"/>
            <a:ext cx="1083106" cy="12700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063990" y="548640"/>
            <a:ext cx="77724" cy="77724"/>
          </a:xfrm>
          <a:prstGeom prst="rect">
            <a:avLst/>
          </a:prstGeom>
          <a:solidFill>
            <a:srgbClr val="0D1117"/>
          </a:solidFill>
          <a:ln w="12700">
            <a:solidFill>
              <a:srgbClr val="3D4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91347" y="6949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5A6878"/>
                </a:solidFill>
                <a:latin typeface="Bahnschrift SemiBold"/>
              </a:rPr>
              <a:t>BROKER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95813" y="583844"/>
            <a:ext cx="1083106" cy="12700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287000" y="548640"/>
            <a:ext cx="77724" cy="77724"/>
          </a:xfrm>
          <a:prstGeom prst="rect">
            <a:avLst/>
          </a:prstGeom>
          <a:solidFill>
            <a:srgbClr val="63D2E8"/>
          </a:solidFill>
          <a:ln w="12700">
            <a:solidFill>
              <a:srgbClr val="63D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14357" y="6949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3D2E8"/>
                </a:solidFill>
                <a:latin typeface="Bahnschrift SemiBold"/>
              </a:rPr>
              <a:t>PHONE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510009" y="548640"/>
            <a:ext cx="77724" cy="77724"/>
          </a:xfrm>
          <a:prstGeom prst="rect">
            <a:avLst/>
          </a:prstGeom>
          <a:solidFill>
            <a:srgbClr val="0D1117"/>
          </a:solidFill>
          <a:ln w="12700">
            <a:solidFill>
              <a:srgbClr val="3D4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37367" y="6949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5A6878"/>
                </a:solidFill>
                <a:latin typeface="Bahnschrift SemiBold"/>
              </a:rPr>
              <a:t>NET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1225296"/>
            <a:ext cx="10908792" cy="9525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1220724"/>
            <a:ext cx="566928" cy="25400"/>
          </a:xfrm>
          <a:prstGeom prst="rect">
            <a:avLst/>
          </a:prstGeom>
          <a:solidFill>
            <a:srgbClr val="63D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1554480"/>
            <a:ext cx="6126480" cy="2874283"/>
          </a:xfrm>
          <a:prstGeom prst="rect">
            <a:avLst/>
          </a:prstGeom>
          <a:solidFill>
            <a:srgbClr val="0A0E13"/>
          </a:solidFill>
          <a:ln w="12700">
            <a:solidFill>
              <a:srgbClr val="2C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1554480"/>
            <a:ext cx="25400" cy="2874283"/>
          </a:xfrm>
          <a:prstGeom prst="rect">
            <a:avLst/>
          </a:prstGeom>
          <a:solidFill>
            <a:srgbClr val="63D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7" y="1682495"/>
            <a:ext cx="572414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63D2E8"/>
                </a:solidFill>
                <a:latin typeface="Bahnschrift SemiBold"/>
              </a:rPr>
              <a:t>config/commands.json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7" y="1956815"/>
            <a:ext cx="5724144" cy="23622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E6EDF3"/>
                </a:solidFill>
                <a:latin typeface="Consolas"/>
              </a:rPr>
              <a:t>{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8494A6"/>
                </a:solidFill>
                <a:latin typeface="Consolas"/>
              </a:rPr>
              <a:t>  "digits": {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FFA928"/>
                </a:solidFill>
                <a:latin typeface="Consolas"/>
              </a:rPr>
              <a:t>    "0": { "scope": "gateway", "action": "ping" },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FFA928"/>
                </a:solidFill>
                <a:latin typeface="Consolas"/>
              </a:rPr>
              <a:t>    "1": { "scope": "gateway", "action": "read_now" },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FFA928"/>
                </a:solidFill>
                <a:latin typeface="Consolas"/>
              </a:rPr>
              <a:t>    "2": { "scope": "gateway", "action": "set_interval",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FFA928"/>
                </a:solidFill>
                <a:latin typeface="Consolas"/>
              </a:rPr>
              <a:t>           "args": { "seconds": 2 } },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63D2E8"/>
                </a:solidFill>
                <a:latin typeface="Consolas"/>
              </a:rPr>
              <a:t>    "4": { "scope": "local", "action": "view",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63D2E8"/>
                </a:solidFill>
                <a:latin typeface="Consolas"/>
              </a:rPr>
              <a:t>           "args": { "page": "L1" } },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5A6878"/>
                </a:solidFill>
                <a:latin typeface="Consolas"/>
              </a:rPr>
              <a:t>    "9": { "scope": "none", "action": "unassigned" }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E6EDF3"/>
                </a:solidFill>
                <a:latin typeface="Consolas"/>
              </a:rPr>
              <a:t>  }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E6EDF3"/>
                </a:solidFill>
                <a:latin typeface="Consolas"/>
              </a:rPr>
              <a:t>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1554480"/>
            <a:ext cx="450799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63D2E8"/>
                </a:solidFill>
                <a:latin typeface="Bahnschrift SemiBold"/>
              </a:rPr>
              <a:t>HOW TO ADD ONE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40880" y="1810512"/>
            <a:ext cx="4507992" cy="9525"/>
          </a:xfrm>
          <a:prstGeom prst="rect">
            <a:avLst/>
          </a:prstGeom>
          <a:solidFill>
            <a:srgbClr val="3D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40880" y="1993392"/>
            <a:ext cx="4507992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050" b="1">
                <a:solidFill>
                  <a:srgbClr val="63D2E8"/>
                </a:solidFill>
                <a:latin typeface="Consolas"/>
              </a:rPr>
              <a:t>— </a:t>
            </a:r>
            <a:r>
              <a:rPr sz="1050" b="1">
                <a:solidFill>
                  <a:srgbClr val="E6EDF3"/>
                </a:solidFill>
                <a:latin typeface="Segoe UI"/>
              </a:rPr>
              <a:t>Pick a free digit.</a:t>
            </a:r>
            <a:r>
              <a:rPr sz="1050" b="0">
                <a:solidFill>
                  <a:srgbClr val="8494A6"/>
                </a:solidFill>
                <a:latin typeface="Segoe UI"/>
              </a:rPr>
              <a:t>  9 is reserved and unassigned; that is the cheapest slot.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050" b="1">
                <a:solidFill>
                  <a:srgbClr val="63D2E8"/>
                </a:solidFill>
                <a:latin typeface="Consolas"/>
              </a:rPr>
              <a:t>— </a:t>
            </a:r>
            <a:r>
              <a:rPr sz="1050" b="1">
                <a:solidFill>
                  <a:srgbClr val="E6EDF3"/>
                </a:solidFill>
                <a:latin typeface="Segoe UI"/>
              </a:rPr>
              <a:t>Choose a scope.</a:t>
            </a:r>
            <a:r>
              <a:rPr sz="1050" b="0">
                <a:solidFill>
                  <a:srgbClr val="8494A6"/>
                </a:solidFill>
                <a:latin typeface="Segoe UI"/>
              </a:rPr>
              <a:t>  gateway means it leaves the phone. local means it only changes what the phone shows.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050" b="1">
                <a:solidFill>
                  <a:srgbClr val="63D2E8"/>
                </a:solidFill>
                <a:latin typeface="Consolas"/>
              </a:rPr>
              <a:t>— </a:t>
            </a:r>
            <a:r>
              <a:rPr sz="1050" b="1">
                <a:solidFill>
                  <a:srgbClr val="E6EDF3"/>
                </a:solidFill>
                <a:latin typeface="Segoe UI"/>
              </a:rPr>
              <a:t>Name an existing action.</a:t>
            </a:r>
            <a:r>
              <a:rPr sz="1050" b="0">
                <a:solidFill>
                  <a:srgbClr val="8494A6"/>
                </a:solidFill>
                <a:latin typeface="Segoe UI"/>
              </a:rPr>
              <a:t>  ping, read_now, set_interval, view — the firmware and BOUND_ACTIONS both key off these strings.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050" b="1">
                <a:solidFill>
                  <a:srgbClr val="63D2E8"/>
                </a:solidFill>
                <a:latin typeface="Consolas"/>
              </a:rPr>
              <a:t>— </a:t>
            </a:r>
            <a:r>
              <a:rPr sz="1050" b="1">
                <a:solidFill>
                  <a:srgbClr val="E6EDF3"/>
                </a:solidFill>
                <a:latin typeface="Segoe UI"/>
              </a:rPr>
              <a:t>Regenerate the assets.</a:t>
            </a:r>
            <a:r>
              <a:rPr sz="1050" b="0">
                <a:solidFill>
                  <a:srgbClr val="8494A6"/>
                </a:solidFill>
                <a:latin typeface="Segoe UI"/>
              </a:rPr>
              <a:t>  the same file is bundled into the app and served to the browser HMI, so they cannot disagree.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4572000"/>
            <a:ext cx="10908792" cy="9525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4754880"/>
            <a:ext cx="5120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63D2E8"/>
                </a:solidFill>
                <a:latin typeface="Bahnschrift SemiBold"/>
              </a:rPr>
              <a:t>TWO SCOPES, TWO RISK PROFILES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5047488"/>
            <a:ext cx="5349240" cy="1060704"/>
          </a:xfrm>
          <a:prstGeom prst="rect">
            <a:avLst/>
          </a:prstGeom>
          <a:solidFill>
            <a:srgbClr val="161C24"/>
          </a:solidFill>
          <a:ln w="12700">
            <a:solidFill>
              <a:srgbClr val="2C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" y="5047488"/>
            <a:ext cx="5349240" cy="31750"/>
          </a:xfrm>
          <a:prstGeom prst="rect">
            <a:avLst/>
          </a:prstGeom>
          <a:solidFill>
            <a:srgbClr val="63D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9536" y="5212080"/>
            <a:ext cx="49377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63D2E8"/>
                </a:solidFill>
                <a:latin typeface="Consolas"/>
              </a:rPr>
              <a:t>scope = local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6" y="5468112"/>
            <a:ext cx="4937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 i="0">
                <a:solidFill>
                  <a:srgbClr val="8494A6"/>
                </a:solidFill>
                <a:latin typeface="Segoe UI"/>
              </a:rPr>
              <a:t>Fires instantly from the prediction. A misread switches to the wrong tile view — harmless, and instantly obvious.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99632" y="5047488"/>
            <a:ext cx="5349240" cy="1060704"/>
          </a:xfrm>
          <a:prstGeom prst="rect">
            <a:avLst/>
          </a:prstGeom>
          <a:solidFill>
            <a:srgbClr val="161C24"/>
          </a:solidFill>
          <a:ln w="12700">
            <a:solidFill>
              <a:srgbClr val="2C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99632" y="5047488"/>
            <a:ext cx="5349240" cy="31750"/>
          </a:xfrm>
          <a:prstGeom prst="rect">
            <a:avLst/>
          </a:prstGeom>
          <a:solidFill>
            <a:srgbClr val="FFA9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19088" y="5212080"/>
            <a:ext cx="49377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FFA928"/>
                </a:solidFill>
                <a:latin typeface="Consolas"/>
              </a:rPr>
              <a:t>scope = gateway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19088" y="5468112"/>
            <a:ext cx="4937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 i="0">
                <a:solidFill>
                  <a:srgbClr val="8494A6"/>
                </a:solidFill>
                <a:latin typeface="Segoe UI"/>
              </a:rPr>
              <a:t>Leaves the phone and reaches an industrial device. Requires confidence ≥ 0.90 and an explicit Send tap. Never fires on recognition alone.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6382512"/>
            <a:ext cx="10908792" cy="9525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649224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5A6878"/>
                </a:solidFill>
                <a:latin typeface="Consolas"/>
              </a:rPr>
              <a:t>OSOS · DKM-440 remote meter reading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77272" y="6492240"/>
            <a:ext cx="1371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5A6878"/>
                </a:solidFill>
                <a:latin typeface="Consolas"/>
              </a:rPr>
              <a:t>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5852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FFA928"/>
                </a:solidFill>
                <a:latin typeface="Consolas"/>
              </a:rPr>
              <a:t>MX-3 — THE REQUIREMENT THAT EXISTS BECAUSE OF THAT ASYMMETRY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93776"/>
            <a:ext cx="5870448" cy="64008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0" i="0">
                <a:solidFill>
                  <a:srgbClr val="E6EDF3"/>
                </a:solidFill>
                <a:latin typeface="Bahnschrift SemiBold"/>
              </a:rPr>
              <a:t>A guess in front of an actuator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6726783" y="583844"/>
            <a:ext cx="1083106" cy="12700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17970" y="548640"/>
            <a:ext cx="77724" cy="77724"/>
          </a:xfrm>
          <a:prstGeom prst="rect">
            <a:avLst/>
          </a:prstGeom>
          <a:solidFill>
            <a:srgbClr val="0D1117"/>
          </a:solidFill>
          <a:ln w="12700">
            <a:solidFill>
              <a:srgbClr val="3D4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45327" y="6949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5A6878"/>
                </a:solidFill>
                <a:latin typeface="Bahnschrift SemiBold"/>
              </a:rPr>
              <a:t>METER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7949793" y="583844"/>
            <a:ext cx="1083106" cy="12700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840979" y="548640"/>
            <a:ext cx="77724" cy="77724"/>
          </a:xfrm>
          <a:prstGeom prst="rect">
            <a:avLst/>
          </a:prstGeom>
          <a:solidFill>
            <a:srgbClr val="63D2E8"/>
          </a:solidFill>
          <a:ln w="12700">
            <a:solidFill>
              <a:srgbClr val="63D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68337" y="6949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3D2E8"/>
                </a:solidFill>
                <a:latin typeface="Bahnschrift SemiBold"/>
              </a:rPr>
              <a:t>GATEWAY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72803" y="583844"/>
            <a:ext cx="1083106" cy="12700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063990" y="548640"/>
            <a:ext cx="77724" cy="77724"/>
          </a:xfrm>
          <a:prstGeom prst="rect">
            <a:avLst/>
          </a:prstGeom>
          <a:solidFill>
            <a:srgbClr val="0D1117"/>
          </a:solidFill>
          <a:ln w="12700">
            <a:solidFill>
              <a:srgbClr val="3D4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91347" y="6949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5A6878"/>
                </a:solidFill>
                <a:latin typeface="Bahnschrift SemiBold"/>
              </a:rPr>
              <a:t>BROKER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95813" y="583844"/>
            <a:ext cx="1083106" cy="12700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287000" y="548640"/>
            <a:ext cx="77724" cy="77724"/>
          </a:xfrm>
          <a:prstGeom prst="rect">
            <a:avLst/>
          </a:prstGeom>
          <a:solidFill>
            <a:srgbClr val="63D2E8"/>
          </a:solidFill>
          <a:ln w="12700">
            <a:solidFill>
              <a:srgbClr val="63D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14357" y="6949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3D2E8"/>
                </a:solidFill>
                <a:latin typeface="Bahnschrift SemiBold"/>
              </a:rPr>
              <a:t>PHONE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510009" y="548640"/>
            <a:ext cx="77724" cy="77724"/>
          </a:xfrm>
          <a:prstGeom prst="rect">
            <a:avLst/>
          </a:prstGeom>
          <a:solidFill>
            <a:srgbClr val="0D1117"/>
          </a:solidFill>
          <a:ln w="12700">
            <a:solidFill>
              <a:srgbClr val="3D4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37367" y="6949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5A6878"/>
                </a:solidFill>
                <a:latin typeface="Bahnschrift SemiBold"/>
              </a:rPr>
              <a:t>NET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1225296"/>
            <a:ext cx="10908792" cy="9525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1220724"/>
            <a:ext cx="566928" cy="25400"/>
          </a:xfrm>
          <a:prstGeom prst="rect">
            <a:avLst/>
          </a:prstGeom>
          <a:solidFill>
            <a:srgbClr val="FFA9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1" name="Picture 20" descr="phone-d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72768"/>
            <a:ext cx="2013155" cy="41605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926080" y="1572768"/>
            <a:ext cx="862279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200" b="0" i="0">
                <a:solidFill>
                  <a:srgbClr val="E6EDF3"/>
                </a:solidFill>
                <a:latin typeface="Bahnschrift SemiBold"/>
              </a:rPr>
              <a:t>Recognition never actuates. It only ever proposes.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26080" y="2523744"/>
            <a:ext cx="8622792" cy="969264"/>
          </a:xfrm>
          <a:prstGeom prst="rect">
            <a:avLst/>
          </a:prstGeom>
          <a:solidFill>
            <a:srgbClr val="161C24"/>
          </a:solidFill>
          <a:ln w="12700">
            <a:solidFill>
              <a:srgbClr val="2C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926080" y="2523744"/>
            <a:ext cx="8622792" cy="31750"/>
          </a:xfrm>
          <a:prstGeom prst="rect">
            <a:avLst/>
          </a:prstGeom>
          <a:solidFill>
            <a:srgbClr val="63D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45536" y="2743200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0" i="0">
                <a:solidFill>
                  <a:srgbClr val="63D2E8"/>
                </a:solidFill>
                <a:latin typeface="Consola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12464" y="2724912"/>
            <a:ext cx="7589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0" i="0">
                <a:solidFill>
                  <a:srgbClr val="E6EDF3"/>
                </a:solidFill>
                <a:latin typeface="Bahnschrift SemiBold"/>
              </a:rPr>
              <a:t>Confidence gate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12464" y="3035808"/>
            <a:ext cx="7589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i="0">
                <a:solidFill>
                  <a:srgbClr val="8494A6"/>
                </a:solidFill>
                <a:latin typeface="Segoe UI"/>
              </a:rPr>
              <a:t>softmax ≥ 0.90 for digits · head ≥ 0.85 with a cosine ≥ 0.80 sanity check for custom symbols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26080" y="3602735"/>
            <a:ext cx="8622792" cy="969264"/>
          </a:xfrm>
          <a:prstGeom prst="rect">
            <a:avLst/>
          </a:prstGeom>
          <a:solidFill>
            <a:srgbClr val="161C24"/>
          </a:solidFill>
          <a:ln w="12700">
            <a:solidFill>
              <a:srgbClr val="2C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26080" y="3602735"/>
            <a:ext cx="8622792" cy="31750"/>
          </a:xfrm>
          <a:prstGeom prst="rect">
            <a:avLst/>
          </a:prstGeom>
          <a:solidFill>
            <a:srgbClr val="FFA9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145536" y="3822191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0" i="0">
                <a:solidFill>
                  <a:srgbClr val="FFA928"/>
                </a:solidFill>
                <a:latin typeface="Consola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12464" y="3803903"/>
            <a:ext cx="7589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0" i="0">
                <a:solidFill>
                  <a:srgbClr val="E6EDF3"/>
                </a:solidFill>
                <a:latin typeface="Bahnschrift SemiBold"/>
              </a:rPr>
              <a:t>Human gate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12464" y="4114800"/>
            <a:ext cx="7589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i="0">
                <a:solidFill>
                  <a:srgbClr val="8494A6"/>
                </a:solidFill>
                <a:latin typeface="Segoe UI"/>
              </a:rPr>
              <a:t>a gateway command arms a confirm bar and is published only after an explicit Send tap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26080" y="4681727"/>
            <a:ext cx="8622792" cy="969264"/>
          </a:xfrm>
          <a:prstGeom prst="rect">
            <a:avLst/>
          </a:prstGeom>
          <a:solidFill>
            <a:srgbClr val="161C24"/>
          </a:solidFill>
          <a:ln w="12700">
            <a:solidFill>
              <a:srgbClr val="2C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926080" y="4681727"/>
            <a:ext cx="8622792" cy="31750"/>
          </a:xfrm>
          <a:prstGeom prst="rect">
            <a:avLst/>
          </a:prstGeom>
          <a:solidFill>
            <a:srgbClr val="FF4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145536" y="4901183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0" i="0">
                <a:solidFill>
                  <a:srgbClr val="FF4438"/>
                </a:solidFill>
                <a:latin typeface="Consola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12464" y="4882895"/>
            <a:ext cx="7589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0" i="0">
                <a:solidFill>
                  <a:srgbClr val="E6EDF3"/>
                </a:solidFill>
                <a:latin typeface="Bahnschrift SemiBold"/>
              </a:rPr>
              <a:t>Structural gate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12464" y="5193792"/>
            <a:ext cx="7589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i="0">
                <a:solidFill>
                  <a:srgbClr val="8494A6"/>
                </a:solidFill>
                <a:latin typeface="Segoe UI"/>
              </a:rPr>
              <a:t>relay and dkm_write are absent from the firmware source — not flag-disabled, not commented out, absent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26080" y="5669280"/>
            <a:ext cx="8622792" cy="9525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926080" y="5833872"/>
            <a:ext cx="86227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5A6878"/>
                </a:solidFill>
                <a:latin typeface="Segoe UI"/>
              </a:rPr>
              <a:t>The third gate is the one that matters. The first two are policy and can be changed by a settings screen; the third cannot be reached by any configuration, because there is no code to reach.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6382512"/>
            <a:ext cx="10908792" cy="9525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649224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5A6878"/>
                </a:solidFill>
                <a:latin typeface="Consolas"/>
              </a:rPr>
              <a:t>OSOS · DKM-440 remote meter reading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77272" y="6492240"/>
            <a:ext cx="1371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5A6878"/>
                </a:solidFill>
                <a:latin typeface="Consolas"/>
              </a:rPr>
              <a:t>24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5852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C89A5B"/>
                </a:solidFill>
                <a:latin typeface="Consolas"/>
              </a:rPr>
              <a:t>A LOGISTIC HEAD TRAINED ON-DEVICE OVER A FROZEN EMBEDDING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93776"/>
            <a:ext cx="5870448" cy="64008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0" i="0">
                <a:solidFill>
                  <a:srgbClr val="E6EDF3"/>
                </a:solidFill>
                <a:latin typeface="Bahnschrift SemiBold"/>
              </a:rPr>
              <a:t>Teaching it your own symbol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726783" y="583844"/>
            <a:ext cx="1083106" cy="12700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17970" y="548640"/>
            <a:ext cx="77724" cy="77724"/>
          </a:xfrm>
          <a:prstGeom prst="rect">
            <a:avLst/>
          </a:prstGeom>
          <a:solidFill>
            <a:srgbClr val="0D1117"/>
          </a:solidFill>
          <a:ln w="12700">
            <a:solidFill>
              <a:srgbClr val="3D4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45327" y="6949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5A6878"/>
                </a:solidFill>
                <a:latin typeface="Bahnschrift SemiBold"/>
              </a:rPr>
              <a:t>METER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7949793" y="583844"/>
            <a:ext cx="1083106" cy="12700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840979" y="548640"/>
            <a:ext cx="77724" cy="77724"/>
          </a:xfrm>
          <a:prstGeom prst="rect">
            <a:avLst/>
          </a:prstGeom>
          <a:solidFill>
            <a:srgbClr val="0D1117"/>
          </a:solidFill>
          <a:ln w="12700">
            <a:solidFill>
              <a:srgbClr val="3D4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68337" y="6949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5A6878"/>
                </a:solidFill>
                <a:latin typeface="Bahnschrift SemiBold"/>
              </a:rPr>
              <a:t>GATEWAY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72803" y="583844"/>
            <a:ext cx="1083106" cy="12700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063990" y="548640"/>
            <a:ext cx="77724" cy="77724"/>
          </a:xfrm>
          <a:prstGeom prst="rect">
            <a:avLst/>
          </a:prstGeom>
          <a:solidFill>
            <a:srgbClr val="0D1117"/>
          </a:solidFill>
          <a:ln w="12700">
            <a:solidFill>
              <a:srgbClr val="3D4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91347" y="6949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5A6878"/>
                </a:solidFill>
                <a:latin typeface="Bahnschrift SemiBold"/>
              </a:rPr>
              <a:t>BROKER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95813" y="583844"/>
            <a:ext cx="1083106" cy="12700"/>
          </a:xfrm>
          <a:prstGeom prst="rect">
            <a:avLst/>
          </a:prstGeom>
          <a:solidFill>
            <a:srgbClr val="2E7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287000" y="548640"/>
            <a:ext cx="77724" cy="77724"/>
          </a:xfrm>
          <a:prstGeom prst="rect">
            <a:avLst/>
          </a:prstGeom>
          <a:solidFill>
            <a:srgbClr val="63D2E8"/>
          </a:solidFill>
          <a:ln w="12700">
            <a:solidFill>
              <a:srgbClr val="63D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14357" y="6949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3D2E8"/>
                </a:solidFill>
                <a:latin typeface="Bahnschrift SemiBold"/>
              </a:rPr>
              <a:t>PHONE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510009" y="548640"/>
            <a:ext cx="77724" cy="77724"/>
          </a:xfrm>
          <a:prstGeom prst="rect">
            <a:avLst/>
          </a:prstGeom>
          <a:solidFill>
            <a:srgbClr val="63D2E8"/>
          </a:solidFill>
          <a:ln w="12700">
            <a:solidFill>
              <a:srgbClr val="63D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37367" y="6949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3D2E8"/>
                </a:solidFill>
                <a:latin typeface="Bahnschrift SemiBold"/>
              </a:rPr>
              <a:t>NET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1225296"/>
            <a:ext cx="10908792" cy="9525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1220724"/>
            <a:ext cx="566928" cy="25400"/>
          </a:xfrm>
          <a:prstGeom prst="rect">
            <a:avLst/>
          </a:prstGeom>
          <a:solidFill>
            <a:srgbClr val="C89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1" name="Picture 20" descr="phone-comma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1572768"/>
            <a:ext cx="2168013" cy="448056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40080" y="1517904"/>
            <a:ext cx="8229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C89A5B"/>
                </a:solidFill>
                <a:latin typeface="Bahnschrift SemiBold"/>
              </a:rPr>
              <a:t>WHAT HAPPENS WHEN YOU SAVE 10 SAMPLES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1773936"/>
            <a:ext cx="8275320" cy="9525"/>
          </a:xfrm>
          <a:prstGeom prst="rect">
            <a:avLst/>
          </a:prstGeom>
          <a:solidFill>
            <a:srgbClr val="3D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1993392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C89A5B"/>
                </a:solidFill>
                <a:latin typeface="Consolas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1975104"/>
            <a:ext cx="7818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E6EDF3"/>
                </a:solidFill>
                <a:latin typeface="Bahnschrift SemiBold"/>
              </a:rPr>
              <a:t>Freeze the MLP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2267712"/>
            <a:ext cx="7818120" cy="4665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00" b="0" i="0">
                <a:solidFill>
                  <a:srgbClr val="8494A6"/>
                </a:solidFill>
                <a:latin typeface="Segoe UI"/>
              </a:rPr>
              <a:t>The 784-128-10 network is not retrained. Its 128-unit ReLU hidden layer is reused as an embedding — a compact description of what was drawn.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306343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C89A5B"/>
                </a:solidFill>
                <a:latin typeface="Consolas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3045150"/>
            <a:ext cx="7818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E6EDF3"/>
                </a:solidFill>
                <a:latin typeface="Bahnschrift SemiBold"/>
              </a:rPr>
              <a:t>Augment ×5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3337758"/>
            <a:ext cx="7818120" cy="2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00" b="0" i="0">
                <a:solidFill>
                  <a:srgbClr val="8494A6"/>
                </a:solidFill>
                <a:latin typeface="Segoe UI"/>
              </a:rPr>
              <a:t>Each stored 28×28 is shifted by ±1 and ±2 px, turning 10–15 samples into 50–75 training vectors for free.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3900213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C89A5B"/>
                </a:solidFill>
                <a:latin typeface="Consolas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3881925"/>
            <a:ext cx="7818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E6EDF3"/>
                </a:solidFill>
                <a:latin typeface="Bahnschrift SemiBold"/>
              </a:rPr>
              <a:t>Train a head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4174533"/>
            <a:ext cx="7818120" cy="4665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00" b="0" i="0">
                <a:solidFill>
                  <a:srgbClr val="8494A6"/>
                </a:solidFill>
                <a:latin typeface="Segoe UI"/>
              </a:rPr>
              <a:t>A logistic regression head, 128 → N, by SGD with L2. N is however many custom commands exist. Training finishes in milliseconds and reruns automatically whenever samples change.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4970259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C89A5B"/>
                </a:solidFill>
                <a:latin typeface="Consolas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4951971"/>
            <a:ext cx="7818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E6EDF3"/>
                </a:solidFill>
                <a:latin typeface="Bahnschrift SemiBold"/>
              </a:rPr>
              <a:t>Gate twice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" y="5244579"/>
            <a:ext cx="7818120" cy="4665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100" b="0" i="0">
                <a:solidFill>
                  <a:srgbClr val="8494A6"/>
                </a:solidFill>
                <a:latin typeface="Segoe UI"/>
              </a:rPr>
              <a:t>The head's softmax must clear 0.85 and the best stored sample's cosine must clear 0.80. While a class has under 10 samples the head is not trusted at all — it falls back to pure cosine ≥ 0.93.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5705856"/>
            <a:ext cx="8275320" cy="9525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5870448"/>
            <a:ext cx="8275320" cy="2281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 i="0">
                <a:solidFill>
                  <a:srgbClr val="C89A5B"/>
                </a:solidFill>
                <a:latin typeface="Segoe UI"/>
              </a:rPr>
              <a:t>The inspector shows head softmax, per-class cosine and the digit MLP's top-3 after every recognition — a match is never a black box.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6382512"/>
            <a:ext cx="10908792" cy="9525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649224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5A6878"/>
                </a:solidFill>
                <a:latin typeface="Consolas"/>
              </a:rPr>
              <a:t>OSOS · DKM-440 remote meter reading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77272" y="6492240"/>
            <a:ext cx="1371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5A6878"/>
                </a:solidFill>
                <a:latin typeface="Consolas"/>
              </a:rPr>
              <a:t>25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5852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FF4438"/>
                </a:solidFill>
                <a:latin typeface="Consolas"/>
              </a:rPr>
              <a:t>AND WHY THE RULES CANNOT LIVE IN THE FIRMWARE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93776"/>
            <a:ext cx="5870448" cy="64008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0" i="0">
                <a:solidFill>
                  <a:srgbClr val="E6EDF3"/>
                </a:solidFill>
                <a:latin typeface="Bahnschrift SemiBold"/>
              </a:rPr>
              <a:t>Adding an alarm</a:t>
            </a:r>
          </a:p>
        </p:txBody>
      </p:sp>
      <p:sp>
        <p:nvSpPr>
          <p:cNvPr id="5" name="Rectangle 4"/>
          <p:cNvSpPr/>
          <p:nvPr/>
        </p:nvSpPr>
        <p:spPr>
          <a:xfrm>
            <a:off x="6726783" y="583844"/>
            <a:ext cx="1083106" cy="12700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17970" y="548640"/>
            <a:ext cx="77724" cy="77724"/>
          </a:xfrm>
          <a:prstGeom prst="rect">
            <a:avLst/>
          </a:prstGeom>
          <a:solidFill>
            <a:srgbClr val="0D1117"/>
          </a:solidFill>
          <a:ln w="12700">
            <a:solidFill>
              <a:srgbClr val="3D4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45327" y="6949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5A6878"/>
                </a:solidFill>
                <a:latin typeface="Bahnschrift SemiBold"/>
              </a:rPr>
              <a:t>METER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7949793" y="583844"/>
            <a:ext cx="1083106" cy="12700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840979" y="548640"/>
            <a:ext cx="77724" cy="77724"/>
          </a:xfrm>
          <a:prstGeom prst="rect">
            <a:avLst/>
          </a:prstGeom>
          <a:solidFill>
            <a:srgbClr val="0D1117"/>
          </a:solidFill>
          <a:ln w="12700">
            <a:solidFill>
              <a:srgbClr val="3D4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68337" y="6949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5A6878"/>
                </a:solidFill>
                <a:latin typeface="Bahnschrift SemiBold"/>
              </a:rPr>
              <a:t>GATEWAY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72803" y="583844"/>
            <a:ext cx="1083106" cy="12700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063990" y="548640"/>
            <a:ext cx="77724" cy="77724"/>
          </a:xfrm>
          <a:prstGeom prst="rect">
            <a:avLst/>
          </a:prstGeom>
          <a:solidFill>
            <a:srgbClr val="0D1117"/>
          </a:solidFill>
          <a:ln w="12700">
            <a:solidFill>
              <a:srgbClr val="3D4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91347" y="6949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5A6878"/>
                </a:solidFill>
                <a:latin typeface="Bahnschrift SemiBold"/>
              </a:rPr>
              <a:t>BROKER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95813" y="583844"/>
            <a:ext cx="1083106" cy="12700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287000" y="548640"/>
            <a:ext cx="77724" cy="77724"/>
          </a:xfrm>
          <a:prstGeom prst="rect">
            <a:avLst/>
          </a:prstGeom>
          <a:solidFill>
            <a:srgbClr val="63D2E8"/>
          </a:solidFill>
          <a:ln w="12700">
            <a:solidFill>
              <a:srgbClr val="63D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14357" y="6949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3D2E8"/>
                </a:solidFill>
                <a:latin typeface="Bahnschrift SemiBold"/>
              </a:rPr>
              <a:t>PHONE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510009" y="548640"/>
            <a:ext cx="77724" cy="77724"/>
          </a:xfrm>
          <a:prstGeom prst="rect">
            <a:avLst/>
          </a:prstGeom>
          <a:solidFill>
            <a:srgbClr val="0D1117"/>
          </a:solidFill>
          <a:ln w="12700">
            <a:solidFill>
              <a:srgbClr val="3D4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37367" y="6949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5A6878"/>
                </a:solidFill>
                <a:latin typeface="Bahnschrift SemiBold"/>
              </a:rPr>
              <a:t>NET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1225296"/>
            <a:ext cx="10908792" cy="9525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1220724"/>
            <a:ext cx="566928" cy="25400"/>
          </a:xfrm>
          <a:prstGeom prst="rect">
            <a:avLst/>
          </a:prstGeom>
          <a:solidFill>
            <a:srgbClr val="FF4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1" name="Picture 20" descr="phone-alar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72768"/>
            <a:ext cx="2013155" cy="416052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2926080" y="1572768"/>
            <a:ext cx="8622792" cy="1170432"/>
          </a:xfrm>
          <a:prstGeom prst="rect">
            <a:avLst/>
          </a:prstGeom>
          <a:solidFill>
            <a:srgbClr val="161C24"/>
          </a:solidFill>
          <a:ln w="12700">
            <a:solidFill>
              <a:srgbClr val="2C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26080" y="1572768"/>
            <a:ext cx="8622792" cy="31750"/>
          </a:xfrm>
          <a:prstGeom prst="rect">
            <a:avLst/>
          </a:prstGeom>
          <a:solidFill>
            <a:srgbClr val="FF4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45536" y="1773936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FF4438"/>
                </a:solidFill>
                <a:latin typeface="Bahnschrift SemiBold"/>
              </a:rPr>
              <a:t>THE CONSTRAINT THAT DECIDED THIS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45536" y="2048256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0" i="0">
                <a:solidFill>
                  <a:srgbClr val="8494A6"/>
                </a:solidFill>
                <a:latin typeface="Segoe UI"/>
              </a:rPr>
              <a:t>The Modbus read budget is fixed by the report interval. You cannot poll faster to evaluate a threshold without breaking the polite-master rule — so alarms are evaluated on the telemetry stream the gateway already publishes, and cost zero extra reads.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2926080"/>
            <a:ext cx="862279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63D2E8"/>
                </a:solidFill>
                <a:latin typeface="Bahnschrift SemiBold"/>
              </a:rPr>
              <a:t>A RULE IS FOUR FIELDS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926080" y="3182112"/>
            <a:ext cx="8622792" cy="9525"/>
          </a:xfrm>
          <a:prstGeom prst="rect">
            <a:avLst/>
          </a:prstGeom>
          <a:solidFill>
            <a:srgbClr val="3D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26080" y="3364992"/>
            <a:ext cx="1463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63D2E8"/>
                </a:solidFill>
                <a:latin typeface="Consolas"/>
              </a:rPr>
              <a:t>key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80" y="3383280"/>
            <a:ext cx="3108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8494A6"/>
                </a:solidFill>
                <a:latin typeface="Segoe UI"/>
              </a:rPr>
              <a:t>which telemetry value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18120" y="3364992"/>
            <a:ext cx="3703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E6EDF3"/>
                </a:solidFill>
                <a:latin typeface="Consolas"/>
              </a:rPr>
              <a:t>MainBus_Voltage_L1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6080" y="3730752"/>
            <a:ext cx="1463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63D2E8"/>
                </a:solidFill>
                <a:latin typeface="Consolas"/>
              </a:rPr>
              <a:t>min / max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26280" y="3749039"/>
            <a:ext cx="3108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8494A6"/>
                </a:solidFill>
                <a:latin typeface="Segoe UI"/>
              </a:rPr>
              <a:t>the acceptable band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18120" y="3730752"/>
            <a:ext cx="3703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E6EDF3"/>
                </a:solidFill>
                <a:latin typeface="Consolas"/>
              </a:rPr>
              <a:t>207.00 … 253.00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26080" y="4096512"/>
            <a:ext cx="1463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63D2E8"/>
                </a:solidFill>
                <a:latin typeface="Consolas"/>
              </a:rPr>
              <a:t>holdSec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26280" y="4114800"/>
            <a:ext cx="3108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8494A6"/>
                </a:solidFill>
                <a:latin typeface="Segoe UI"/>
              </a:rPr>
              <a:t>how long it must stay out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18120" y="4096512"/>
            <a:ext cx="3703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E6EDF3"/>
                </a:solidFill>
                <a:latin typeface="Consolas"/>
              </a:rPr>
              <a:t>30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26080" y="4462272"/>
            <a:ext cx="1463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63D2E8"/>
                </a:solidFill>
                <a:latin typeface="Consolas"/>
              </a:rPr>
              <a:t>enabled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26280" y="4480560"/>
            <a:ext cx="3108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8494A6"/>
                </a:solidFill>
                <a:latin typeface="Segoe UI"/>
              </a:rPr>
              <a:t>armed or not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18120" y="4462272"/>
            <a:ext cx="3703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E6EDF3"/>
                </a:solidFill>
                <a:latin typeface="Consolas"/>
              </a:rPr>
              <a:t>true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26080" y="4864608"/>
            <a:ext cx="86227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5A6878"/>
                </a:solidFill>
                <a:latin typeface="Segoe UI"/>
              </a:rPr>
              <a:t>The hold timer is what makes it usable: a single noisy frame will not wake anyone at 3 a.m.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26080" y="5266944"/>
            <a:ext cx="862279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63D2E8"/>
                </a:solidFill>
                <a:latin typeface="Bahnschrift SemiBold"/>
              </a:rPr>
              <a:t>THREE RULES YOU DO NOT HAVE TO WRITE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926080" y="5522976"/>
            <a:ext cx="8622792" cy="9525"/>
          </a:xfrm>
          <a:prstGeom prst="rect">
            <a:avLst/>
          </a:prstGeom>
          <a:solidFill>
            <a:srgbClr val="3D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926080" y="5705856"/>
            <a:ext cx="2743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FF4438"/>
                </a:solidFill>
                <a:latin typeface="Consolas"/>
              </a:rPr>
              <a:t>meter_ok == false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26080" y="5961888"/>
            <a:ext cx="2743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8494A6"/>
                </a:solidFill>
                <a:latin typeface="Segoe UI"/>
              </a:rPr>
              <a:t>for ≥ 30 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5584" y="5705856"/>
            <a:ext cx="2743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FF4438"/>
                </a:solidFill>
                <a:latin typeface="Consolas"/>
              </a:rPr>
              <a:t>gateway LWT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15584" y="5961888"/>
            <a:ext cx="2743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8494A6"/>
                </a:solidFill>
                <a:latin typeface="Segoe UI"/>
              </a:rPr>
              <a:t>retained status says offline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05088" y="5705856"/>
            <a:ext cx="2743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FF4438"/>
                </a:solidFill>
                <a:latin typeface="Consolas"/>
              </a:rPr>
              <a:t>telemetry silence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05088" y="5961888"/>
            <a:ext cx="2743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8494A6"/>
                </a:solidFill>
                <a:latin typeface="Segoe UI"/>
              </a:rPr>
              <a:t>no frame for &gt; 3× the interval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080" y="6382512"/>
            <a:ext cx="10908792" cy="9525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" y="649224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5A6878"/>
                </a:solidFill>
                <a:latin typeface="Consolas"/>
              </a:rPr>
              <a:t>OSOS · DKM-440 remote meter reading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77272" y="6492240"/>
            <a:ext cx="1371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5A6878"/>
                </a:solidFill>
                <a:latin typeface="Consolas"/>
              </a:rPr>
              <a:t>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5852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3D2E8"/>
                </a:solidFill>
                <a:latin typeface="Consolas"/>
              </a:rPr>
              <a:t>EVIDENCE-BASED · NOTHING HERE IS ROUNDED 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93776"/>
            <a:ext cx="5870448" cy="64008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0" i="0">
                <a:solidFill>
                  <a:srgbClr val="E6EDF3"/>
                </a:solidFill>
                <a:latin typeface="Bahnschrift SemiBold"/>
              </a:rPr>
              <a:t>Where it actually stands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6726783" y="583844"/>
            <a:ext cx="1083106" cy="12700"/>
          </a:xfrm>
          <a:prstGeom prst="rect">
            <a:avLst/>
          </a:prstGeom>
          <a:solidFill>
            <a:srgbClr val="2E7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17970" y="548640"/>
            <a:ext cx="77724" cy="77724"/>
          </a:xfrm>
          <a:prstGeom prst="rect">
            <a:avLst/>
          </a:prstGeom>
          <a:solidFill>
            <a:srgbClr val="63D2E8"/>
          </a:solidFill>
          <a:ln w="12700">
            <a:solidFill>
              <a:srgbClr val="63D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45327" y="6949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3D2E8"/>
                </a:solidFill>
                <a:latin typeface="Bahnschrift SemiBold"/>
              </a:rPr>
              <a:t>METER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7949793" y="583844"/>
            <a:ext cx="1083106" cy="12700"/>
          </a:xfrm>
          <a:prstGeom prst="rect">
            <a:avLst/>
          </a:prstGeom>
          <a:solidFill>
            <a:srgbClr val="2E7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840979" y="548640"/>
            <a:ext cx="77724" cy="77724"/>
          </a:xfrm>
          <a:prstGeom prst="rect">
            <a:avLst/>
          </a:prstGeom>
          <a:solidFill>
            <a:srgbClr val="63D2E8"/>
          </a:solidFill>
          <a:ln w="12700">
            <a:solidFill>
              <a:srgbClr val="63D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68337" y="6949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3D2E8"/>
                </a:solidFill>
                <a:latin typeface="Bahnschrift SemiBold"/>
              </a:rPr>
              <a:t>GATEWAY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72803" y="583844"/>
            <a:ext cx="1083106" cy="12700"/>
          </a:xfrm>
          <a:prstGeom prst="rect">
            <a:avLst/>
          </a:prstGeom>
          <a:solidFill>
            <a:srgbClr val="2E7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063990" y="548640"/>
            <a:ext cx="77724" cy="77724"/>
          </a:xfrm>
          <a:prstGeom prst="rect">
            <a:avLst/>
          </a:prstGeom>
          <a:solidFill>
            <a:srgbClr val="63D2E8"/>
          </a:solidFill>
          <a:ln w="12700">
            <a:solidFill>
              <a:srgbClr val="63D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91347" y="6949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3D2E8"/>
                </a:solidFill>
                <a:latin typeface="Bahnschrift SemiBold"/>
              </a:rPr>
              <a:t>BROKER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95813" y="583844"/>
            <a:ext cx="1083106" cy="12700"/>
          </a:xfrm>
          <a:prstGeom prst="rect">
            <a:avLst/>
          </a:prstGeom>
          <a:solidFill>
            <a:srgbClr val="2E7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287000" y="548640"/>
            <a:ext cx="77724" cy="77724"/>
          </a:xfrm>
          <a:prstGeom prst="rect">
            <a:avLst/>
          </a:prstGeom>
          <a:solidFill>
            <a:srgbClr val="63D2E8"/>
          </a:solidFill>
          <a:ln w="12700">
            <a:solidFill>
              <a:srgbClr val="63D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14357" y="6949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3D2E8"/>
                </a:solidFill>
                <a:latin typeface="Bahnschrift SemiBold"/>
              </a:rPr>
              <a:t>PHONE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510009" y="548640"/>
            <a:ext cx="77724" cy="77724"/>
          </a:xfrm>
          <a:prstGeom prst="rect">
            <a:avLst/>
          </a:prstGeom>
          <a:solidFill>
            <a:srgbClr val="63D2E8"/>
          </a:solidFill>
          <a:ln w="12700">
            <a:solidFill>
              <a:srgbClr val="63D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37367" y="6949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3D2E8"/>
                </a:solidFill>
                <a:latin typeface="Bahnschrift SemiBold"/>
              </a:rPr>
              <a:t>NET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1225296"/>
            <a:ext cx="10908792" cy="9525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1220724"/>
            <a:ext cx="566928" cy="25400"/>
          </a:xfrm>
          <a:prstGeom prst="rect">
            <a:avLst/>
          </a:prstGeom>
          <a:solidFill>
            <a:srgbClr val="63D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1572768"/>
            <a:ext cx="3557016" cy="3913632"/>
          </a:xfrm>
          <a:prstGeom prst="rect">
            <a:avLst/>
          </a:prstGeom>
          <a:solidFill>
            <a:srgbClr val="161C24"/>
          </a:solidFill>
          <a:ln w="12700">
            <a:solidFill>
              <a:srgbClr val="2C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1572768"/>
            <a:ext cx="3557016" cy="31750"/>
          </a:xfrm>
          <a:prstGeom prst="rect">
            <a:avLst/>
          </a:prstGeom>
          <a:solidFill>
            <a:srgbClr val="4AD9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7" y="1792224"/>
            <a:ext cx="3108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4AD991"/>
                </a:solidFill>
                <a:latin typeface="Bahnschrift SemiBold"/>
              </a:rPr>
              <a:t>PROVEN ON HARDWARE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1247" y="2066543"/>
            <a:ext cx="3154680" cy="9525"/>
          </a:xfrm>
          <a:prstGeom prst="rect">
            <a:avLst/>
          </a:prstGeom>
          <a:solidFill>
            <a:srgbClr val="3D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41247" y="2313432"/>
            <a:ext cx="64008" cy="64008"/>
          </a:xfrm>
          <a:prstGeom prst="rect">
            <a:avLst/>
          </a:prstGeom>
          <a:solidFill>
            <a:srgbClr val="4AD9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42415" y="2249424"/>
            <a:ext cx="29626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8494A6"/>
                </a:solidFill>
                <a:latin typeface="Segoe UI"/>
              </a:rPr>
              <a:t>22/22 registers, 15 consecutive cycles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1247" y="2770632"/>
            <a:ext cx="64008" cy="64008"/>
          </a:xfrm>
          <a:prstGeom prst="rect">
            <a:avLst/>
          </a:prstGeom>
          <a:solidFill>
            <a:srgbClr val="4AD9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42415" y="2706624"/>
            <a:ext cx="29626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8494A6"/>
                </a:solidFill>
                <a:latin typeface="Segoe UI"/>
              </a:rPr>
              <a:t>PC client read the same value, same second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41247" y="3227832"/>
            <a:ext cx="64008" cy="64008"/>
          </a:xfrm>
          <a:prstGeom prst="rect">
            <a:avLst/>
          </a:prstGeom>
          <a:solidFill>
            <a:srgbClr val="4AD9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42415" y="3163824"/>
            <a:ext cx="29626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8494A6"/>
                </a:solidFill>
                <a:latin typeface="Segoe UI"/>
              </a:rPr>
              <a:t>TLS 1.3 handshake, server verified (BR-1)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41247" y="3685032"/>
            <a:ext cx="64008" cy="64008"/>
          </a:xfrm>
          <a:prstGeom prst="rect">
            <a:avLst/>
          </a:prstGeom>
          <a:solidFill>
            <a:srgbClr val="4AD9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42415" y="3621024"/>
            <a:ext cx="29626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8494A6"/>
                </a:solidFill>
                <a:latin typeface="Segoe UI"/>
              </a:rPr>
              <a:t>meter address survives a power cycle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1247" y="4142232"/>
            <a:ext cx="64008" cy="64008"/>
          </a:xfrm>
          <a:prstGeom prst="rect">
            <a:avLst/>
          </a:prstGeom>
          <a:solidFill>
            <a:srgbClr val="4AD9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42415" y="4078224"/>
            <a:ext cx="29626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8494A6"/>
                </a:solidFill>
                <a:latin typeface="Segoe UI"/>
              </a:rPr>
              <a:t>fleet tree renders 2 modems + a v1 gateway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41247" y="4599432"/>
            <a:ext cx="64008" cy="64008"/>
          </a:xfrm>
          <a:prstGeom prst="rect">
            <a:avLst/>
          </a:prstGeom>
          <a:solidFill>
            <a:srgbClr val="4AD9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42415" y="4535424"/>
            <a:ext cx="29626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8494A6"/>
                </a:solidFill>
                <a:latin typeface="Segoe UI"/>
              </a:rPr>
              <a:t>gradient check 1e-9 · MNIST 97.65 % (SRS-02)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41247" y="5056632"/>
            <a:ext cx="64008" cy="64008"/>
          </a:xfrm>
          <a:prstGeom prst="rect">
            <a:avLst/>
          </a:prstGeom>
          <a:solidFill>
            <a:srgbClr val="4AD9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42415" y="4992624"/>
            <a:ext cx="29626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8494A6"/>
                </a:solidFill>
                <a:latin typeface="Segoe UI"/>
              </a:rPr>
              <a:t>credentials out of version control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15968" y="1572768"/>
            <a:ext cx="3557016" cy="3913632"/>
          </a:xfrm>
          <a:prstGeom prst="rect">
            <a:avLst/>
          </a:prstGeom>
          <a:solidFill>
            <a:srgbClr val="161C24"/>
          </a:solidFill>
          <a:ln w="12700">
            <a:solidFill>
              <a:srgbClr val="2C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15968" y="1572768"/>
            <a:ext cx="3557016" cy="31750"/>
          </a:xfrm>
          <a:prstGeom prst="rect">
            <a:avLst/>
          </a:prstGeom>
          <a:solidFill>
            <a:srgbClr val="FFA9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17136" y="1792224"/>
            <a:ext cx="3108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FFA928"/>
                </a:solidFill>
                <a:latin typeface="Bahnschrift SemiBold"/>
              </a:rPr>
              <a:t>CODE COMPLETE, UNPROVEN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17136" y="2066543"/>
            <a:ext cx="3154680" cy="9525"/>
          </a:xfrm>
          <a:prstGeom prst="rect">
            <a:avLst/>
          </a:prstGeom>
          <a:solidFill>
            <a:srgbClr val="3D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17136" y="2313432"/>
            <a:ext cx="64008" cy="64008"/>
          </a:xfrm>
          <a:prstGeom prst="rect">
            <a:avLst/>
          </a:prstGeom>
          <a:solidFill>
            <a:srgbClr val="FFA9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718304" y="2249424"/>
            <a:ext cx="29626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8494A6"/>
                </a:solidFill>
                <a:latin typeface="Segoe UI"/>
              </a:rPr>
              <a:t>cmd/ack on the ESP8266 — compiles, not flashed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17136" y="2770632"/>
            <a:ext cx="64008" cy="64008"/>
          </a:xfrm>
          <a:prstGeom prst="rect">
            <a:avLst/>
          </a:prstGeom>
          <a:solidFill>
            <a:srgbClr val="FFA9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718304" y="2706624"/>
            <a:ext cx="29626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8494A6"/>
                </a:solidFill>
                <a:latin typeface="Segoe UI"/>
              </a:rPr>
              <a:t>sleep and 4 load channels — same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17136" y="3227832"/>
            <a:ext cx="64008" cy="64008"/>
          </a:xfrm>
          <a:prstGeom prst="rect">
            <a:avLst/>
          </a:prstGeom>
          <a:solidFill>
            <a:srgbClr val="FFA9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718304" y="3163824"/>
            <a:ext cx="29626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8494A6"/>
                </a:solidFill>
                <a:latin typeface="Segoe UI"/>
              </a:rPr>
              <a:t>power-pull → retained offline (A2)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17136" y="3685032"/>
            <a:ext cx="64008" cy="64008"/>
          </a:xfrm>
          <a:prstGeom prst="rect">
            <a:avLst/>
          </a:prstGeom>
          <a:solidFill>
            <a:srgbClr val="FFA9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718304" y="3621024"/>
            <a:ext cx="29626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8494A6"/>
                </a:solidFill>
                <a:latin typeface="Segoe UI"/>
              </a:rPr>
              <a:t>&lt; 2 s command latency (NF-1)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17136" y="4142232"/>
            <a:ext cx="64008" cy="64008"/>
          </a:xfrm>
          <a:prstGeom prst="rect">
            <a:avLst/>
          </a:prstGeom>
          <a:solidFill>
            <a:srgbClr val="FFA9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718304" y="4078224"/>
            <a:ext cx="29626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8494A6"/>
                </a:solidFill>
                <a:latin typeface="Segoe UI"/>
              </a:rPr>
              <a:t>RS-485 gateway — never run on hardware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17136" y="4599432"/>
            <a:ext cx="64008" cy="64008"/>
          </a:xfrm>
          <a:prstGeom prst="rect">
            <a:avLst/>
          </a:prstGeom>
          <a:solidFill>
            <a:srgbClr val="FFA9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718304" y="4535424"/>
            <a:ext cx="29626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8494A6"/>
                </a:solidFill>
                <a:latin typeface="Segoe UI"/>
              </a:rPr>
              <a:t>overnight soak — not yet attempted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991855" y="1572768"/>
            <a:ext cx="3557016" cy="3913632"/>
          </a:xfrm>
          <a:prstGeom prst="rect">
            <a:avLst/>
          </a:prstGeom>
          <a:solidFill>
            <a:srgbClr val="161C24"/>
          </a:solidFill>
          <a:ln w="12700">
            <a:solidFill>
              <a:srgbClr val="2C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991855" y="1572768"/>
            <a:ext cx="3557016" cy="31750"/>
          </a:xfrm>
          <a:prstGeom prst="rect">
            <a:avLst/>
          </a:prstGeom>
          <a:solidFill>
            <a:srgbClr val="FF4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193023" y="1792224"/>
            <a:ext cx="3108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FF4438"/>
                </a:solidFill>
                <a:latin typeface="Bahnschrift SemiBold"/>
              </a:rPr>
              <a:t>OPEN, AND SAID SO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193023" y="2066543"/>
            <a:ext cx="3154680" cy="9525"/>
          </a:xfrm>
          <a:prstGeom prst="rect">
            <a:avLst/>
          </a:prstGeom>
          <a:solidFill>
            <a:srgbClr val="3D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193023" y="2313432"/>
            <a:ext cx="64008" cy="64008"/>
          </a:xfrm>
          <a:prstGeom prst="rect">
            <a:avLst/>
          </a:prstGeom>
          <a:solidFill>
            <a:srgbClr val="FF4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394191" y="2249424"/>
            <a:ext cx="29626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8494A6"/>
                </a:solidFill>
                <a:latin typeface="Segoe UI"/>
              </a:rPr>
              <a:t>sleep current never measured on a meter (F-6)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193023" y="2770632"/>
            <a:ext cx="64008" cy="64008"/>
          </a:xfrm>
          <a:prstGeom prst="rect">
            <a:avLst/>
          </a:prstGeom>
          <a:solidFill>
            <a:srgbClr val="FF4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394191" y="2706624"/>
            <a:ext cx="29626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8494A6"/>
                </a:solidFill>
                <a:latin typeface="Segoe UI"/>
              </a:rPr>
              <a:t>no broker role separation or ACLs (BR-2)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193023" y="3227832"/>
            <a:ext cx="64008" cy="64008"/>
          </a:xfrm>
          <a:prstGeom prst="rect">
            <a:avLst/>
          </a:prstGeom>
          <a:solidFill>
            <a:srgbClr val="FF4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394191" y="3163824"/>
            <a:ext cx="29626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8494A6"/>
                </a:solidFill>
                <a:latin typeface="Segoe UI"/>
              </a:rPr>
              <a:t>store-and-forward: buffered is always false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193023" y="3685032"/>
            <a:ext cx="64008" cy="64008"/>
          </a:xfrm>
          <a:prstGeom prst="rect">
            <a:avLst/>
          </a:prstGeom>
          <a:solidFill>
            <a:srgbClr val="FF4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394191" y="3621024"/>
            <a:ext cx="29626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8494A6"/>
                </a:solidFill>
                <a:latin typeface="Segoe UI"/>
              </a:rPr>
              <a:t>no golden-vector test for MX-2 parity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193023" y="4142232"/>
            <a:ext cx="64008" cy="64008"/>
          </a:xfrm>
          <a:prstGeom prst="rect">
            <a:avLst/>
          </a:prstGeom>
          <a:solidFill>
            <a:srgbClr val="FF4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394191" y="4078224"/>
            <a:ext cx="29626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8494A6"/>
                </a:solidFill>
                <a:latin typeface="Segoe UI"/>
              </a:rPr>
              <a:t>supply channel reads ≈2 % high, uninvestigated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193023" y="4599432"/>
            <a:ext cx="64008" cy="64008"/>
          </a:xfrm>
          <a:prstGeom prst="rect">
            <a:avLst/>
          </a:prstGeom>
          <a:solidFill>
            <a:srgbClr val="FF4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394191" y="4535424"/>
            <a:ext cx="29626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8494A6"/>
                </a:solidFill>
                <a:latin typeface="Segoe UI"/>
              </a:rPr>
              <a:t>mains accuracy never verified against a DMM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40080" y="5669280"/>
            <a:ext cx="10908792" cy="9525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40080" y="5852160"/>
            <a:ext cx="1090879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200" b="1">
                <a:solidFill>
                  <a:srgbClr val="E6EDF3"/>
                </a:solidFill>
                <a:latin typeface="Segoe UI"/>
              </a:rPr>
              <a:t>The PC head-end was superseded, not skipped.  </a:t>
            </a:r>
            <a:r>
              <a:rPr sz="1200" b="0">
                <a:solidFill>
                  <a:srgbClr val="8494A6"/>
                </a:solidFill>
                <a:latin typeface="Segoe UI"/>
              </a:rPr>
              <a:t>HE-1…HE-5 were written before the Android app existed. The phone is the head-end now, and those five requirements should be rewritten to say so rather than left looking failed.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40080" y="6382512"/>
            <a:ext cx="10908792" cy="9525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40080" y="649224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5A6878"/>
                </a:solidFill>
                <a:latin typeface="Consolas"/>
              </a:rPr>
              <a:t>OSOS · DKM-440 remote meter reading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177272" y="6492240"/>
            <a:ext cx="1371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5A6878"/>
                </a:solidFill>
                <a:latin typeface="Consolas"/>
              </a:rPr>
              <a:t>27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5852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3D2E8"/>
                </a:solidFill>
                <a:latin typeface="Consolas"/>
              </a:rPr>
              <a:t>DOCS/IKOM_APPLICATIONS.MD · 2026-07-31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93776"/>
            <a:ext cx="5870448" cy="64008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0" i="0">
                <a:solidFill>
                  <a:srgbClr val="E6EDF3"/>
                </a:solidFill>
                <a:latin typeface="Bahnschrift SemiBold"/>
              </a:rPr>
              <a:t>What this is worth to IKOM</a:t>
            </a:r>
          </a:p>
        </p:txBody>
      </p:sp>
      <p:sp>
        <p:nvSpPr>
          <p:cNvPr id="5" name="Rectangle 4"/>
          <p:cNvSpPr/>
          <p:nvPr/>
        </p:nvSpPr>
        <p:spPr>
          <a:xfrm>
            <a:off x="6726783" y="583844"/>
            <a:ext cx="1083106" cy="12700"/>
          </a:xfrm>
          <a:prstGeom prst="rect">
            <a:avLst/>
          </a:prstGeom>
          <a:solidFill>
            <a:srgbClr val="2E7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17970" y="548640"/>
            <a:ext cx="77724" cy="77724"/>
          </a:xfrm>
          <a:prstGeom prst="rect">
            <a:avLst/>
          </a:prstGeom>
          <a:solidFill>
            <a:srgbClr val="63D2E8"/>
          </a:solidFill>
          <a:ln w="12700">
            <a:solidFill>
              <a:srgbClr val="63D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45327" y="6949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3D2E8"/>
                </a:solidFill>
                <a:latin typeface="Bahnschrift SemiBold"/>
              </a:rPr>
              <a:t>METER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7949793" y="583844"/>
            <a:ext cx="1083106" cy="12700"/>
          </a:xfrm>
          <a:prstGeom prst="rect">
            <a:avLst/>
          </a:prstGeom>
          <a:solidFill>
            <a:srgbClr val="2E7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840979" y="548640"/>
            <a:ext cx="77724" cy="77724"/>
          </a:xfrm>
          <a:prstGeom prst="rect">
            <a:avLst/>
          </a:prstGeom>
          <a:solidFill>
            <a:srgbClr val="63D2E8"/>
          </a:solidFill>
          <a:ln w="12700">
            <a:solidFill>
              <a:srgbClr val="63D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68337" y="6949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3D2E8"/>
                </a:solidFill>
                <a:latin typeface="Bahnschrift SemiBold"/>
              </a:rPr>
              <a:t>GATEWAY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72803" y="583844"/>
            <a:ext cx="1083106" cy="12700"/>
          </a:xfrm>
          <a:prstGeom prst="rect">
            <a:avLst/>
          </a:prstGeom>
          <a:solidFill>
            <a:srgbClr val="2E7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063990" y="548640"/>
            <a:ext cx="77724" cy="77724"/>
          </a:xfrm>
          <a:prstGeom prst="rect">
            <a:avLst/>
          </a:prstGeom>
          <a:solidFill>
            <a:srgbClr val="63D2E8"/>
          </a:solidFill>
          <a:ln w="12700">
            <a:solidFill>
              <a:srgbClr val="63D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91347" y="6949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3D2E8"/>
                </a:solidFill>
                <a:latin typeface="Bahnschrift SemiBold"/>
              </a:rPr>
              <a:t>BROKER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95813" y="583844"/>
            <a:ext cx="1083106" cy="12700"/>
          </a:xfrm>
          <a:prstGeom prst="rect">
            <a:avLst/>
          </a:prstGeom>
          <a:solidFill>
            <a:srgbClr val="2E7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287000" y="548640"/>
            <a:ext cx="77724" cy="77724"/>
          </a:xfrm>
          <a:prstGeom prst="rect">
            <a:avLst/>
          </a:prstGeom>
          <a:solidFill>
            <a:srgbClr val="63D2E8"/>
          </a:solidFill>
          <a:ln w="12700">
            <a:solidFill>
              <a:srgbClr val="63D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14357" y="6949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3D2E8"/>
                </a:solidFill>
                <a:latin typeface="Bahnschrift SemiBold"/>
              </a:rPr>
              <a:t>PHONE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510009" y="548640"/>
            <a:ext cx="77724" cy="77724"/>
          </a:xfrm>
          <a:prstGeom prst="rect">
            <a:avLst/>
          </a:prstGeom>
          <a:solidFill>
            <a:srgbClr val="63D2E8"/>
          </a:solidFill>
          <a:ln w="12700">
            <a:solidFill>
              <a:srgbClr val="63D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37367" y="6949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3D2E8"/>
                </a:solidFill>
                <a:latin typeface="Bahnschrift SemiBold"/>
              </a:rPr>
              <a:t>NET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1225296"/>
            <a:ext cx="10908792" cy="9525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1220724"/>
            <a:ext cx="566928" cy="25400"/>
          </a:xfrm>
          <a:prstGeom prst="rect">
            <a:avLst/>
          </a:prstGeom>
          <a:solidFill>
            <a:srgbClr val="63D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1536192"/>
            <a:ext cx="109087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900" b="0" i="0">
                <a:solidFill>
                  <a:srgbClr val="63D2E8"/>
                </a:solidFill>
                <a:latin typeface="Bahnschrift SemiBold"/>
              </a:rPr>
              <a:t>The valuable line in the repository is the architecture, not the register map.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1938528"/>
            <a:ext cx="109087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8494A6"/>
                </a:solidFill>
                <a:latin typeface="Segoe UI"/>
              </a:rPr>
              <a:t>Three of the four pieces built here are vendor-neutral. Any Modbus field device can go behind this gateway in about a day once its map is known — and the method for deriving an unknown map is itself written down.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2615184"/>
            <a:ext cx="10908792" cy="9525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2816352"/>
            <a:ext cx="2624328" cy="2212848"/>
          </a:xfrm>
          <a:prstGeom prst="rect">
            <a:avLst/>
          </a:prstGeom>
          <a:solidFill>
            <a:srgbClr val="161C24"/>
          </a:solidFill>
          <a:ln w="12700">
            <a:solidFill>
              <a:srgbClr val="2C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2816352"/>
            <a:ext cx="2624328" cy="31750"/>
          </a:xfrm>
          <a:prstGeom prst="rect">
            <a:avLst/>
          </a:prstGeom>
          <a:solidFill>
            <a:srgbClr val="63D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59" y="3017520"/>
            <a:ext cx="22585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Bahnschrift SemiBold"/>
              </a:rPr>
              <a:t>Submetering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" y="3310128"/>
            <a:ext cx="225856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63D2E8"/>
                </a:solidFill>
                <a:latin typeface="Consolas"/>
              </a:rPr>
              <a:t>RECOMMENDED FIRST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59" y="3584448"/>
            <a:ext cx="225856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000" b="0" i="0">
                <a:solidFill>
                  <a:srgbClr val="8494A6"/>
                </a:solidFill>
                <a:latin typeface="Segoe UI"/>
              </a:rPr>
              <a:t>One DKM-440 covers 30 single-phase feeders — an entire distribution panel at one Modbus address. Apartment blocks, shopping centres, organised industrial zones. One meter, one gateway, thirty billable circuits.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96996" y="2816352"/>
            <a:ext cx="2624328" cy="2212848"/>
          </a:xfrm>
          <a:prstGeom prst="rect">
            <a:avLst/>
          </a:prstGeom>
          <a:solidFill>
            <a:srgbClr val="161C24"/>
          </a:solidFill>
          <a:ln w="12700">
            <a:solidFill>
              <a:srgbClr val="2C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396996" y="2816352"/>
            <a:ext cx="2624328" cy="31750"/>
          </a:xfrm>
          <a:prstGeom prst="rect">
            <a:avLst/>
          </a:prstGeom>
          <a:solidFill>
            <a:srgbClr val="C89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79876" y="3017520"/>
            <a:ext cx="22585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Bahnschrift SemiBold"/>
              </a:rPr>
              <a:t>Power quality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79876" y="3310128"/>
            <a:ext cx="225856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C89A5B"/>
                </a:solidFill>
                <a:latin typeface="Consolas"/>
              </a:rPr>
              <a:t>BEST MARGIN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79876" y="3584448"/>
            <a:ext cx="225856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000" b="0" i="0">
                <a:solidFill>
                  <a:srgbClr val="8494A6"/>
                </a:solidFill>
                <a:latin typeface="Segoe UI"/>
              </a:rPr>
              <a:t>The meter measures harmonics to the 17th, THD-V/I and imbalance — none of it currently exposed. Instrument a plant for a fortnight, produce a report, recommend filters. Sells expertise, not boxes.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53912" y="2816352"/>
            <a:ext cx="2624328" cy="2212848"/>
          </a:xfrm>
          <a:prstGeom prst="rect">
            <a:avLst/>
          </a:prstGeom>
          <a:solidFill>
            <a:srgbClr val="161C24"/>
          </a:solidFill>
          <a:ln w="12700">
            <a:solidFill>
              <a:srgbClr val="2C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53912" y="2816352"/>
            <a:ext cx="2624328" cy="31750"/>
          </a:xfrm>
          <a:prstGeom prst="rect">
            <a:avLst/>
          </a:prstGeom>
          <a:solidFill>
            <a:srgbClr val="63D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36792" y="3017520"/>
            <a:ext cx="22585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Bahnschrift SemiBold"/>
              </a:rPr>
              <a:t>OSOS as a service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36792" y="3310128"/>
            <a:ext cx="225856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00" b="0" i="0">
                <a:solidFill>
                  <a:srgbClr val="63D2E8"/>
                </a:solidFill>
                <a:latin typeface="Consolas"/>
              </a:rPr>
              <a:t>SHORTEST PATH TO REVENUE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36792" y="3584448"/>
            <a:ext cx="225856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000" b="0" i="0">
                <a:solidFill>
                  <a:srgbClr val="8494A6"/>
                </a:solidFill>
                <a:latin typeface="Segoe UI"/>
              </a:rPr>
              <a:t>Automatic meter reading is regulated and recurring in Turkey. This is already most of a compliant reader; the gap is data integrity, history and a reporting front end — not new hardware.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910828" y="2816352"/>
            <a:ext cx="2624328" cy="2212848"/>
          </a:xfrm>
          <a:prstGeom prst="rect">
            <a:avLst/>
          </a:prstGeom>
          <a:solidFill>
            <a:srgbClr val="161C24"/>
          </a:solidFill>
          <a:ln w="12700">
            <a:solidFill>
              <a:srgbClr val="2C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910828" y="2816352"/>
            <a:ext cx="2624328" cy="31750"/>
          </a:xfrm>
          <a:prstGeom prst="rect">
            <a:avLst/>
          </a:prstGeom>
          <a:solidFill>
            <a:srgbClr val="63D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93707" y="3017520"/>
            <a:ext cx="22585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E6EDF3"/>
                </a:solidFill>
                <a:latin typeface="Bahnschrift SemiBold"/>
              </a:rPr>
              <a:t>Street lighting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93707" y="3584448"/>
            <a:ext cx="225856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000" b="0" i="0">
                <a:solidFill>
                  <a:srgbClr val="8494A6"/>
                </a:solidFill>
                <a:latin typeface="Segoe UI"/>
              </a:rPr>
              <a:t>An astronomical time relay plus two remotely drivable relays, in the same box as the measurement. Municipal lighting maps onto it almost exactly.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5230368"/>
            <a:ext cx="1090879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FF4438"/>
                </a:solidFill>
                <a:latin typeface="Bahnschrift SemiBold"/>
              </a:rPr>
              <a:t>BEFORE ANY OF THEM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" y="5486400"/>
            <a:ext cx="10908792" cy="9525"/>
          </a:xfrm>
          <a:prstGeom prst="rect">
            <a:avLst/>
          </a:prstGeom>
          <a:solidFill>
            <a:srgbClr val="3D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5669280"/>
            <a:ext cx="34747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FF4438"/>
                </a:solidFill>
                <a:latin typeface="Bahnschrift SemiBold"/>
              </a:rPr>
              <a:t>Store-and-forward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5925312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>
                <a:solidFill>
                  <a:srgbClr val="8494A6"/>
                </a:solidFill>
                <a:latin typeface="Segoe UI"/>
              </a:rPr>
              <a:t>a reader that silently drops data during a network blip cannot be a system of record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15968" y="5669280"/>
            <a:ext cx="34747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FF4438"/>
                </a:solidFill>
                <a:latin typeface="Bahnschrift SemiBold"/>
              </a:rPr>
              <a:t>A historian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15968" y="5925312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>
                <a:solidFill>
                  <a:srgbClr val="8494A6"/>
                </a:solidFill>
                <a:latin typeface="Segoe UI"/>
              </a:rPr>
              <a:t>720 frames in RAM is monitoring; billing and compliance need durable history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91855" y="5669280"/>
            <a:ext cx="34747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FF4438"/>
                </a:solidFill>
                <a:latin typeface="Bahnschrift SemiBold"/>
              </a:rPr>
              <a:t>Per-device credentials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91855" y="5925312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>
                <a:solidFill>
                  <a:srgbClr val="8494A6"/>
                </a:solidFill>
                <a:latin typeface="Segoe UI"/>
              </a:rPr>
              <a:t>cheap to fix now, expensive after the first customer site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0080" y="6382512"/>
            <a:ext cx="10908792" cy="9525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0080" y="649224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5A6878"/>
                </a:solidFill>
                <a:latin typeface="Consolas"/>
              </a:rPr>
              <a:t>OSOS · DKM-440 remote meter reading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177272" y="6492240"/>
            <a:ext cx="1371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5A6878"/>
                </a:solidFill>
                <a:latin typeface="Consolas"/>
              </a:rPr>
              <a:t>28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5852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63D2E8"/>
                </a:solidFill>
                <a:latin typeface="Consolas"/>
              </a:rPr>
              <a:t>FOUR STEPS · DOCS/BROKER_ACL.MD CARRIES THE DETAIL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93776"/>
            <a:ext cx="5870448" cy="64008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0" i="0">
                <a:solidFill>
                  <a:srgbClr val="E6EDF3"/>
                </a:solidFill>
                <a:latin typeface="Bahnschrift SemiBold"/>
              </a:rPr>
              <a:t>Putting it into production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726783" y="583844"/>
            <a:ext cx="1083106" cy="12700"/>
          </a:xfrm>
          <a:prstGeom prst="rect">
            <a:avLst/>
          </a:prstGeom>
          <a:solidFill>
            <a:srgbClr val="2E7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17970" y="548640"/>
            <a:ext cx="77724" cy="77724"/>
          </a:xfrm>
          <a:prstGeom prst="rect">
            <a:avLst/>
          </a:prstGeom>
          <a:solidFill>
            <a:srgbClr val="63D2E8"/>
          </a:solidFill>
          <a:ln w="12700">
            <a:solidFill>
              <a:srgbClr val="63D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45327" y="6949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3D2E8"/>
                </a:solidFill>
                <a:latin typeface="Bahnschrift SemiBold"/>
              </a:rPr>
              <a:t>METER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7949793" y="583844"/>
            <a:ext cx="1083106" cy="12700"/>
          </a:xfrm>
          <a:prstGeom prst="rect">
            <a:avLst/>
          </a:prstGeom>
          <a:solidFill>
            <a:srgbClr val="2E7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840979" y="548640"/>
            <a:ext cx="77724" cy="77724"/>
          </a:xfrm>
          <a:prstGeom prst="rect">
            <a:avLst/>
          </a:prstGeom>
          <a:solidFill>
            <a:srgbClr val="63D2E8"/>
          </a:solidFill>
          <a:ln w="12700">
            <a:solidFill>
              <a:srgbClr val="63D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68337" y="6949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3D2E8"/>
                </a:solidFill>
                <a:latin typeface="Bahnschrift SemiBold"/>
              </a:rPr>
              <a:t>GATEWAY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72803" y="583844"/>
            <a:ext cx="1083106" cy="12700"/>
          </a:xfrm>
          <a:prstGeom prst="rect">
            <a:avLst/>
          </a:prstGeom>
          <a:solidFill>
            <a:srgbClr val="2E7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063990" y="548640"/>
            <a:ext cx="77724" cy="77724"/>
          </a:xfrm>
          <a:prstGeom prst="rect">
            <a:avLst/>
          </a:prstGeom>
          <a:solidFill>
            <a:srgbClr val="63D2E8"/>
          </a:solidFill>
          <a:ln w="12700">
            <a:solidFill>
              <a:srgbClr val="63D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91347" y="6949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3D2E8"/>
                </a:solidFill>
                <a:latin typeface="Bahnschrift SemiBold"/>
              </a:rPr>
              <a:t>BROKER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95813" y="583844"/>
            <a:ext cx="1083106" cy="12700"/>
          </a:xfrm>
          <a:prstGeom prst="rect">
            <a:avLst/>
          </a:prstGeom>
          <a:solidFill>
            <a:srgbClr val="2E7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287000" y="548640"/>
            <a:ext cx="77724" cy="77724"/>
          </a:xfrm>
          <a:prstGeom prst="rect">
            <a:avLst/>
          </a:prstGeom>
          <a:solidFill>
            <a:srgbClr val="63D2E8"/>
          </a:solidFill>
          <a:ln w="12700">
            <a:solidFill>
              <a:srgbClr val="63D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14357" y="6949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3D2E8"/>
                </a:solidFill>
                <a:latin typeface="Bahnschrift SemiBold"/>
              </a:rPr>
              <a:t>PHONE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510009" y="548640"/>
            <a:ext cx="77724" cy="77724"/>
          </a:xfrm>
          <a:prstGeom prst="rect">
            <a:avLst/>
          </a:prstGeom>
          <a:solidFill>
            <a:srgbClr val="63D2E8"/>
          </a:solidFill>
          <a:ln w="12700">
            <a:solidFill>
              <a:srgbClr val="63D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37367" y="6949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3D2E8"/>
                </a:solidFill>
                <a:latin typeface="Bahnschrift SemiBold"/>
              </a:rPr>
              <a:t>NET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1225296"/>
            <a:ext cx="10908792" cy="9525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1220724"/>
            <a:ext cx="566928" cy="25400"/>
          </a:xfrm>
          <a:prstGeom prst="rect">
            <a:avLst/>
          </a:prstGeom>
          <a:solidFill>
            <a:srgbClr val="63D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1481328"/>
            <a:ext cx="5577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63D2E8"/>
                </a:solidFill>
                <a:latin typeface="Bahnschrift SemiBold"/>
              </a:rPr>
              <a:t>ADDING A METER IS ONE LINE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1737360"/>
            <a:ext cx="5577840" cy="9525"/>
          </a:xfrm>
          <a:prstGeom prst="rect">
            <a:avLst/>
          </a:prstGeom>
          <a:solidFill>
            <a:srgbClr val="3D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1865376"/>
            <a:ext cx="5577840" cy="1700784"/>
          </a:xfrm>
          <a:prstGeom prst="rect">
            <a:avLst/>
          </a:prstGeom>
          <a:solidFill>
            <a:srgbClr val="0A0E13"/>
          </a:solidFill>
          <a:ln w="12700">
            <a:solidFill>
              <a:srgbClr val="2C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1865376"/>
            <a:ext cx="25400" cy="1700784"/>
          </a:xfrm>
          <a:prstGeom prst="rect">
            <a:avLst/>
          </a:prstGeom>
          <a:solidFill>
            <a:srgbClr val="63D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7" y="1993392"/>
            <a:ext cx="5175503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5A6878"/>
                </a:solidFill>
                <a:latin typeface="Consolas"/>
              </a:rPr>
              <a:t>// firmware8266/osos_gw8266/config.h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E6EDF3"/>
                </a:solidFill>
                <a:latin typeface="Consolas"/>
              </a:rPr>
              <a:t>static const AnalyzerCfg CFG_ANALYZERS[] = {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E6EDF3"/>
                </a:solidFill>
                <a:latin typeface="Consolas"/>
              </a:rPr>
              <a:t>    { "an-01", "192.169.10.74", 502, 1, 5 },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4AD991"/>
                </a:solidFill>
                <a:latin typeface="Consolas"/>
              </a:rPr>
              <a:t>    { "an-02", "192.169.10.75", 502, 1, 5 },   // &lt;- new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E6EDF3"/>
                </a:solidFill>
                <a:latin typeface="Consolas"/>
              </a:rPr>
              <a:t>};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5A6878"/>
                </a:solidFill>
                <a:latin typeface="Consolas"/>
              </a:rPr>
              <a:t>#define CFG_MODEM_ID  "gw-01"   // per modem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657600"/>
            <a:ext cx="5577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 i="0">
                <a:solidFill>
                  <a:srgbClr val="8494A6"/>
                </a:solidFill>
                <a:latin typeface="Segoe UI"/>
              </a:rPr>
              <a:t>No topic changes, no app rebuild, no migration. The analyzer appears in the tree the moment the modem republishes its registry, named an-02 until someone names it properly from the phone.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92240" y="1481328"/>
            <a:ext cx="5056632" cy="1133856"/>
          </a:xfrm>
          <a:prstGeom prst="rect">
            <a:avLst/>
          </a:prstGeom>
          <a:solidFill>
            <a:srgbClr val="161C24"/>
          </a:solidFill>
          <a:ln w="12700">
            <a:solidFill>
              <a:srgbClr val="2C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92240" y="1481328"/>
            <a:ext cx="5056632" cy="31750"/>
          </a:xfrm>
          <a:prstGeom prst="rect">
            <a:avLst/>
          </a:prstGeom>
          <a:solidFill>
            <a:srgbClr val="FF4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93408" y="1609344"/>
            <a:ext cx="46634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E6EDF3"/>
                </a:solidFill>
                <a:latin typeface="Bahnschrift SemiBold"/>
              </a:rPr>
              <a:t>1 · Per-modem credentials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93408" y="1883664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950" b="0" i="0">
                <a:solidFill>
                  <a:srgbClr val="8494A6"/>
                </a:solidFill>
                <a:latin typeface="Segoe UI"/>
              </a:rPr>
              <a:t>One broker user per modem, plus one head-end user, with the ACLs in docs/BROKER_ACL.md. This is the one item still open (BR-2) and the only one that is a security issue rather than a feature.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92240" y="2706624"/>
            <a:ext cx="5056632" cy="1133856"/>
          </a:xfrm>
          <a:prstGeom prst="rect">
            <a:avLst/>
          </a:prstGeom>
          <a:solidFill>
            <a:srgbClr val="161C24"/>
          </a:solidFill>
          <a:ln w="12700">
            <a:solidFill>
              <a:srgbClr val="2C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92240" y="2706624"/>
            <a:ext cx="5056632" cy="31750"/>
          </a:xfrm>
          <a:prstGeom prst="rect">
            <a:avLst/>
          </a:prstGeom>
          <a:solidFill>
            <a:srgbClr val="63D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93408" y="2834640"/>
            <a:ext cx="46634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E6EDF3"/>
                </a:solidFill>
                <a:latin typeface="Bahnschrift SemiBold"/>
              </a:rPr>
              <a:t>2 · Point it at your broker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93408" y="3108960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950" b="0" i="0">
                <a:solidFill>
                  <a:srgbClr val="8494A6"/>
                </a:solidFill>
                <a:latin typeface="Segoe UI"/>
              </a:rPr>
              <a:t>CFG_MQTT_HOST in config.h, and the app's Settings screen. Nothing else is broker-specific — no EMQX API, no vendor extension.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92240" y="3931920"/>
            <a:ext cx="5056632" cy="1133856"/>
          </a:xfrm>
          <a:prstGeom prst="rect">
            <a:avLst/>
          </a:prstGeom>
          <a:solidFill>
            <a:srgbClr val="161C24"/>
          </a:solidFill>
          <a:ln w="12700">
            <a:solidFill>
              <a:srgbClr val="2C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92240" y="3931920"/>
            <a:ext cx="5056632" cy="31750"/>
          </a:xfrm>
          <a:prstGeom prst="rect">
            <a:avLst/>
          </a:prstGeom>
          <a:solidFill>
            <a:srgbClr val="C89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93408" y="4059935"/>
            <a:ext cx="46634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E6EDF3"/>
                </a:solidFill>
                <a:latin typeface="Bahnschrift SemiBold"/>
              </a:rPr>
              <a:t>3 · Own the metadata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93408" y="4334256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950" b="0" i="0">
                <a:solidFill>
                  <a:srgbClr val="8494A6"/>
                </a:solidFill>
                <a:latin typeface="Segoe UI"/>
              </a:rPr>
              <a:t>osos/m/+/labels and osos/tree are retained JSON the app writes. A bridge into IKOM Data Manager subscribes to those two topics and the fleet is in your database, named.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92240" y="5157216"/>
            <a:ext cx="5056632" cy="1133856"/>
          </a:xfrm>
          <a:prstGeom prst="rect">
            <a:avLst/>
          </a:prstGeom>
          <a:solidFill>
            <a:srgbClr val="161C24"/>
          </a:solidFill>
          <a:ln w="12700">
            <a:solidFill>
              <a:srgbClr val="2C3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92240" y="5157216"/>
            <a:ext cx="5056632" cy="31750"/>
          </a:xfrm>
          <a:prstGeom prst="rect">
            <a:avLst/>
          </a:prstGeom>
          <a:solidFill>
            <a:srgbClr val="FFA9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93408" y="5285231"/>
            <a:ext cx="46634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E6EDF3"/>
                </a:solidFill>
                <a:latin typeface="Bahnschrift SemiBold"/>
              </a:rPr>
              <a:t>4 · Store-and-forward first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93408" y="5559552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950" b="0" i="0">
                <a:solidFill>
                  <a:srgbClr val="8494A6"/>
                </a:solidFill>
                <a:latin typeface="Segoe UI"/>
              </a:rPr>
              <a:t>buffered is always false today. A reader that silently drops data during a network blip cannot be a system of record — this is the gate before any billing use.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" y="4626864"/>
            <a:ext cx="10908792" cy="9525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4773168"/>
            <a:ext cx="1090879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4AD991"/>
                </a:solidFill>
                <a:latin typeface="Bahnschrift SemiBold"/>
              </a:rPr>
              <a:t>WHAT IS ALREADY VENDOR-NEUTRAL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" y="5029200"/>
            <a:ext cx="10908792" cy="9525"/>
          </a:xfrm>
          <a:prstGeom prst="rect">
            <a:avLst/>
          </a:prstGeom>
          <a:solidFill>
            <a:srgbClr val="3D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" y="5230368"/>
            <a:ext cx="35204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4AD991"/>
                </a:solidFill>
                <a:latin typeface="Consolas"/>
              </a:rPr>
              <a:t>The topic grammar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5486400"/>
            <a:ext cx="3520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>
                <a:solidFill>
                  <a:srgbClr val="8494A6"/>
                </a:solidFill>
                <a:latin typeface="Segoe UI"/>
              </a:rPr>
              <a:t>one file per language, three implementations that must agree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15968" y="5230368"/>
            <a:ext cx="35204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4AD991"/>
                </a:solidFill>
                <a:latin typeface="Consolas"/>
              </a:rPr>
              <a:t>The gateway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15968" y="5486400"/>
            <a:ext cx="3520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>
                <a:solidFill>
                  <a:srgbClr val="8494A6"/>
                </a:solidFill>
                <a:latin typeface="Segoe UI"/>
              </a:rPr>
              <a:t>any Modbus TCP device, once its register map is known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91855" y="5230368"/>
            <a:ext cx="35204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4AD991"/>
                </a:solidFill>
                <a:latin typeface="Consolas"/>
              </a:rPr>
              <a:t>The app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991855" y="5486400"/>
            <a:ext cx="3520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 i="0">
                <a:solidFill>
                  <a:srgbClr val="8494A6"/>
                </a:solidFill>
                <a:latin typeface="Segoe UI"/>
              </a:rPr>
              <a:t>subscribes fleet-wide; it has no idea what a DKM-440 is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" y="6035040"/>
            <a:ext cx="10908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5A6878"/>
                </a:solidFill>
                <a:latin typeface="Consolas"/>
              </a:rPr>
              <a:t>The register map is the part that is specific to this meter. Everything above it moves.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0080" y="6382512"/>
            <a:ext cx="10908792" cy="9525"/>
          </a:xfrm>
          <a:prstGeom prst="rect">
            <a:avLst/>
          </a:prstGeom>
          <a:solidFill>
            <a:srgbClr val="2C3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080" y="649224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5A6878"/>
                </a:solidFill>
                <a:latin typeface="Consolas"/>
              </a:rPr>
              <a:t>OSOS · DKM-440 remote meter reading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177272" y="6492240"/>
            <a:ext cx="1371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850" b="0" i="0">
                <a:solidFill>
                  <a:srgbClr val="5A6878"/>
                </a:solidFill>
                <a:latin typeface="Consolas"/>
              </a:rPr>
              <a:t>29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3D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1887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63D2E8"/>
                </a:solidFill>
                <a:latin typeface="Consolas"/>
              </a:rPr>
              <a:t>IN ONE SENTENCE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609344"/>
            <a:ext cx="104241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600" b="0" i="0">
                <a:solidFill>
                  <a:srgbClr val="E6EDF3"/>
                </a:solidFill>
                <a:latin typeface="Bahnschrift SemiBold"/>
              </a:rPr>
              <a:t>A register inside an industrial meter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600" b="0" i="0">
                <a:solidFill>
                  <a:srgbClr val="E6EDF3"/>
                </a:solidFill>
                <a:latin typeface="Bahnschrift SemiBold"/>
              </a:rPr>
              <a:t>now reaches a phone in five seconds,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600" b="0" i="0">
                <a:solidFill>
                  <a:srgbClr val="E6EDF3"/>
                </a:solidFill>
                <a:latin typeface="Bahnschrift SemiBold"/>
              </a:rPr>
              <a:t>and a drawing sends one back.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3749039"/>
            <a:ext cx="1463040" cy="31750"/>
          </a:xfrm>
          <a:prstGeom prst="rect">
            <a:avLst/>
          </a:prstGeom>
          <a:solidFill>
            <a:srgbClr val="63D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4059936"/>
            <a:ext cx="49377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300" b="0" i="0">
                <a:solidFill>
                  <a:srgbClr val="8494A6"/>
                </a:solidFill>
                <a:latin typeface="Segoe UI"/>
              </a:rPr>
              <a:t>Everything between those two ends — the polite-master pacing, the one-UART constraint, the least-squares register hunt, the TLS buffer negotiation, the confidence gate — is the actual work. The demo is the receipt.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4059936"/>
            <a:ext cx="5029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FFA928"/>
                </a:solidFill>
                <a:latin typeface="Bahnschrift SemiBold"/>
              </a:rPr>
              <a:t>STILL OWED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4315968"/>
            <a:ext cx="5029200" cy="9525"/>
          </a:xfrm>
          <a:prstGeom prst="rect">
            <a:avLst/>
          </a:prstGeom>
          <a:solidFill>
            <a:srgbClr val="3D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92240" y="4553712"/>
            <a:ext cx="64008" cy="64008"/>
          </a:xfrm>
          <a:prstGeom prst="rect">
            <a:avLst/>
          </a:prstGeom>
          <a:solidFill>
            <a:srgbClr val="FFA9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93408" y="4498848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i="0">
                <a:solidFill>
                  <a:srgbClr val="8494A6"/>
                </a:solidFill>
                <a:latin typeface="Segoe UI"/>
              </a:rPr>
              <a:t>flashing v0.4 to the ESP8266 — it compiles, it has not run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92240" y="4919472"/>
            <a:ext cx="64008" cy="64008"/>
          </a:xfrm>
          <a:prstGeom prst="rect">
            <a:avLst/>
          </a:prstGeom>
          <a:solidFill>
            <a:srgbClr val="FFA9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93408" y="4864608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i="0">
                <a:solidFill>
                  <a:srgbClr val="8494A6"/>
                </a:solidFill>
                <a:latin typeface="Segoe UI"/>
              </a:rPr>
              <a:t>broker role separation and ACLs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92240" y="5285232"/>
            <a:ext cx="64008" cy="64008"/>
          </a:xfrm>
          <a:prstGeom prst="rect">
            <a:avLst/>
          </a:prstGeom>
          <a:solidFill>
            <a:srgbClr val="FFA9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93408" y="5230368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i="0">
                <a:solidFill>
                  <a:srgbClr val="8494A6"/>
                </a:solidFill>
                <a:latin typeface="Segoe UI"/>
              </a:rPr>
              <a:t>the awake-vs-asleep current, measured not assumed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5650992"/>
            <a:ext cx="64008" cy="64008"/>
          </a:xfrm>
          <a:prstGeom prst="rect">
            <a:avLst/>
          </a:prstGeom>
          <a:solidFill>
            <a:srgbClr val="FFA9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93408" y="5596128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i="0">
                <a:solidFill>
                  <a:srgbClr val="8494A6"/>
                </a:solidFill>
                <a:latin typeface="Segoe UI"/>
              </a:rPr>
              <a:t>a DMM across the meter's own supply terminals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8631" y="6070244"/>
            <a:ext cx="1083106" cy="12700"/>
          </a:xfrm>
          <a:prstGeom prst="rect">
            <a:avLst/>
          </a:prstGeom>
          <a:solidFill>
            <a:srgbClr val="2E7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9818" y="6035040"/>
            <a:ext cx="77724" cy="77724"/>
          </a:xfrm>
          <a:prstGeom prst="rect">
            <a:avLst/>
          </a:prstGeom>
          <a:solidFill>
            <a:srgbClr val="63D2E8"/>
          </a:solidFill>
          <a:ln w="12700">
            <a:solidFill>
              <a:srgbClr val="63D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7175" y="61813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3D2E8"/>
                </a:solidFill>
                <a:latin typeface="Bahnschrift SemiBold"/>
              </a:rPr>
              <a:t>METER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61641" y="6070244"/>
            <a:ext cx="1083106" cy="12700"/>
          </a:xfrm>
          <a:prstGeom prst="rect">
            <a:avLst/>
          </a:prstGeom>
          <a:solidFill>
            <a:srgbClr val="2E7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052827" y="6035040"/>
            <a:ext cx="77724" cy="77724"/>
          </a:xfrm>
          <a:prstGeom prst="rect">
            <a:avLst/>
          </a:prstGeom>
          <a:solidFill>
            <a:srgbClr val="63D2E8"/>
          </a:solidFill>
          <a:ln w="12700">
            <a:solidFill>
              <a:srgbClr val="63D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80184" y="61813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3D2E8"/>
                </a:solidFill>
                <a:latin typeface="Bahnschrift SemiBold"/>
              </a:rPr>
              <a:t>GATEWAY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84651" y="6070244"/>
            <a:ext cx="1083106" cy="12700"/>
          </a:xfrm>
          <a:prstGeom prst="rect">
            <a:avLst/>
          </a:prstGeom>
          <a:solidFill>
            <a:srgbClr val="2E7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75838" y="6035040"/>
            <a:ext cx="77724" cy="77724"/>
          </a:xfrm>
          <a:prstGeom prst="rect">
            <a:avLst/>
          </a:prstGeom>
          <a:solidFill>
            <a:srgbClr val="63D2E8"/>
          </a:solidFill>
          <a:ln w="12700">
            <a:solidFill>
              <a:srgbClr val="63D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03195" y="61813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3D2E8"/>
                </a:solidFill>
                <a:latin typeface="Bahnschrift SemiBold"/>
              </a:rPr>
              <a:t>BROKER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07661" y="6070244"/>
            <a:ext cx="1083106" cy="12700"/>
          </a:xfrm>
          <a:prstGeom prst="rect">
            <a:avLst/>
          </a:prstGeom>
          <a:solidFill>
            <a:srgbClr val="2E7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98847" y="6035040"/>
            <a:ext cx="77724" cy="77724"/>
          </a:xfrm>
          <a:prstGeom prst="rect">
            <a:avLst/>
          </a:prstGeom>
          <a:solidFill>
            <a:srgbClr val="63D2E8"/>
          </a:solidFill>
          <a:ln w="12700">
            <a:solidFill>
              <a:srgbClr val="63D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26204" y="61813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3D2E8"/>
                </a:solidFill>
                <a:latin typeface="Bahnschrift SemiBold"/>
              </a:rPr>
              <a:t>PHONE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21857" y="6035040"/>
            <a:ext cx="77724" cy="77724"/>
          </a:xfrm>
          <a:prstGeom prst="rect">
            <a:avLst/>
          </a:prstGeom>
          <a:solidFill>
            <a:srgbClr val="63D2E8"/>
          </a:solidFill>
          <a:ln w="12700">
            <a:solidFill>
              <a:srgbClr val="63D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49215" y="6181344"/>
            <a:ext cx="122301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3D2E8"/>
                </a:solidFill>
                <a:latin typeface="Bahnschrift SemiBold"/>
              </a:rPr>
              <a:t>NET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6053328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5A6878"/>
                </a:solidFill>
                <a:latin typeface="Consolas"/>
              </a:rPr>
              <a:t>SRS-00 · SRS-01 · SRS-02   ·   delivery 2026-08-06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